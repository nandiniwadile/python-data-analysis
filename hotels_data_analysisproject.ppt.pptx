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292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1657351"/>
            <a:ext cx="5610225" cy="25400"/>
            <a:chOff x="1371600" y="1657351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1657351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2258823"/>
            <a:ext cx="5610225" cy="25400"/>
            <a:chOff x="1371600" y="2258823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225882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38683" y="5421417"/>
          <a:ext cx="6534784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Out[83]: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4/5/2022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985181" y="689373"/>
            <a:ext cx="2380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Trebuchet MS"/>
                <a:cs typeface="Trebuchet MS"/>
              </a:rPr>
              <a:t>Hotels</a:t>
            </a:r>
            <a:r>
              <a:rPr sz="1800" spc="30" dirty="0">
                <a:latin typeface="Trebuchet MS"/>
                <a:cs typeface="Trebuchet MS"/>
              </a:rPr>
              <a:t> </a:t>
            </a:r>
            <a:r>
              <a:rPr sz="1800" spc="135" dirty="0">
                <a:latin typeface="Trebuchet MS"/>
                <a:cs typeface="Trebuchet MS"/>
              </a:rPr>
              <a:t>Data</a:t>
            </a:r>
            <a:r>
              <a:rPr sz="1800" spc="50" dirty="0">
                <a:latin typeface="Trebuchet MS"/>
                <a:cs typeface="Trebuchet MS"/>
              </a:rPr>
              <a:t> </a:t>
            </a:r>
            <a:r>
              <a:rPr sz="1800" spc="110" dirty="0"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11576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import</a:t>
            </a:r>
            <a:r>
              <a:rPr sz="95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pandas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as</a:t>
            </a:r>
            <a:r>
              <a:rPr sz="95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1870944"/>
            <a:ext cx="4063365" cy="2820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1.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spc="75" dirty="0">
                <a:latin typeface="Trebuchet MS"/>
                <a:cs typeface="Trebuchet MS"/>
              </a:rPr>
              <a:t>Import</a:t>
            </a:r>
            <a:r>
              <a:rPr sz="1500" spc="50" dirty="0">
                <a:latin typeface="Trebuchet MS"/>
                <a:cs typeface="Trebuchet MS"/>
              </a:rPr>
              <a:t> </a:t>
            </a:r>
            <a:r>
              <a:rPr sz="1500" spc="125" dirty="0">
                <a:latin typeface="Trebuchet MS"/>
                <a:cs typeface="Trebuchet MS"/>
              </a:rPr>
              <a:t>and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45" dirty="0">
                <a:latin typeface="Trebuchet MS"/>
                <a:cs typeface="Trebuchet MS"/>
              </a:rPr>
              <a:t> </a:t>
            </a:r>
            <a:r>
              <a:rPr sz="1500" spc="65" dirty="0">
                <a:latin typeface="Trebuchet MS"/>
                <a:cs typeface="Trebuchet MS"/>
              </a:rPr>
              <a:t>Exploration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95" dirty="0">
                <a:latin typeface="Trebuchet MS"/>
                <a:cs typeface="Trebuchet MS"/>
              </a:rPr>
              <a:t>Datasets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050" spc="65" dirty="0">
                <a:latin typeface="Trebuchet MS"/>
                <a:cs typeface="Trebuchet MS"/>
              </a:rPr>
              <a:t>We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80" dirty="0">
                <a:latin typeface="Trebuchet MS"/>
                <a:cs typeface="Trebuchet MS"/>
              </a:rPr>
              <a:t>have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85" dirty="0">
                <a:latin typeface="Trebuchet MS"/>
                <a:cs typeface="Trebuchet MS"/>
              </a:rPr>
              <a:t>csv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-20" dirty="0">
                <a:latin typeface="Trebuchet MS"/>
                <a:cs typeface="Trebuchet MS"/>
              </a:rPr>
              <a:t>file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dim_date.csv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dim_hotels.csv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45" dirty="0">
                <a:latin typeface="Trebuchet MS"/>
                <a:cs typeface="Trebuchet MS"/>
              </a:rPr>
              <a:t>dim_rooms.csv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50" dirty="0">
                <a:latin typeface="Trebuchet MS"/>
                <a:cs typeface="Trebuchet MS"/>
              </a:rPr>
              <a:t>fact_aggregated_bookings</a:t>
            </a:r>
            <a:endParaRPr sz="1050">
              <a:latin typeface="Trebuchet MS"/>
              <a:cs typeface="Trebuchet MS"/>
            </a:endParaRPr>
          </a:p>
          <a:p>
            <a:pPr marL="785495" indent="-178435">
              <a:lnSpc>
                <a:spcPct val="100000"/>
              </a:lnSpc>
              <a:spcBef>
                <a:spcPts val="420"/>
              </a:spcBef>
              <a:buChar char="•"/>
              <a:tabLst>
                <a:tab pos="785495" algn="l"/>
              </a:tabLst>
            </a:pPr>
            <a:r>
              <a:rPr sz="1050" spc="-10" dirty="0">
                <a:latin typeface="Trebuchet MS"/>
                <a:cs typeface="Trebuchet MS"/>
              </a:rPr>
              <a:t>fact_bookings.csv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135" dirty="0">
                <a:latin typeface="Trebuchet MS"/>
                <a:cs typeface="Trebuchet MS"/>
              </a:rPr>
              <a:t>Read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data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datagrame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4878704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8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"fact_bookings.csv"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7202689"/>
            <a:ext cx="17056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0" dirty="0">
                <a:latin typeface="Trebuchet MS"/>
                <a:cs typeface="Trebuchet MS"/>
              </a:rPr>
              <a:t>Explore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data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75761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7939485"/>
            <a:ext cx="1621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Out[84]:</a:t>
            </a:r>
            <a:r>
              <a:rPr sz="950" spc="36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(134590,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8737" y="827123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room_category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8634812"/>
            <a:ext cx="43795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Out[85]:</a:t>
            </a:r>
            <a:r>
              <a:rPr sz="950" spc="37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array(['RT1',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'RT2',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'RT3',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'RT4'],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dtype=object)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8737" y="896683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733" y="11969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733" y="49181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733" y="761563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[84]: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733" y="8310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[85]: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733" y="90062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[86]: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00" y="692155"/>
            <a:ext cx="241109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&lt;bound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method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Series.unique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of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15148" y="692155"/>
            <a:ext cx="99504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900" y="840744"/>
            <a:ext cx="100330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1650376"/>
            <a:ext cx="473075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134585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134589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4326" y="840744"/>
            <a:ext cx="995044" cy="164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9740" marR="5080" indent="74295" algn="r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others logtrip others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</a:t>
            </a:r>
            <a:endParaRPr sz="950">
              <a:latin typeface="Courier New"/>
              <a:cs typeface="Courier New"/>
            </a:endParaRPr>
          </a:p>
          <a:p>
            <a:pPr marL="31051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...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makeyourtrip</a:t>
            </a:r>
            <a:endParaRPr sz="950">
              <a:latin typeface="Courier New"/>
              <a:cs typeface="Courier New"/>
            </a:endParaRPr>
          </a:p>
          <a:p>
            <a:pPr marL="86995" marR="5080" indent="372110" algn="r">
              <a:lnSpc>
                <a:spcPct val="111800"/>
              </a:lnSpc>
            </a:pPr>
            <a:r>
              <a:rPr sz="950" spc="-10" dirty="0">
                <a:latin typeface="Courier New"/>
                <a:cs typeface="Courier New"/>
              </a:rPr>
              <a:t>logtrip tripster logtrip makeyourtrip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2473340"/>
            <a:ext cx="4051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booking_platform,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Length: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134590,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2747968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3098181"/>
            <a:ext cx="1218565" cy="132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booking_platform others makeyourtrip logtrip</a:t>
            </a:r>
            <a:endParaRPr sz="950">
              <a:latin typeface="Courier New"/>
              <a:cs typeface="Courier New"/>
            </a:endParaRPr>
          </a:p>
          <a:p>
            <a:pPr marL="12700" marR="228600">
              <a:lnSpc>
                <a:spcPct val="111800"/>
              </a:lnSpc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online tripster journey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direct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offline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0667" y="3260109"/>
            <a:ext cx="398145" cy="11588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55066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26898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14756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13379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9630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8106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6755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4406925"/>
            <a:ext cx="1889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count,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46818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booking_platform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plot</a:t>
            </a:r>
            <a:r>
              <a:rPr sz="950" spc="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10" dirty="0">
                <a:solidFill>
                  <a:srgbClr val="202020"/>
                </a:solidFill>
                <a:latin typeface="Courier New"/>
                <a:cs typeface="Courier New"/>
              </a:rPr>
              <a:t>kind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"barh"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5045101"/>
            <a:ext cx="24853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ylabel='booking_platform'&gt;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3133" y="5360985"/>
            <a:ext cx="5803770" cy="36542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57733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7733" y="27876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[87]: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311151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Out[87]: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47212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504510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Out[88]: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8683" y="985837"/>
          <a:ext cx="6549388" cy="235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Out[89]: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no_guests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revenue_generated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revenu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count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134590.000000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134587.000000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56683.000000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1.345900e+05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1345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0" dirty="0">
                          <a:latin typeface="Trebuchet MS"/>
                          <a:cs typeface="Trebuchet MS"/>
                        </a:rPr>
                        <a:t>mean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18061.113493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2.036170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3.619004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1.537805e+04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std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1093.055847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1.034885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1.235009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9.303604e+04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69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min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16558.000000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950" spc="75" dirty="0">
                          <a:latin typeface="Trebuchet MS"/>
                          <a:cs typeface="Trebuchet MS"/>
                        </a:rPr>
                        <a:t>17.000000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6.500000e+03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25%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9.900000e+03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76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50%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17564.000000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1.350000e+04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75%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1.800000e+04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5" dirty="0">
                          <a:latin typeface="Trebuchet MS"/>
                          <a:cs typeface="Trebuchet MS"/>
                        </a:rPr>
                        <a:t>max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19563.000000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6.000000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2.856000e+07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452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6779219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4"/>
                </a:lnTo>
                <a:lnTo>
                  <a:pt x="3672064" y="9524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356870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min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3932516"/>
            <a:ext cx="27095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(np.int64(6500),</a:t>
            </a:r>
            <a:r>
              <a:rPr sz="950" spc="1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np.int64(28560000))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4266332"/>
            <a:ext cx="16014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latin typeface="Trebuchet MS"/>
                <a:cs typeface="Trebuchet MS"/>
              </a:rPr>
              <a:t>Read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rest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65" dirty="0">
                <a:latin typeface="Trebuchet MS"/>
                <a:cs typeface="Trebuchet MS"/>
              </a:rPr>
              <a:t>files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4639309"/>
            <a:ext cx="5838825" cy="75247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73177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"dim_date.csv"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"dim_hotels.csv"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"dim_rooms.csv"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10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"fact_aggregated_bookings.csv"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54965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5860383"/>
            <a:ext cx="5473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(25,</a:t>
            </a:r>
            <a:r>
              <a:rPr sz="950" spc="6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4)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61918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3187" y="6551579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3975" y="7056710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3187" y="7364999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3975" y="7592640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736089" algn="l"/>
                <a:tab pos="2569845" algn="l"/>
                <a:tab pos="3291204" algn="l"/>
              </a:tabLst>
            </a:pPr>
            <a:r>
              <a:rPr sz="950" b="1" spc="60" dirty="0">
                <a:latin typeface="Trebuchet MS"/>
                <a:cs typeface="Trebuchet MS"/>
              </a:rPr>
              <a:t>3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16561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Blu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3187" y="7900930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50364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4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16562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Bay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8352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category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8900" y="8702616"/>
            <a:ext cx="622300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category Luxury Business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3411" y="8864540"/>
            <a:ext cx="174625" cy="349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25" dirty="0">
                <a:latin typeface="Courier New"/>
                <a:cs typeface="Courier New"/>
              </a:rPr>
              <a:t>16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8900" y="9201729"/>
            <a:ext cx="1889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count,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7733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[89]: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733" y="36086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[90]: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733" y="393251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Out[90]: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7733" y="467927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[91]: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7733" y="553653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7733" y="58603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Out[92]: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7733" y="623185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7733" y="655570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Out[93]: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7733" y="839210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[94]: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7733" y="87159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Out[94]: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7620636"/>
            <a:ext cx="5610225" cy="25400"/>
            <a:chOff x="1371600" y="7620636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76206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8126096"/>
            <a:ext cx="5610225" cy="25400"/>
            <a:chOff x="1371600" y="8126096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812609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city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8683" y="989969"/>
          <a:ext cx="2628264" cy="95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Out[95]: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095"/>
                        </a:lnSpc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Hyderabad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950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count,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328737" y="20529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city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value_counts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plot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kind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"bar"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2416187"/>
            <a:ext cx="1591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xlabel='city'&gt;</a:t>
            </a:r>
            <a:endParaRPr sz="95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2724158"/>
            <a:ext cx="4914900" cy="45529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58900" y="7786180"/>
            <a:ext cx="21437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0" dirty="0">
                <a:latin typeface="Trebuchet MS"/>
                <a:cs typeface="Trebuchet MS"/>
              </a:rPr>
              <a:t>Explore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aggregate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bookings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318182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[95]: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209233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7733" y="241618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Out[96]: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733" y="835787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[97]: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38683" y="709612"/>
          <a:ext cx="6329042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Out[97]: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5812790"/>
            <a:ext cx="5848350" cy="276860"/>
            <a:chOff x="1323975" y="5812790"/>
            <a:chExt cx="5848350" cy="276860"/>
          </a:xfrm>
        </p:grpSpPr>
        <p:sp>
          <p:nvSpPr>
            <p:cNvPr id="4" name="object 4"/>
            <p:cNvSpPr/>
            <p:nvPr/>
          </p:nvSpPr>
          <p:spPr>
            <a:xfrm>
              <a:off x="1323975" y="5813418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581278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8900" y="1954954"/>
            <a:ext cx="22002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unique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property</a:t>
            </a:r>
            <a:r>
              <a:rPr sz="1050" b="1" spc="8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IDs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32791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property_id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nunique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2691751"/>
            <a:ext cx="39020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15995" algn="l"/>
              </a:tabLst>
            </a:pPr>
            <a:r>
              <a:rPr sz="950" dirty="0">
                <a:latin typeface="Courier New"/>
                <a:cs typeface="Courier New"/>
              </a:rPr>
              <a:t>&lt;bound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method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IndexOpsMixin.nunique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of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spc="-50" dirty="0">
                <a:latin typeface="Courier New"/>
                <a:cs typeface="Courier New"/>
              </a:rPr>
              <a:t>0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16559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2840340"/>
            <a:ext cx="100330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3649972"/>
            <a:ext cx="323850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20" dirty="0">
                <a:latin typeface="Courier New"/>
                <a:cs typeface="Courier New"/>
              </a:rPr>
              <a:t>9195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20" dirty="0">
                <a:latin typeface="Courier New"/>
                <a:cs typeface="Courier New"/>
              </a:rPr>
              <a:t>9199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5241" y="2840340"/>
            <a:ext cx="398145" cy="16452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19562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19563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17558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16558</a:t>
            </a:r>
            <a:endParaRPr sz="950">
              <a:latin typeface="Courier New"/>
              <a:cs typeface="Courier New"/>
            </a:endParaRPr>
          </a:p>
          <a:p>
            <a:pPr marL="12700" marR="5080">
              <a:lnSpc>
                <a:spcPct val="111800"/>
              </a:lnSpc>
            </a:pPr>
            <a:r>
              <a:rPr sz="950" spc="-25" dirty="0">
                <a:latin typeface="Courier New"/>
                <a:cs typeface="Courier New"/>
              </a:rPr>
              <a:t>... </a:t>
            </a:r>
            <a:r>
              <a:rPr sz="950" spc="-10" dirty="0">
                <a:latin typeface="Courier New"/>
                <a:cs typeface="Courier New"/>
              </a:rPr>
              <a:t>16563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16559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17558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19563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17561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4472936"/>
            <a:ext cx="34544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property_id,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Length: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9200,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47472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'property_id'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7733" y="5111113"/>
            <a:ext cx="3687445" cy="519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Out[99]:</a:t>
            </a:r>
            <a:r>
              <a:rPr sz="950" spc="34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25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Courier New"/>
              <a:cs typeface="Courier New"/>
            </a:endParaRPr>
          </a:p>
          <a:p>
            <a:pPr marL="713740">
              <a:lnSpc>
                <a:spcPct val="100000"/>
              </a:lnSpc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total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65" dirty="0">
                <a:latin typeface="Trebuchet MS"/>
                <a:cs typeface="Trebuchet MS"/>
              </a:rPr>
              <a:t>property_id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585787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'property_id'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reset_inde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7733" y="236789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733" y="26917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Out[98]: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7733" y="47872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[99]: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85787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3463923" cy="683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4693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4820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7211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5053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6142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5183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3424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6337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3982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5256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6638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6458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6079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5736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5812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8900" y="7850185"/>
            <a:ext cx="44557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days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on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which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are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greater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8223185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82631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[101…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549388" cy="181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12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41.0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4136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50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6209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8522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3836956"/>
          <a:ext cx="6549388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328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89305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428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8728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27-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8828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8928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9028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9128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50.0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371600" y="7699283"/>
            <a:ext cx="5610225" cy="25400"/>
            <a:chOff x="1371600" y="7699283"/>
            <a:chExt cx="5610225" cy="25400"/>
          </a:xfrm>
        </p:grpSpPr>
        <p:sp>
          <p:nvSpPr>
            <p:cNvPr id="5" name="object 5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1600" y="769928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71600" y="8300755"/>
            <a:ext cx="5610225" cy="25400"/>
            <a:chOff x="1371600" y="8300755"/>
            <a:chExt cx="5610225" cy="25400"/>
          </a:xfrm>
        </p:grpSpPr>
        <p:sp>
          <p:nvSpPr>
            <p:cNvPr id="9" name="object 9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71600" y="8300755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58900" y="2758850"/>
            <a:ext cx="35344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out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properties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have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highest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3131820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max_capacity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7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b="1" spc="2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max_capacity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1275" y="7130767"/>
            <a:ext cx="14319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8900" y="7912877"/>
            <a:ext cx="217360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2.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70" dirty="0">
                <a:latin typeface="Trebuchet MS"/>
                <a:cs typeface="Trebuchet MS"/>
              </a:rPr>
              <a:t> </a:t>
            </a:r>
            <a:r>
              <a:rPr sz="1500" spc="90" dirty="0">
                <a:latin typeface="Trebuchet MS"/>
                <a:cs typeface="Trebuchet MS"/>
              </a:rPr>
              <a:t>Cleaning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49312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31717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853253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[103…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562723" cy="235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8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no_guests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revenue_generated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revenu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count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134590.000000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134587.000000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56683.000000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1.345900e+05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1345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0" dirty="0">
                          <a:latin typeface="Trebuchet MS"/>
                          <a:cs typeface="Trebuchet MS"/>
                        </a:rPr>
                        <a:t>mean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18061.113493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2.036170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3.619004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1.537805e+04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0" dirty="0">
                          <a:latin typeface="Trebuchet MS"/>
                          <a:cs typeface="Trebuchet MS"/>
                        </a:rPr>
                        <a:t>std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1093.055847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1.034885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1.235009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9.303604e+04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69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min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16558.000000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950" spc="75" dirty="0">
                          <a:latin typeface="Trebuchet MS"/>
                          <a:cs typeface="Trebuchet MS"/>
                        </a:rPr>
                        <a:t>17.000000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6.500000e+03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25%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17558.000000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9.900000e+03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76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50%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17564.000000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4.000000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1.350000e+04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50" dirty="0">
                          <a:latin typeface="Trebuchet MS"/>
                          <a:cs typeface="Trebuchet MS"/>
                        </a:rPr>
                        <a:t>75%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18563.000000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1.800000e+04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25" dirty="0">
                          <a:latin typeface="Trebuchet MS"/>
                          <a:cs typeface="Trebuchet MS"/>
                        </a:rPr>
                        <a:t>max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19563.000000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6.000000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5.000000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0" dirty="0">
                          <a:latin typeface="Trebuchet MS"/>
                          <a:cs typeface="Trebuchet MS"/>
                        </a:rPr>
                        <a:t>2.856000e+07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452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4049033"/>
          <a:ext cx="6566534" cy="255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Out[104…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marR="12065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3309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17924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May122218559RT44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3309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18020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May122218561RT22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18119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May122218562RT311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5/5/2022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18121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May122218562RT313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10/5/2022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12/5/2022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95325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56715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Jun082218562RT12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5/6/2022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8/6/2022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119765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Jul202219560RT220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19-07-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900" y="3294780"/>
            <a:ext cx="180593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(1)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Clean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invalid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guests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36677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no_guests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689990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7263677"/>
            <a:ext cx="9201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(134590,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7597492"/>
            <a:ext cx="31318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(2)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Outlier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removal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generated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79705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min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max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8334289"/>
            <a:ext cx="27095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(np.int64(6500),</a:t>
            </a:r>
            <a:r>
              <a:rPr sz="950" spc="1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np.int64(28560000))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866584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9029616"/>
            <a:ext cx="39020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(np.float64(15378.05412734973),</a:t>
            </a:r>
            <a:r>
              <a:rPr sz="950" spc="3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np.float64(13500.0))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370772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693982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726367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80104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83342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870576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902961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Out[107…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66077"/>
                  </a:lnTo>
                  <a:lnTo>
                    <a:pt x="5848350" y="266077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323975" y="3973200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5848350" y="0"/>
                </a:moveTo>
                <a:lnTo>
                  <a:pt x="0" y="0"/>
                </a:lnTo>
                <a:lnTo>
                  <a:pt x="0" y="9525"/>
                </a:lnTo>
                <a:lnTo>
                  <a:pt x="5848350" y="9525"/>
                </a:lnTo>
                <a:lnTo>
                  <a:pt x="584835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5475" y="4587563"/>
          <a:ext cx="6567168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marR="12065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8829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4/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May012216559RT32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29-04-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315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May012216562RT22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4/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562</a:t>
                      </a:r>
                      <a:r>
                        <a:rPr sz="950" b="1" spc="204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May012217559RT118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26-04-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129176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Jul282216562RT26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323975" y="9152876"/>
            <a:ext cx="5848350" cy="276225"/>
            <a:chOff x="1323975" y="9152876"/>
            <a:chExt cx="5848350" cy="276225"/>
          </a:xfrm>
        </p:grpSpPr>
        <p:sp>
          <p:nvSpPr>
            <p:cNvPr id="8" name="object 8"/>
            <p:cNvSpPr/>
            <p:nvPr/>
          </p:nvSpPr>
          <p:spPr>
            <a:xfrm>
              <a:off x="1323975" y="9152876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23975" y="915288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75590"/>
                  </a:lnTo>
                  <a:lnTo>
                    <a:pt x="9525" y="27559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75590"/>
                  </a:lnTo>
                  <a:lnTo>
                    <a:pt x="5848350" y="2755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8900" y="64453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4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std</a:t>
            </a:r>
            <a:r>
              <a:rPr sz="950" spc="14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4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(),</a:t>
            </a:r>
            <a:r>
              <a:rPr sz="950" spc="14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97631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std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1339857"/>
            <a:ext cx="46475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(np.float64(15378.05412734973),</a:t>
            </a:r>
            <a:r>
              <a:rPr sz="950" spc="3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np.float64(93036.03867095453))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167195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3850004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std higher_limit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2197110"/>
            <a:ext cx="22618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np.float64(294486.17014021333)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252920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392430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lower_limit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avg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2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20" dirty="0">
                <a:solidFill>
                  <a:srgbClr val="202020"/>
                </a:solidFill>
                <a:latin typeface="Courier New"/>
                <a:cs typeface="Courier New"/>
              </a:rPr>
              <a:t>std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lower_limit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8900" y="3054362"/>
            <a:ext cx="22618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np.float64(294486.17014021333)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33864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7012" y="3745558"/>
            <a:ext cx="5685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95" dirty="0">
                <a:latin typeface="Trebuchet MS"/>
                <a:cs typeface="Trebuchet MS"/>
              </a:rPr>
              <a:t>booking_id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booking_date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75" dirty="0">
                <a:latin typeface="Trebuchet MS"/>
                <a:cs typeface="Trebuchet MS"/>
              </a:rPr>
              <a:t>check_in_date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90" dirty="0">
                <a:latin typeface="Trebuchet MS"/>
                <a:cs typeface="Trebuchet MS"/>
              </a:rPr>
              <a:t>checkout_date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0" dirty="0">
                <a:latin typeface="Trebuchet MS"/>
                <a:cs typeface="Trebuchet MS"/>
              </a:rPr>
              <a:t>no_gues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8737" y="420687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8737" y="636650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56959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8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revenue_generated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&lt;=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8900" y="6892272"/>
            <a:ext cx="9201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(134585,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12)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28737" y="722375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9783" y="7574264"/>
            <a:ext cx="995044" cy="13214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134585.000000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12696.095025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6928.058192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2600.000000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7600.000000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11700.000000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15300.000000</a:t>
            </a:r>
            <a:endParaRPr sz="95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45220.000000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8900" y="8883007"/>
            <a:ext cx="28581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525" y="7574264"/>
            <a:ext cx="1112520" cy="13214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Out[115…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  <a:p>
            <a:pPr marL="727075" marR="79375">
              <a:lnSpc>
                <a:spcPct val="111800"/>
              </a:lnSpc>
            </a:pPr>
            <a:r>
              <a:rPr sz="950" spc="-20" dirty="0">
                <a:latin typeface="Courier New"/>
                <a:cs typeface="Courier New"/>
              </a:rPr>
              <a:t>mean </a:t>
            </a:r>
            <a:r>
              <a:rPr sz="950" spc="-25" dirty="0">
                <a:latin typeface="Courier New"/>
                <a:cs typeface="Courier New"/>
              </a:rPr>
              <a:t>std min 25%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50%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75%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spc="-25" dirty="0">
                <a:latin typeface="Courier New"/>
                <a:cs typeface="Courier New"/>
              </a:rPr>
              <a:t>max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900" y="9197333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9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+</a:t>
            </a:r>
            <a:r>
              <a:rPr sz="950" b="1" spc="29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4525" y="101600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[109…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Out[109…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4525" y="171133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4525" y="219711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256858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30543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34258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525" y="374969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4525" y="42462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525" y="64064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4525" y="689227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4525" y="726374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4525" y="919733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[116…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5838825" y="0"/>
                  </a:lnTo>
                  <a:lnTo>
                    <a:pt x="5838825" y="266700"/>
                  </a:lnTo>
                  <a:lnTo>
                    <a:pt x="9525" y="2667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1681165"/>
          <a:ext cx="6548119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checkou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7/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2/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3/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149</a:t>
                      </a:r>
                      <a:r>
                        <a:rPr sz="950" b="1" spc="204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May012216559RT413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24-04-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7/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461009" algn="l"/>
                        </a:tabLst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May012216560RT45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3/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150050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134331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Jul312219560RT412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134467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Jul312219562RT45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4676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134474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Jul312219562RT412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25-07-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6/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25500" algn="l"/>
                        </a:tabLst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134586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Jul312217564RT47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31-07-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1/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5475" y="6167383"/>
          <a:ext cx="2478403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Out[119…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room_id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room_class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Elite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Premium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Presidential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33500" y="644530"/>
            <a:ext cx="5829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0" y="968381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np.float64(33480.26960155918)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130016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spc="25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5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higher_limit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1275" y="4974977"/>
            <a:ext cx="16865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1300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0" dirty="0">
                <a:latin typeface="Trebuchet MS"/>
                <a:cs typeface="Trebuchet MS"/>
              </a:rPr>
              <a:t>12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4146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spc="6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"dim_rooms.csv"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578612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76784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room_category</a:t>
            </a:r>
            <a:r>
              <a:rPr sz="950" spc="44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"RT4"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revenue_realized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describe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96838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Out[116…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545459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582607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[119…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771834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13742"/>
          <a:ext cx="6633209" cy="6547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R="35560" algn="ctr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16073.000000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23440.103652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3528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9048.865206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3528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7600.000000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19000.000000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26600.000000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32300.000000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5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Name: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260350" marR="31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45220.000000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36830" marR="317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revenue_realized,</a:t>
                      </a:r>
                      <a:r>
                        <a:rPr sz="950" spc="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1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2439</a:t>
                      </a:r>
                      <a:r>
                        <a:rPr sz="950" spc="4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950" b="1" spc="45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950" spc="-10" dirty="0">
                          <a:solidFill>
                            <a:srgbClr val="008800"/>
                          </a:solidFill>
                          <a:latin typeface="Courier New"/>
                          <a:cs typeface="Courier New"/>
                        </a:rPr>
                        <a:t>9048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29583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booking_id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"May012216558RT213"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953769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booking_id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85" dirty="0">
                          <a:latin typeface="Trebuchet MS"/>
                          <a:cs typeface="Trebuchet MS"/>
                        </a:rPr>
                        <a:t>property_id</a:t>
                      </a:r>
                      <a:r>
                        <a:rPr sz="950" b="1" spc="215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105" dirty="0">
                          <a:latin typeface="Trebuchet MS"/>
                          <a:cs typeface="Trebuchet MS"/>
                        </a:rPr>
                        <a:t>booking_date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0795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0795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5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2238375" algn="l"/>
                          <a:tab pos="3131820" algn="l"/>
                          <a:tab pos="4232275" algn="l"/>
                        </a:tabLst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5" dirty="0">
                          <a:latin typeface="Trebuchet MS"/>
                          <a:cs typeface="Trebuchet MS"/>
                        </a:rPr>
                        <a:t>May012216558RT213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29-04-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isnull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457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/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88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booking_id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checkout_date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no_guests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60782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ratings_given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77905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booking_status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  <a:p>
                      <a:pPr marL="42545" marR="2861945">
                        <a:lnSpc>
                          <a:spcPct val="111800"/>
                        </a:lnSpc>
                        <a:tabLst>
                          <a:tab pos="1906270" algn="l"/>
                        </a:tabLst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50" dirty="0"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12395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df_agg_bookings</a:t>
                      </a:r>
                      <a:r>
                        <a:rPr sz="950" spc="105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950" b="1" spc="105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pd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read_csv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"fact_aggregated_bookings.csv"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4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950" spc="35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[125…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R w="9525">
                      <a:solidFill>
                        <a:srgbClr val="DFDFD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df_agg_bookings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FDFDF"/>
                      </a:solidFill>
                      <a:prstDash val="solid"/>
                    </a:lnL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12700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11275" y="4003424"/>
            <a:ext cx="16014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9200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44430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isnull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4793560"/>
            <a:ext cx="2156460" cy="9975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Out[126…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property_id</a:t>
            </a:r>
            <a:endParaRPr sz="950">
              <a:latin typeface="Courier New"/>
              <a:cs typeface="Courier New"/>
            </a:endParaRPr>
          </a:p>
          <a:p>
            <a:pPr marL="727075" marR="5080">
              <a:lnSpc>
                <a:spcPct val="111800"/>
              </a:lnSpc>
            </a:pPr>
            <a:r>
              <a:rPr sz="950" spc="-10" dirty="0">
                <a:latin typeface="Courier New"/>
                <a:cs typeface="Courier New"/>
              </a:rPr>
              <a:t>check_in_date room_category successful_bookings capacity</a:t>
            </a:r>
            <a:endParaRPr sz="950">
              <a:latin typeface="Courier New"/>
              <a:cs typeface="Courier New"/>
            </a:endParaRPr>
          </a:p>
          <a:p>
            <a:pPr marL="72707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381" y="4793560"/>
            <a:ext cx="100330" cy="8350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latin typeface="Courier New"/>
                <a:cs typeface="Courier New"/>
              </a:rPr>
              <a:t>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58908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525" y="44830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525" y="593085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[127…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309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948055" algn="l"/>
                        </a:tabLst>
                      </a:pPr>
                      <a:r>
                        <a:rPr sz="950" b="1" spc="-25" dirty="0">
                          <a:latin typeface="Trebuchet MS"/>
                          <a:cs typeface="Trebuchet MS"/>
                        </a:rPr>
                        <a:t>...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25" dirty="0">
                          <a:latin typeface="Trebuchet MS"/>
                          <a:cs typeface="Trebuchet MS"/>
                        </a:rPr>
                        <a:t>...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9195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9197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9198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7403733"/>
          <a:ext cx="6623050" cy="181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Out[129…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70294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12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41.0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4136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50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6209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8522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875665" algn="l"/>
                        </a:tabLst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9194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18.0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11275" y="4003424"/>
            <a:ext cx="32023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10" dirty="0">
                <a:latin typeface="Trebuchet MS"/>
                <a:cs typeface="Trebuchet MS"/>
              </a:rPr>
              <a:t>9200</a:t>
            </a:r>
            <a:r>
              <a:rPr sz="1050" spc="1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rows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×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114" dirty="0">
                <a:latin typeface="Trebuchet MS"/>
                <a:cs typeface="Trebuchet MS"/>
              </a:rPr>
              <a:t>5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columns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5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</a:pPr>
            <a:r>
              <a:rPr sz="1050" b="1" spc="114" dirty="0">
                <a:latin typeface="Trebuchet MS"/>
                <a:cs typeface="Trebuchet MS"/>
              </a:rPr>
              <a:t>Handle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null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values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aggregate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bookings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737" y="4818379"/>
            <a:ext cx="5876925" cy="10763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66065" marR="970280" indent="-224154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7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fillna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 marR="2159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340995" indent="-298450">
              <a:lnSpc>
                <a:spcPct val="1118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median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 marR="21590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6001776"/>
            <a:ext cx="3041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Find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records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where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30" dirty="0">
                <a:latin typeface="Trebuchet MS"/>
                <a:cs typeface="Trebuchet MS"/>
              </a:rPr>
              <a:t>bookings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260" dirty="0">
                <a:latin typeface="Trebuchet MS"/>
                <a:cs typeface="Trebuchet MS"/>
              </a:rPr>
              <a:t>&gt;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capacity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6374765"/>
            <a:ext cx="5838825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40995" marR="420370" indent="-29845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df_invalid_bookings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3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&gt;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df_invalid_bookings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525" y="48583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525" y="641472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[129…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1804037"/>
            <a:ext cx="5610225" cy="25400"/>
            <a:chOff x="1371600" y="1804037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1804037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2405509"/>
            <a:ext cx="5610225" cy="25400"/>
            <a:chOff x="1371600" y="2405509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2405509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5475" y="3353883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323975" y="4592320"/>
            <a:ext cx="5848350" cy="276860"/>
            <a:chOff x="1323975" y="4592320"/>
            <a:chExt cx="5848350" cy="276860"/>
          </a:xfrm>
        </p:grpSpPr>
        <p:sp>
          <p:nvSpPr>
            <p:cNvPr id="12" name="object 12"/>
            <p:cNvSpPr/>
            <p:nvPr/>
          </p:nvSpPr>
          <p:spPr>
            <a:xfrm>
              <a:off x="1323975" y="4592430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3975" y="459231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9525" y="10160"/>
                  </a:move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close/>
                </a:path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9639"/>
                  </a:lnTo>
                  <a:lnTo>
                    <a:pt x="5838825" y="9639"/>
                  </a:lnTo>
                  <a:lnTo>
                    <a:pt x="5838825" y="266814"/>
                  </a:lnTo>
                  <a:lnTo>
                    <a:pt x="0" y="266814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6814"/>
                  </a:lnTo>
                  <a:lnTo>
                    <a:pt x="5848350" y="9639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323975" y="4963906"/>
            <a:ext cx="5848350" cy="600075"/>
            <a:chOff x="1323975" y="4963906"/>
            <a:chExt cx="5848350" cy="600075"/>
          </a:xfrm>
        </p:grpSpPr>
        <p:sp>
          <p:nvSpPr>
            <p:cNvPr id="15" name="object 15"/>
            <p:cNvSpPr/>
            <p:nvPr/>
          </p:nvSpPr>
          <p:spPr>
            <a:xfrm>
              <a:off x="1323975" y="4963906"/>
              <a:ext cx="5848350" cy="600075"/>
            </a:xfrm>
            <a:custGeom>
              <a:avLst/>
              <a:gdLst/>
              <a:ahLst/>
              <a:cxnLst/>
              <a:rect l="l" t="t" r="r" b="b"/>
              <a:pathLst>
                <a:path w="5848350" h="600075">
                  <a:moveTo>
                    <a:pt x="5848350" y="0"/>
                  </a:moveTo>
                  <a:lnTo>
                    <a:pt x="0" y="0"/>
                  </a:lnTo>
                  <a:lnTo>
                    <a:pt x="0" y="600077"/>
                  </a:lnTo>
                  <a:lnTo>
                    <a:pt x="5848350" y="600077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23975" y="4964429"/>
              <a:ext cx="5848350" cy="599440"/>
            </a:xfrm>
            <a:custGeom>
              <a:avLst/>
              <a:gdLst/>
              <a:ahLst/>
              <a:cxnLst/>
              <a:rect l="l" t="t" r="r" b="b"/>
              <a:pathLst>
                <a:path w="5848350" h="599439">
                  <a:moveTo>
                    <a:pt x="5848350" y="9004"/>
                  </a:moveTo>
                  <a:lnTo>
                    <a:pt x="5838825" y="9004"/>
                  </a:lnTo>
                  <a:lnTo>
                    <a:pt x="5838825" y="590029"/>
                  </a:lnTo>
                  <a:lnTo>
                    <a:pt x="5848350" y="590029"/>
                  </a:lnTo>
                  <a:lnTo>
                    <a:pt x="5848350" y="9004"/>
                  </a:lnTo>
                  <a:close/>
                </a:path>
                <a:path w="5848350" h="59943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590550"/>
                  </a:lnTo>
                  <a:lnTo>
                    <a:pt x="0" y="599440"/>
                  </a:lnTo>
                  <a:lnTo>
                    <a:pt x="5848350" y="599440"/>
                  </a:lnTo>
                  <a:lnTo>
                    <a:pt x="5848350" y="590550"/>
                  </a:lnTo>
                  <a:lnTo>
                    <a:pt x="9525" y="59055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25475" y="5673522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Out[133…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1323975" y="6912068"/>
            <a:ext cx="5848350" cy="438784"/>
            <a:chOff x="1323975" y="6912068"/>
            <a:chExt cx="5848350" cy="438784"/>
          </a:xfrm>
        </p:grpSpPr>
        <p:sp>
          <p:nvSpPr>
            <p:cNvPr id="19" name="object 19"/>
            <p:cNvSpPr/>
            <p:nvPr/>
          </p:nvSpPr>
          <p:spPr>
            <a:xfrm>
              <a:off x="1323975" y="6912068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3975" y="691260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091"/>
                  </a:lnTo>
                  <a:lnTo>
                    <a:pt x="5848350" y="8991"/>
                  </a:lnTo>
                  <a:lnTo>
                    <a:pt x="5838825" y="8991"/>
                  </a:lnTo>
                  <a:lnTo>
                    <a:pt x="5838825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25475" y="7459759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2870" marR="12065"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358900" y="606869"/>
            <a:ext cx="28549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00" dirty="0">
                <a:latin typeface="Trebuchet MS"/>
                <a:cs typeface="Trebuchet MS"/>
              </a:rPr>
              <a:t>Create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percentage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column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28737" y="980122"/>
            <a:ext cx="5838825" cy="59118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420370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'occupancy_pct'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/</a:t>
            </a:r>
            <a:r>
              <a:rPr sz="950" b="1" spc="24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'capacity'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spc="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*</a:t>
            </a:r>
            <a:r>
              <a:rPr sz="950" b="1" spc="2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008800"/>
                </a:solidFill>
                <a:latin typeface="Courier New"/>
                <a:cs typeface="Courier New"/>
              </a:rPr>
              <a:t>100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8900" y="2017631"/>
            <a:ext cx="2854960" cy="767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3.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spc="120" dirty="0">
                <a:latin typeface="Trebuchet MS"/>
                <a:cs typeface="Trebuchet MS"/>
              </a:rPr>
              <a:t>Data</a:t>
            </a:r>
            <a:r>
              <a:rPr sz="1500" spc="70" dirty="0">
                <a:latin typeface="Trebuchet MS"/>
                <a:cs typeface="Trebuchet MS"/>
              </a:rPr>
              <a:t> </a:t>
            </a:r>
            <a:r>
              <a:rPr sz="1500" spc="50" dirty="0">
                <a:latin typeface="Trebuchet MS"/>
                <a:cs typeface="Trebuchet MS"/>
              </a:rPr>
              <a:t>Transformation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100" dirty="0">
                <a:latin typeface="Trebuchet MS"/>
                <a:cs typeface="Trebuchet MS"/>
              </a:rPr>
              <a:t>Create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percentage</a:t>
            </a:r>
            <a:r>
              <a:rPr sz="1050" b="1" spc="7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column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8737" y="2972817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900" y="463688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1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18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8900" y="5008361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new_col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3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1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13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'successful_bookings'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/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58900" y="5156952"/>
            <a:ext cx="479679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spc="10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assign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occ_pct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new_col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8900" y="695652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1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1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apply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lambda</a:t>
            </a:r>
            <a:r>
              <a:rPr sz="950" b="1" spc="2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x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:</a:t>
            </a:r>
            <a:r>
              <a:rPr sz="950" spc="21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8900" y="7118451"/>
            <a:ext cx="17405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28737" y="870303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10198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301257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46368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4525" y="500836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4525" y="695652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525" y="87427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00" y="3143263"/>
            <a:ext cx="5610225" cy="25400"/>
            <a:chOff x="1371600" y="3143263"/>
            <a:chExt cx="5610225" cy="25400"/>
          </a:xfrm>
        </p:grpSpPr>
        <p:sp>
          <p:nvSpPr>
            <p:cNvPr id="3" name="object 3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3143263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71600" y="3744736"/>
            <a:ext cx="5610225" cy="25400"/>
            <a:chOff x="1371600" y="3744736"/>
            <a:chExt cx="5610225" cy="25400"/>
          </a:xfrm>
        </p:grpSpPr>
        <p:sp>
          <p:nvSpPr>
            <p:cNvPr id="7" name="object 7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2700" y="12700"/>
                  </a:lnTo>
                  <a:lnTo>
                    <a:pt x="5597525" y="127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3744736"/>
              <a:ext cx="5610225" cy="25400"/>
            </a:xfrm>
            <a:custGeom>
              <a:avLst/>
              <a:gdLst/>
              <a:ahLst/>
              <a:cxnLst/>
              <a:rect l="l" t="t" r="r" b="b"/>
              <a:pathLst>
                <a:path w="5610225" h="25400">
                  <a:moveTo>
                    <a:pt x="5610225" y="0"/>
                  </a:moveTo>
                  <a:lnTo>
                    <a:pt x="5597525" y="12700"/>
                  </a:lnTo>
                  <a:lnTo>
                    <a:pt x="12700" y="12700"/>
                  </a:lnTo>
                  <a:lnTo>
                    <a:pt x="0" y="25400"/>
                  </a:lnTo>
                  <a:lnTo>
                    <a:pt x="5610225" y="25400"/>
                  </a:lnTo>
                  <a:lnTo>
                    <a:pt x="5610225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5475" y="4693108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Out[136…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323975" y="7379461"/>
            <a:ext cx="5848350" cy="438784"/>
            <a:chOff x="1323975" y="7379461"/>
            <a:chExt cx="5848350" cy="438784"/>
          </a:xfrm>
        </p:grpSpPr>
        <p:sp>
          <p:nvSpPr>
            <p:cNvPr id="12" name="object 12"/>
            <p:cNvSpPr/>
            <p:nvPr/>
          </p:nvSpPr>
          <p:spPr>
            <a:xfrm>
              <a:off x="1323975" y="7379461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3975" y="737996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9017"/>
                  </a:moveTo>
                  <a:lnTo>
                    <a:pt x="5838825" y="9017"/>
                  </a:lnTo>
                  <a:lnTo>
                    <a:pt x="5838825" y="428129"/>
                  </a:lnTo>
                  <a:lnTo>
                    <a:pt x="0" y="428129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129"/>
                  </a:lnTo>
                  <a:lnTo>
                    <a:pt x="5848350" y="9017"/>
                  </a:lnTo>
                  <a:close/>
                </a:path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25475" y="7927152"/>
          <a:ext cx="6642099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Out[138…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capacity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b="1" spc="7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4775" marR="1206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L="104775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05410" marR="1206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244600" y="621669"/>
            <a:ext cx="3007360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860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20" dirty="0">
                <a:latin typeface="Courier New"/>
                <a:cs typeface="Courier New"/>
              </a:rPr>
              <a:t>9199 </a:t>
            </a: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7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950720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75397" y="1120782"/>
            <a:ext cx="398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57300" y="1385305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>
                <a:moveTo>
                  <a:pt x="0" y="0"/>
                </a:moveTo>
                <a:lnTo>
                  <a:pt x="22362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30013" y="1385305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95409" y="1385305"/>
            <a:ext cx="1043940" cy="0"/>
          </a:xfrm>
          <a:custGeom>
            <a:avLst/>
            <a:gdLst/>
            <a:ahLst/>
            <a:cxnLst/>
            <a:rect l="l" t="t" r="r" b="b"/>
            <a:pathLst>
              <a:path w="1043939">
                <a:moveTo>
                  <a:pt x="0" y="0"/>
                </a:moveTo>
                <a:lnTo>
                  <a:pt x="104359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88091" y="1385305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19149" y="1431298"/>
            <a:ext cx="1739900" cy="1159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10515" indent="-297815">
              <a:lnSpc>
                <a:spcPct val="100000"/>
              </a:lnSpc>
              <a:spcBef>
                <a:spcPts val="229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property_id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check_in_date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room_category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successful_bookings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capacity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occupancy_pct</a:t>
            </a:r>
            <a:endParaRPr sz="950">
              <a:latin typeface="Courier New"/>
              <a:cs typeface="Courier New"/>
            </a:endParaRPr>
          </a:p>
          <a:p>
            <a:pPr marL="310515" indent="-297815">
              <a:lnSpc>
                <a:spcPct val="100000"/>
              </a:lnSpc>
              <a:spcBef>
                <a:spcPts val="135"/>
              </a:spcBef>
              <a:buAutoNum type="arabicPlain"/>
              <a:tabLst>
                <a:tab pos="310515" algn="l"/>
              </a:tabLst>
            </a:pPr>
            <a:r>
              <a:rPr sz="950" spc="-10" dirty="0">
                <a:latin typeface="Courier New"/>
                <a:cs typeface="Courier New"/>
              </a:rPr>
              <a:t>occ_pct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2715" y="1431298"/>
            <a:ext cx="995044" cy="11595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9200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non-</a:t>
            </a:r>
            <a:r>
              <a:rPr sz="950" spc="-20" dirty="0">
                <a:latin typeface="Courier New"/>
                <a:cs typeface="Courier New"/>
              </a:rPr>
              <a:t>null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5397" y="1431298"/>
            <a:ext cx="547370" cy="115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int64 object object int64 float64 float64 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4600" y="2564779"/>
            <a:ext cx="2933065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float64(3),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int64(2),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object(2)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503.2+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KB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8900" y="3356857"/>
            <a:ext cx="5291455" cy="7677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465" dirty="0">
                <a:latin typeface="Trebuchet MS"/>
                <a:cs typeface="Trebuchet MS"/>
              </a:rPr>
              <a:t>==&gt;</a:t>
            </a:r>
            <a:r>
              <a:rPr sz="1500" spc="6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4.</a:t>
            </a:r>
            <a:r>
              <a:rPr sz="1500" spc="65" dirty="0">
                <a:latin typeface="Trebuchet MS"/>
                <a:cs typeface="Trebuchet MS"/>
              </a:rPr>
              <a:t> </a:t>
            </a:r>
            <a:r>
              <a:rPr sz="1500" spc="95" dirty="0">
                <a:latin typeface="Trebuchet MS"/>
                <a:cs typeface="Trebuchet MS"/>
              </a:rPr>
              <a:t>Insights</a:t>
            </a:r>
            <a:r>
              <a:rPr sz="1500" spc="80" dirty="0">
                <a:latin typeface="Trebuchet MS"/>
                <a:cs typeface="Trebuchet MS"/>
              </a:rPr>
              <a:t> </a:t>
            </a:r>
            <a:r>
              <a:rPr sz="1500" spc="70" dirty="0">
                <a:latin typeface="Trebuchet MS"/>
                <a:cs typeface="Trebuchet MS"/>
              </a:rPr>
              <a:t>Generation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50" b="1" spc="55" dirty="0">
                <a:latin typeface="Trebuchet MS"/>
                <a:cs typeface="Trebuchet MS"/>
              </a:rPr>
              <a:t>1.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What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is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an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rate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in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each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room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categories?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8737" y="431228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28737" y="593661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4525" y="6299961"/>
            <a:ext cx="17094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Out[137…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room_category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1339850" y="6483475"/>
          <a:ext cx="2301875" cy="79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58.232748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Name: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occ_pct,</a:t>
                      </a:r>
                      <a:r>
                        <a:rPr sz="950" spc="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1358900" y="7423918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15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df_rooms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right_on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8900" y="7585844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525" y="435180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525" y="597611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4525" y="742391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[138…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1147764"/>
          <a:ext cx="6642099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Out[139…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6135987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5"/>
                </a:lnTo>
                <a:lnTo>
                  <a:pt x="3672064" y="9525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5475" y="7716172"/>
          <a:ext cx="664400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28737" y="605155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288036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drop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"room_id"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axis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008800"/>
                </a:solidFill>
                <a:latin typeface="Courier New"/>
                <a:cs typeface="Courier New"/>
              </a:rPr>
              <a:t>1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inplace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26587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"room_class"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475" y="3044171"/>
          <a:ext cx="3016250" cy="95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095"/>
                        </a:lnSpc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room_class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Elite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Premium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58.232748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950" spc="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occ_pct,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950" spc="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28737" y="410654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room_class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"Standard"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occ_pct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4470389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np.float64(58.23274782608696)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4804205"/>
            <a:ext cx="30524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55" dirty="0">
                <a:latin typeface="Trebuchet MS"/>
                <a:cs typeface="Trebuchet MS"/>
              </a:rPr>
              <a:t>2.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rate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17715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"dim_hotels.csv"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554862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3187" y="5908347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3975" y="6413478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3187" y="6721767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717295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8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737" y="895921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[139…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269873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41465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447038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521715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4525" y="558862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525" y="591247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525" y="72129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4525" y="899917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2904180"/>
          <a:ext cx="393636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Out[147…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01-May-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02-May-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03-May-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3975" y="4762487"/>
          <a:ext cx="5945505" cy="1388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oc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spc="100" dirty="0">
                          <a:latin typeface="Trebuchet MS"/>
                          <a:cs typeface="Trebuchet MS"/>
                        </a:rPr>
                        <a:t>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900" y="678819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Bangalore Delhi Hyderabad Mumbai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7954" y="840744"/>
            <a:ext cx="69659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56.594207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61.606467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58.144651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57.943142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1501785"/>
            <a:ext cx="4451350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55" dirty="0">
                <a:latin typeface="Trebuchet MS"/>
                <a:cs typeface="Trebuchet MS"/>
              </a:rPr>
              <a:t>3.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When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was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better?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Weekday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Weekend?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15201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6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6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"dim_date.csv"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2523175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4147184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71882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spc="12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2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right_on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65100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"day_type"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"occ_pct"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6860494"/>
            <a:ext cx="622300" cy="51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latin typeface="Courier New"/>
                <a:cs typeface="Courier New"/>
              </a:rPr>
              <a:t>day_type weekeday weekend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3411" y="7022420"/>
            <a:ext cx="398145" cy="34925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50.90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72.39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7359609"/>
            <a:ext cx="494728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70" dirty="0">
                <a:latin typeface="Trebuchet MS"/>
                <a:cs typeface="Trebuchet MS"/>
              </a:rPr>
              <a:t>4: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In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dirty="0">
                <a:latin typeface="Trebuchet MS"/>
                <a:cs typeface="Trebuchet MS"/>
              </a:rPr>
              <a:t>June,</a:t>
            </a:r>
            <a:r>
              <a:rPr sz="1050" b="1" spc="80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what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is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occupancy</a:t>
            </a:r>
            <a:r>
              <a:rPr sz="1050" b="1" spc="8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for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80" dirty="0">
                <a:latin typeface="Trebuchet MS"/>
                <a:cs typeface="Trebuchet MS"/>
              </a:rPr>
              <a:t>different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cities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800925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88036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spc="10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"mmm</a:t>
            </a:r>
            <a:r>
              <a:rPr sz="950" spc="10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yy"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"Jun</a:t>
            </a:r>
            <a:r>
              <a:rPr sz="950" spc="10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BA2121"/>
                </a:solidFill>
                <a:latin typeface="Courier New"/>
                <a:cs typeface="Courier New"/>
              </a:rPr>
              <a:t>22"</a:t>
            </a:r>
            <a:r>
              <a:rPr sz="950" spc="-20" dirty="0">
                <a:solidFill>
                  <a:srgbClr val="0055AA"/>
                </a:solidFill>
                <a:latin typeface="Courier New"/>
                <a:cs typeface="Courier New"/>
              </a:rPr>
              <a:t>]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19139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56287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18718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467295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5499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[149…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68738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Out[149…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804921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781682"/>
          <a:ext cx="5924550" cy="1933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2203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Jun-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19.0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2936239"/>
            <a:ext cx="5848350" cy="276860"/>
            <a:chOff x="1323975" y="2936239"/>
            <a:chExt cx="5848350" cy="276860"/>
          </a:xfrm>
        </p:grpSpPr>
        <p:sp>
          <p:nvSpPr>
            <p:cNvPr id="4" name="object 4"/>
            <p:cNvSpPr/>
            <p:nvPr/>
          </p:nvSpPr>
          <p:spPr>
            <a:xfrm>
              <a:off x="1323975" y="293682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293623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296"/>
                  </a:lnTo>
                  <a:lnTo>
                    <a:pt x="0" y="267296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296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323975" y="4384040"/>
            <a:ext cx="5848350" cy="276860"/>
            <a:chOff x="1323975" y="4384040"/>
            <a:chExt cx="5848350" cy="276860"/>
          </a:xfrm>
        </p:grpSpPr>
        <p:sp>
          <p:nvSpPr>
            <p:cNvPr id="7" name="object 7"/>
            <p:cNvSpPr/>
            <p:nvPr/>
          </p:nvSpPr>
          <p:spPr>
            <a:xfrm>
              <a:off x="1323975" y="4384631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3975" y="438403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296"/>
                  </a:lnTo>
                  <a:lnTo>
                    <a:pt x="0" y="267296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296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58900" y="298128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ascending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3291796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Delhi Hyderabad Mumbai Bangalore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7954" y="3453720"/>
            <a:ext cx="39814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62.47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58.46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58.38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56.58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4114760"/>
            <a:ext cx="218757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occ_pct,</a:t>
            </a:r>
            <a:r>
              <a:rPr sz="950" spc="9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float64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0" y="4429087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df_june_22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'city'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'occ_pct'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2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sort_values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ascending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4752938"/>
            <a:ext cx="15913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&lt;Axes: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xlabel='city'&gt;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9812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330513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42908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47529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Out[152…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6482072"/>
          <a:ext cx="5924550" cy="1028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property_name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05" dirty="0">
                          <a:latin typeface="Trebuchet MS"/>
                          <a:cs typeface="Trebuchet MS"/>
                        </a:rPr>
                        <a:t>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room_class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0" dirty="0">
                          <a:latin typeface="Trebuchet MS"/>
                          <a:cs typeface="Trebuchet MS"/>
                        </a:rPr>
                        <a:t>Exotica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Luxury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Mumbai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Bay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Luxury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  <a:tabLst>
                          <a:tab pos="617220" algn="l"/>
                        </a:tabLst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dirty="0">
                          <a:latin typeface="Trebuchet MS"/>
                          <a:cs typeface="Trebuchet MS"/>
                        </a:rPr>
                        <a:t>Atliq</a:t>
                      </a:r>
                      <a:r>
                        <a:rPr sz="950" spc="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40" dirty="0">
                          <a:latin typeface="Trebuchet MS"/>
                          <a:cs typeface="Trebuchet MS"/>
                        </a:rPr>
                        <a:t>Palace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5" dirty="0">
                          <a:latin typeface="Trebuchet MS"/>
                          <a:cs typeface="Trebuchet MS"/>
                        </a:rPr>
                        <a:t>Business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60" dirty="0">
                          <a:latin typeface="Trebuchet MS"/>
                          <a:cs typeface="Trebuchet MS"/>
                        </a:rPr>
                        <a:t>Standard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8916644"/>
            <a:ext cx="5848350" cy="276225"/>
            <a:chOff x="1323975" y="8916644"/>
            <a:chExt cx="5848350" cy="276225"/>
          </a:xfrm>
        </p:grpSpPr>
        <p:sp>
          <p:nvSpPr>
            <p:cNvPr id="4" name="object 4"/>
            <p:cNvSpPr/>
            <p:nvPr/>
          </p:nvSpPr>
          <p:spPr>
            <a:xfrm>
              <a:off x="1323975" y="8916644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8916670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9499"/>
                  </a:moveTo>
                  <a:lnTo>
                    <a:pt x="5838825" y="9499"/>
                  </a:lnTo>
                  <a:lnTo>
                    <a:pt x="5838825" y="266687"/>
                  </a:lnTo>
                  <a:lnTo>
                    <a:pt x="5848350" y="266687"/>
                  </a:lnTo>
                  <a:lnTo>
                    <a:pt x="5848350" y="9499"/>
                  </a:lnTo>
                  <a:close/>
                </a:path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723900"/>
            <a:ext cx="4991100" cy="45529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58900" y="5493822"/>
            <a:ext cx="56019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70" dirty="0">
                <a:latin typeface="Trebuchet MS"/>
                <a:cs typeface="Trebuchet MS"/>
              </a:rPr>
              <a:t>5: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5" dirty="0">
                <a:latin typeface="Trebuchet MS"/>
                <a:cs typeface="Trebuchet MS"/>
              </a:rPr>
              <a:t>We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got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new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data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75" dirty="0">
                <a:latin typeface="Trebuchet MS"/>
                <a:cs typeface="Trebuchet MS"/>
              </a:rPr>
              <a:t>for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the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4" dirty="0">
                <a:latin typeface="Trebuchet MS"/>
                <a:cs typeface="Trebuchet MS"/>
              </a:rPr>
              <a:t>august.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Append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that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to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existing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data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586676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3590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spc="7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7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read_csv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"new_data_august.csv"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779716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525" y="8147659"/>
            <a:ext cx="6330950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48410" marR="5080" indent="-1236345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Out[154…</a:t>
            </a:r>
            <a:r>
              <a:rPr sz="950" spc="-5" dirty="0">
                <a:solidFill>
                  <a:srgbClr val="616161"/>
                </a:solidFill>
                <a:latin typeface="Courier New"/>
                <a:cs typeface="Courier New"/>
              </a:rPr>
              <a:t>  </a:t>
            </a:r>
            <a:r>
              <a:rPr sz="950" dirty="0">
                <a:latin typeface="Courier New"/>
                <a:cs typeface="Courier New"/>
              </a:rPr>
              <a:t>Index(['property_id',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'property_name',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14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'room_category', </a:t>
            </a:r>
            <a:r>
              <a:rPr sz="950" dirty="0">
                <a:latin typeface="Courier New"/>
                <a:cs typeface="Courier New"/>
              </a:rPr>
              <a:t>'room_class',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'check_in_date',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10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'day_type', </a:t>
            </a:r>
            <a:r>
              <a:rPr sz="950" dirty="0">
                <a:latin typeface="Courier New"/>
                <a:cs typeface="Courier New"/>
              </a:rPr>
              <a:t>'successful_bookings',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'capacity',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'occ%'],</a:t>
            </a:r>
            <a:endParaRPr sz="950">
              <a:latin typeface="Courier New"/>
              <a:cs typeface="Courier New"/>
            </a:endParaRPr>
          </a:p>
          <a:p>
            <a:pPr marL="1174115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4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[155…</a:t>
            </a:r>
            <a:r>
              <a:rPr sz="950" spc="409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525" y="590676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6392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783714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[154…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23975" y="3620142"/>
          <a:ext cx="5924550" cy="296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capacity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6499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31-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Jul-</a:t>
                      </a:r>
                      <a:r>
                        <a:rPr sz="950" spc="-2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30" dirty="0">
                          <a:latin typeface="Trebuchet MS"/>
                          <a:cs typeface="Trebuchet MS"/>
                        </a:rPr>
                        <a:t>4.0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30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40.0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26.0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6506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01-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Aug-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16.0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58900" y="678819"/>
            <a:ext cx="5765800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367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Index(['property_id',</a:t>
            </a:r>
            <a:r>
              <a:rPr sz="950" spc="21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'check_in_date',</a:t>
            </a:r>
            <a:r>
              <a:rPr sz="950" spc="2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'room_category',</a:t>
            </a:r>
            <a:r>
              <a:rPr sz="950" spc="21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'successful_booking </a:t>
            </a:r>
            <a:r>
              <a:rPr sz="950" spc="-25" dirty="0">
                <a:latin typeface="Courier New"/>
                <a:cs typeface="Courier New"/>
              </a:rPr>
              <a:t>s',</a:t>
            </a:r>
            <a:endParaRPr sz="950">
              <a:latin typeface="Courier New"/>
              <a:cs typeface="Courier New"/>
            </a:endParaRPr>
          </a:p>
          <a:p>
            <a:pPr marL="534035" marR="5080">
              <a:lnSpc>
                <a:spcPct val="111800"/>
              </a:lnSpc>
            </a:pPr>
            <a:r>
              <a:rPr sz="950" dirty="0">
                <a:latin typeface="Courier New"/>
                <a:cs typeface="Courier New"/>
              </a:rPr>
              <a:t>'capacity',</a:t>
            </a:r>
            <a:r>
              <a:rPr sz="950" spc="14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'occupancy_pct',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'occ_pct',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'room_class',</a:t>
            </a:r>
            <a:r>
              <a:rPr sz="950" spc="16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'property_name',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'date',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'day_type'],</a:t>
            </a:r>
            <a:endParaRPr sz="950">
              <a:latin typeface="Courier New"/>
              <a:cs typeface="Courier New"/>
            </a:endParaRPr>
          </a:p>
          <a:p>
            <a:pPr marL="45974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737" y="16148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1978036"/>
            <a:ext cx="54737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(7,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13)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2309815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2673362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(6500,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15)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3005454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42545" marR="64389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spc="8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concat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([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df_august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ignore_index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8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9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axis</a:t>
            </a:r>
            <a:r>
              <a:rPr sz="950" spc="9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9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008800"/>
                </a:solidFill>
                <a:latin typeface="Courier New"/>
                <a:cs typeface="Courier New"/>
              </a:rPr>
              <a:t>0</a:t>
            </a:r>
            <a:r>
              <a:rPr sz="950" spc="-25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tail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10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681100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latest_df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shape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7174821"/>
            <a:ext cx="77089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(6507,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16)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7508637"/>
            <a:ext cx="25107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55" dirty="0">
                <a:latin typeface="Trebuchet MS"/>
                <a:cs typeface="Trebuchet MS"/>
              </a:rPr>
              <a:t>6.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55" dirty="0">
                <a:latin typeface="Trebuchet MS"/>
                <a:cs typeface="Trebuchet MS"/>
              </a:rPr>
              <a:t>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7881619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6921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525" y="16541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197803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34951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6733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304483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35306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85097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[159…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717482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Out[159…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7921583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[160…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3075905"/>
            <a:ext cx="3672204" cy="9525"/>
          </a:xfrm>
          <a:custGeom>
            <a:avLst/>
            <a:gdLst/>
            <a:ahLst/>
            <a:cxnLst/>
            <a:rect l="l" t="t" r="r" b="b"/>
            <a:pathLst>
              <a:path w="3672204" h="9525">
                <a:moveTo>
                  <a:pt x="3672064" y="0"/>
                </a:moveTo>
                <a:lnTo>
                  <a:pt x="0" y="0"/>
                </a:lnTo>
                <a:lnTo>
                  <a:pt x="0" y="9525"/>
                </a:lnTo>
                <a:lnTo>
                  <a:pt x="3672064" y="9525"/>
                </a:lnTo>
                <a:lnTo>
                  <a:pt x="3672064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5475" y="4656090"/>
          <a:ext cx="6623050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8103492"/>
          <a:ext cx="393636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Out[164…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01-May-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02-May-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03-May-</a:t>
                      </a:r>
                      <a:r>
                        <a:rPr sz="950" spc="5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328737" y="248856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3187" y="2848265"/>
            <a:ext cx="3573779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25"/>
              </a:spcBef>
              <a:tabLst>
                <a:tab pos="3304540" algn="l"/>
              </a:tabLst>
            </a:pP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property_name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110" dirty="0">
                <a:latin typeface="Trebuchet MS"/>
                <a:cs typeface="Trebuchet MS"/>
              </a:rPr>
              <a:t>category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b="1" spc="60" dirty="0">
                <a:latin typeface="Trebuchet MS"/>
                <a:cs typeface="Trebuchet MS"/>
              </a:rPr>
              <a:t>city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29920" algn="l"/>
                <a:tab pos="1440180" algn="l"/>
                <a:tab pos="2520950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0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16558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Grands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65" dirty="0">
                <a:latin typeface="Trebuchet MS"/>
                <a:cs typeface="Trebuchet MS"/>
              </a:rPr>
              <a:t>Luxury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3975" y="3353396"/>
            <a:ext cx="3672204" cy="267970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5588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40"/>
              </a:spcBef>
              <a:tabLst>
                <a:tab pos="678815" algn="l"/>
                <a:tab pos="1483360" algn="l"/>
                <a:tab pos="2569845" algn="l"/>
              </a:tabLst>
            </a:pPr>
            <a:r>
              <a:rPr sz="950" b="1" spc="60" dirty="0">
                <a:latin typeface="Trebuchet MS"/>
                <a:cs typeface="Trebuchet MS"/>
              </a:rPr>
              <a:t>1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16559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Exotica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Luxury</a:t>
            </a:r>
            <a:r>
              <a:rPr sz="950" spc="200" dirty="0">
                <a:latin typeface="Trebuchet MS"/>
                <a:cs typeface="Trebuchet MS"/>
              </a:rPr>
              <a:t>  </a:t>
            </a:r>
            <a:r>
              <a:rPr sz="950" spc="80" dirty="0">
                <a:latin typeface="Trebuchet MS"/>
                <a:cs typeface="Trebuchet MS"/>
              </a:rPr>
              <a:t>Mumbai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187" y="3661685"/>
            <a:ext cx="3573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29920" algn="l"/>
                <a:tab pos="1642110" algn="l"/>
                <a:tab pos="2395855" algn="l"/>
                <a:tab pos="3241675" algn="l"/>
              </a:tabLst>
            </a:pPr>
            <a:r>
              <a:rPr sz="950" b="1" spc="60" dirty="0">
                <a:latin typeface="Trebuchet MS"/>
                <a:cs typeface="Trebuchet MS"/>
              </a:rPr>
              <a:t>2</a:t>
            </a:r>
            <a:r>
              <a:rPr sz="950" b="1" dirty="0">
                <a:latin typeface="Trebuchet MS"/>
                <a:cs typeface="Trebuchet MS"/>
              </a:rPr>
              <a:t>	</a:t>
            </a:r>
            <a:r>
              <a:rPr sz="950" spc="105" dirty="0">
                <a:latin typeface="Trebuchet MS"/>
                <a:cs typeface="Trebuchet MS"/>
              </a:rPr>
              <a:t>16560</a:t>
            </a:r>
            <a:r>
              <a:rPr sz="950" dirty="0">
                <a:latin typeface="Trebuchet MS"/>
                <a:cs typeface="Trebuchet MS"/>
              </a:rPr>
              <a:t>	Atliq</a:t>
            </a:r>
            <a:r>
              <a:rPr sz="950" spc="170" dirty="0">
                <a:latin typeface="Trebuchet MS"/>
                <a:cs typeface="Trebuchet MS"/>
              </a:rPr>
              <a:t> </a:t>
            </a:r>
            <a:r>
              <a:rPr sz="950" spc="30" dirty="0">
                <a:latin typeface="Trebuchet MS"/>
                <a:cs typeface="Trebuchet MS"/>
              </a:rPr>
              <a:t>City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75" dirty="0">
                <a:latin typeface="Trebuchet MS"/>
                <a:cs typeface="Trebuchet MS"/>
              </a:rPr>
              <a:t>Business</a:t>
            </a:r>
            <a:r>
              <a:rPr sz="950" dirty="0">
                <a:latin typeface="Trebuchet MS"/>
                <a:cs typeface="Trebuchet MS"/>
              </a:rPr>
              <a:t>	</a:t>
            </a:r>
            <a:r>
              <a:rPr sz="950" spc="50" dirty="0">
                <a:latin typeface="Trebuchet MS"/>
                <a:cs typeface="Trebuchet MS"/>
              </a:rPr>
              <a:t>Delhi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4112895"/>
            <a:ext cx="5838825" cy="429259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71882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15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df_hotels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5899150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6249608"/>
            <a:ext cx="696595" cy="835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spc="-20" dirty="0">
                <a:latin typeface="Courier New"/>
                <a:cs typeface="Courier New"/>
              </a:rPr>
              <a:t>city </a:t>
            </a:r>
            <a:r>
              <a:rPr sz="950" spc="-10" dirty="0">
                <a:latin typeface="Courier New"/>
                <a:cs typeface="Courier New"/>
              </a:rPr>
              <a:t>Bangalore Delhi Hyderabad Mumbai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7954" y="6411534"/>
            <a:ext cx="696595" cy="6731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420397050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294466018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325232870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668608011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7072574"/>
            <a:ext cx="270954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55" dirty="0">
                <a:latin typeface="Trebuchet MS"/>
                <a:cs typeface="Trebuchet MS"/>
              </a:rPr>
              <a:t>7.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by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month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revenue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772223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2528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8523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Out[161…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415285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93909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626294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Out[163…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776218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[164…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1681165"/>
          <a:ext cx="6623050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Out[166…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5475" y="6524944"/>
          <a:ext cx="3997325" cy="95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Out[168…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195" dirty="0">
                          <a:latin typeface="Trebuchet MS"/>
                          <a:cs typeface="Trebuchet MS"/>
                        </a:rPr>
                        <a:t>mmm</a:t>
                      </a:r>
                      <a:r>
                        <a:rPr sz="950" b="1" spc="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80" dirty="0">
                          <a:latin typeface="Trebuchet MS"/>
                          <a:cs typeface="Trebuchet MS"/>
                        </a:rPr>
                        <a:t>yy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114" dirty="0">
                          <a:latin typeface="Trebuchet MS"/>
                          <a:cs typeface="Trebuchet MS"/>
                        </a:rPr>
                        <a:t>week</a:t>
                      </a:r>
                      <a:r>
                        <a:rPr sz="950" b="1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b="1" spc="100" dirty="0">
                          <a:latin typeface="Trebuchet MS"/>
                          <a:cs typeface="Trebuchet MS"/>
                        </a:rPr>
                        <a:t>no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day_type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weekend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1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20" dirty="0">
                          <a:latin typeface="Trebuchet MS"/>
                          <a:cs typeface="Trebuchet MS"/>
                        </a:rPr>
                        <a:t>May</a:t>
                      </a:r>
                      <a:r>
                        <a:rPr sz="9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4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95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weekeday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28737" y="6051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"mmm</a:t>
            </a:r>
            <a:r>
              <a:rPr sz="950" spc="15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yy"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unique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525" y="968381"/>
            <a:ext cx="454152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Out[165…</a:t>
            </a:r>
            <a:r>
              <a:rPr sz="950" spc="45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array(['May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'Jun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'Jul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22'],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dtype=object)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8737" y="1300163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8737" y="292417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4600" y="3217532"/>
            <a:ext cx="2783840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92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91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4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130300" algn="l"/>
                <a:tab pos="2323465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257300" y="3981169"/>
          <a:ext cx="2866390" cy="70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950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35" dirty="0">
                          <a:latin typeface="Courier New"/>
                          <a:cs typeface="Courier New"/>
                        </a:rPr>
                        <a:t>yy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95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630013" y="3981169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68122" y="3981169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44600" y="4674866"/>
            <a:ext cx="159131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9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object(4)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3.0+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KB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5124450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213487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0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0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9675" y="5605776"/>
            <a:ext cx="5962650" cy="857250"/>
          </a:xfrm>
          <a:prstGeom prst="rect">
            <a:avLst/>
          </a:prstGeom>
          <a:solidFill>
            <a:srgbClr val="FFDDDD"/>
          </a:solidFill>
        </p:spPr>
        <p:txBody>
          <a:bodyPr vert="horz" wrap="square" lIns="0" tIns="33655" rIns="0" bIns="0" rtlCol="0">
            <a:spAutoFit/>
          </a:bodyPr>
          <a:lstStyle/>
          <a:p>
            <a:pPr marL="47625" marR="18415">
              <a:lnSpc>
                <a:spcPct val="111800"/>
              </a:lnSpc>
              <a:spcBef>
                <a:spcPts val="265"/>
              </a:spcBef>
            </a:pPr>
            <a:r>
              <a:rPr sz="950" spc="10" dirty="0">
                <a:latin typeface="Courier New"/>
                <a:cs typeface="Courier New"/>
              </a:rPr>
              <a:t>C:\Users\Nandini\AppData\Local\Temp\ipykernel_15812\173964601.py:1: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UserWarnin </a:t>
            </a:r>
            <a:r>
              <a:rPr sz="950" dirty="0">
                <a:latin typeface="Courier New"/>
                <a:cs typeface="Courier New"/>
              </a:rPr>
              <a:t>g: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Could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not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infer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format,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so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each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element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will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be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parsed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individually,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falling </a:t>
            </a:r>
            <a:r>
              <a:rPr sz="950" dirty="0">
                <a:latin typeface="Courier New"/>
                <a:cs typeface="Courier New"/>
              </a:rPr>
              <a:t>back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`dateutil`.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ensure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parsing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is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consistent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and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as-expected,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please</a:t>
            </a:r>
            <a:r>
              <a:rPr sz="950" spc="85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spe </a:t>
            </a:r>
            <a:r>
              <a:rPr sz="950" dirty="0">
                <a:latin typeface="Courier New"/>
                <a:cs typeface="Courier New"/>
              </a:rPr>
              <a:t>cify</a:t>
            </a:r>
            <a:r>
              <a:rPr sz="950" spc="4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a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format.</a:t>
            </a:r>
            <a:endParaRPr sz="950">
              <a:latin typeface="Courier New"/>
              <a:cs typeface="Courier New"/>
            </a:endParaRPr>
          </a:p>
          <a:p>
            <a:pPr marL="19621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df_date["date"]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=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pd.to_datetime(df_date["date"])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8737" y="77679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info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[165…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1339857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2964168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5164454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78079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[169…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621669"/>
            <a:ext cx="293306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&lt;class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'pandas.core.frame.DataFrame'&gt; </a:t>
            </a:r>
            <a:r>
              <a:rPr sz="950" dirty="0">
                <a:latin typeface="Courier New"/>
                <a:cs typeface="Courier New"/>
              </a:rPr>
              <a:t>RangeIndex:</a:t>
            </a:r>
            <a:r>
              <a:rPr sz="950" spc="7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134585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entries,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0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to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134584 </a:t>
            </a:r>
            <a:r>
              <a:rPr sz="950" dirty="0">
                <a:latin typeface="Courier New"/>
                <a:cs typeface="Courier New"/>
              </a:rPr>
              <a:t>Data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columns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(total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15</a:t>
            </a:r>
            <a:r>
              <a:rPr sz="950" spc="7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columns):</a:t>
            </a:r>
            <a:endParaRPr sz="950">
              <a:latin typeface="Courier New"/>
              <a:cs typeface="Courier New"/>
            </a:endParaRPr>
          </a:p>
          <a:p>
            <a:pPr marL="86995">
              <a:lnSpc>
                <a:spcPct val="100000"/>
              </a:lnSpc>
              <a:spcBef>
                <a:spcPts val="135"/>
              </a:spcBef>
              <a:tabLst>
                <a:tab pos="384810" algn="l"/>
                <a:tab pos="1801495" algn="l"/>
              </a:tabLst>
            </a:pPr>
            <a:r>
              <a:rPr sz="950" spc="-50" dirty="0">
                <a:latin typeface="Courier New"/>
                <a:cs typeface="Courier New"/>
              </a:rPr>
              <a:t>#</a:t>
            </a:r>
            <a:r>
              <a:rPr sz="950" dirty="0">
                <a:latin typeface="Courier New"/>
                <a:cs typeface="Courier New"/>
              </a:rPr>
              <a:t>	</a:t>
            </a:r>
            <a:r>
              <a:rPr sz="950" spc="-10" dirty="0">
                <a:latin typeface="Courier New"/>
                <a:cs typeface="Courier New"/>
              </a:rPr>
              <a:t>Column</a:t>
            </a:r>
            <a:r>
              <a:rPr sz="950" dirty="0">
                <a:latin typeface="Courier New"/>
                <a:cs typeface="Courier New"/>
              </a:rPr>
              <a:t>	Non-Null</a:t>
            </a:r>
            <a:r>
              <a:rPr sz="950" spc="10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Count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0855" y="1120782"/>
            <a:ext cx="39814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7300" y="1385305"/>
            <a:ext cx="224154" cy="0"/>
          </a:xfrm>
          <a:custGeom>
            <a:avLst/>
            <a:gdLst/>
            <a:ahLst/>
            <a:cxnLst/>
            <a:rect l="l" t="t" r="r" b="b"/>
            <a:pathLst>
              <a:path w="224155">
                <a:moveTo>
                  <a:pt x="0" y="0"/>
                </a:moveTo>
                <a:lnTo>
                  <a:pt x="223627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0013" y="1385305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>
                <a:moveTo>
                  <a:pt x="0" y="0"/>
                </a:moveTo>
                <a:lnTo>
                  <a:pt x="447255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57300" y="1385305"/>
          <a:ext cx="3686175" cy="2490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8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>
                    <a:lnT w="1270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checkout_date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134582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6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7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9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ratings_given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56680</a:t>
                      </a:r>
                      <a:r>
                        <a:rPr sz="950" spc="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72110" algn="l"/>
                        </a:tabLst>
                      </a:pPr>
                      <a:r>
                        <a:rPr sz="950" spc="-50" dirty="0">
                          <a:latin typeface="Courier New"/>
                          <a:cs typeface="Courier New"/>
                        </a:rPr>
                        <a:t>9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booking_status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1206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10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11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int64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12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property_name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13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10" dirty="0">
                          <a:latin typeface="Courier New"/>
                          <a:cs typeface="Courier New"/>
                        </a:rPr>
                        <a:t>category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ts val="1080"/>
                        </a:lnSpc>
                        <a:spcBef>
                          <a:spcPts val="25"/>
                        </a:spcBef>
                        <a:tabLst>
                          <a:tab pos="372110" algn="l"/>
                        </a:tabLst>
                      </a:pPr>
                      <a:r>
                        <a:rPr sz="950" spc="-25" dirty="0">
                          <a:latin typeface="Courier New"/>
                          <a:cs typeface="Courier New"/>
                        </a:rPr>
                        <a:t>14</a:t>
                      </a:r>
                      <a:r>
                        <a:rPr sz="95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dirty="0">
                          <a:latin typeface="Courier New"/>
                          <a:cs typeface="Courier New"/>
                        </a:rPr>
                        <a:t>non-</a:t>
                      </a:r>
                      <a:r>
                        <a:rPr sz="950" spc="-20" dirty="0"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spcBef>
                          <a:spcPts val="25"/>
                        </a:spcBef>
                      </a:pPr>
                      <a:r>
                        <a:rPr sz="95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313548" y="1385305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>
                <a:moveTo>
                  <a:pt x="0" y="0"/>
                </a:moveTo>
                <a:lnTo>
                  <a:pt x="372713" y="0"/>
                </a:lnTo>
              </a:path>
            </a:pathLst>
          </a:custGeom>
          <a:ln w="990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44600" y="3860187"/>
            <a:ext cx="3007360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dtypes:</a:t>
            </a:r>
            <a:r>
              <a:rPr sz="950" spc="11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float64(2),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int64(3),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object(10) </a:t>
            </a:r>
            <a:r>
              <a:rPr sz="950" dirty="0">
                <a:latin typeface="Courier New"/>
                <a:cs typeface="Courier New"/>
              </a:rPr>
              <a:t>memory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usage: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15.4+</a:t>
            </a:r>
            <a:r>
              <a:rPr sz="950" spc="80" dirty="0">
                <a:latin typeface="Courier New"/>
                <a:cs typeface="Courier New"/>
              </a:rPr>
              <a:t> </a:t>
            </a:r>
            <a:r>
              <a:rPr sz="950" spc="-25" dirty="0">
                <a:latin typeface="Courier New"/>
                <a:cs typeface="Courier New"/>
              </a:rPr>
              <a:t>MB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8737" y="4310072"/>
            <a:ext cx="5838825" cy="9150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35902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"mixed"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dayfirst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737" y="5329554"/>
            <a:ext cx="5838825" cy="10763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06057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"mixed"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endParaRPr sz="950">
              <a:latin typeface="Courier New"/>
              <a:cs typeface="Courier New"/>
            </a:endParaRPr>
          </a:p>
          <a:p>
            <a:pPr marL="340995" marR="4371340">
              <a:lnSpc>
                <a:spcPct val="1118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dayfirst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True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errors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"coerce"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8737" y="6510655"/>
            <a:ext cx="5838825" cy="75247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40995" marR="2359025" indent="-298450">
              <a:lnSpc>
                <a:spcPct val="111800"/>
              </a:lnSpc>
              <a:spcBef>
                <a:spcPts val="300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18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80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format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"%d-%m-</a:t>
            </a:r>
            <a:r>
              <a:rPr sz="950" spc="-25" dirty="0">
                <a:solidFill>
                  <a:srgbClr val="BA2121"/>
                </a:solidFill>
                <a:latin typeface="Courier New"/>
                <a:cs typeface="Courier New"/>
              </a:rPr>
              <a:t>%y"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8737" y="736790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7731166"/>
            <a:ext cx="193293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Out[173…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dtype('&lt;M8[ns]')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8737" y="8062931"/>
            <a:ext cx="5838825" cy="2673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dtype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525" y="8426493"/>
            <a:ext cx="1932939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Out[174…</a:t>
            </a:r>
            <a:r>
              <a:rPr sz="950" spc="45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dtype('&lt;M8[ns]')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8737" y="875855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4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4349776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536895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[171…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65500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[172…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740731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810264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8797969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6623050" cy="1490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Out[175…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1/5/2022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3/5/2022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323975" y="3075905"/>
            <a:ext cx="5848350" cy="9525"/>
          </a:xfrm>
          <a:custGeom>
            <a:avLst/>
            <a:gdLst/>
            <a:ahLst/>
            <a:cxnLst/>
            <a:rect l="l" t="t" r="r" b="b"/>
            <a:pathLst>
              <a:path w="5848350" h="9525">
                <a:moveTo>
                  <a:pt x="5848350" y="0"/>
                </a:moveTo>
                <a:lnTo>
                  <a:pt x="0" y="0"/>
                </a:lnTo>
                <a:lnTo>
                  <a:pt x="0" y="9525"/>
                </a:lnTo>
                <a:lnTo>
                  <a:pt x="5848350" y="9525"/>
                </a:lnTo>
                <a:lnTo>
                  <a:pt x="584835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23975" y="3304505"/>
            <a:ext cx="5848350" cy="438784"/>
            <a:chOff x="1323975" y="3304505"/>
            <a:chExt cx="5848350" cy="438784"/>
          </a:xfrm>
        </p:grpSpPr>
        <p:sp>
          <p:nvSpPr>
            <p:cNvPr id="5" name="object 5"/>
            <p:cNvSpPr/>
            <p:nvPr/>
          </p:nvSpPr>
          <p:spPr>
            <a:xfrm>
              <a:off x="1323975" y="3304505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438152"/>
                  </a:lnTo>
                  <a:lnTo>
                    <a:pt x="5848350" y="438152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23975" y="3304539"/>
              <a:ext cx="5848350" cy="438150"/>
            </a:xfrm>
            <a:custGeom>
              <a:avLst/>
              <a:gdLst/>
              <a:ahLst/>
              <a:cxnLst/>
              <a:rect l="l" t="t" r="r" b="b"/>
              <a:pathLst>
                <a:path w="5848350" h="438150">
                  <a:moveTo>
                    <a:pt x="5848350" y="9499"/>
                  </a:moveTo>
                  <a:lnTo>
                    <a:pt x="5838825" y="9499"/>
                  </a:lnTo>
                  <a:lnTo>
                    <a:pt x="5838825" y="428599"/>
                  </a:lnTo>
                  <a:lnTo>
                    <a:pt x="0" y="428599"/>
                  </a:lnTo>
                  <a:lnTo>
                    <a:pt x="0" y="438150"/>
                  </a:lnTo>
                  <a:lnTo>
                    <a:pt x="5848350" y="438150"/>
                  </a:lnTo>
                  <a:lnTo>
                    <a:pt x="5848350" y="428599"/>
                  </a:lnTo>
                  <a:lnTo>
                    <a:pt x="5848350" y="9499"/>
                  </a:lnTo>
                  <a:close/>
                </a:path>
                <a:path w="5848350" h="4381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27990"/>
                  </a:lnTo>
                  <a:lnTo>
                    <a:pt x="9525" y="4279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5475" y="3852196"/>
          <a:ext cx="662305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Out[177…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19212" y="5978468"/>
          <a:ext cx="5934075" cy="20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85" dirty="0">
                          <a:latin typeface="Trebuchet MS"/>
                          <a:cs typeface="Trebuchet MS"/>
                        </a:rPr>
                        <a:t>booking_id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booking_date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95"/>
                        </a:lnSpc>
                      </a:pPr>
                      <a:r>
                        <a:rPr sz="950" b="1" spc="65" dirty="0">
                          <a:latin typeface="Trebuchet MS"/>
                          <a:cs typeface="Trebuchet MS"/>
                        </a:rPr>
                        <a:t>check_in_date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ts val="1095"/>
                        </a:lnSpc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checkout_date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59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0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27-04-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32715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30-04-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b="1" spc="11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950" b="1" spc="200" dirty="0">
                          <a:latin typeface="Trebuchet MS"/>
                          <a:cs typeface="Trebuchet MS"/>
                        </a:rPr>
                        <a:t>  </a:t>
                      </a:r>
                      <a:r>
                        <a:rPr sz="950" spc="90" dirty="0">
                          <a:latin typeface="Trebuchet MS"/>
                          <a:cs typeface="Trebuchet MS"/>
                        </a:rPr>
                        <a:t>May012216558RT14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28-04-</a:t>
                      </a:r>
                      <a:r>
                        <a:rPr sz="950" spc="65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85" dirty="0">
                          <a:latin typeface="Trebuchet MS"/>
                          <a:cs typeface="Trebuchet MS"/>
                        </a:rPr>
                        <a:t>2022-05-</a:t>
                      </a:r>
                      <a:r>
                        <a:rPr sz="950" spc="70" dirty="0">
                          <a:latin typeface="Trebuchet MS"/>
                          <a:cs typeface="Trebuchet MS"/>
                        </a:rPr>
                        <a:t>01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950" spc="-10" dirty="0">
                          <a:latin typeface="Trebuchet MS"/>
                          <a:cs typeface="Trebuchet MS"/>
                        </a:rPr>
                        <a:t>2/5/2022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 gridSpan="5"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df_bookings_all</a:t>
                      </a:r>
                      <a:r>
                        <a:rPr sz="950" b="1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groupby</a:t>
                      </a:r>
                      <a:r>
                        <a:rPr sz="95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95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"mmm</a:t>
                      </a:r>
                      <a:r>
                        <a:rPr sz="950" spc="335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yy"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)[</a:t>
                      </a:r>
                      <a:r>
                        <a:rPr sz="950" spc="-10" dirty="0">
                          <a:solidFill>
                            <a:srgbClr val="BA2121"/>
                          </a:solidFill>
                          <a:latin typeface="Courier New"/>
                          <a:cs typeface="Courier New"/>
                        </a:rPr>
                        <a:t>"revenue_realized"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950" b="1" spc="-10" dirty="0">
                          <a:solidFill>
                            <a:srgbClr val="AA22FF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urier New"/>
                          <a:cs typeface="Courier New"/>
                        </a:rPr>
                        <a:t>sum</a:t>
                      </a:r>
                      <a:r>
                        <a:rPr sz="950" spc="-10" dirty="0">
                          <a:solidFill>
                            <a:srgbClr val="0055AA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55879" marB="0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328737" y="2488564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isna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7012" y="2848265"/>
            <a:ext cx="56851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95" dirty="0">
                <a:latin typeface="Trebuchet MS"/>
                <a:cs typeface="Trebuchet MS"/>
              </a:rPr>
              <a:t>booking_id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85" dirty="0">
                <a:latin typeface="Trebuchet MS"/>
                <a:cs typeface="Trebuchet MS"/>
              </a:rPr>
              <a:t>property_id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5" dirty="0">
                <a:latin typeface="Trebuchet MS"/>
                <a:cs typeface="Trebuchet MS"/>
              </a:rPr>
              <a:t>booking_date</a:t>
            </a:r>
            <a:r>
              <a:rPr sz="950" b="1" spc="210" dirty="0">
                <a:latin typeface="Trebuchet MS"/>
                <a:cs typeface="Trebuchet MS"/>
              </a:rPr>
              <a:t>  </a:t>
            </a:r>
            <a:r>
              <a:rPr sz="950" b="1" spc="75" dirty="0">
                <a:latin typeface="Trebuchet MS"/>
                <a:cs typeface="Trebuchet MS"/>
              </a:rPr>
              <a:t>check_in_date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90" dirty="0">
                <a:latin typeface="Trebuchet MS"/>
                <a:cs typeface="Trebuchet MS"/>
              </a:rPr>
              <a:t>checkout_date</a:t>
            </a:r>
            <a:r>
              <a:rPr sz="950" b="1" spc="215" dirty="0">
                <a:latin typeface="Trebuchet MS"/>
                <a:cs typeface="Trebuchet MS"/>
              </a:rPr>
              <a:t>  </a:t>
            </a:r>
            <a:r>
              <a:rPr sz="950" b="1" spc="100" dirty="0">
                <a:latin typeface="Trebuchet MS"/>
                <a:cs typeface="Trebuchet MS"/>
              </a:rPr>
              <a:t>no_gues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334896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spc="20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20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to_datetime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0" y="3510887"/>
            <a:ext cx="17405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4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8737" y="5363209"/>
            <a:ext cx="5838825" cy="42862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42545" marR="47625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spc="155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55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pd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merge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df_date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15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left_on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"check_in_date"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head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008800"/>
                </a:solidFill>
                <a:latin typeface="Courier New"/>
                <a:cs typeface="Courier New"/>
              </a:rPr>
              <a:t>3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8900" y="8076474"/>
            <a:ext cx="473075" cy="673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mmm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yy </a:t>
            </a:r>
            <a:r>
              <a:rPr sz="950" dirty="0">
                <a:latin typeface="Courier New"/>
                <a:cs typeface="Courier New"/>
              </a:rPr>
              <a:t>Jul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Jun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Courier New"/>
                <a:cs typeface="Courier New"/>
              </a:rPr>
              <a:t>May</a:t>
            </a:r>
            <a:r>
              <a:rPr sz="950" spc="45" dirty="0">
                <a:latin typeface="Courier New"/>
                <a:cs typeface="Courier New"/>
              </a:rPr>
              <a:t> </a:t>
            </a:r>
            <a:r>
              <a:rPr sz="950" spc="-35" dirty="0">
                <a:latin typeface="Courier New"/>
                <a:cs typeface="Courier New"/>
              </a:rPr>
              <a:t>22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4326" y="8238401"/>
            <a:ext cx="696595" cy="51117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latin typeface="Courier New"/>
                <a:cs typeface="Courier New"/>
              </a:rPr>
              <a:t>572895608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553932355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581875986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8900" y="8737514"/>
            <a:ext cx="2814955" cy="462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ourier New"/>
                <a:cs typeface="Courier New"/>
              </a:rPr>
              <a:t>Name: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revenue_realized,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dtype:</a:t>
            </a:r>
            <a:r>
              <a:rPr sz="950" spc="12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int64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hotel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type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4525" y="25285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525" y="285239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Out[176…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4525" y="3348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[177…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525" y="540316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4525" y="588894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Out[178…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4525" y="776596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[179…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4525" y="808981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616161"/>
                </a:solidFill>
                <a:latin typeface="Courier New"/>
                <a:cs typeface="Courier New"/>
              </a:rPr>
              <a:t>Out[179…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600075"/>
            <a:ext cx="5848350" cy="276225"/>
            <a:chOff x="1323975" y="600075"/>
            <a:chExt cx="5848350" cy="276225"/>
          </a:xfrm>
        </p:grpSpPr>
        <p:sp>
          <p:nvSpPr>
            <p:cNvPr id="3" name="object 3"/>
            <p:cNvSpPr/>
            <p:nvPr/>
          </p:nvSpPr>
          <p:spPr>
            <a:xfrm>
              <a:off x="1323975" y="60007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6007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38825" y="8890"/>
                  </a:lnTo>
                  <a:lnTo>
                    <a:pt x="5838825" y="266077"/>
                  </a:lnTo>
                  <a:lnTo>
                    <a:pt x="5848350" y="266077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5475" y="985837"/>
          <a:ext cx="346075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Out[180…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room_category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revenue_realized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309567375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560246004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462137784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40" dirty="0">
                          <a:latin typeface="Trebuchet MS"/>
                          <a:cs typeface="Trebuchet MS"/>
                        </a:rPr>
                        <a:t>RT4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376752786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323975" y="2867635"/>
            <a:ext cx="5848350" cy="276225"/>
            <a:chOff x="1323975" y="2867635"/>
            <a:chExt cx="5848350" cy="276225"/>
          </a:xfrm>
        </p:grpSpPr>
        <p:sp>
          <p:nvSpPr>
            <p:cNvPr id="7" name="object 7"/>
            <p:cNvSpPr/>
            <p:nvPr/>
          </p:nvSpPr>
          <p:spPr>
            <a:xfrm>
              <a:off x="1323975" y="2867635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23975" y="286765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89">
                  <a:moveTo>
                    <a:pt x="5848350" y="9512"/>
                  </a:moveTo>
                  <a:lnTo>
                    <a:pt x="5838825" y="9512"/>
                  </a:lnTo>
                  <a:lnTo>
                    <a:pt x="5838825" y="266687"/>
                  </a:lnTo>
                  <a:lnTo>
                    <a:pt x="5848350" y="266687"/>
                  </a:lnTo>
                  <a:lnTo>
                    <a:pt x="5848350" y="9512"/>
                  </a:lnTo>
                  <a:close/>
                </a:path>
                <a:path w="5848350" h="27558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58900" y="644530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"room_category"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42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0" y="2499145"/>
            <a:ext cx="2171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Print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5" dirty="0">
                <a:latin typeface="Trebuchet MS"/>
                <a:cs typeface="Trebuchet MS"/>
              </a:rPr>
              <a:t>average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rating</a:t>
            </a:r>
            <a:r>
              <a:rPr sz="1050" b="1" spc="65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city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0" y="2912091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df_agg_bookings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"property_id"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450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"successful_bookings"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64453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[180…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2912091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[181…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3540760" cy="683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Out[181…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75" dirty="0">
                          <a:latin typeface="Trebuchet MS"/>
                          <a:cs typeface="Trebuchet MS"/>
                        </a:rPr>
                        <a:t>property_id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95" dirty="0">
                          <a:latin typeface="Trebuchet MS"/>
                          <a:cs typeface="Trebuchet MS"/>
                        </a:rPr>
                        <a:t>successful_bookings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3153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4693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4820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16563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7211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5053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6142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5183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3424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6337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17564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3982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4475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5256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6638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6458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7333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18563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4737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19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4400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19559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4729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6079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5736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5812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b="1" spc="80" dirty="0">
                          <a:latin typeface="Trebuchet MS"/>
                          <a:cs typeface="Trebuchet MS"/>
                        </a:rPr>
                        <a:t>24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105" dirty="0">
                          <a:latin typeface="Trebuchet MS"/>
                          <a:cs typeface="Trebuchet MS"/>
                        </a:rPr>
                        <a:t>19563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080"/>
                        </a:lnSpc>
                        <a:spcBef>
                          <a:spcPts val="440"/>
                        </a:spcBef>
                      </a:pPr>
                      <a:r>
                        <a:rPr sz="950" spc="95" dirty="0">
                          <a:latin typeface="Trebuchet MS"/>
                          <a:cs typeface="Trebuchet MS"/>
                        </a:rPr>
                        <a:t>5413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7843390"/>
            <a:ext cx="5848350" cy="276225"/>
            <a:chOff x="1323975" y="7843390"/>
            <a:chExt cx="5848350" cy="276225"/>
          </a:xfrm>
        </p:grpSpPr>
        <p:sp>
          <p:nvSpPr>
            <p:cNvPr id="4" name="object 4"/>
            <p:cNvSpPr/>
            <p:nvPr/>
          </p:nvSpPr>
          <p:spPr>
            <a:xfrm>
              <a:off x="1323975" y="7843390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784351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90">
                  <a:moveTo>
                    <a:pt x="5848350" y="9398"/>
                  </a:moveTo>
                  <a:lnTo>
                    <a:pt x="5838825" y="9398"/>
                  </a:lnTo>
                  <a:lnTo>
                    <a:pt x="5838825" y="266573"/>
                  </a:lnTo>
                  <a:lnTo>
                    <a:pt x="5848350" y="266573"/>
                  </a:lnTo>
                  <a:lnTo>
                    <a:pt x="5848350" y="9398"/>
                  </a:lnTo>
                  <a:close/>
                </a:path>
                <a:path w="5848350" h="27559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58900" y="7887845"/>
            <a:ext cx="584073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"city"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9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"ratings_given"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mean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round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25" y="7887845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[182…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25475" y="709612"/>
          <a:ext cx="2856230" cy="1284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185">
                <a:tc>
                  <a:txBody>
                    <a:bodyPr/>
                    <a:lstStyle/>
                    <a:p>
                      <a:pPr marL="31750">
                        <a:lnSpc>
                          <a:spcPts val="1130"/>
                        </a:lnSpc>
                      </a:pPr>
                      <a:r>
                        <a:rPr sz="950" spc="-10" dirty="0">
                          <a:solidFill>
                            <a:srgbClr val="616161"/>
                          </a:solidFill>
                          <a:latin typeface="Courier New"/>
                          <a:cs typeface="Courier New"/>
                        </a:rPr>
                        <a:t>Out[182…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ts val="1095"/>
                        </a:lnSpc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city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ts val="1095"/>
                        </a:lnSpc>
                      </a:pPr>
                      <a:r>
                        <a:rPr sz="950" b="1" spc="90" dirty="0">
                          <a:latin typeface="Trebuchet MS"/>
                          <a:cs typeface="Trebuchet MS"/>
                        </a:rPr>
                        <a:t>ratings_given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9525">
                      <a:solidFill>
                        <a:srgbClr val="BDBD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0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65" dirty="0">
                          <a:latin typeface="Trebuchet MS"/>
                          <a:cs typeface="Trebuchet MS"/>
                        </a:rPr>
                        <a:t>Bangalore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3.41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T w="9525">
                      <a:solidFill>
                        <a:srgbClr val="BDBDBD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1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Delhi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3.78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2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70" dirty="0">
                          <a:latin typeface="Trebuchet MS"/>
                          <a:cs typeface="Trebuchet MS"/>
                        </a:rPr>
                        <a:t>Hyderabad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3.66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b="1" spc="60" dirty="0">
                          <a:latin typeface="Trebuchet MS"/>
                          <a:cs typeface="Trebuchet MS"/>
                        </a:rPr>
                        <a:t>3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461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80" dirty="0">
                          <a:latin typeface="Trebuchet MS"/>
                          <a:cs typeface="Trebuchet MS"/>
                        </a:rPr>
                        <a:t>Mumbai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950" spc="50" dirty="0">
                          <a:latin typeface="Trebuchet MS"/>
                          <a:cs typeface="Trebuchet MS"/>
                        </a:rPr>
                        <a:t>3.65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</a:txBody>
                  <a:tcPr marL="0" marR="0" marT="55880" marB="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323975" y="5001247"/>
            <a:ext cx="5848350" cy="1734185"/>
            <a:chOff x="1323975" y="5001247"/>
            <a:chExt cx="5848350" cy="1734185"/>
          </a:xfrm>
        </p:grpSpPr>
        <p:sp>
          <p:nvSpPr>
            <p:cNvPr id="4" name="object 4"/>
            <p:cNvSpPr/>
            <p:nvPr/>
          </p:nvSpPr>
          <p:spPr>
            <a:xfrm>
              <a:off x="1323975" y="5001247"/>
              <a:ext cx="5848350" cy="1734185"/>
            </a:xfrm>
            <a:custGeom>
              <a:avLst/>
              <a:gdLst/>
              <a:ahLst/>
              <a:cxnLst/>
              <a:rect l="l" t="t" r="r" b="b"/>
              <a:pathLst>
                <a:path w="5848350" h="1734184">
                  <a:moveTo>
                    <a:pt x="5848350" y="0"/>
                  </a:moveTo>
                  <a:lnTo>
                    <a:pt x="0" y="0"/>
                  </a:lnTo>
                  <a:lnTo>
                    <a:pt x="0" y="1733558"/>
                  </a:lnTo>
                  <a:lnTo>
                    <a:pt x="5848350" y="1733558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3975" y="5001259"/>
              <a:ext cx="5848350" cy="1733550"/>
            </a:xfrm>
            <a:custGeom>
              <a:avLst/>
              <a:gdLst/>
              <a:ahLst/>
              <a:cxnLst/>
              <a:rect l="l" t="t" r="r" b="b"/>
              <a:pathLst>
                <a:path w="5848350" h="1733550">
                  <a:moveTo>
                    <a:pt x="5848350" y="9512"/>
                  </a:moveTo>
                  <a:lnTo>
                    <a:pt x="5838825" y="9512"/>
                  </a:lnTo>
                  <a:lnTo>
                    <a:pt x="5838825" y="1724025"/>
                  </a:lnTo>
                  <a:lnTo>
                    <a:pt x="0" y="1724025"/>
                  </a:lnTo>
                  <a:lnTo>
                    <a:pt x="0" y="1733550"/>
                  </a:lnTo>
                  <a:lnTo>
                    <a:pt x="5848350" y="1733550"/>
                  </a:lnTo>
                  <a:lnTo>
                    <a:pt x="5848350" y="1724025"/>
                  </a:lnTo>
                  <a:lnTo>
                    <a:pt x="5848350" y="9512"/>
                  </a:lnTo>
                  <a:close/>
                </a:path>
                <a:path w="5848350" h="1733550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723390"/>
                  </a:lnTo>
                  <a:lnTo>
                    <a:pt x="9525" y="172339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8737" y="2220595"/>
            <a:ext cx="5838825" cy="266700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39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print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columns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4600" y="2513944"/>
            <a:ext cx="5467350" cy="1285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4035" marR="5080" indent="-521970">
              <a:lnSpc>
                <a:spcPct val="111800"/>
              </a:lnSpc>
              <a:spcBef>
                <a:spcPts val="95"/>
              </a:spcBef>
            </a:pPr>
            <a:r>
              <a:rPr sz="950" dirty="0">
                <a:latin typeface="Courier New"/>
                <a:cs typeface="Courier New"/>
              </a:rPr>
              <a:t>Index(['booking_id',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'property_id',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'booking_date',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'check_in_date', </a:t>
            </a:r>
            <a:r>
              <a:rPr sz="950" dirty="0">
                <a:latin typeface="Courier New"/>
                <a:cs typeface="Courier New"/>
              </a:rPr>
              <a:t>'checkout_date',</a:t>
            </a:r>
            <a:r>
              <a:rPr sz="950" spc="18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'no_guests',</a:t>
            </a:r>
            <a:r>
              <a:rPr sz="950" spc="18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'room_category',</a:t>
            </a:r>
            <a:r>
              <a:rPr sz="950" spc="18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'booking_platform', </a:t>
            </a:r>
            <a:r>
              <a:rPr sz="950" dirty="0">
                <a:latin typeface="Courier New"/>
                <a:cs typeface="Courier New"/>
              </a:rPr>
              <a:t>'ratings_given',</a:t>
            </a:r>
            <a:r>
              <a:rPr sz="950" spc="20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'booking_status',</a:t>
            </a:r>
            <a:r>
              <a:rPr sz="950" spc="204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'revenue_generated', </a:t>
            </a:r>
            <a:r>
              <a:rPr sz="950" dirty="0">
                <a:latin typeface="Courier New"/>
                <a:cs typeface="Courier New"/>
              </a:rPr>
              <a:t>'revenue_realized',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'property_name',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'category',</a:t>
            </a:r>
            <a:r>
              <a:rPr sz="950" spc="17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'city',</a:t>
            </a:r>
            <a:r>
              <a:rPr sz="950" spc="1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'date', </a:t>
            </a:r>
            <a:r>
              <a:rPr sz="950" dirty="0">
                <a:latin typeface="Courier New"/>
                <a:cs typeface="Courier New"/>
              </a:rPr>
              <a:t>'mmm</a:t>
            </a:r>
            <a:r>
              <a:rPr sz="950" spc="6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yy',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'week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no',</a:t>
            </a:r>
            <a:r>
              <a:rPr sz="950" spc="65" dirty="0">
                <a:latin typeface="Courier New"/>
                <a:cs typeface="Courier New"/>
              </a:rPr>
              <a:t> </a:t>
            </a:r>
            <a:r>
              <a:rPr sz="950" spc="-10" dirty="0">
                <a:latin typeface="Courier New"/>
                <a:cs typeface="Courier New"/>
              </a:rPr>
              <a:t>'day_type'],</a:t>
            </a:r>
            <a:endParaRPr sz="950">
              <a:latin typeface="Courier New"/>
              <a:cs typeface="Courier New"/>
            </a:endParaRPr>
          </a:p>
          <a:p>
            <a:pPr marL="459740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latin typeface="Courier New"/>
                <a:cs typeface="Courier New"/>
              </a:rPr>
              <a:t>dtype='object')</a:t>
            </a:r>
            <a:endParaRPr sz="9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1010"/>
              </a:spcBef>
            </a:pPr>
            <a:r>
              <a:rPr sz="1050" b="1" spc="95" dirty="0">
                <a:latin typeface="Trebuchet MS"/>
                <a:cs typeface="Trebuchet MS"/>
              </a:rPr>
              <a:t>Pie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95" dirty="0">
                <a:latin typeface="Trebuchet MS"/>
                <a:cs typeface="Trebuchet MS"/>
              </a:rPr>
              <a:t>chart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of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revenue</a:t>
            </a:r>
            <a:r>
              <a:rPr sz="1050" b="1" spc="50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realized</a:t>
            </a:r>
            <a:r>
              <a:rPr sz="1050" b="1" spc="7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per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20" dirty="0">
                <a:latin typeface="Trebuchet MS"/>
                <a:cs typeface="Trebuchet MS"/>
              </a:rPr>
              <a:t>booking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90" dirty="0">
                <a:latin typeface="Trebuchet MS"/>
                <a:cs typeface="Trebuchet MS"/>
              </a:rPr>
              <a:t>platform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8737" y="3986529"/>
            <a:ext cx="5838825" cy="915035"/>
          </a:xfrm>
          <a:prstGeom prst="rect">
            <a:avLst/>
          </a:prstGeom>
          <a:solidFill>
            <a:srgbClr val="F5F5F5"/>
          </a:solidFill>
          <a:ln w="9525">
            <a:solidFill>
              <a:srgbClr val="DFDFDF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40995" marR="4297045" indent="-298450">
              <a:lnSpc>
                <a:spcPct val="111800"/>
              </a:lnSpc>
              <a:spcBef>
                <a:spcPts val="305"/>
              </a:spcBef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11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114" dirty="0">
                <a:solidFill>
                  <a:srgbClr val="AA22F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df_bookings_all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groupby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"booking_platform"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,</a:t>
            </a:r>
            <a:r>
              <a:rPr sz="950" spc="335" dirty="0">
                <a:solidFill>
                  <a:srgbClr val="0055AA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as_index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urier New"/>
                <a:cs typeface="Courier New"/>
              </a:rPr>
              <a:t>False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</a:t>
            </a:r>
            <a:endParaRPr sz="950">
              <a:latin typeface="Courier New"/>
              <a:cs typeface="Courier New"/>
            </a:endParaRPr>
          </a:p>
          <a:p>
            <a:pPr marL="340995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sum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5045702"/>
            <a:ext cx="23368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import</a:t>
            </a:r>
            <a:r>
              <a:rPr sz="950" b="1" spc="1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matplotlib.pyplot</a:t>
            </a:r>
            <a:r>
              <a:rPr sz="950" spc="110" dirty="0">
                <a:solidFill>
                  <a:srgbClr val="202020"/>
                </a:solidFill>
                <a:latin typeface="Courier New"/>
                <a:cs typeface="Courier New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urier New"/>
                <a:cs typeface="Courier New"/>
              </a:rPr>
              <a:t>as</a:t>
            </a:r>
            <a:r>
              <a:rPr sz="950" b="1" spc="1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600" y="5356217"/>
            <a:ext cx="3653154" cy="1321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50185">
              <a:lnSpc>
                <a:spcPct val="111800"/>
              </a:lnSpc>
              <a:spcBef>
                <a:spcPts val="95"/>
              </a:spcBef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figure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pie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endParaRPr sz="950">
              <a:latin typeface="Courier New"/>
              <a:cs typeface="Courier New"/>
            </a:endParaRPr>
          </a:p>
          <a:p>
            <a:pPr marL="297815" marR="66675">
              <a:lnSpc>
                <a:spcPct val="111800"/>
              </a:lnSpc>
            </a:pP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"revenue_realized"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labels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revenue_platform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[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"booking_platform"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],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autopct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=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"%1.1f%%"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950" spc="-50" dirty="0">
                <a:solidFill>
                  <a:srgbClr val="0055A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11800"/>
              </a:lnSpc>
            </a:pP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dirty="0">
                <a:solidFill>
                  <a:srgbClr val="202020"/>
                </a:solidFill>
                <a:latin typeface="Courier New"/>
                <a:cs typeface="Courier New"/>
              </a:rPr>
              <a:t>title</a:t>
            </a:r>
            <a:r>
              <a:rPr sz="950" dirty="0">
                <a:solidFill>
                  <a:srgbClr val="0055AA"/>
                </a:solidFill>
                <a:latin typeface="Courier New"/>
                <a:cs typeface="Courier New"/>
              </a:rPr>
              <a:t>(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"Revenue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Realized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by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Booking</a:t>
            </a:r>
            <a:r>
              <a:rPr sz="950" spc="114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BA2121"/>
                </a:solidFill>
                <a:latin typeface="Courier New"/>
                <a:cs typeface="Courier New"/>
              </a:rPr>
              <a:t>Platform"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plt</a:t>
            </a:r>
            <a:r>
              <a:rPr sz="950" b="1" spc="-10" dirty="0">
                <a:solidFill>
                  <a:srgbClr val="AA22FF"/>
                </a:solidFill>
                <a:latin typeface="Courier New"/>
                <a:cs typeface="Courier New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urier New"/>
                <a:cs typeface="Courier New"/>
              </a:rPr>
              <a:t>show</a:t>
            </a:r>
            <a:r>
              <a:rPr sz="950" spc="-10" dirty="0">
                <a:solidFill>
                  <a:srgbClr val="0055AA"/>
                </a:solidFill>
                <a:latin typeface="Courier New"/>
                <a:cs typeface="Courier New"/>
              </a:rPr>
              <a:t>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525" y="2260580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[183…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525" y="402652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[184…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5" y="5045702"/>
            <a:ext cx="62230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616161"/>
                </a:solidFill>
                <a:latin typeface="Courier New"/>
                <a:cs typeface="Courier New"/>
              </a:rPr>
              <a:t>[185…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23975" y="4686300"/>
            <a:ext cx="5848350" cy="276860"/>
            <a:chOff x="1323975" y="4686300"/>
            <a:chExt cx="5848350" cy="276860"/>
          </a:xfrm>
        </p:grpSpPr>
        <p:sp>
          <p:nvSpPr>
            <p:cNvPr id="3" name="object 3"/>
            <p:cNvSpPr/>
            <p:nvPr/>
          </p:nvSpPr>
          <p:spPr>
            <a:xfrm>
              <a:off x="1323975" y="4686927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3975" y="468629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323975" y="5058403"/>
            <a:ext cx="5848350" cy="276225"/>
            <a:chOff x="1323975" y="5058403"/>
            <a:chExt cx="5848350" cy="276225"/>
          </a:xfrm>
        </p:grpSpPr>
        <p:sp>
          <p:nvSpPr>
            <p:cNvPr id="6" name="object 6"/>
            <p:cNvSpPr/>
            <p:nvPr/>
          </p:nvSpPr>
          <p:spPr>
            <a:xfrm>
              <a:off x="1323975" y="5058403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3975" y="5058409"/>
              <a:ext cx="5848350" cy="275590"/>
            </a:xfrm>
            <a:custGeom>
              <a:avLst/>
              <a:gdLst/>
              <a:ahLst/>
              <a:cxnLst/>
              <a:rect l="l" t="t" r="r" b="b"/>
              <a:pathLst>
                <a:path w="5848350" h="275589">
                  <a:moveTo>
                    <a:pt x="5848350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266700"/>
                  </a:lnTo>
                  <a:lnTo>
                    <a:pt x="0" y="275590"/>
                  </a:lnTo>
                  <a:lnTo>
                    <a:pt x="5848350" y="275590"/>
                  </a:lnTo>
                  <a:lnTo>
                    <a:pt x="5848350" y="266700"/>
                  </a:lnTo>
                  <a:lnTo>
                    <a:pt x="5848350" y="9525"/>
                  </a:lnTo>
                  <a:lnTo>
                    <a:pt x="5838825" y="9525"/>
                  </a:lnTo>
                  <a:lnTo>
                    <a:pt x="5838825" y="266700"/>
                  </a:lnTo>
                  <a:lnTo>
                    <a:pt x="9525" y="266700"/>
                  </a:lnTo>
                  <a:lnTo>
                    <a:pt x="9525" y="8890"/>
                  </a:lnTo>
                  <a:lnTo>
                    <a:pt x="5848350" y="889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323975" y="5429250"/>
            <a:ext cx="5848350" cy="276860"/>
            <a:chOff x="1323975" y="5429250"/>
            <a:chExt cx="5848350" cy="276860"/>
          </a:xfrm>
        </p:grpSpPr>
        <p:sp>
          <p:nvSpPr>
            <p:cNvPr id="9" name="object 9"/>
            <p:cNvSpPr/>
            <p:nvPr/>
          </p:nvSpPr>
          <p:spPr>
            <a:xfrm>
              <a:off x="1323975" y="5429879"/>
              <a:ext cx="5848350" cy="276225"/>
            </a:xfrm>
            <a:custGeom>
              <a:avLst/>
              <a:gdLst/>
              <a:ahLst/>
              <a:cxnLst/>
              <a:rect l="l" t="t" r="r" b="b"/>
              <a:pathLst>
                <a:path w="5848350" h="276225">
                  <a:moveTo>
                    <a:pt x="5848350" y="0"/>
                  </a:moveTo>
                  <a:lnTo>
                    <a:pt x="0" y="0"/>
                  </a:lnTo>
                  <a:lnTo>
                    <a:pt x="0" y="276226"/>
                  </a:lnTo>
                  <a:lnTo>
                    <a:pt x="5848350" y="276226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23975" y="5429249"/>
              <a:ext cx="5848350" cy="276860"/>
            </a:xfrm>
            <a:custGeom>
              <a:avLst/>
              <a:gdLst/>
              <a:ahLst/>
              <a:cxnLst/>
              <a:rect l="l" t="t" r="r" b="b"/>
              <a:pathLst>
                <a:path w="5848350" h="276860">
                  <a:moveTo>
                    <a:pt x="584835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66700"/>
                  </a:lnTo>
                  <a:lnTo>
                    <a:pt x="9525" y="266700"/>
                  </a:lnTo>
                  <a:lnTo>
                    <a:pt x="9525" y="10160"/>
                  </a:lnTo>
                  <a:lnTo>
                    <a:pt x="5838825" y="10160"/>
                  </a:lnTo>
                  <a:lnTo>
                    <a:pt x="5838825" y="267335"/>
                  </a:lnTo>
                  <a:lnTo>
                    <a:pt x="0" y="267335"/>
                  </a:lnTo>
                  <a:lnTo>
                    <a:pt x="0" y="276860"/>
                  </a:lnTo>
                  <a:lnTo>
                    <a:pt x="5848350" y="276860"/>
                  </a:lnTo>
                  <a:lnTo>
                    <a:pt x="5848350" y="267335"/>
                  </a:lnTo>
                  <a:lnTo>
                    <a:pt x="5848350" y="10160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742950"/>
            <a:ext cx="4600575" cy="35337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2281" y="4731382"/>
            <a:ext cx="547370" cy="9169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In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616161"/>
                </a:solidFill>
                <a:latin typeface="Courier New"/>
                <a:cs typeface="Courier New"/>
              </a:rPr>
              <a:t>[</a:t>
            </a:r>
            <a:r>
              <a:rPr sz="950" spc="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616161"/>
                </a:solidFill>
                <a:latin typeface="Courier New"/>
                <a:cs typeface="Courier New"/>
              </a:rPr>
              <a:t>]:</a:t>
            </a:r>
            <a:endParaRPr sz="9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6153</Words>
  <Application>Microsoft Office PowerPoint</Application>
  <PresentationFormat>Custom</PresentationFormat>
  <Paragraphs>1917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</vt:lpstr>
      <vt:lpstr>Courier New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hotels_data_analysisproject_0_71113900_1770217800</dc:title>
  <dc:creator>Nandini</dc:creator>
  <cp:lastModifiedBy>Nandini Wadile</cp:lastModifiedBy>
  <cp:revision>2</cp:revision>
  <dcterms:created xsi:type="dcterms:W3CDTF">2026-02-04T15:13:06Z</dcterms:created>
  <dcterms:modified xsi:type="dcterms:W3CDTF">2026-02-05T07:43:10Z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Producer">
    <vt:lpwstr>Prince 15 (www.princexml.com)</vt:lpwstr>
  </property>
  <property fmtid="{D5CDD505-2E9C-101B-9397-08002B2CF9AE}" pid="4" name="LastSaved">
    <vt:filetime>2026-02-04T00:00:00Z</vt:filetime>
  </property>
</Properties>
</file>