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292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10220"/>
            <a:chOff x="847725" y="913764"/>
            <a:chExt cx="6076950" cy="811022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10220"/>
            </a:xfrm>
            <a:custGeom>
              <a:avLst/>
              <a:gdLst/>
              <a:ahLst/>
              <a:cxnLst/>
              <a:rect l="l" t="t" r="r" b="b"/>
              <a:pathLst>
                <a:path w="6076950" h="8110220">
                  <a:moveTo>
                    <a:pt x="6076950" y="0"/>
                  </a:moveTo>
                  <a:lnTo>
                    <a:pt x="0" y="0"/>
                  </a:lnTo>
                  <a:lnTo>
                    <a:pt x="0" y="229235"/>
                  </a:lnTo>
                  <a:lnTo>
                    <a:pt x="0" y="229870"/>
                  </a:lnTo>
                  <a:lnTo>
                    <a:pt x="0" y="8110220"/>
                  </a:lnTo>
                  <a:lnTo>
                    <a:pt x="6076950" y="8110220"/>
                  </a:lnTo>
                  <a:lnTo>
                    <a:pt x="6076950" y="2292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1723389"/>
              <a:ext cx="4963795" cy="161925"/>
            </a:xfrm>
            <a:custGeom>
              <a:avLst/>
              <a:gdLst/>
              <a:ahLst/>
              <a:cxnLst/>
              <a:rect l="l" t="t" r="r" b="b"/>
              <a:pathLst>
                <a:path w="4963795" h="161925">
                  <a:moveTo>
                    <a:pt x="496379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4963795" y="161925"/>
                  </a:lnTo>
                  <a:lnTo>
                    <a:pt x="496379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4987290" cy="934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5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pandas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sz="1100" spc="-5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pd</a:t>
            </a:r>
            <a:endParaRPr sz="1100">
              <a:latin typeface="Courier New"/>
              <a:cs typeface="Courier New"/>
            </a:endParaRPr>
          </a:p>
          <a:p>
            <a:pPr marL="12700" marR="1095375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df_bookings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"fact_bookings.csv"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df_bookings.head()</a:t>
            </a:r>
            <a:endParaRPr sz="1100">
              <a:latin typeface="Courier New"/>
              <a:cs typeface="Courier New"/>
            </a:endParaRPr>
          </a:p>
          <a:p>
            <a:pPr marL="768985">
              <a:lnSpc>
                <a:spcPct val="100000"/>
              </a:lnSpc>
              <a:spcBef>
                <a:spcPts val="925"/>
              </a:spcBef>
              <a:tabLst>
                <a:tab pos="1778635" algn="l"/>
              </a:tabLst>
            </a:pPr>
            <a:r>
              <a:rPr sz="1100" spc="-10" dirty="0">
                <a:latin typeface="Courier New"/>
                <a:cs typeface="Courier New"/>
              </a:rPr>
              <a:t>booking_id</a:t>
            </a:r>
            <a:r>
              <a:rPr sz="1100" dirty="0">
                <a:latin typeface="Courier New"/>
                <a:cs typeface="Courier New"/>
              </a:rPr>
              <a:t>	property_id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88595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  <a:tabLst>
                <a:tab pos="1262380" algn="l"/>
              </a:tabLst>
            </a:pPr>
            <a:r>
              <a:rPr sz="1100" spc="-10" dirty="0">
                <a:latin typeface="Courier New"/>
                <a:cs typeface="Courier New"/>
              </a:rPr>
              <a:t>checkout_date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204851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5669" y="2025015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28879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21107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237362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2350134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28879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30-04-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53618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269875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5669" y="2675255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28879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286131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4/5/2022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302387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5669" y="3000375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28879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18642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3348989"/>
            <a:ext cx="4963795" cy="324485"/>
          </a:xfrm>
          <a:custGeom>
            <a:avLst/>
            <a:gdLst/>
            <a:ahLst/>
            <a:cxnLst/>
            <a:rect l="l" t="t" r="r" b="b"/>
            <a:pathLst>
              <a:path w="4963795" h="324485">
                <a:moveTo>
                  <a:pt x="6724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672465" y="324485"/>
                </a:lnTo>
                <a:lnTo>
                  <a:pt x="672465" y="162560"/>
                </a:lnTo>
                <a:close/>
              </a:path>
              <a:path w="4963795" h="324485">
                <a:moveTo>
                  <a:pt x="4963795" y="0"/>
                </a:moveTo>
                <a:lnTo>
                  <a:pt x="0" y="0"/>
                </a:lnTo>
                <a:lnTo>
                  <a:pt x="0" y="161937"/>
                </a:lnTo>
                <a:lnTo>
                  <a:pt x="4963795" y="161937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2969" y="3325494"/>
            <a:ext cx="498729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264795" algn="l"/>
                <a:tab pos="2282825" algn="l"/>
                <a:tab pos="3124200" algn="l"/>
                <a:tab pos="4301490" algn="l"/>
              </a:tabLst>
            </a:pPr>
            <a:r>
              <a:rPr sz="1100" spc="-50" dirty="0">
                <a:latin typeface="Courier New"/>
                <a:cs typeface="Courier New"/>
              </a:rPr>
              <a:t>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May012216558RT15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914400" y="3821429"/>
          <a:ext cx="5807072" cy="194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485"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20"/>
                        </a:lnSpc>
                        <a:tabLst>
                          <a:tab pos="378523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no_guests</a:t>
                      </a:r>
                      <a:r>
                        <a:rPr sz="1100" spc="-1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spc="-1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ratings_given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134620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booking_status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67373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75755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75755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67373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75755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914400" y="5920740"/>
            <a:ext cx="3197225" cy="9747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15"/>
              </a:lnSpc>
              <a:tabLst>
                <a:tab pos="1851025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262380" algn="l"/>
                <a:tab pos="277622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10010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10010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346200" algn="l"/>
                <a:tab pos="286004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094105" algn="l"/>
                <a:tab pos="286004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9100000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346200" algn="l"/>
                <a:tab pos="286004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1262380" algn="l"/>
                <a:tab pos="2776220" algn="l"/>
              </a:tabLst>
            </a:pPr>
            <a:r>
              <a:rPr sz="1100" spc="-50" dirty="0">
                <a:latin typeface="Courier New"/>
                <a:cs typeface="Courier New"/>
              </a:rPr>
              <a:t>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10920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10920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2969" y="6999605"/>
            <a:ext cx="145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7312659"/>
            <a:ext cx="10217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(134590,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12)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2969" y="7578725"/>
            <a:ext cx="2884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df_bookings.room_category.unique()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7891780"/>
            <a:ext cx="4123054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array(['RT1',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'RT2',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'RT3',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'RT4'],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dtype=object)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2969" y="8157844"/>
            <a:ext cx="29692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df_bookings.booking_platform.unique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4400" y="8470900"/>
            <a:ext cx="4543425" cy="161925"/>
          </a:xfrm>
          <a:custGeom>
            <a:avLst/>
            <a:gdLst/>
            <a:ahLst/>
            <a:cxnLst/>
            <a:rect l="l" t="t" r="r" b="b"/>
            <a:pathLst>
              <a:path w="4543425" h="161925">
                <a:moveTo>
                  <a:pt x="4543425" y="0"/>
                </a:moveTo>
                <a:lnTo>
                  <a:pt x="0" y="0"/>
                </a:lnTo>
                <a:lnTo>
                  <a:pt x="0" y="161925"/>
                </a:lnTo>
                <a:lnTo>
                  <a:pt x="4543425" y="161925"/>
                </a:lnTo>
                <a:lnTo>
                  <a:pt x="45434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02969" y="8447405"/>
            <a:ext cx="27171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&lt;bound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method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Series.unique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51045" y="8447405"/>
            <a:ext cx="1118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8633459"/>
            <a:ext cx="1934845" cy="324485"/>
          </a:xfrm>
          <a:custGeom>
            <a:avLst/>
            <a:gdLst/>
            <a:ahLst/>
            <a:cxnLst/>
            <a:rect l="l" t="t" r="r" b="b"/>
            <a:pathLst>
              <a:path w="1934845" h="324484">
                <a:moveTo>
                  <a:pt x="19348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934845" y="324485"/>
                </a:lnTo>
                <a:lnTo>
                  <a:pt x="1934845" y="162560"/>
                </a:lnTo>
                <a:close/>
              </a:path>
              <a:path w="1934845" h="324484">
                <a:moveTo>
                  <a:pt x="1934845" y="0"/>
                </a:moveTo>
                <a:lnTo>
                  <a:pt x="0" y="0"/>
                </a:lnTo>
                <a:lnTo>
                  <a:pt x="0" y="161925"/>
                </a:lnTo>
                <a:lnTo>
                  <a:pt x="1934845" y="161925"/>
                </a:lnTo>
                <a:lnTo>
                  <a:pt x="19348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2969" y="8609965"/>
            <a:ext cx="196024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2085" indent="-1429385">
              <a:lnSpc>
                <a:spcPts val="1300"/>
              </a:lnSpc>
              <a:spcBef>
                <a:spcPts val="100"/>
              </a:spcBef>
              <a:buAutoNum type="arabicPlain"/>
              <a:tabLst>
                <a:tab pos="1442085" algn="l"/>
              </a:tabLst>
            </a:pP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  <a:p>
            <a:pPr marL="1357630" indent="-1344930">
              <a:lnSpc>
                <a:spcPts val="1300"/>
              </a:lnSpc>
              <a:buAutoNum type="arabicPlain"/>
              <a:tabLst>
                <a:tab pos="1357630" algn="l"/>
              </a:tabLst>
            </a:pPr>
            <a:r>
              <a:rPr sz="1100" spc="-10" dirty="0">
                <a:latin typeface="Courier New"/>
                <a:cs typeface="Courier New"/>
              </a:rPr>
              <a:t>logtrip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8360" y="914400"/>
            <a:ext cx="6076315" cy="8109584"/>
          </a:xfrm>
          <a:custGeom>
            <a:avLst/>
            <a:gdLst/>
            <a:ahLst/>
            <a:cxnLst/>
            <a:rect l="l" t="t" r="r" b="b"/>
            <a:pathLst>
              <a:path w="6076315" h="8109584">
                <a:moveTo>
                  <a:pt x="0" y="1904"/>
                </a:moveTo>
                <a:lnTo>
                  <a:pt x="6076315" y="1904"/>
                </a:lnTo>
              </a:path>
              <a:path w="6076315" h="8109584">
                <a:moveTo>
                  <a:pt x="6075045" y="0"/>
                </a:moveTo>
                <a:lnTo>
                  <a:pt x="6075045" y="356234"/>
                </a:lnTo>
              </a:path>
              <a:path w="6076315" h="8109584">
                <a:moveTo>
                  <a:pt x="1905" y="356234"/>
                </a:moveTo>
                <a:lnTo>
                  <a:pt x="1905" y="0"/>
                </a:lnTo>
              </a:path>
              <a:path w="6076315" h="8109584">
                <a:moveTo>
                  <a:pt x="6075045" y="229234"/>
                </a:moveTo>
                <a:lnTo>
                  <a:pt x="6075045" y="808354"/>
                </a:lnTo>
              </a:path>
              <a:path w="6076315" h="8109584">
                <a:moveTo>
                  <a:pt x="1905" y="808354"/>
                </a:moveTo>
                <a:lnTo>
                  <a:pt x="1905" y="229234"/>
                </a:lnTo>
              </a:path>
              <a:path w="6076315" h="8109584">
                <a:moveTo>
                  <a:pt x="6075045" y="681354"/>
                </a:moveTo>
                <a:lnTo>
                  <a:pt x="6075045" y="6108065"/>
                </a:lnTo>
              </a:path>
              <a:path w="6076315" h="8109584">
                <a:moveTo>
                  <a:pt x="1905" y="6108065"/>
                </a:moveTo>
                <a:lnTo>
                  <a:pt x="1905" y="681354"/>
                </a:lnTo>
              </a:path>
              <a:path w="6076315" h="8109584">
                <a:moveTo>
                  <a:pt x="6075045" y="5981065"/>
                </a:moveTo>
                <a:lnTo>
                  <a:pt x="6075045" y="6397625"/>
                </a:lnTo>
              </a:path>
              <a:path w="6076315" h="8109584">
                <a:moveTo>
                  <a:pt x="1905" y="6397625"/>
                </a:moveTo>
                <a:lnTo>
                  <a:pt x="1905" y="5981065"/>
                </a:lnTo>
              </a:path>
              <a:path w="6076315" h="8109584">
                <a:moveTo>
                  <a:pt x="6075045" y="6270625"/>
                </a:moveTo>
                <a:lnTo>
                  <a:pt x="6075045" y="6687184"/>
                </a:lnTo>
              </a:path>
              <a:path w="6076315" h="8109584">
                <a:moveTo>
                  <a:pt x="1905" y="6687184"/>
                </a:moveTo>
                <a:lnTo>
                  <a:pt x="1905" y="6270625"/>
                </a:lnTo>
              </a:path>
              <a:path w="6076315" h="8109584">
                <a:moveTo>
                  <a:pt x="6075045" y="6560184"/>
                </a:moveTo>
                <a:lnTo>
                  <a:pt x="6075045" y="6976745"/>
                </a:lnTo>
              </a:path>
              <a:path w="6076315" h="8109584">
                <a:moveTo>
                  <a:pt x="1905" y="6976745"/>
                </a:moveTo>
                <a:lnTo>
                  <a:pt x="1905" y="6560184"/>
                </a:lnTo>
              </a:path>
              <a:path w="6076315" h="8109584">
                <a:moveTo>
                  <a:pt x="6075045" y="6849745"/>
                </a:moveTo>
                <a:lnTo>
                  <a:pt x="6075045" y="7266305"/>
                </a:lnTo>
              </a:path>
              <a:path w="6076315" h="8109584">
                <a:moveTo>
                  <a:pt x="1905" y="7266305"/>
                </a:moveTo>
                <a:lnTo>
                  <a:pt x="1905" y="6849745"/>
                </a:lnTo>
              </a:path>
              <a:path w="6076315" h="8109584">
                <a:moveTo>
                  <a:pt x="6075045" y="7139305"/>
                </a:moveTo>
                <a:lnTo>
                  <a:pt x="6075045" y="7555865"/>
                </a:lnTo>
              </a:path>
              <a:path w="6076315" h="8109584">
                <a:moveTo>
                  <a:pt x="1905" y="7555865"/>
                </a:moveTo>
                <a:lnTo>
                  <a:pt x="1905" y="7139305"/>
                </a:lnTo>
              </a:path>
              <a:path w="6076315" h="8109584">
                <a:moveTo>
                  <a:pt x="6075045" y="7428865"/>
                </a:moveTo>
                <a:lnTo>
                  <a:pt x="6075045" y="8109584"/>
                </a:lnTo>
              </a:path>
              <a:path w="6076315" h="8109584">
                <a:moveTo>
                  <a:pt x="6076315" y="8108315"/>
                </a:moveTo>
                <a:lnTo>
                  <a:pt x="0" y="8108315"/>
                </a:lnTo>
              </a:path>
              <a:path w="6076315" h="8109584">
                <a:moveTo>
                  <a:pt x="1905" y="8109584"/>
                </a:moveTo>
                <a:lnTo>
                  <a:pt x="1905" y="7428865"/>
                </a:lnTo>
              </a:path>
              <a:path w="6076315" h="8109584">
                <a:moveTo>
                  <a:pt x="0" y="1904"/>
                </a:moveTo>
                <a:lnTo>
                  <a:pt x="6076315" y="1904"/>
                </a:lnTo>
              </a:path>
              <a:path w="6076315" h="8109584">
                <a:moveTo>
                  <a:pt x="6075045" y="0"/>
                </a:moveTo>
                <a:lnTo>
                  <a:pt x="6075045" y="356234"/>
                </a:lnTo>
              </a:path>
              <a:path w="6076315" h="8109584">
                <a:moveTo>
                  <a:pt x="1905" y="356234"/>
                </a:moveTo>
                <a:lnTo>
                  <a:pt x="1905" y="0"/>
                </a:lnTo>
              </a:path>
              <a:path w="6076315" h="8109584">
                <a:moveTo>
                  <a:pt x="6075045" y="229234"/>
                </a:moveTo>
                <a:lnTo>
                  <a:pt x="6075045" y="808354"/>
                </a:lnTo>
              </a:path>
              <a:path w="6076315" h="8109584">
                <a:moveTo>
                  <a:pt x="1905" y="808354"/>
                </a:moveTo>
                <a:lnTo>
                  <a:pt x="1905" y="229234"/>
                </a:lnTo>
              </a:path>
              <a:path w="6076315" h="8109584">
                <a:moveTo>
                  <a:pt x="6075045" y="681354"/>
                </a:moveTo>
                <a:lnTo>
                  <a:pt x="6075045" y="6108065"/>
                </a:lnTo>
              </a:path>
              <a:path w="6076315" h="8109584">
                <a:moveTo>
                  <a:pt x="1905" y="6108065"/>
                </a:moveTo>
                <a:lnTo>
                  <a:pt x="1905" y="681354"/>
                </a:lnTo>
              </a:path>
              <a:path w="6076315" h="8109584">
                <a:moveTo>
                  <a:pt x="6075045" y="5981065"/>
                </a:moveTo>
                <a:lnTo>
                  <a:pt x="6075045" y="6397625"/>
                </a:lnTo>
              </a:path>
              <a:path w="6076315" h="8109584">
                <a:moveTo>
                  <a:pt x="1905" y="6397625"/>
                </a:moveTo>
                <a:lnTo>
                  <a:pt x="1905" y="5981065"/>
                </a:lnTo>
              </a:path>
              <a:path w="6076315" h="8109584">
                <a:moveTo>
                  <a:pt x="6075045" y="6270625"/>
                </a:moveTo>
                <a:lnTo>
                  <a:pt x="6075045" y="6687184"/>
                </a:lnTo>
              </a:path>
              <a:path w="6076315" h="8109584">
                <a:moveTo>
                  <a:pt x="1905" y="6687184"/>
                </a:moveTo>
                <a:lnTo>
                  <a:pt x="1905" y="6270625"/>
                </a:lnTo>
              </a:path>
              <a:path w="6076315" h="8109584">
                <a:moveTo>
                  <a:pt x="6075045" y="6560184"/>
                </a:moveTo>
                <a:lnTo>
                  <a:pt x="6075045" y="6976745"/>
                </a:lnTo>
              </a:path>
              <a:path w="6076315" h="8109584">
                <a:moveTo>
                  <a:pt x="1905" y="6976745"/>
                </a:moveTo>
                <a:lnTo>
                  <a:pt x="1905" y="6560184"/>
                </a:lnTo>
              </a:path>
              <a:path w="6076315" h="8109584">
                <a:moveTo>
                  <a:pt x="6075045" y="6849745"/>
                </a:moveTo>
                <a:lnTo>
                  <a:pt x="6075045" y="7266305"/>
                </a:lnTo>
              </a:path>
              <a:path w="6076315" h="8109584">
                <a:moveTo>
                  <a:pt x="1905" y="7266305"/>
                </a:moveTo>
                <a:lnTo>
                  <a:pt x="1905" y="6849745"/>
                </a:lnTo>
              </a:path>
              <a:path w="6076315" h="8109584">
                <a:moveTo>
                  <a:pt x="6075045" y="7139305"/>
                </a:moveTo>
                <a:lnTo>
                  <a:pt x="6075045" y="7555865"/>
                </a:lnTo>
              </a:path>
              <a:path w="6076315" h="8109584">
                <a:moveTo>
                  <a:pt x="1905" y="7555865"/>
                </a:moveTo>
                <a:lnTo>
                  <a:pt x="1905" y="7139305"/>
                </a:lnTo>
              </a:path>
              <a:path w="6076315" h="8109584">
                <a:moveTo>
                  <a:pt x="6075045" y="7428865"/>
                </a:moveTo>
                <a:lnTo>
                  <a:pt x="6075045" y="8109584"/>
                </a:lnTo>
              </a:path>
              <a:path w="6076315" h="8109584">
                <a:moveTo>
                  <a:pt x="6076315" y="8108315"/>
                </a:moveTo>
                <a:lnTo>
                  <a:pt x="0" y="8108315"/>
                </a:lnTo>
              </a:path>
              <a:path w="6076315" h="8109584">
                <a:moveTo>
                  <a:pt x="1905" y="8109584"/>
                </a:moveTo>
                <a:lnTo>
                  <a:pt x="1905" y="742886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5FBA4F19-16DF-63C7-6310-CD3850A7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6"/>
            <a:ext cx="6774180" cy="276999"/>
          </a:xfrm>
        </p:spPr>
        <p:txBody>
          <a:bodyPr/>
          <a:lstStyle/>
          <a:p>
            <a:pPr algn="ctr"/>
            <a:r>
              <a:rPr lang="en-US" dirty="0"/>
              <a:t>Hotels Data Analysis Project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4055110"/>
            <a:chOff x="847725" y="913764"/>
            <a:chExt cx="6076950" cy="405511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4055110"/>
            </a:xfrm>
            <a:custGeom>
              <a:avLst/>
              <a:gdLst/>
              <a:ahLst/>
              <a:cxnLst/>
              <a:rect l="l" t="t" r="r" b="b"/>
              <a:pathLst>
                <a:path w="6076950" h="4055110">
                  <a:moveTo>
                    <a:pt x="6076950" y="0"/>
                  </a:moveTo>
                  <a:lnTo>
                    <a:pt x="0" y="0"/>
                  </a:lnTo>
                  <a:lnTo>
                    <a:pt x="0" y="1529715"/>
                  </a:lnTo>
                  <a:lnTo>
                    <a:pt x="0" y="1530350"/>
                  </a:lnTo>
                  <a:lnTo>
                    <a:pt x="0" y="4055110"/>
                  </a:lnTo>
                  <a:lnTo>
                    <a:pt x="6076950" y="4055110"/>
                  </a:lnTo>
                  <a:lnTo>
                    <a:pt x="6076950" y="152971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1934845" cy="324485"/>
            </a:xfrm>
            <a:custGeom>
              <a:avLst/>
              <a:gdLst/>
              <a:ahLst/>
              <a:cxnLst/>
              <a:rect l="l" t="t" r="r" b="b"/>
              <a:pathLst>
                <a:path w="1934845" h="324484">
                  <a:moveTo>
                    <a:pt x="193484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1934845" y="324485"/>
                  </a:lnTo>
                  <a:lnTo>
                    <a:pt x="1934845" y="162560"/>
                  </a:lnTo>
                  <a:close/>
                </a:path>
                <a:path w="1934845" h="324484">
                  <a:moveTo>
                    <a:pt x="193484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934845" y="161925"/>
                  </a:lnTo>
                  <a:lnTo>
                    <a:pt x="193484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15669" y="958215"/>
            <a:ext cx="9715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spc="-50" dirty="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6664" y="958215"/>
            <a:ext cx="110617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 indent="588645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others </a:t>
            </a:r>
            <a:r>
              <a:rPr sz="1100" dirty="0">
                <a:latin typeface="Courier New"/>
                <a:cs typeface="Courier New"/>
              </a:rPr>
              <a:t>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1306830"/>
            <a:ext cx="1430655" cy="161925"/>
          </a:xfrm>
          <a:custGeom>
            <a:avLst/>
            <a:gdLst/>
            <a:ahLst/>
            <a:cxnLst/>
            <a:rect l="l" t="t" r="r" b="b"/>
            <a:pathLst>
              <a:path w="1430655" h="161925">
                <a:moveTo>
                  <a:pt x="1430655" y="0"/>
                </a:moveTo>
                <a:lnTo>
                  <a:pt x="0" y="0"/>
                </a:lnTo>
                <a:lnTo>
                  <a:pt x="0" y="161925"/>
                </a:lnTo>
                <a:lnTo>
                  <a:pt x="1430655" y="161925"/>
                </a:lnTo>
                <a:lnTo>
                  <a:pt x="14306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4400" y="1306830"/>
          <a:ext cx="201168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makeyourtrip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tripster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makeyourtrip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14400" y="2282189"/>
            <a:ext cx="45434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Length: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134590,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object&gt;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2548255"/>
            <a:ext cx="3641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df_bookings.booking_platform.value_counts()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2861310"/>
            <a:ext cx="13582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booking_platform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3023869"/>
            <a:ext cx="1934845" cy="1137285"/>
          </a:xfrm>
          <a:custGeom>
            <a:avLst/>
            <a:gdLst/>
            <a:ahLst/>
            <a:cxnLst/>
            <a:rect l="l" t="t" r="r" b="b"/>
            <a:pathLst>
              <a:path w="1934845" h="1137285">
                <a:moveTo>
                  <a:pt x="193484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1934845" y="1137285"/>
                </a:lnTo>
                <a:lnTo>
                  <a:pt x="1934845" y="975360"/>
                </a:lnTo>
                <a:close/>
              </a:path>
              <a:path w="1934845" h="1137285">
                <a:moveTo>
                  <a:pt x="193484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1934845" y="974725"/>
                </a:lnTo>
                <a:lnTo>
                  <a:pt x="1934845" y="812800"/>
                </a:lnTo>
                <a:close/>
              </a:path>
              <a:path w="1934845" h="1137285">
                <a:moveTo>
                  <a:pt x="193484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1934845" y="812165"/>
                </a:lnTo>
                <a:lnTo>
                  <a:pt x="1934845" y="650240"/>
                </a:lnTo>
                <a:close/>
              </a:path>
              <a:path w="1934845" h="1137285">
                <a:moveTo>
                  <a:pt x="193484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1934845" y="649605"/>
                </a:lnTo>
                <a:lnTo>
                  <a:pt x="1934845" y="487680"/>
                </a:lnTo>
                <a:close/>
              </a:path>
              <a:path w="1934845" h="1137285">
                <a:moveTo>
                  <a:pt x="1934845" y="325120"/>
                </a:moveTo>
                <a:lnTo>
                  <a:pt x="0" y="325120"/>
                </a:lnTo>
                <a:lnTo>
                  <a:pt x="0" y="487057"/>
                </a:lnTo>
                <a:lnTo>
                  <a:pt x="1934845" y="487057"/>
                </a:lnTo>
                <a:lnTo>
                  <a:pt x="1934845" y="325120"/>
                </a:lnTo>
                <a:close/>
              </a:path>
              <a:path w="1934845" h="1137285">
                <a:moveTo>
                  <a:pt x="19348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934845" y="324485"/>
                </a:lnTo>
                <a:lnTo>
                  <a:pt x="1934845" y="162560"/>
                </a:lnTo>
                <a:close/>
              </a:path>
              <a:path w="1934845" h="1137285">
                <a:moveTo>
                  <a:pt x="1934845" y="0"/>
                </a:moveTo>
                <a:lnTo>
                  <a:pt x="0" y="0"/>
                </a:lnTo>
                <a:lnTo>
                  <a:pt x="0" y="161925"/>
                </a:lnTo>
                <a:lnTo>
                  <a:pt x="1934845" y="161925"/>
                </a:lnTo>
                <a:lnTo>
                  <a:pt x="19348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5669" y="3000375"/>
            <a:ext cx="1190625" cy="11684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8890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others makeyourtrip logtrip </a:t>
            </a:r>
            <a:r>
              <a:rPr sz="1100" dirty="0">
                <a:latin typeface="Courier New"/>
                <a:cs typeface="Courier New"/>
              </a:rPr>
              <a:t>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 tripster journey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45"/>
              </a:lnSpc>
            </a:pPr>
            <a:r>
              <a:rPr sz="1100" dirty="0">
                <a:latin typeface="Courier New"/>
                <a:cs typeface="Courier New"/>
              </a:rPr>
              <a:t>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offline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29459" y="3000375"/>
            <a:ext cx="43370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55066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26898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14756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13379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9630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8106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300"/>
              </a:lnSpc>
            </a:pPr>
            <a:r>
              <a:rPr sz="1100" spc="-20" dirty="0">
                <a:latin typeface="Courier New"/>
                <a:cs typeface="Courier New"/>
              </a:rPr>
              <a:t>6755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4161790"/>
            <a:ext cx="21164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2969" y="4427854"/>
            <a:ext cx="52425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df_bookings.booking_platform.value_counts().plot(kind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"barh"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4740909"/>
            <a:ext cx="27768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&lt;Axes: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ylabel='booking_platform'&gt;</a:t>
            </a:r>
            <a:endParaRPr sz="110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2301" y="5179631"/>
            <a:ext cx="5734545" cy="3610641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848360" y="914400"/>
            <a:ext cx="6076315" cy="4054475"/>
          </a:xfrm>
          <a:custGeom>
            <a:avLst/>
            <a:gdLst/>
            <a:ahLst/>
            <a:cxnLst/>
            <a:rect l="l" t="t" r="r" b="b"/>
            <a:pathLst>
              <a:path w="6076315" h="4054475">
                <a:moveTo>
                  <a:pt x="0" y="1904"/>
                </a:moveTo>
                <a:lnTo>
                  <a:pt x="6076315" y="1904"/>
                </a:lnTo>
              </a:path>
              <a:path w="6076315" h="4054475">
                <a:moveTo>
                  <a:pt x="6075045" y="0"/>
                </a:moveTo>
                <a:lnTo>
                  <a:pt x="6075045" y="1656715"/>
                </a:lnTo>
              </a:path>
              <a:path w="6076315" h="4054475">
                <a:moveTo>
                  <a:pt x="1905" y="1656715"/>
                </a:moveTo>
                <a:lnTo>
                  <a:pt x="1905" y="0"/>
                </a:lnTo>
              </a:path>
              <a:path w="6076315" h="4054475">
                <a:moveTo>
                  <a:pt x="6075045" y="1529715"/>
                </a:moveTo>
                <a:lnTo>
                  <a:pt x="6075045" y="1946275"/>
                </a:lnTo>
              </a:path>
              <a:path w="6076315" h="4054475">
                <a:moveTo>
                  <a:pt x="1905" y="1946275"/>
                </a:moveTo>
                <a:lnTo>
                  <a:pt x="1905" y="1529715"/>
                </a:lnTo>
              </a:path>
              <a:path w="6076315" h="4054475">
                <a:moveTo>
                  <a:pt x="6075045" y="1819275"/>
                </a:moveTo>
                <a:lnTo>
                  <a:pt x="6075045" y="3536315"/>
                </a:lnTo>
              </a:path>
              <a:path w="6076315" h="4054475">
                <a:moveTo>
                  <a:pt x="1905" y="3536315"/>
                </a:moveTo>
                <a:lnTo>
                  <a:pt x="1905" y="1819275"/>
                </a:lnTo>
              </a:path>
              <a:path w="6076315" h="4054475">
                <a:moveTo>
                  <a:pt x="6075045" y="3409315"/>
                </a:moveTo>
                <a:lnTo>
                  <a:pt x="6075045" y="3825875"/>
                </a:lnTo>
              </a:path>
              <a:path w="6076315" h="4054475">
                <a:moveTo>
                  <a:pt x="1905" y="3825875"/>
                </a:moveTo>
                <a:lnTo>
                  <a:pt x="1905" y="3409315"/>
                </a:lnTo>
              </a:path>
              <a:path w="6076315" h="4054475">
                <a:moveTo>
                  <a:pt x="6075045" y="3698875"/>
                </a:moveTo>
                <a:lnTo>
                  <a:pt x="6075045" y="4054475"/>
                </a:lnTo>
              </a:path>
              <a:path w="6076315" h="4054475">
                <a:moveTo>
                  <a:pt x="6076315" y="4053204"/>
                </a:moveTo>
                <a:lnTo>
                  <a:pt x="0" y="4053204"/>
                </a:lnTo>
              </a:path>
              <a:path w="6076315" h="4054475">
                <a:moveTo>
                  <a:pt x="1905" y="4054475"/>
                </a:moveTo>
                <a:lnTo>
                  <a:pt x="1905" y="3698875"/>
                </a:lnTo>
              </a:path>
              <a:path w="6076315" h="4054475">
                <a:moveTo>
                  <a:pt x="0" y="1904"/>
                </a:moveTo>
                <a:lnTo>
                  <a:pt x="6076315" y="1904"/>
                </a:lnTo>
              </a:path>
              <a:path w="6076315" h="4054475">
                <a:moveTo>
                  <a:pt x="6075045" y="0"/>
                </a:moveTo>
                <a:lnTo>
                  <a:pt x="6075045" y="1656715"/>
                </a:lnTo>
              </a:path>
              <a:path w="6076315" h="4054475">
                <a:moveTo>
                  <a:pt x="1905" y="1656715"/>
                </a:moveTo>
                <a:lnTo>
                  <a:pt x="1905" y="0"/>
                </a:lnTo>
              </a:path>
              <a:path w="6076315" h="4054475">
                <a:moveTo>
                  <a:pt x="6075045" y="1529715"/>
                </a:moveTo>
                <a:lnTo>
                  <a:pt x="6075045" y="1946275"/>
                </a:lnTo>
              </a:path>
              <a:path w="6076315" h="4054475">
                <a:moveTo>
                  <a:pt x="1905" y="1946275"/>
                </a:moveTo>
                <a:lnTo>
                  <a:pt x="1905" y="1529715"/>
                </a:lnTo>
              </a:path>
              <a:path w="6076315" h="4054475">
                <a:moveTo>
                  <a:pt x="6075045" y="1819275"/>
                </a:moveTo>
                <a:lnTo>
                  <a:pt x="6075045" y="3536315"/>
                </a:lnTo>
              </a:path>
              <a:path w="6076315" h="4054475">
                <a:moveTo>
                  <a:pt x="1905" y="3536315"/>
                </a:moveTo>
                <a:lnTo>
                  <a:pt x="1905" y="1819275"/>
                </a:lnTo>
              </a:path>
              <a:path w="6076315" h="4054475">
                <a:moveTo>
                  <a:pt x="6075045" y="3409315"/>
                </a:moveTo>
                <a:lnTo>
                  <a:pt x="6075045" y="3825875"/>
                </a:lnTo>
              </a:path>
              <a:path w="6076315" h="4054475">
                <a:moveTo>
                  <a:pt x="1905" y="3825875"/>
                </a:moveTo>
                <a:lnTo>
                  <a:pt x="1905" y="3409315"/>
                </a:lnTo>
              </a:path>
              <a:path w="6076315" h="4054475">
                <a:moveTo>
                  <a:pt x="6075045" y="3698875"/>
                </a:moveTo>
                <a:lnTo>
                  <a:pt x="6075045" y="4054475"/>
                </a:lnTo>
              </a:path>
              <a:path w="6076315" h="4054475">
                <a:moveTo>
                  <a:pt x="6076315" y="4053204"/>
                </a:moveTo>
                <a:lnTo>
                  <a:pt x="0" y="4053204"/>
                </a:lnTo>
              </a:path>
              <a:path w="6076315" h="4054475">
                <a:moveTo>
                  <a:pt x="1905" y="4054475"/>
                </a:moveTo>
                <a:lnTo>
                  <a:pt x="1905" y="369887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08620"/>
          </a:xfrm>
          <a:custGeom>
            <a:avLst/>
            <a:gdLst/>
            <a:ahLst/>
            <a:cxnLst/>
            <a:rect l="l" t="t" r="r" b="b"/>
            <a:pathLst>
              <a:path w="6076950" h="800862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8008620"/>
                </a:lnTo>
                <a:lnTo>
                  <a:pt x="6076950" y="800862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18757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df_bookings.describe()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72172" y="1271269"/>
          <a:ext cx="5923280" cy="2654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ratings_given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ts val="118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84455">
                      <a:solidFill>
                        <a:srgbClr val="EDEDED"/>
                      </a:solidFill>
                      <a:prstDash val="solid"/>
                    </a:lnL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count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134590.000000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134587.000000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56683.000000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1.345900e+05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18061.113493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2.036170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3.619004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1.537805e+04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1093.055847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1.034885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1.235009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9.303604e+04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17.000000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6.500000e+03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9.900000e+03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17564.000000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1.350000e+04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1.800000e+04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2.856000e+07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4227829"/>
          <a:ext cx="2011680" cy="1459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count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134590.000000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12696.123256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6928.108124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2600.000000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7600.000000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11700.000000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15300.000000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45220.000000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15669" y="5795009"/>
            <a:ext cx="589089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df_bookings.revenue_generated.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min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(),df_bookings.revenue_generated.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6269990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(np.int64(6500),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np.int64(28560000))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6536690"/>
            <a:ext cx="5158740" cy="97028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168783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df_date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"dim_date.csv"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df_hotels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"dim_hotels.csv"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df_rooms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"dim_rooms.csv"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df_agg_bookings</a:t>
            </a:r>
            <a:r>
              <a:rPr sz="1100" spc="-8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9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"fact_aggregated_bookings.csv"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7626350"/>
            <a:ext cx="6013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(25,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4)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7893050"/>
            <a:ext cx="13716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df_hotels.head()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8205469"/>
            <a:ext cx="395414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346200" algn="l"/>
                <a:tab pos="2607945" algn="l"/>
                <a:tab pos="3616960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property_name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280"/>
              </a:lnSpc>
              <a:buAutoNum type="arabicPlain"/>
              <a:tabLst>
                <a:tab pos="757555" algn="l"/>
                <a:tab pos="1430655" algn="l"/>
                <a:tab pos="2776220" algn="l"/>
                <a:tab pos="3533140" algn="l"/>
              </a:tabLst>
            </a:pP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280"/>
              </a:lnSpc>
              <a:buAutoNum type="arabicPlain"/>
              <a:tabLst>
                <a:tab pos="757555" algn="l"/>
                <a:tab pos="1346200" algn="l"/>
                <a:tab pos="277622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Exotica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Mumbai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300"/>
              </a:lnSpc>
              <a:buAutoNum type="arabicPlain"/>
              <a:tabLst>
                <a:tab pos="757555" algn="l"/>
                <a:tab pos="1598930" algn="l"/>
                <a:tab pos="2607945" algn="l"/>
                <a:tab pos="3533140" algn="l"/>
              </a:tabLst>
            </a:pPr>
            <a:r>
              <a:rPr sz="1100" spc="-10" dirty="0">
                <a:latin typeface="Courier New"/>
                <a:cs typeface="Courier New"/>
              </a:rPr>
              <a:t>16560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8360" y="914400"/>
            <a:ext cx="6076315" cy="8007984"/>
          </a:xfrm>
          <a:custGeom>
            <a:avLst/>
            <a:gdLst/>
            <a:ahLst/>
            <a:cxnLst/>
            <a:rect l="l" t="t" r="r" b="b"/>
            <a:pathLst>
              <a:path w="6076315" h="8007984">
                <a:moveTo>
                  <a:pt x="0" y="1904"/>
                </a:moveTo>
                <a:lnTo>
                  <a:pt x="6076315" y="1904"/>
                </a:lnTo>
              </a:path>
              <a:path w="6076315" h="8007984">
                <a:moveTo>
                  <a:pt x="6075045" y="0"/>
                </a:moveTo>
                <a:lnTo>
                  <a:pt x="6075045" y="356234"/>
                </a:lnTo>
              </a:path>
              <a:path w="6076315" h="8007984">
                <a:moveTo>
                  <a:pt x="1905" y="356234"/>
                </a:moveTo>
                <a:lnTo>
                  <a:pt x="1905" y="0"/>
                </a:lnTo>
              </a:path>
              <a:path w="6076315" h="8007984">
                <a:moveTo>
                  <a:pt x="6075045" y="229234"/>
                </a:moveTo>
                <a:lnTo>
                  <a:pt x="6075045" y="4903470"/>
                </a:lnTo>
              </a:path>
              <a:path w="6076315" h="8007984">
                <a:moveTo>
                  <a:pt x="1905" y="4903470"/>
                </a:moveTo>
                <a:lnTo>
                  <a:pt x="1905" y="229234"/>
                </a:lnTo>
              </a:path>
              <a:path w="6076315" h="8007984">
                <a:moveTo>
                  <a:pt x="6075045" y="4776470"/>
                </a:moveTo>
                <a:lnTo>
                  <a:pt x="6075045" y="5355590"/>
                </a:lnTo>
              </a:path>
              <a:path w="6076315" h="8007984">
                <a:moveTo>
                  <a:pt x="1905" y="5355590"/>
                </a:moveTo>
                <a:lnTo>
                  <a:pt x="1905" y="4776470"/>
                </a:lnTo>
              </a:path>
              <a:path w="6076315" h="8007984">
                <a:moveTo>
                  <a:pt x="6075045" y="5228590"/>
                </a:moveTo>
                <a:lnTo>
                  <a:pt x="6075045" y="5645150"/>
                </a:lnTo>
              </a:path>
              <a:path w="6076315" h="8007984">
                <a:moveTo>
                  <a:pt x="1905" y="5645150"/>
                </a:moveTo>
                <a:lnTo>
                  <a:pt x="1905" y="5228590"/>
                </a:lnTo>
              </a:path>
              <a:path w="6076315" h="8007984">
                <a:moveTo>
                  <a:pt x="6075045" y="5518150"/>
                </a:moveTo>
                <a:lnTo>
                  <a:pt x="6075045" y="6422390"/>
                </a:lnTo>
              </a:path>
              <a:path w="6076315" h="8007984">
                <a:moveTo>
                  <a:pt x="1905" y="6422390"/>
                </a:moveTo>
                <a:lnTo>
                  <a:pt x="1905" y="5518150"/>
                </a:lnTo>
              </a:path>
              <a:path w="6076315" h="8007984">
                <a:moveTo>
                  <a:pt x="6075045" y="6295390"/>
                </a:moveTo>
                <a:lnTo>
                  <a:pt x="6075045" y="6711950"/>
                </a:lnTo>
              </a:path>
              <a:path w="6076315" h="8007984">
                <a:moveTo>
                  <a:pt x="1905" y="6711950"/>
                </a:moveTo>
                <a:lnTo>
                  <a:pt x="1905" y="6295390"/>
                </a:lnTo>
              </a:path>
              <a:path w="6076315" h="8007984">
                <a:moveTo>
                  <a:pt x="6075045" y="6584950"/>
                </a:moveTo>
                <a:lnTo>
                  <a:pt x="6075045" y="7001509"/>
                </a:lnTo>
              </a:path>
              <a:path w="6076315" h="8007984">
                <a:moveTo>
                  <a:pt x="1905" y="7001509"/>
                </a:moveTo>
                <a:lnTo>
                  <a:pt x="1905" y="6584950"/>
                </a:lnTo>
              </a:path>
              <a:path w="6076315" h="8007984">
                <a:moveTo>
                  <a:pt x="6075045" y="6874509"/>
                </a:moveTo>
                <a:lnTo>
                  <a:pt x="6075045" y="7291070"/>
                </a:lnTo>
              </a:path>
              <a:path w="6076315" h="8007984">
                <a:moveTo>
                  <a:pt x="1905" y="7291070"/>
                </a:moveTo>
                <a:lnTo>
                  <a:pt x="1905" y="6874509"/>
                </a:lnTo>
              </a:path>
              <a:path w="6076315" h="8007984">
                <a:moveTo>
                  <a:pt x="6075045" y="7164070"/>
                </a:moveTo>
                <a:lnTo>
                  <a:pt x="6075045" y="8007984"/>
                </a:lnTo>
              </a:path>
              <a:path w="6076315" h="8007984">
                <a:moveTo>
                  <a:pt x="6076315" y="8006715"/>
                </a:moveTo>
                <a:lnTo>
                  <a:pt x="0" y="8006715"/>
                </a:lnTo>
              </a:path>
              <a:path w="6076315" h="8007984">
                <a:moveTo>
                  <a:pt x="1905" y="8007984"/>
                </a:moveTo>
                <a:lnTo>
                  <a:pt x="1905" y="7164070"/>
                </a:lnTo>
              </a:path>
              <a:path w="6076315" h="8007984">
                <a:moveTo>
                  <a:pt x="0" y="1904"/>
                </a:moveTo>
                <a:lnTo>
                  <a:pt x="6076315" y="1904"/>
                </a:lnTo>
              </a:path>
              <a:path w="6076315" h="8007984">
                <a:moveTo>
                  <a:pt x="6075045" y="0"/>
                </a:moveTo>
                <a:lnTo>
                  <a:pt x="6075045" y="356234"/>
                </a:lnTo>
              </a:path>
              <a:path w="6076315" h="8007984">
                <a:moveTo>
                  <a:pt x="1905" y="356234"/>
                </a:moveTo>
                <a:lnTo>
                  <a:pt x="1905" y="0"/>
                </a:lnTo>
              </a:path>
              <a:path w="6076315" h="8007984">
                <a:moveTo>
                  <a:pt x="6075045" y="229234"/>
                </a:moveTo>
                <a:lnTo>
                  <a:pt x="6075045" y="4903470"/>
                </a:lnTo>
              </a:path>
              <a:path w="6076315" h="8007984">
                <a:moveTo>
                  <a:pt x="1905" y="4903470"/>
                </a:moveTo>
                <a:lnTo>
                  <a:pt x="1905" y="229234"/>
                </a:lnTo>
              </a:path>
              <a:path w="6076315" h="8007984">
                <a:moveTo>
                  <a:pt x="6075045" y="4776470"/>
                </a:moveTo>
                <a:lnTo>
                  <a:pt x="6075045" y="5355590"/>
                </a:lnTo>
              </a:path>
              <a:path w="6076315" h="8007984">
                <a:moveTo>
                  <a:pt x="1905" y="5355590"/>
                </a:moveTo>
                <a:lnTo>
                  <a:pt x="1905" y="4776470"/>
                </a:lnTo>
              </a:path>
              <a:path w="6076315" h="8007984">
                <a:moveTo>
                  <a:pt x="6075045" y="5228590"/>
                </a:moveTo>
                <a:lnTo>
                  <a:pt x="6075045" y="5645150"/>
                </a:lnTo>
              </a:path>
              <a:path w="6076315" h="8007984">
                <a:moveTo>
                  <a:pt x="1905" y="5645150"/>
                </a:moveTo>
                <a:lnTo>
                  <a:pt x="1905" y="5228590"/>
                </a:lnTo>
              </a:path>
              <a:path w="6076315" h="8007984">
                <a:moveTo>
                  <a:pt x="6075045" y="5518150"/>
                </a:moveTo>
                <a:lnTo>
                  <a:pt x="6075045" y="6422390"/>
                </a:lnTo>
              </a:path>
              <a:path w="6076315" h="8007984">
                <a:moveTo>
                  <a:pt x="1905" y="6422390"/>
                </a:moveTo>
                <a:lnTo>
                  <a:pt x="1905" y="5518150"/>
                </a:lnTo>
              </a:path>
              <a:path w="6076315" h="8007984">
                <a:moveTo>
                  <a:pt x="6075045" y="6295390"/>
                </a:moveTo>
                <a:lnTo>
                  <a:pt x="6075045" y="6711950"/>
                </a:lnTo>
              </a:path>
              <a:path w="6076315" h="8007984">
                <a:moveTo>
                  <a:pt x="1905" y="6711950"/>
                </a:moveTo>
                <a:lnTo>
                  <a:pt x="1905" y="6295390"/>
                </a:lnTo>
              </a:path>
              <a:path w="6076315" h="8007984">
                <a:moveTo>
                  <a:pt x="6075045" y="6584950"/>
                </a:moveTo>
                <a:lnTo>
                  <a:pt x="6075045" y="7001509"/>
                </a:lnTo>
              </a:path>
              <a:path w="6076315" h="8007984">
                <a:moveTo>
                  <a:pt x="1905" y="7001509"/>
                </a:moveTo>
                <a:lnTo>
                  <a:pt x="1905" y="6584950"/>
                </a:lnTo>
              </a:path>
              <a:path w="6076315" h="8007984">
                <a:moveTo>
                  <a:pt x="6075045" y="6874509"/>
                </a:moveTo>
                <a:lnTo>
                  <a:pt x="6075045" y="7291070"/>
                </a:lnTo>
              </a:path>
              <a:path w="6076315" h="8007984">
                <a:moveTo>
                  <a:pt x="1905" y="7291070"/>
                </a:moveTo>
                <a:lnTo>
                  <a:pt x="1905" y="6874509"/>
                </a:lnTo>
              </a:path>
              <a:path w="6076315" h="8007984">
                <a:moveTo>
                  <a:pt x="6075045" y="7164070"/>
                </a:moveTo>
                <a:lnTo>
                  <a:pt x="6075045" y="8007984"/>
                </a:lnTo>
              </a:path>
              <a:path w="6076315" h="8007984">
                <a:moveTo>
                  <a:pt x="6076315" y="8006715"/>
                </a:moveTo>
                <a:lnTo>
                  <a:pt x="0" y="8006715"/>
                </a:lnTo>
              </a:path>
              <a:path w="6076315" h="8007984">
                <a:moveTo>
                  <a:pt x="1905" y="8007984"/>
                </a:moveTo>
                <a:lnTo>
                  <a:pt x="1905" y="716407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3496310"/>
          </a:xfrm>
          <a:custGeom>
            <a:avLst/>
            <a:gdLst/>
            <a:ahLst/>
            <a:cxnLst/>
            <a:rect l="l" t="t" r="r" b="b"/>
            <a:pathLst>
              <a:path w="6076950" h="3496310">
                <a:moveTo>
                  <a:pt x="6076950" y="0"/>
                </a:moveTo>
                <a:lnTo>
                  <a:pt x="0" y="0"/>
                </a:lnTo>
                <a:lnTo>
                  <a:pt x="0" y="391795"/>
                </a:lnTo>
                <a:lnTo>
                  <a:pt x="0" y="392430"/>
                </a:lnTo>
                <a:lnTo>
                  <a:pt x="0" y="3496310"/>
                </a:lnTo>
                <a:lnTo>
                  <a:pt x="6076950" y="3496310"/>
                </a:lnTo>
                <a:lnTo>
                  <a:pt x="6076950" y="39179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4094479" cy="388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8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Blu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Bay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969" y="1410334"/>
            <a:ext cx="28009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df_hotels.category.value_counts()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72338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category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1885949"/>
            <a:ext cx="1177925" cy="324485"/>
          </a:xfrm>
          <a:custGeom>
            <a:avLst/>
            <a:gdLst/>
            <a:ahLst/>
            <a:cxnLst/>
            <a:rect l="l" t="t" r="r" b="b"/>
            <a:pathLst>
              <a:path w="1177925" h="324485">
                <a:moveTo>
                  <a:pt x="11779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177925" y="324485"/>
                </a:lnTo>
                <a:lnTo>
                  <a:pt x="1177925" y="162560"/>
                </a:lnTo>
                <a:close/>
              </a:path>
              <a:path w="1177925" h="324485">
                <a:moveTo>
                  <a:pt x="1177925" y="0"/>
                </a:moveTo>
                <a:lnTo>
                  <a:pt x="0" y="0"/>
                </a:lnTo>
                <a:lnTo>
                  <a:pt x="0" y="161925"/>
                </a:lnTo>
                <a:lnTo>
                  <a:pt x="1177925" y="161925"/>
                </a:lnTo>
                <a:lnTo>
                  <a:pt x="11779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5669" y="1862455"/>
            <a:ext cx="68580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Luxury Business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4862" y="1862455"/>
            <a:ext cx="18097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3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16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300"/>
              </a:lnSpc>
            </a:pPr>
            <a:r>
              <a:rPr sz="1100" spc="-50" dirty="0">
                <a:latin typeface="Courier New"/>
                <a:cs typeface="Courier New"/>
              </a:rPr>
              <a:t>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211070"/>
            <a:ext cx="21164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2477134"/>
            <a:ext cx="3641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df_hotels.city.value_counts().sort_values()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2790189"/>
            <a:ext cx="3486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2952749"/>
            <a:ext cx="1177925" cy="649605"/>
          </a:xfrm>
          <a:custGeom>
            <a:avLst/>
            <a:gdLst/>
            <a:ahLst/>
            <a:cxnLst/>
            <a:rect l="l" t="t" r="r" b="b"/>
            <a:pathLst>
              <a:path w="1177925" h="649604">
                <a:moveTo>
                  <a:pt x="117792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1177925" y="649605"/>
                </a:lnTo>
                <a:lnTo>
                  <a:pt x="1177925" y="487680"/>
                </a:lnTo>
                <a:close/>
              </a:path>
              <a:path w="1177925" h="649604">
                <a:moveTo>
                  <a:pt x="117792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1177925" y="487045"/>
                </a:lnTo>
                <a:lnTo>
                  <a:pt x="1177925" y="325120"/>
                </a:lnTo>
                <a:close/>
              </a:path>
              <a:path w="1177925" h="649604">
                <a:moveTo>
                  <a:pt x="11779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177925" y="324485"/>
                </a:lnTo>
                <a:lnTo>
                  <a:pt x="1177925" y="162560"/>
                </a:lnTo>
                <a:close/>
              </a:path>
              <a:path w="1177925" h="649604">
                <a:moveTo>
                  <a:pt x="1177925" y="0"/>
                </a:moveTo>
                <a:lnTo>
                  <a:pt x="0" y="0"/>
                </a:lnTo>
                <a:lnTo>
                  <a:pt x="0" y="161925"/>
                </a:lnTo>
                <a:lnTo>
                  <a:pt x="1177925" y="161925"/>
                </a:lnTo>
                <a:lnTo>
                  <a:pt x="11779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5669" y="2929255"/>
            <a:ext cx="769620" cy="680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Delhi Hyderabad Bangalore Mumbai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8962" y="2929255"/>
            <a:ext cx="971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5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6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spc="-50" dirty="0">
                <a:latin typeface="Courier New"/>
                <a:cs typeface="Courier New"/>
              </a:rPr>
              <a:t>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3602990"/>
            <a:ext cx="21164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2969" y="3869054"/>
            <a:ext cx="50749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df_hotels.city.value_counts().sort_values().plot(kind=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"bar"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4182109"/>
            <a:ext cx="17799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&lt;Axes: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xlabel='city'&gt;</a:t>
            </a:r>
            <a:endParaRPr sz="1100">
              <a:latin typeface="Courier New"/>
              <a:cs typeface="Courier New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836" y="4611590"/>
            <a:ext cx="4802122" cy="443283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848360" y="914400"/>
            <a:ext cx="6076315" cy="3495675"/>
          </a:xfrm>
          <a:custGeom>
            <a:avLst/>
            <a:gdLst/>
            <a:ahLst/>
            <a:cxnLst/>
            <a:rect l="l" t="t" r="r" b="b"/>
            <a:pathLst>
              <a:path w="6076315" h="3495675">
                <a:moveTo>
                  <a:pt x="0" y="1904"/>
                </a:moveTo>
                <a:lnTo>
                  <a:pt x="6076315" y="1904"/>
                </a:lnTo>
              </a:path>
              <a:path w="6076315" h="3495675">
                <a:moveTo>
                  <a:pt x="6075045" y="0"/>
                </a:moveTo>
                <a:lnTo>
                  <a:pt x="6075045" y="518795"/>
                </a:lnTo>
              </a:path>
              <a:path w="6076315" h="3495675">
                <a:moveTo>
                  <a:pt x="1905" y="518795"/>
                </a:moveTo>
                <a:lnTo>
                  <a:pt x="1905" y="0"/>
                </a:lnTo>
              </a:path>
              <a:path w="6076315" h="3495675">
                <a:moveTo>
                  <a:pt x="6075045" y="391795"/>
                </a:moveTo>
                <a:lnTo>
                  <a:pt x="6075045" y="808354"/>
                </a:lnTo>
              </a:path>
              <a:path w="6076315" h="3495675">
                <a:moveTo>
                  <a:pt x="1905" y="808354"/>
                </a:moveTo>
                <a:lnTo>
                  <a:pt x="1905" y="391795"/>
                </a:lnTo>
              </a:path>
              <a:path w="6076315" h="3495675">
                <a:moveTo>
                  <a:pt x="6075045" y="681354"/>
                </a:moveTo>
                <a:lnTo>
                  <a:pt x="6075045" y="1585595"/>
                </a:lnTo>
              </a:path>
              <a:path w="6076315" h="3495675">
                <a:moveTo>
                  <a:pt x="1905" y="1585595"/>
                </a:moveTo>
                <a:lnTo>
                  <a:pt x="1905" y="681354"/>
                </a:lnTo>
              </a:path>
              <a:path w="6076315" h="3495675">
                <a:moveTo>
                  <a:pt x="6075045" y="1458595"/>
                </a:moveTo>
                <a:lnTo>
                  <a:pt x="6075045" y="1875154"/>
                </a:lnTo>
              </a:path>
              <a:path w="6076315" h="3495675">
                <a:moveTo>
                  <a:pt x="1905" y="1875154"/>
                </a:moveTo>
                <a:lnTo>
                  <a:pt x="1905" y="1458595"/>
                </a:lnTo>
              </a:path>
              <a:path w="6076315" h="3495675">
                <a:moveTo>
                  <a:pt x="6075045" y="1748154"/>
                </a:moveTo>
                <a:lnTo>
                  <a:pt x="6075045" y="2977515"/>
                </a:lnTo>
              </a:path>
              <a:path w="6076315" h="3495675">
                <a:moveTo>
                  <a:pt x="1905" y="2977515"/>
                </a:moveTo>
                <a:lnTo>
                  <a:pt x="1905" y="1748154"/>
                </a:lnTo>
              </a:path>
              <a:path w="6076315" h="3495675">
                <a:moveTo>
                  <a:pt x="6075045" y="2850515"/>
                </a:moveTo>
                <a:lnTo>
                  <a:pt x="6075045" y="3267075"/>
                </a:lnTo>
              </a:path>
              <a:path w="6076315" h="3495675">
                <a:moveTo>
                  <a:pt x="1905" y="3267075"/>
                </a:moveTo>
                <a:lnTo>
                  <a:pt x="1905" y="2850515"/>
                </a:lnTo>
              </a:path>
              <a:path w="6076315" h="3495675">
                <a:moveTo>
                  <a:pt x="6075045" y="3140075"/>
                </a:moveTo>
                <a:lnTo>
                  <a:pt x="6075045" y="3495675"/>
                </a:lnTo>
              </a:path>
              <a:path w="6076315" h="3495675">
                <a:moveTo>
                  <a:pt x="6076315" y="3494404"/>
                </a:moveTo>
                <a:lnTo>
                  <a:pt x="0" y="3494404"/>
                </a:lnTo>
              </a:path>
              <a:path w="6076315" h="3495675">
                <a:moveTo>
                  <a:pt x="1905" y="3495675"/>
                </a:moveTo>
                <a:lnTo>
                  <a:pt x="1905" y="3140075"/>
                </a:lnTo>
              </a:path>
              <a:path w="6076315" h="3495675">
                <a:moveTo>
                  <a:pt x="0" y="1904"/>
                </a:moveTo>
                <a:lnTo>
                  <a:pt x="6076315" y="1904"/>
                </a:lnTo>
              </a:path>
              <a:path w="6076315" h="3495675">
                <a:moveTo>
                  <a:pt x="6075045" y="0"/>
                </a:moveTo>
                <a:lnTo>
                  <a:pt x="6075045" y="518795"/>
                </a:lnTo>
              </a:path>
              <a:path w="6076315" h="3495675">
                <a:moveTo>
                  <a:pt x="1905" y="518795"/>
                </a:moveTo>
                <a:lnTo>
                  <a:pt x="1905" y="0"/>
                </a:lnTo>
              </a:path>
              <a:path w="6076315" h="3495675">
                <a:moveTo>
                  <a:pt x="6075045" y="391795"/>
                </a:moveTo>
                <a:lnTo>
                  <a:pt x="6075045" y="808354"/>
                </a:lnTo>
              </a:path>
              <a:path w="6076315" h="3495675">
                <a:moveTo>
                  <a:pt x="1905" y="808354"/>
                </a:moveTo>
                <a:lnTo>
                  <a:pt x="1905" y="391795"/>
                </a:lnTo>
              </a:path>
              <a:path w="6076315" h="3495675">
                <a:moveTo>
                  <a:pt x="6075045" y="681354"/>
                </a:moveTo>
                <a:lnTo>
                  <a:pt x="6075045" y="1585595"/>
                </a:lnTo>
              </a:path>
              <a:path w="6076315" h="3495675">
                <a:moveTo>
                  <a:pt x="1905" y="1585595"/>
                </a:moveTo>
                <a:lnTo>
                  <a:pt x="1905" y="681354"/>
                </a:lnTo>
              </a:path>
              <a:path w="6076315" h="3495675">
                <a:moveTo>
                  <a:pt x="6075045" y="1458595"/>
                </a:moveTo>
                <a:lnTo>
                  <a:pt x="6075045" y="1875154"/>
                </a:lnTo>
              </a:path>
              <a:path w="6076315" h="3495675">
                <a:moveTo>
                  <a:pt x="1905" y="1875154"/>
                </a:moveTo>
                <a:lnTo>
                  <a:pt x="1905" y="1458595"/>
                </a:lnTo>
              </a:path>
              <a:path w="6076315" h="3495675">
                <a:moveTo>
                  <a:pt x="6075045" y="1748154"/>
                </a:moveTo>
                <a:lnTo>
                  <a:pt x="6075045" y="2977515"/>
                </a:lnTo>
              </a:path>
              <a:path w="6076315" h="3495675">
                <a:moveTo>
                  <a:pt x="1905" y="2977515"/>
                </a:moveTo>
                <a:lnTo>
                  <a:pt x="1905" y="1748154"/>
                </a:lnTo>
              </a:path>
              <a:path w="6076315" h="3495675">
                <a:moveTo>
                  <a:pt x="6075045" y="2850515"/>
                </a:moveTo>
                <a:lnTo>
                  <a:pt x="6075045" y="3267075"/>
                </a:lnTo>
              </a:path>
              <a:path w="6076315" h="3495675">
                <a:moveTo>
                  <a:pt x="1905" y="3267075"/>
                </a:moveTo>
                <a:lnTo>
                  <a:pt x="1905" y="2850515"/>
                </a:lnTo>
              </a:path>
              <a:path w="6076315" h="3495675">
                <a:moveTo>
                  <a:pt x="6075045" y="3140075"/>
                </a:moveTo>
                <a:lnTo>
                  <a:pt x="6075045" y="3495675"/>
                </a:lnTo>
              </a:path>
              <a:path w="6076315" h="3495675">
                <a:moveTo>
                  <a:pt x="6076315" y="3494404"/>
                </a:moveTo>
                <a:lnTo>
                  <a:pt x="0" y="3494404"/>
                </a:lnTo>
              </a:path>
              <a:path w="6076315" h="3495675">
                <a:moveTo>
                  <a:pt x="1905" y="3495675"/>
                </a:moveTo>
                <a:lnTo>
                  <a:pt x="1905" y="314007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45780"/>
          </a:xfrm>
          <a:custGeom>
            <a:avLst/>
            <a:gdLst/>
            <a:ahLst/>
            <a:cxnLst/>
            <a:rect l="l" t="t" r="r" b="b"/>
            <a:pathLst>
              <a:path w="6076950" h="814578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8145780"/>
                </a:lnTo>
                <a:lnTo>
                  <a:pt x="6076950" y="814578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19615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1271269"/>
          <a:ext cx="5376545" cy="12979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15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969" y="2675255"/>
            <a:ext cx="2884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df_agg_bookings.property_id.unique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2988310"/>
            <a:ext cx="3701415" cy="161925"/>
          </a:xfrm>
          <a:custGeom>
            <a:avLst/>
            <a:gdLst/>
            <a:ahLst/>
            <a:cxnLst/>
            <a:rect l="l" t="t" r="r" b="b"/>
            <a:pathLst>
              <a:path w="3701415" h="161925">
                <a:moveTo>
                  <a:pt x="3701415" y="0"/>
                </a:moveTo>
                <a:lnTo>
                  <a:pt x="0" y="0"/>
                </a:lnTo>
                <a:lnTo>
                  <a:pt x="0" y="161925"/>
                </a:lnTo>
                <a:lnTo>
                  <a:pt x="3701415" y="161925"/>
                </a:lnTo>
                <a:lnTo>
                  <a:pt x="37014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2969" y="2964815"/>
            <a:ext cx="27171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&lt;bound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method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Series.unique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82846" y="2964815"/>
            <a:ext cx="446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16559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3150869"/>
            <a:ext cx="1094105" cy="649605"/>
          </a:xfrm>
          <a:custGeom>
            <a:avLst/>
            <a:gdLst/>
            <a:ahLst/>
            <a:cxnLst/>
            <a:rect l="l" t="t" r="r" b="b"/>
            <a:pathLst>
              <a:path w="1094105" h="649604">
                <a:moveTo>
                  <a:pt x="109410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1094105" y="649605"/>
                </a:lnTo>
                <a:lnTo>
                  <a:pt x="1094105" y="487680"/>
                </a:lnTo>
                <a:close/>
              </a:path>
              <a:path w="1094105" h="649604">
                <a:moveTo>
                  <a:pt x="1094105" y="325132"/>
                </a:moveTo>
                <a:lnTo>
                  <a:pt x="0" y="325132"/>
                </a:lnTo>
                <a:lnTo>
                  <a:pt x="0" y="487045"/>
                </a:lnTo>
                <a:lnTo>
                  <a:pt x="1094105" y="487045"/>
                </a:lnTo>
                <a:lnTo>
                  <a:pt x="1094105" y="325132"/>
                </a:lnTo>
                <a:close/>
              </a:path>
              <a:path w="1094105" h="649604">
                <a:moveTo>
                  <a:pt x="109410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094105" y="324485"/>
                </a:lnTo>
                <a:lnTo>
                  <a:pt x="1094105" y="162560"/>
                </a:lnTo>
                <a:close/>
              </a:path>
              <a:path w="1094105" h="649604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3127375"/>
            <a:ext cx="1098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5765" y="3127375"/>
            <a:ext cx="44640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19562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19563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17558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10" dirty="0">
                <a:latin typeface="Courier New"/>
                <a:cs typeface="Courier New"/>
              </a:rPr>
              <a:t>16558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3801109"/>
            <a:ext cx="925194" cy="161925"/>
          </a:xfrm>
          <a:custGeom>
            <a:avLst/>
            <a:gdLst/>
            <a:ahLst/>
            <a:cxnLst/>
            <a:rect l="l" t="t" r="r" b="b"/>
            <a:pathLst>
              <a:path w="925194" h="161925">
                <a:moveTo>
                  <a:pt x="925194" y="0"/>
                </a:moveTo>
                <a:lnTo>
                  <a:pt x="0" y="0"/>
                </a:lnTo>
                <a:lnTo>
                  <a:pt x="0" y="161925"/>
                </a:lnTo>
                <a:lnTo>
                  <a:pt x="925194" y="161925"/>
                </a:lnTo>
                <a:lnTo>
                  <a:pt x="9251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75765" y="3777615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3963670"/>
            <a:ext cx="1094105" cy="161925"/>
          </a:xfrm>
          <a:custGeom>
            <a:avLst/>
            <a:gdLst/>
            <a:ahLst/>
            <a:cxnLst/>
            <a:rect l="l" t="t" r="r" b="b"/>
            <a:pathLst>
              <a:path w="1094105" h="161925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2969" y="3940175"/>
            <a:ext cx="361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9195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5765" y="3940175"/>
            <a:ext cx="446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16563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4400" y="4126229"/>
            <a:ext cx="1094105" cy="161925"/>
          </a:xfrm>
          <a:custGeom>
            <a:avLst/>
            <a:gdLst/>
            <a:ahLst/>
            <a:cxnLst/>
            <a:rect l="l" t="t" r="r" b="b"/>
            <a:pathLst>
              <a:path w="1094105" h="161925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02969" y="4102734"/>
            <a:ext cx="361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9196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5765" y="4102734"/>
            <a:ext cx="446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16559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4400" y="4288790"/>
            <a:ext cx="1094105" cy="161925"/>
          </a:xfrm>
          <a:custGeom>
            <a:avLst/>
            <a:gdLst/>
            <a:ahLst/>
            <a:cxnLst/>
            <a:rect l="l" t="t" r="r" b="b"/>
            <a:pathLst>
              <a:path w="1094105" h="161925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2969" y="4265295"/>
            <a:ext cx="361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9197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75765" y="4265295"/>
            <a:ext cx="446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17558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400" y="4451349"/>
            <a:ext cx="3870325" cy="1066165"/>
          </a:xfrm>
          <a:custGeom>
            <a:avLst/>
            <a:gdLst/>
            <a:ahLst/>
            <a:cxnLst/>
            <a:rect l="l" t="t" r="r" b="b"/>
            <a:pathLst>
              <a:path w="3870325" h="1066164">
                <a:moveTo>
                  <a:pt x="168275" y="904240"/>
                </a:moveTo>
                <a:lnTo>
                  <a:pt x="0" y="904240"/>
                </a:lnTo>
                <a:lnTo>
                  <a:pt x="0" y="1066165"/>
                </a:lnTo>
                <a:lnTo>
                  <a:pt x="168275" y="1066165"/>
                </a:lnTo>
                <a:lnTo>
                  <a:pt x="168275" y="904240"/>
                </a:lnTo>
                <a:close/>
              </a:path>
              <a:path w="3870325" h="1066164">
                <a:moveTo>
                  <a:pt x="109410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094105" y="324485"/>
                </a:lnTo>
                <a:lnTo>
                  <a:pt x="1094105" y="162560"/>
                </a:lnTo>
                <a:close/>
              </a:path>
              <a:path w="3870325" h="1066164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  <a:path w="3870325" h="1066164">
                <a:moveTo>
                  <a:pt x="387032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870325" y="487045"/>
                </a:lnTo>
                <a:lnTo>
                  <a:pt x="3870325" y="32512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02969" y="4427854"/>
            <a:ext cx="3894454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685165" algn="l"/>
              </a:tabLst>
            </a:pPr>
            <a:r>
              <a:rPr sz="1100" spc="-20" dirty="0">
                <a:latin typeface="Courier New"/>
                <a:cs typeface="Courier New"/>
              </a:rPr>
              <a:t>9198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19563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  <a:tabLst>
                <a:tab pos="685165" algn="l"/>
              </a:tabLst>
            </a:pPr>
            <a:r>
              <a:rPr sz="1100" spc="-20" dirty="0">
                <a:latin typeface="Courier New"/>
                <a:cs typeface="Courier New"/>
              </a:rPr>
              <a:t>9199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property_id,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Length: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9200,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int64&gt;</a:t>
            </a:r>
            <a:endParaRPr sz="1100">
              <a:latin typeface="Courier New"/>
              <a:cs typeface="Courier New"/>
            </a:endParaRPr>
          </a:p>
          <a:p>
            <a:pPr marL="12700" marR="508000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'property_id'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].nunique() </a:t>
            </a:r>
            <a:r>
              <a:rPr sz="1100" spc="-25" dirty="0">
                <a:latin typeface="Courier New"/>
                <a:cs typeface="Courier New"/>
              </a:rPr>
              <a:t>25</a:t>
            </a:r>
            <a:endParaRPr sz="1100">
              <a:latin typeface="Courier New"/>
              <a:cs typeface="Courier New"/>
            </a:endParaRPr>
          </a:p>
          <a:p>
            <a:pPr marL="12700" marR="25527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'property_id'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().reset_index()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6393179"/>
            <a:ext cx="3041015" cy="26003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ts val="1215"/>
              </a:lnSpc>
              <a:tabLst>
                <a:tab pos="1430655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3153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7338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4693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4418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4820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5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7211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6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5053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6142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6013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5183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3424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6337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3982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4475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5256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48360" y="914400"/>
            <a:ext cx="6076315" cy="8145145"/>
          </a:xfrm>
          <a:custGeom>
            <a:avLst/>
            <a:gdLst/>
            <a:ahLst/>
            <a:cxnLst/>
            <a:rect l="l" t="t" r="r" b="b"/>
            <a:pathLst>
              <a:path w="6076315" h="8145145">
                <a:moveTo>
                  <a:pt x="0" y="1904"/>
                </a:moveTo>
                <a:lnTo>
                  <a:pt x="6076315" y="1904"/>
                </a:lnTo>
              </a:path>
              <a:path w="6076315" h="8145145">
                <a:moveTo>
                  <a:pt x="6075045" y="0"/>
                </a:moveTo>
                <a:lnTo>
                  <a:pt x="6075045" y="356234"/>
                </a:lnTo>
              </a:path>
              <a:path w="6076315" h="8145145">
                <a:moveTo>
                  <a:pt x="1905" y="356234"/>
                </a:moveTo>
                <a:lnTo>
                  <a:pt x="1905" y="0"/>
                </a:lnTo>
              </a:path>
              <a:path w="6076315" h="8145145">
                <a:moveTo>
                  <a:pt x="6075045" y="229234"/>
                </a:moveTo>
                <a:lnTo>
                  <a:pt x="6075045" y="1783715"/>
                </a:lnTo>
              </a:path>
              <a:path w="6076315" h="8145145">
                <a:moveTo>
                  <a:pt x="1905" y="1783715"/>
                </a:moveTo>
                <a:lnTo>
                  <a:pt x="1905" y="229234"/>
                </a:lnTo>
              </a:path>
              <a:path w="6076315" h="8145145">
                <a:moveTo>
                  <a:pt x="6075045" y="1656715"/>
                </a:moveTo>
                <a:lnTo>
                  <a:pt x="6075045" y="2073275"/>
                </a:lnTo>
              </a:path>
              <a:path w="6076315" h="8145145">
                <a:moveTo>
                  <a:pt x="1905" y="2073275"/>
                </a:moveTo>
                <a:lnTo>
                  <a:pt x="1905" y="1656715"/>
                </a:lnTo>
              </a:path>
              <a:path w="6076315" h="8145145">
                <a:moveTo>
                  <a:pt x="6075045" y="1946275"/>
                </a:moveTo>
                <a:lnTo>
                  <a:pt x="6075045" y="4150995"/>
                </a:lnTo>
              </a:path>
              <a:path w="6076315" h="8145145">
                <a:moveTo>
                  <a:pt x="1905" y="4150995"/>
                </a:moveTo>
                <a:lnTo>
                  <a:pt x="1905" y="1946275"/>
                </a:lnTo>
              </a:path>
              <a:path w="6076315" h="8145145">
                <a:moveTo>
                  <a:pt x="6075045" y="4023995"/>
                </a:moveTo>
                <a:lnTo>
                  <a:pt x="6075045" y="4440555"/>
                </a:lnTo>
              </a:path>
              <a:path w="6076315" h="8145145">
                <a:moveTo>
                  <a:pt x="1905" y="4440555"/>
                </a:moveTo>
                <a:lnTo>
                  <a:pt x="1905" y="4023995"/>
                </a:lnTo>
              </a:path>
              <a:path w="6076315" h="8145145">
                <a:moveTo>
                  <a:pt x="6075045" y="4313555"/>
                </a:moveTo>
                <a:lnTo>
                  <a:pt x="6075045" y="4730115"/>
                </a:lnTo>
              </a:path>
              <a:path w="6076315" h="8145145">
                <a:moveTo>
                  <a:pt x="1905" y="4730115"/>
                </a:moveTo>
                <a:lnTo>
                  <a:pt x="1905" y="4313555"/>
                </a:lnTo>
              </a:path>
              <a:path w="6076315" h="8145145">
                <a:moveTo>
                  <a:pt x="6075045" y="4603115"/>
                </a:moveTo>
                <a:lnTo>
                  <a:pt x="6075045" y="5478145"/>
                </a:lnTo>
              </a:path>
              <a:path w="6076315" h="8145145">
                <a:moveTo>
                  <a:pt x="1905" y="5478145"/>
                </a:moveTo>
                <a:lnTo>
                  <a:pt x="1905" y="4603115"/>
                </a:lnTo>
              </a:path>
              <a:path w="6076315" h="8145145">
                <a:moveTo>
                  <a:pt x="6075045" y="5351145"/>
                </a:moveTo>
                <a:lnTo>
                  <a:pt x="6075045" y="8145145"/>
                </a:lnTo>
              </a:path>
              <a:path w="6076315" h="8145145">
                <a:moveTo>
                  <a:pt x="6076315" y="8143875"/>
                </a:moveTo>
                <a:lnTo>
                  <a:pt x="0" y="8143875"/>
                </a:lnTo>
              </a:path>
              <a:path w="6076315" h="8145145">
                <a:moveTo>
                  <a:pt x="1905" y="8145145"/>
                </a:moveTo>
                <a:lnTo>
                  <a:pt x="1905" y="5351145"/>
                </a:lnTo>
              </a:path>
              <a:path w="6076315" h="8145145">
                <a:moveTo>
                  <a:pt x="0" y="1904"/>
                </a:moveTo>
                <a:lnTo>
                  <a:pt x="6076315" y="1904"/>
                </a:lnTo>
              </a:path>
              <a:path w="6076315" h="8145145">
                <a:moveTo>
                  <a:pt x="6075045" y="0"/>
                </a:moveTo>
                <a:lnTo>
                  <a:pt x="6075045" y="356234"/>
                </a:lnTo>
              </a:path>
              <a:path w="6076315" h="8145145">
                <a:moveTo>
                  <a:pt x="1905" y="356234"/>
                </a:moveTo>
                <a:lnTo>
                  <a:pt x="1905" y="0"/>
                </a:lnTo>
              </a:path>
              <a:path w="6076315" h="8145145">
                <a:moveTo>
                  <a:pt x="6075045" y="229234"/>
                </a:moveTo>
                <a:lnTo>
                  <a:pt x="6075045" y="1783715"/>
                </a:lnTo>
              </a:path>
              <a:path w="6076315" h="8145145">
                <a:moveTo>
                  <a:pt x="1905" y="1783715"/>
                </a:moveTo>
                <a:lnTo>
                  <a:pt x="1905" y="229234"/>
                </a:lnTo>
              </a:path>
              <a:path w="6076315" h="8145145">
                <a:moveTo>
                  <a:pt x="6075045" y="1656715"/>
                </a:moveTo>
                <a:lnTo>
                  <a:pt x="6075045" y="2073275"/>
                </a:lnTo>
              </a:path>
              <a:path w="6076315" h="8145145">
                <a:moveTo>
                  <a:pt x="1905" y="2073275"/>
                </a:moveTo>
                <a:lnTo>
                  <a:pt x="1905" y="1656715"/>
                </a:lnTo>
              </a:path>
              <a:path w="6076315" h="8145145">
                <a:moveTo>
                  <a:pt x="6075045" y="1946275"/>
                </a:moveTo>
                <a:lnTo>
                  <a:pt x="6075045" y="4150995"/>
                </a:lnTo>
              </a:path>
              <a:path w="6076315" h="8145145">
                <a:moveTo>
                  <a:pt x="1905" y="4150995"/>
                </a:moveTo>
                <a:lnTo>
                  <a:pt x="1905" y="1946275"/>
                </a:lnTo>
              </a:path>
              <a:path w="6076315" h="8145145">
                <a:moveTo>
                  <a:pt x="6075045" y="4023995"/>
                </a:moveTo>
                <a:lnTo>
                  <a:pt x="6075045" y="4440555"/>
                </a:lnTo>
              </a:path>
              <a:path w="6076315" h="8145145">
                <a:moveTo>
                  <a:pt x="1905" y="4440555"/>
                </a:moveTo>
                <a:lnTo>
                  <a:pt x="1905" y="4023995"/>
                </a:lnTo>
              </a:path>
              <a:path w="6076315" h="8145145">
                <a:moveTo>
                  <a:pt x="6075045" y="4313555"/>
                </a:moveTo>
                <a:lnTo>
                  <a:pt x="6075045" y="4730115"/>
                </a:lnTo>
              </a:path>
              <a:path w="6076315" h="8145145">
                <a:moveTo>
                  <a:pt x="1905" y="4730115"/>
                </a:moveTo>
                <a:lnTo>
                  <a:pt x="1905" y="4313555"/>
                </a:lnTo>
              </a:path>
              <a:path w="6076315" h="8145145">
                <a:moveTo>
                  <a:pt x="6075045" y="4603115"/>
                </a:moveTo>
                <a:lnTo>
                  <a:pt x="6075045" y="5478145"/>
                </a:lnTo>
              </a:path>
              <a:path w="6076315" h="8145145">
                <a:moveTo>
                  <a:pt x="1905" y="5478145"/>
                </a:moveTo>
                <a:lnTo>
                  <a:pt x="1905" y="4603115"/>
                </a:lnTo>
              </a:path>
              <a:path w="6076315" h="8145145">
                <a:moveTo>
                  <a:pt x="6075045" y="5351145"/>
                </a:moveTo>
                <a:lnTo>
                  <a:pt x="6075045" y="8145145"/>
                </a:lnTo>
              </a:path>
              <a:path w="6076315" h="8145145">
                <a:moveTo>
                  <a:pt x="6076315" y="8143875"/>
                </a:moveTo>
                <a:lnTo>
                  <a:pt x="0" y="8143875"/>
                </a:lnTo>
              </a:path>
              <a:path w="6076315" h="8145145">
                <a:moveTo>
                  <a:pt x="1905" y="8145145"/>
                </a:moveTo>
                <a:lnTo>
                  <a:pt x="1905" y="535114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89900"/>
          </a:xfrm>
          <a:custGeom>
            <a:avLst/>
            <a:gdLst/>
            <a:ahLst/>
            <a:cxnLst/>
            <a:rect l="l" t="t" r="r" b="b"/>
            <a:pathLst>
              <a:path w="6076950" h="8089900">
                <a:moveTo>
                  <a:pt x="6076950" y="0"/>
                </a:moveTo>
                <a:lnTo>
                  <a:pt x="0" y="0"/>
                </a:lnTo>
                <a:lnTo>
                  <a:pt x="0" y="1692275"/>
                </a:lnTo>
                <a:lnTo>
                  <a:pt x="0" y="1692910"/>
                </a:lnTo>
                <a:lnTo>
                  <a:pt x="0" y="8089900"/>
                </a:lnTo>
                <a:lnTo>
                  <a:pt x="6076950" y="8089900"/>
                </a:lnTo>
                <a:lnTo>
                  <a:pt x="6076950" y="169227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3169285" cy="1685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69"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6638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7333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4737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4400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4729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6079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5736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5812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5413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969" y="2710815"/>
            <a:ext cx="3728085" cy="680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48615" marR="5080" indent="-33655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 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&gt;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3658870"/>
          <a:ext cx="5629275" cy="227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485">
                <a:tc gridSpan="5">
                  <a:txBody>
                    <a:bodyPr/>
                    <a:lstStyle/>
                    <a:p>
                      <a:pPr marL="505459">
                        <a:lnSpc>
                          <a:spcPts val="1220"/>
                        </a:lnSpc>
                        <a:tabLst>
                          <a:tab pos="395351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4136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11-Jun-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6209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8522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25-Jul-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9194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18.0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969" y="6038850"/>
            <a:ext cx="5073650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max_capacity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==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max_capacity]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400" y="6662419"/>
          <a:ext cx="5629275" cy="2272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 gridSpan="5">
                  <a:txBody>
                    <a:bodyPr/>
                    <a:lstStyle/>
                    <a:p>
                      <a:pPr marL="505459">
                        <a:lnSpc>
                          <a:spcPts val="1215"/>
                        </a:lnSpc>
                        <a:tabLst>
                          <a:tab pos="395351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428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848360" y="914400"/>
            <a:ext cx="6076315" cy="8089265"/>
          </a:xfrm>
          <a:custGeom>
            <a:avLst/>
            <a:gdLst/>
            <a:ahLst/>
            <a:cxnLst/>
            <a:rect l="l" t="t" r="r" b="b"/>
            <a:pathLst>
              <a:path w="6076315" h="8089265">
                <a:moveTo>
                  <a:pt x="0" y="1904"/>
                </a:moveTo>
                <a:lnTo>
                  <a:pt x="6076315" y="1904"/>
                </a:lnTo>
              </a:path>
              <a:path w="6076315" h="8089265">
                <a:moveTo>
                  <a:pt x="6075045" y="0"/>
                </a:moveTo>
                <a:lnTo>
                  <a:pt x="6075045" y="1819275"/>
                </a:lnTo>
              </a:path>
              <a:path w="6076315" h="8089265">
                <a:moveTo>
                  <a:pt x="1905" y="1819275"/>
                </a:moveTo>
                <a:lnTo>
                  <a:pt x="1905" y="0"/>
                </a:lnTo>
              </a:path>
              <a:path w="6076315" h="8089265">
                <a:moveTo>
                  <a:pt x="6075045" y="1692275"/>
                </a:moveTo>
                <a:lnTo>
                  <a:pt x="6075045" y="2744470"/>
                </a:lnTo>
              </a:path>
              <a:path w="6076315" h="8089265">
                <a:moveTo>
                  <a:pt x="1905" y="2744470"/>
                </a:moveTo>
                <a:lnTo>
                  <a:pt x="1905" y="1692275"/>
                </a:lnTo>
              </a:path>
              <a:path w="6076315" h="8089265">
                <a:moveTo>
                  <a:pt x="6075045" y="2617470"/>
                </a:moveTo>
                <a:lnTo>
                  <a:pt x="6075045" y="5147310"/>
                </a:lnTo>
              </a:path>
              <a:path w="6076315" h="8089265">
                <a:moveTo>
                  <a:pt x="1905" y="5147310"/>
                </a:moveTo>
                <a:lnTo>
                  <a:pt x="1905" y="2617470"/>
                </a:lnTo>
              </a:path>
              <a:path w="6076315" h="8089265">
                <a:moveTo>
                  <a:pt x="6075045" y="5020310"/>
                </a:moveTo>
                <a:lnTo>
                  <a:pt x="6075045" y="5747385"/>
                </a:lnTo>
              </a:path>
              <a:path w="6076315" h="8089265">
                <a:moveTo>
                  <a:pt x="1905" y="5747385"/>
                </a:moveTo>
                <a:lnTo>
                  <a:pt x="1905" y="5020310"/>
                </a:lnTo>
              </a:path>
              <a:path w="6076315" h="8089265">
                <a:moveTo>
                  <a:pt x="6075045" y="5620385"/>
                </a:moveTo>
                <a:lnTo>
                  <a:pt x="6075045" y="8089265"/>
                </a:lnTo>
              </a:path>
              <a:path w="6076315" h="8089265">
                <a:moveTo>
                  <a:pt x="6076315" y="8087995"/>
                </a:moveTo>
                <a:lnTo>
                  <a:pt x="0" y="8087995"/>
                </a:lnTo>
              </a:path>
              <a:path w="6076315" h="8089265">
                <a:moveTo>
                  <a:pt x="1905" y="8089265"/>
                </a:moveTo>
                <a:lnTo>
                  <a:pt x="1905" y="5620385"/>
                </a:lnTo>
              </a:path>
              <a:path w="6076315" h="8089265">
                <a:moveTo>
                  <a:pt x="0" y="1904"/>
                </a:moveTo>
                <a:lnTo>
                  <a:pt x="6076315" y="1904"/>
                </a:lnTo>
              </a:path>
              <a:path w="6076315" h="8089265">
                <a:moveTo>
                  <a:pt x="6075045" y="0"/>
                </a:moveTo>
                <a:lnTo>
                  <a:pt x="6075045" y="1819275"/>
                </a:lnTo>
              </a:path>
              <a:path w="6076315" h="8089265">
                <a:moveTo>
                  <a:pt x="1905" y="1819275"/>
                </a:moveTo>
                <a:lnTo>
                  <a:pt x="1905" y="0"/>
                </a:lnTo>
              </a:path>
              <a:path w="6076315" h="8089265">
                <a:moveTo>
                  <a:pt x="6075045" y="1692275"/>
                </a:moveTo>
                <a:lnTo>
                  <a:pt x="6075045" y="2744470"/>
                </a:lnTo>
              </a:path>
              <a:path w="6076315" h="8089265">
                <a:moveTo>
                  <a:pt x="1905" y="2744470"/>
                </a:moveTo>
                <a:lnTo>
                  <a:pt x="1905" y="1692275"/>
                </a:lnTo>
              </a:path>
              <a:path w="6076315" h="8089265">
                <a:moveTo>
                  <a:pt x="6075045" y="2617470"/>
                </a:moveTo>
                <a:lnTo>
                  <a:pt x="6075045" y="5147310"/>
                </a:lnTo>
              </a:path>
              <a:path w="6076315" h="8089265">
                <a:moveTo>
                  <a:pt x="1905" y="5147310"/>
                </a:moveTo>
                <a:lnTo>
                  <a:pt x="1905" y="2617470"/>
                </a:lnTo>
              </a:path>
              <a:path w="6076315" h="8089265">
                <a:moveTo>
                  <a:pt x="6075045" y="5020310"/>
                </a:moveTo>
                <a:lnTo>
                  <a:pt x="6075045" y="5747385"/>
                </a:lnTo>
              </a:path>
              <a:path w="6076315" h="8089265">
                <a:moveTo>
                  <a:pt x="1905" y="5747385"/>
                </a:moveTo>
                <a:lnTo>
                  <a:pt x="1905" y="5020310"/>
                </a:lnTo>
              </a:path>
              <a:path w="6076315" h="8089265">
                <a:moveTo>
                  <a:pt x="6075045" y="5620385"/>
                </a:moveTo>
                <a:lnTo>
                  <a:pt x="6075045" y="8089265"/>
                </a:lnTo>
              </a:path>
              <a:path w="6076315" h="8089265">
                <a:moveTo>
                  <a:pt x="6076315" y="8087995"/>
                </a:moveTo>
                <a:lnTo>
                  <a:pt x="0" y="8087995"/>
                </a:lnTo>
              </a:path>
              <a:path w="6076315" h="8089265">
                <a:moveTo>
                  <a:pt x="1905" y="8089265"/>
                </a:moveTo>
                <a:lnTo>
                  <a:pt x="1905" y="562038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21650"/>
          </a:xfrm>
          <a:custGeom>
            <a:avLst/>
            <a:gdLst/>
            <a:ahLst/>
            <a:cxnLst/>
            <a:rect l="l" t="t" r="r" b="b"/>
            <a:pathLst>
              <a:path w="6076950" h="8121650">
                <a:moveTo>
                  <a:pt x="6076950" y="0"/>
                </a:moveTo>
                <a:lnTo>
                  <a:pt x="0" y="0"/>
                </a:lnTo>
                <a:lnTo>
                  <a:pt x="0" y="2002790"/>
                </a:lnTo>
                <a:lnTo>
                  <a:pt x="0" y="2292350"/>
                </a:lnTo>
                <a:lnTo>
                  <a:pt x="0" y="6839585"/>
                </a:lnTo>
                <a:lnTo>
                  <a:pt x="0" y="6840220"/>
                </a:lnTo>
                <a:lnTo>
                  <a:pt x="0" y="7277100"/>
                </a:lnTo>
                <a:lnTo>
                  <a:pt x="0" y="8121650"/>
                </a:lnTo>
                <a:lnTo>
                  <a:pt x="6076950" y="8121650"/>
                </a:lnTo>
                <a:lnTo>
                  <a:pt x="6076950" y="200279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693410" cy="1995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8728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27-Jul-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8828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8928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29-Jul-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9028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[92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rows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1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columns]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969" y="3021330"/>
            <a:ext cx="18757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df_bookings.describe()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3333750"/>
          <a:ext cx="5923280" cy="487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ratings_given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 gridSpan="5">
                  <a:txBody>
                    <a:bodyPr/>
                    <a:lstStyle/>
                    <a:p>
                      <a:pPr>
                        <a:lnSpc>
                          <a:spcPts val="118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84455">
                      <a:solidFill>
                        <a:srgbClr val="EDEDED"/>
                      </a:solidFill>
                      <a:prstDash val="solid"/>
                    </a:lnL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4254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ount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134590.000000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134587.000000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56683.000000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1.345900e+05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400" y="3333750"/>
          <a:ext cx="5880735" cy="2656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635">
                        <a:lnSpc>
                          <a:spcPts val="124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c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18061.113493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2.036170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3.619004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1.537805e+04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1093.055847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1.034885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1.235009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9.303604e+04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17.000000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6.500000e+03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9.900000e+03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17564.000000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1.350000e+04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1.800000e+04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2.856000e+07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400" y="6291579"/>
          <a:ext cx="2011680" cy="1459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count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134590.000000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12696.123256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6928.108124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2600.000000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7600.000000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11700.000000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15300.000000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max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45220.000000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969" y="8006080"/>
            <a:ext cx="31394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df_bookings[df_bookings.no_guests&lt;=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400" y="8318500"/>
          <a:ext cx="5796915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27-04-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17924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May122218559RT44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48360" y="914400"/>
            <a:ext cx="6076315" cy="8121015"/>
          </a:xfrm>
          <a:custGeom>
            <a:avLst/>
            <a:gdLst/>
            <a:ahLst/>
            <a:cxnLst/>
            <a:rect l="l" t="t" r="r" b="b"/>
            <a:pathLst>
              <a:path w="6076315" h="8121015">
                <a:moveTo>
                  <a:pt x="0" y="1904"/>
                </a:moveTo>
                <a:lnTo>
                  <a:pt x="6076315" y="1904"/>
                </a:lnTo>
              </a:path>
              <a:path w="6076315" h="8121015">
                <a:moveTo>
                  <a:pt x="6075045" y="0"/>
                </a:moveTo>
                <a:lnTo>
                  <a:pt x="6075045" y="2129790"/>
                </a:lnTo>
              </a:path>
              <a:path w="6076315" h="8121015">
                <a:moveTo>
                  <a:pt x="1905" y="2129790"/>
                </a:moveTo>
                <a:lnTo>
                  <a:pt x="1905" y="0"/>
                </a:lnTo>
              </a:path>
              <a:path w="6076315" h="8121015">
                <a:moveTo>
                  <a:pt x="6075045" y="2002790"/>
                </a:moveTo>
                <a:lnTo>
                  <a:pt x="6075045" y="2419350"/>
                </a:lnTo>
              </a:path>
              <a:path w="6076315" h="8121015">
                <a:moveTo>
                  <a:pt x="1905" y="2419350"/>
                </a:moveTo>
                <a:lnTo>
                  <a:pt x="1905" y="2002790"/>
                </a:lnTo>
              </a:path>
              <a:path w="6076315" h="8121015">
                <a:moveTo>
                  <a:pt x="6075045" y="2292350"/>
                </a:moveTo>
                <a:lnTo>
                  <a:pt x="6075045" y="6966584"/>
                </a:lnTo>
              </a:path>
              <a:path w="6076315" h="8121015">
                <a:moveTo>
                  <a:pt x="1905" y="6966584"/>
                </a:moveTo>
                <a:lnTo>
                  <a:pt x="1905" y="2292350"/>
                </a:lnTo>
              </a:path>
              <a:path w="6076315" h="8121015">
                <a:moveTo>
                  <a:pt x="6075045" y="6839584"/>
                </a:moveTo>
                <a:lnTo>
                  <a:pt x="6075045" y="7404100"/>
                </a:lnTo>
              </a:path>
              <a:path w="6076315" h="8121015">
                <a:moveTo>
                  <a:pt x="1905" y="7404100"/>
                </a:moveTo>
                <a:lnTo>
                  <a:pt x="1905" y="6839584"/>
                </a:lnTo>
              </a:path>
              <a:path w="6076315" h="8121015">
                <a:moveTo>
                  <a:pt x="6075045" y="7277100"/>
                </a:moveTo>
                <a:lnTo>
                  <a:pt x="6075045" y="8121015"/>
                </a:lnTo>
              </a:path>
              <a:path w="6076315" h="8121015">
                <a:moveTo>
                  <a:pt x="6076315" y="8119745"/>
                </a:moveTo>
                <a:lnTo>
                  <a:pt x="0" y="8119745"/>
                </a:lnTo>
              </a:path>
              <a:path w="6076315" h="8121015">
                <a:moveTo>
                  <a:pt x="1905" y="8121015"/>
                </a:moveTo>
                <a:lnTo>
                  <a:pt x="1905" y="7277100"/>
                </a:lnTo>
              </a:path>
              <a:path w="6076315" h="8121015">
                <a:moveTo>
                  <a:pt x="0" y="1904"/>
                </a:moveTo>
                <a:lnTo>
                  <a:pt x="6076315" y="1904"/>
                </a:lnTo>
              </a:path>
              <a:path w="6076315" h="8121015">
                <a:moveTo>
                  <a:pt x="6075045" y="0"/>
                </a:moveTo>
                <a:lnTo>
                  <a:pt x="6075045" y="2129790"/>
                </a:lnTo>
              </a:path>
              <a:path w="6076315" h="8121015">
                <a:moveTo>
                  <a:pt x="1905" y="2129790"/>
                </a:moveTo>
                <a:lnTo>
                  <a:pt x="1905" y="0"/>
                </a:lnTo>
              </a:path>
              <a:path w="6076315" h="8121015">
                <a:moveTo>
                  <a:pt x="6075045" y="2002790"/>
                </a:moveTo>
                <a:lnTo>
                  <a:pt x="6075045" y="2419350"/>
                </a:lnTo>
              </a:path>
              <a:path w="6076315" h="8121015">
                <a:moveTo>
                  <a:pt x="1905" y="2419350"/>
                </a:moveTo>
                <a:lnTo>
                  <a:pt x="1905" y="2002790"/>
                </a:lnTo>
              </a:path>
              <a:path w="6076315" h="8121015">
                <a:moveTo>
                  <a:pt x="6075045" y="2292350"/>
                </a:moveTo>
                <a:lnTo>
                  <a:pt x="6075045" y="6966584"/>
                </a:lnTo>
              </a:path>
              <a:path w="6076315" h="8121015">
                <a:moveTo>
                  <a:pt x="1905" y="6966584"/>
                </a:moveTo>
                <a:lnTo>
                  <a:pt x="1905" y="2292350"/>
                </a:lnTo>
              </a:path>
              <a:path w="6076315" h="8121015">
                <a:moveTo>
                  <a:pt x="6075045" y="6839584"/>
                </a:moveTo>
                <a:lnTo>
                  <a:pt x="6075045" y="7404100"/>
                </a:lnTo>
              </a:path>
              <a:path w="6076315" h="8121015">
                <a:moveTo>
                  <a:pt x="1905" y="7404100"/>
                </a:moveTo>
                <a:lnTo>
                  <a:pt x="1905" y="6839584"/>
                </a:lnTo>
              </a:path>
              <a:path w="6076315" h="8121015">
                <a:moveTo>
                  <a:pt x="6075045" y="7277100"/>
                </a:moveTo>
                <a:lnTo>
                  <a:pt x="6075045" y="8121015"/>
                </a:lnTo>
              </a:path>
              <a:path w="6076315" h="8121015">
                <a:moveTo>
                  <a:pt x="6076315" y="8119745"/>
                </a:moveTo>
                <a:lnTo>
                  <a:pt x="0" y="8119745"/>
                </a:lnTo>
              </a:path>
              <a:path w="6076315" h="8121015">
                <a:moveTo>
                  <a:pt x="1905" y="8121015"/>
                </a:moveTo>
                <a:lnTo>
                  <a:pt x="1905" y="727710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54340"/>
          </a:xfrm>
          <a:custGeom>
            <a:avLst/>
            <a:gdLst/>
            <a:ahLst/>
            <a:cxnLst/>
            <a:rect l="l" t="t" r="r" b="b"/>
            <a:pathLst>
              <a:path w="6076950" h="8054340">
                <a:moveTo>
                  <a:pt x="6076950" y="0"/>
                </a:moveTo>
                <a:lnTo>
                  <a:pt x="0" y="0"/>
                </a:lnTo>
                <a:lnTo>
                  <a:pt x="0" y="6214745"/>
                </a:lnTo>
                <a:lnTo>
                  <a:pt x="0" y="6215380"/>
                </a:lnTo>
                <a:lnTo>
                  <a:pt x="0" y="8054340"/>
                </a:lnTo>
                <a:lnTo>
                  <a:pt x="6076950" y="8054340"/>
                </a:lnTo>
                <a:lnTo>
                  <a:pt x="6076950" y="621474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60832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0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5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7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18020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May122218561RT22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8/5/2022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18119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May122218562RT311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18121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May122218562RT313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56715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Jun082218562RT12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5/6/2022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8/6/2022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119765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Jul202219560RT220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19-07-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20-07-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Jul312217564RT47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2104389"/>
          <a:ext cx="5357495" cy="3245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checkout_date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ratings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  <a:tabLst>
                          <a:tab pos="714375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_given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17924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14-05-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-10.0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18020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14-05-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-12.0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makeyourtrip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18119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17-05-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offline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18121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17-05-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56715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13-06-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-17.0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119765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1/8/2022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5504179"/>
          <a:ext cx="4956175" cy="162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booking_status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3640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17924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 Show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20900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20900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18020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3600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18119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16800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16800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18121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14400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56715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119765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13500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13500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969" y="7233284"/>
            <a:ext cx="145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7546340"/>
            <a:ext cx="10217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(134590,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12)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5669" y="7812405"/>
            <a:ext cx="589089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df_bookings.revenue_generated.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min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(),df_bookings.revenue_generated.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max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8288019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(np.int64(6500),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np.int64(28560000))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8554084"/>
            <a:ext cx="591248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df_bookings.revenue_generated.mean(),df_bookings.revenue_generated.med ian()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8360" y="914400"/>
            <a:ext cx="6076315" cy="8053705"/>
          </a:xfrm>
          <a:custGeom>
            <a:avLst/>
            <a:gdLst/>
            <a:ahLst/>
            <a:cxnLst/>
            <a:rect l="l" t="t" r="r" b="b"/>
            <a:pathLst>
              <a:path w="6076315" h="8053705">
                <a:moveTo>
                  <a:pt x="0" y="1904"/>
                </a:moveTo>
                <a:lnTo>
                  <a:pt x="6076315" y="1904"/>
                </a:lnTo>
              </a:path>
              <a:path w="6076315" h="8053705">
                <a:moveTo>
                  <a:pt x="6075045" y="0"/>
                </a:moveTo>
                <a:lnTo>
                  <a:pt x="6075045" y="6341745"/>
                </a:lnTo>
              </a:path>
              <a:path w="6076315" h="8053705">
                <a:moveTo>
                  <a:pt x="1905" y="6341745"/>
                </a:moveTo>
                <a:lnTo>
                  <a:pt x="1905" y="0"/>
                </a:lnTo>
              </a:path>
              <a:path w="6076315" h="8053705">
                <a:moveTo>
                  <a:pt x="6075045" y="6214745"/>
                </a:moveTo>
                <a:lnTo>
                  <a:pt x="6075045" y="6631305"/>
                </a:lnTo>
              </a:path>
              <a:path w="6076315" h="8053705">
                <a:moveTo>
                  <a:pt x="1905" y="6631305"/>
                </a:moveTo>
                <a:lnTo>
                  <a:pt x="1905" y="6214745"/>
                </a:lnTo>
              </a:path>
              <a:path w="6076315" h="8053705">
                <a:moveTo>
                  <a:pt x="6075045" y="6504305"/>
                </a:moveTo>
                <a:lnTo>
                  <a:pt x="6075045" y="6920865"/>
                </a:lnTo>
              </a:path>
              <a:path w="6076315" h="8053705">
                <a:moveTo>
                  <a:pt x="1905" y="6920865"/>
                </a:moveTo>
                <a:lnTo>
                  <a:pt x="1905" y="6504305"/>
                </a:lnTo>
              </a:path>
              <a:path w="6076315" h="8053705">
                <a:moveTo>
                  <a:pt x="6075045" y="6793865"/>
                </a:moveTo>
                <a:lnTo>
                  <a:pt x="6075045" y="7372984"/>
                </a:lnTo>
              </a:path>
              <a:path w="6076315" h="8053705">
                <a:moveTo>
                  <a:pt x="1905" y="7372984"/>
                </a:moveTo>
                <a:lnTo>
                  <a:pt x="1905" y="6793865"/>
                </a:lnTo>
              </a:path>
              <a:path w="6076315" h="8053705">
                <a:moveTo>
                  <a:pt x="6075045" y="7245984"/>
                </a:moveTo>
                <a:lnTo>
                  <a:pt x="6075045" y="7662545"/>
                </a:lnTo>
              </a:path>
              <a:path w="6076315" h="8053705">
                <a:moveTo>
                  <a:pt x="1905" y="7662545"/>
                </a:moveTo>
                <a:lnTo>
                  <a:pt x="1905" y="7245984"/>
                </a:lnTo>
              </a:path>
              <a:path w="6076315" h="8053705">
                <a:moveTo>
                  <a:pt x="6075045" y="7535545"/>
                </a:moveTo>
                <a:lnTo>
                  <a:pt x="6075045" y="8053705"/>
                </a:lnTo>
              </a:path>
              <a:path w="6076315" h="8053705">
                <a:moveTo>
                  <a:pt x="6076315" y="8052434"/>
                </a:moveTo>
                <a:lnTo>
                  <a:pt x="0" y="8052434"/>
                </a:lnTo>
              </a:path>
              <a:path w="6076315" h="8053705">
                <a:moveTo>
                  <a:pt x="1905" y="8053705"/>
                </a:moveTo>
                <a:lnTo>
                  <a:pt x="1905" y="7535545"/>
                </a:lnTo>
              </a:path>
              <a:path w="6076315" h="8053705">
                <a:moveTo>
                  <a:pt x="0" y="1904"/>
                </a:moveTo>
                <a:lnTo>
                  <a:pt x="6076315" y="1904"/>
                </a:lnTo>
              </a:path>
              <a:path w="6076315" h="8053705">
                <a:moveTo>
                  <a:pt x="6075045" y="0"/>
                </a:moveTo>
                <a:lnTo>
                  <a:pt x="6075045" y="6341745"/>
                </a:lnTo>
              </a:path>
              <a:path w="6076315" h="8053705">
                <a:moveTo>
                  <a:pt x="1905" y="6341745"/>
                </a:moveTo>
                <a:lnTo>
                  <a:pt x="1905" y="0"/>
                </a:lnTo>
              </a:path>
              <a:path w="6076315" h="8053705">
                <a:moveTo>
                  <a:pt x="6075045" y="6214745"/>
                </a:moveTo>
                <a:lnTo>
                  <a:pt x="6075045" y="6631305"/>
                </a:lnTo>
              </a:path>
              <a:path w="6076315" h="8053705">
                <a:moveTo>
                  <a:pt x="1905" y="6631305"/>
                </a:moveTo>
                <a:lnTo>
                  <a:pt x="1905" y="6214745"/>
                </a:lnTo>
              </a:path>
              <a:path w="6076315" h="8053705">
                <a:moveTo>
                  <a:pt x="6075045" y="6504305"/>
                </a:moveTo>
                <a:lnTo>
                  <a:pt x="6075045" y="6920865"/>
                </a:lnTo>
              </a:path>
              <a:path w="6076315" h="8053705">
                <a:moveTo>
                  <a:pt x="1905" y="6920865"/>
                </a:moveTo>
                <a:lnTo>
                  <a:pt x="1905" y="6504305"/>
                </a:lnTo>
              </a:path>
              <a:path w="6076315" h="8053705">
                <a:moveTo>
                  <a:pt x="6075045" y="6793865"/>
                </a:moveTo>
                <a:lnTo>
                  <a:pt x="6075045" y="7372984"/>
                </a:lnTo>
              </a:path>
              <a:path w="6076315" h="8053705">
                <a:moveTo>
                  <a:pt x="1905" y="7372984"/>
                </a:moveTo>
                <a:lnTo>
                  <a:pt x="1905" y="6793865"/>
                </a:lnTo>
              </a:path>
              <a:path w="6076315" h="8053705">
                <a:moveTo>
                  <a:pt x="6075045" y="7245984"/>
                </a:moveTo>
                <a:lnTo>
                  <a:pt x="6075045" y="7662545"/>
                </a:lnTo>
              </a:path>
              <a:path w="6076315" h="8053705">
                <a:moveTo>
                  <a:pt x="1905" y="7662545"/>
                </a:moveTo>
                <a:lnTo>
                  <a:pt x="1905" y="7245984"/>
                </a:lnTo>
              </a:path>
              <a:path w="6076315" h="8053705">
                <a:moveTo>
                  <a:pt x="6075045" y="7535545"/>
                </a:moveTo>
                <a:lnTo>
                  <a:pt x="6075045" y="8053705"/>
                </a:lnTo>
              </a:path>
              <a:path w="6076315" h="8053705">
                <a:moveTo>
                  <a:pt x="6076315" y="8052434"/>
                </a:moveTo>
                <a:lnTo>
                  <a:pt x="0" y="8052434"/>
                </a:lnTo>
              </a:path>
              <a:path w="6076315" h="8053705">
                <a:moveTo>
                  <a:pt x="1905" y="8053705"/>
                </a:moveTo>
                <a:lnTo>
                  <a:pt x="1905" y="753554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66100"/>
          </a:xfrm>
          <a:custGeom>
            <a:avLst/>
            <a:gdLst/>
            <a:ahLst/>
            <a:cxnLst/>
            <a:rect l="l" t="t" r="r" b="b"/>
            <a:pathLst>
              <a:path w="6076950" h="816610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8166100"/>
                </a:lnTo>
                <a:lnTo>
                  <a:pt x="6076950" y="816610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400" y="981710"/>
            <a:ext cx="43745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(np.float64(15378.05412734973),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np.float64(13500.0))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969" y="1247775"/>
            <a:ext cx="4063365" cy="6451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avg,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std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df_bookings.revenue_generated.mean(), df_bookings.revenue_generated.std()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avg,std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2012950"/>
            <a:ext cx="52165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(np.float64(15378.05412734973),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np.float64(93036.03867095453))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2279015"/>
            <a:ext cx="221551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higher_limit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avg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*std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higher_limit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754629"/>
            <a:ext cx="25368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np.float64(294486.17014021333)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3020694"/>
            <a:ext cx="213106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lower_limit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avg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*std lower_limit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3496309"/>
            <a:ext cx="25368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np.float64(294486.17014021333)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3762375"/>
            <a:ext cx="38125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df_bookings[df_bookings.revenue_generated&lt;=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4075429"/>
            <a:ext cx="12744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Empty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DataFrame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4237990"/>
            <a:ext cx="53003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Columns: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[booking_id,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property_id,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booking_date,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4400550"/>
            <a:ext cx="48799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checkout_date,</a:t>
            </a:r>
            <a:r>
              <a:rPr sz="1100" spc="-1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no_guests,</a:t>
            </a:r>
            <a:r>
              <a:rPr sz="1100" spc="-1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room_category,</a:t>
            </a:r>
            <a:r>
              <a:rPr sz="1100" spc="-1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4563109"/>
            <a:ext cx="5636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ratings_given,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booking_status,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revenue_generated,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revenue_realized]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4725670"/>
            <a:ext cx="7702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Index: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[]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2969" y="4991734"/>
            <a:ext cx="46532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df_bookings[df_bookings.revenue_generated&gt;higher_limit]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14400" y="5304790"/>
          <a:ext cx="5796915" cy="9734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0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5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635">
                        <a:lnSpc>
                          <a:spcPts val="1260"/>
                        </a:lnSpc>
                        <a:spcBef>
                          <a:spcPts val="1195"/>
                        </a:spcBef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151765" marB="0"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672465">
                        <a:lnSpc>
                          <a:spcPts val="1215"/>
                        </a:lnSpc>
                        <a:tabLst>
                          <a:tab pos="1681480" algn="l"/>
                          <a:tab pos="50457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booking_id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property_id</a:t>
                      </a:r>
                      <a:r>
                        <a:rPr sz="11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booking_date</a:t>
                      </a:r>
                      <a:r>
                        <a:rPr sz="1100" spc="-1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67640">
                        <a:lnSpc>
                          <a:spcPts val="1240"/>
                        </a:lnSpc>
                        <a:tabLst>
                          <a:tab pos="2186305" algn="l"/>
                          <a:tab pos="3027045" algn="l"/>
                          <a:tab pos="4204335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May012216558RT13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May012216559RT32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29-04-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May012216562RT22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May012217559RT118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26-04-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129176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2829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Jul282216562RT26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14400" y="6427470"/>
          <a:ext cx="5357495" cy="19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 gridSpan="2"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checkout_date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ratings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  <a:tabLst>
                          <a:tab pos="714375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_given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offline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129176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29-07-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914400" y="8526780"/>
          <a:ext cx="4956175" cy="486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booking_status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9100000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28560000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28560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848360" y="914400"/>
            <a:ext cx="6076315" cy="8165465"/>
          </a:xfrm>
          <a:custGeom>
            <a:avLst/>
            <a:gdLst/>
            <a:ahLst/>
            <a:cxnLst/>
            <a:rect l="l" t="t" r="r" b="b"/>
            <a:pathLst>
              <a:path w="6076315" h="8165465">
                <a:moveTo>
                  <a:pt x="0" y="1904"/>
                </a:moveTo>
                <a:lnTo>
                  <a:pt x="6076315" y="1904"/>
                </a:lnTo>
              </a:path>
              <a:path w="6076315" h="8165465">
                <a:moveTo>
                  <a:pt x="6075045" y="0"/>
                </a:moveTo>
                <a:lnTo>
                  <a:pt x="6075045" y="356234"/>
                </a:lnTo>
              </a:path>
              <a:path w="6076315" h="8165465">
                <a:moveTo>
                  <a:pt x="1905" y="356234"/>
                </a:moveTo>
                <a:lnTo>
                  <a:pt x="1905" y="0"/>
                </a:lnTo>
              </a:path>
              <a:path w="6076315" h="8165465">
                <a:moveTo>
                  <a:pt x="6075045" y="229234"/>
                </a:moveTo>
                <a:lnTo>
                  <a:pt x="6075045" y="808354"/>
                </a:lnTo>
              </a:path>
              <a:path w="6076315" h="8165465">
                <a:moveTo>
                  <a:pt x="1905" y="808354"/>
                </a:moveTo>
                <a:lnTo>
                  <a:pt x="1905" y="229234"/>
                </a:lnTo>
              </a:path>
              <a:path w="6076315" h="8165465">
                <a:moveTo>
                  <a:pt x="6075045" y="681354"/>
                </a:moveTo>
                <a:lnTo>
                  <a:pt x="6075045" y="1097915"/>
                </a:lnTo>
              </a:path>
              <a:path w="6076315" h="8165465">
                <a:moveTo>
                  <a:pt x="1905" y="1097915"/>
                </a:moveTo>
                <a:lnTo>
                  <a:pt x="1905" y="681354"/>
                </a:lnTo>
              </a:path>
              <a:path w="6076315" h="8165465">
                <a:moveTo>
                  <a:pt x="6075045" y="970915"/>
                </a:moveTo>
                <a:lnTo>
                  <a:pt x="6075045" y="1387475"/>
                </a:lnTo>
              </a:path>
              <a:path w="6076315" h="8165465">
                <a:moveTo>
                  <a:pt x="1905" y="1387475"/>
                </a:moveTo>
                <a:lnTo>
                  <a:pt x="1905" y="970915"/>
                </a:lnTo>
              </a:path>
              <a:path w="6076315" h="8165465">
                <a:moveTo>
                  <a:pt x="6075045" y="1260475"/>
                </a:moveTo>
                <a:lnTo>
                  <a:pt x="6075045" y="1839595"/>
                </a:lnTo>
              </a:path>
              <a:path w="6076315" h="8165465">
                <a:moveTo>
                  <a:pt x="1905" y="1839595"/>
                </a:moveTo>
                <a:lnTo>
                  <a:pt x="1905" y="1260475"/>
                </a:lnTo>
              </a:path>
              <a:path w="6076315" h="8165465">
                <a:moveTo>
                  <a:pt x="6075045" y="1712595"/>
                </a:moveTo>
                <a:lnTo>
                  <a:pt x="6075045" y="2129154"/>
                </a:lnTo>
              </a:path>
              <a:path w="6076315" h="8165465">
                <a:moveTo>
                  <a:pt x="1905" y="2129154"/>
                </a:moveTo>
                <a:lnTo>
                  <a:pt x="1905" y="1712595"/>
                </a:lnTo>
              </a:path>
              <a:path w="6076315" h="8165465">
                <a:moveTo>
                  <a:pt x="6075045" y="2002154"/>
                </a:moveTo>
                <a:lnTo>
                  <a:pt x="6075045" y="2581275"/>
                </a:lnTo>
              </a:path>
              <a:path w="6076315" h="8165465">
                <a:moveTo>
                  <a:pt x="1905" y="2581275"/>
                </a:moveTo>
                <a:lnTo>
                  <a:pt x="1905" y="2002154"/>
                </a:lnTo>
              </a:path>
              <a:path w="6076315" h="8165465">
                <a:moveTo>
                  <a:pt x="6075045" y="2454275"/>
                </a:moveTo>
                <a:lnTo>
                  <a:pt x="6075045" y="2870835"/>
                </a:lnTo>
              </a:path>
              <a:path w="6076315" h="8165465">
                <a:moveTo>
                  <a:pt x="1905" y="2870835"/>
                </a:moveTo>
                <a:lnTo>
                  <a:pt x="1905" y="2454275"/>
                </a:lnTo>
              </a:path>
              <a:path w="6076315" h="8165465">
                <a:moveTo>
                  <a:pt x="6075045" y="2743835"/>
                </a:moveTo>
                <a:lnTo>
                  <a:pt x="6075045" y="3160395"/>
                </a:lnTo>
              </a:path>
              <a:path w="6076315" h="8165465">
                <a:moveTo>
                  <a:pt x="1905" y="3160395"/>
                </a:moveTo>
                <a:lnTo>
                  <a:pt x="1905" y="2743835"/>
                </a:lnTo>
              </a:path>
              <a:path w="6076315" h="8165465">
                <a:moveTo>
                  <a:pt x="6075045" y="3033395"/>
                </a:moveTo>
                <a:lnTo>
                  <a:pt x="6075045" y="4100195"/>
                </a:lnTo>
              </a:path>
              <a:path w="6076315" h="8165465">
                <a:moveTo>
                  <a:pt x="1905" y="4100195"/>
                </a:moveTo>
                <a:lnTo>
                  <a:pt x="1905" y="3033395"/>
                </a:lnTo>
              </a:path>
              <a:path w="6076315" h="8165465">
                <a:moveTo>
                  <a:pt x="6075045" y="3973195"/>
                </a:moveTo>
                <a:lnTo>
                  <a:pt x="6075045" y="4389755"/>
                </a:lnTo>
              </a:path>
              <a:path w="6076315" h="8165465">
                <a:moveTo>
                  <a:pt x="1905" y="4389755"/>
                </a:moveTo>
                <a:lnTo>
                  <a:pt x="1905" y="3973195"/>
                </a:lnTo>
              </a:path>
              <a:path w="6076315" h="8165465">
                <a:moveTo>
                  <a:pt x="6075045" y="4262755"/>
                </a:moveTo>
                <a:lnTo>
                  <a:pt x="6075045" y="8165465"/>
                </a:lnTo>
              </a:path>
              <a:path w="6076315" h="8165465">
                <a:moveTo>
                  <a:pt x="6076315" y="8164195"/>
                </a:moveTo>
                <a:lnTo>
                  <a:pt x="0" y="8164195"/>
                </a:lnTo>
              </a:path>
              <a:path w="6076315" h="8165465">
                <a:moveTo>
                  <a:pt x="1905" y="8165465"/>
                </a:moveTo>
                <a:lnTo>
                  <a:pt x="1905" y="4262755"/>
                </a:lnTo>
              </a:path>
              <a:path w="6076315" h="8165465">
                <a:moveTo>
                  <a:pt x="0" y="1904"/>
                </a:moveTo>
                <a:lnTo>
                  <a:pt x="6076315" y="1904"/>
                </a:lnTo>
              </a:path>
              <a:path w="6076315" h="8165465">
                <a:moveTo>
                  <a:pt x="6075045" y="0"/>
                </a:moveTo>
                <a:lnTo>
                  <a:pt x="6075045" y="356234"/>
                </a:lnTo>
              </a:path>
              <a:path w="6076315" h="8165465">
                <a:moveTo>
                  <a:pt x="1905" y="356234"/>
                </a:moveTo>
                <a:lnTo>
                  <a:pt x="1905" y="0"/>
                </a:lnTo>
              </a:path>
              <a:path w="6076315" h="8165465">
                <a:moveTo>
                  <a:pt x="6075045" y="229234"/>
                </a:moveTo>
                <a:lnTo>
                  <a:pt x="6075045" y="808354"/>
                </a:lnTo>
              </a:path>
              <a:path w="6076315" h="8165465">
                <a:moveTo>
                  <a:pt x="1905" y="808354"/>
                </a:moveTo>
                <a:lnTo>
                  <a:pt x="1905" y="229234"/>
                </a:lnTo>
              </a:path>
              <a:path w="6076315" h="8165465">
                <a:moveTo>
                  <a:pt x="6075045" y="681354"/>
                </a:moveTo>
                <a:lnTo>
                  <a:pt x="6075045" y="1097915"/>
                </a:lnTo>
              </a:path>
              <a:path w="6076315" h="8165465">
                <a:moveTo>
                  <a:pt x="1905" y="1097915"/>
                </a:moveTo>
                <a:lnTo>
                  <a:pt x="1905" y="681354"/>
                </a:lnTo>
              </a:path>
              <a:path w="6076315" h="8165465">
                <a:moveTo>
                  <a:pt x="6075045" y="970915"/>
                </a:moveTo>
                <a:lnTo>
                  <a:pt x="6075045" y="1387475"/>
                </a:lnTo>
              </a:path>
              <a:path w="6076315" h="8165465">
                <a:moveTo>
                  <a:pt x="1905" y="1387475"/>
                </a:moveTo>
                <a:lnTo>
                  <a:pt x="1905" y="970915"/>
                </a:lnTo>
              </a:path>
              <a:path w="6076315" h="8165465">
                <a:moveTo>
                  <a:pt x="6075045" y="1260475"/>
                </a:moveTo>
                <a:lnTo>
                  <a:pt x="6075045" y="1839595"/>
                </a:lnTo>
              </a:path>
              <a:path w="6076315" h="8165465">
                <a:moveTo>
                  <a:pt x="1905" y="1839595"/>
                </a:moveTo>
                <a:lnTo>
                  <a:pt x="1905" y="1260475"/>
                </a:lnTo>
              </a:path>
              <a:path w="6076315" h="8165465">
                <a:moveTo>
                  <a:pt x="6075045" y="1712595"/>
                </a:moveTo>
                <a:lnTo>
                  <a:pt x="6075045" y="2129154"/>
                </a:lnTo>
              </a:path>
              <a:path w="6076315" h="8165465">
                <a:moveTo>
                  <a:pt x="1905" y="2129154"/>
                </a:moveTo>
                <a:lnTo>
                  <a:pt x="1905" y="1712595"/>
                </a:lnTo>
              </a:path>
              <a:path w="6076315" h="8165465">
                <a:moveTo>
                  <a:pt x="6075045" y="2002154"/>
                </a:moveTo>
                <a:lnTo>
                  <a:pt x="6075045" y="2581275"/>
                </a:lnTo>
              </a:path>
              <a:path w="6076315" h="8165465">
                <a:moveTo>
                  <a:pt x="1905" y="2581275"/>
                </a:moveTo>
                <a:lnTo>
                  <a:pt x="1905" y="2002154"/>
                </a:lnTo>
              </a:path>
              <a:path w="6076315" h="8165465">
                <a:moveTo>
                  <a:pt x="6075045" y="2454275"/>
                </a:moveTo>
                <a:lnTo>
                  <a:pt x="6075045" y="2870835"/>
                </a:lnTo>
              </a:path>
              <a:path w="6076315" h="8165465">
                <a:moveTo>
                  <a:pt x="1905" y="2870835"/>
                </a:moveTo>
                <a:lnTo>
                  <a:pt x="1905" y="2454275"/>
                </a:lnTo>
              </a:path>
              <a:path w="6076315" h="8165465">
                <a:moveTo>
                  <a:pt x="6075045" y="2743835"/>
                </a:moveTo>
                <a:lnTo>
                  <a:pt x="6075045" y="3160395"/>
                </a:lnTo>
              </a:path>
              <a:path w="6076315" h="8165465">
                <a:moveTo>
                  <a:pt x="1905" y="3160395"/>
                </a:moveTo>
                <a:lnTo>
                  <a:pt x="1905" y="2743835"/>
                </a:lnTo>
              </a:path>
              <a:path w="6076315" h="8165465">
                <a:moveTo>
                  <a:pt x="6075045" y="3033395"/>
                </a:moveTo>
                <a:lnTo>
                  <a:pt x="6075045" y="4100195"/>
                </a:lnTo>
              </a:path>
              <a:path w="6076315" h="8165465">
                <a:moveTo>
                  <a:pt x="1905" y="4100195"/>
                </a:moveTo>
                <a:lnTo>
                  <a:pt x="1905" y="3033395"/>
                </a:lnTo>
              </a:path>
              <a:path w="6076315" h="8165465">
                <a:moveTo>
                  <a:pt x="6075045" y="3973195"/>
                </a:moveTo>
                <a:lnTo>
                  <a:pt x="6075045" y="4389755"/>
                </a:lnTo>
              </a:path>
              <a:path w="6076315" h="8165465">
                <a:moveTo>
                  <a:pt x="1905" y="4389755"/>
                </a:moveTo>
                <a:lnTo>
                  <a:pt x="1905" y="3973195"/>
                </a:lnTo>
              </a:path>
              <a:path w="6076315" h="8165465">
                <a:moveTo>
                  <a:pt x="6075045" y="4262755"/>
                </a:moveTo>
                <a:lnTo>
                  <a:pt x="6075045" y="8165465"/>
                </a:lnTo>
              </a:path>
              <a:path w="6076315" h="8165465">
                <a:moveTo>
                  <a:pt x="6076315" y="8164195"/>
                </a:moveTo>
                <a:lnTo>
                  <a:pt x="0" y="8164195"/>
                </a:lnTo>
              </a:path>
              <a:path w="6076315" h="8165465">
                <a:moveTo>
                  <a:pt x="1905" y="8165465"/>
                </a:moveTo>
                <a:lnTo>
                  <a:pt x="1905" y="42627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25459"/>
          </a:xfrm>
          <a:custGeom>
            <a:avLst/>
            <a:gdLst/>
            <a:ahLst/>
            <a:cxnLst/>
            <a:rect l="l" t="t" r="r" b="b"/>
            <a:pathLst>
              <a:path w="6076950" h="8125459">
                <a:moveTo>
                  <a:pt x="6076950" y="0"/>
                </a:moveTo>
                <a:lnTo>
                  <a:pt x="0" y="0"/>
                </a:lnTo>
                <a:lnTo>
                  <a:pt x="0" y="554355"/>
                </a:lnTo>
                <a:lnTo>
                  <a:pt x="0" y="554990"/>
                </a:lnTo>
                <a:lnTo>
                  <a:pt x="0" y="8125460"/>
                </a:lnTo>
                <a:lnTo>
                  <a:pt x="6076950" y="8125460"/>
                </a:lnTo>
                <a:lnTo>
                  <a:pt x="6076950" y="55435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020310" cy="550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76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12600000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12600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4420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129176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12600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969" y="1572894"/>
            <a:ext cx="591502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df_bookings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df_bookings[df_bookings.revenue_generated&lt;=higher_limit] df_bookings.shape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2048510"/>
            <a:ext cx="10217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(134585,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12)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2314575"/>
            <a:ext cx="3305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df_bookings.revenue_realized.describe()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2627629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59864" y="2604134"/>
            <a:ext cx="1118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134590.000000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2790189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43964" y="2766694"/>
            <a:ext cx="10350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12696.123256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2952750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828063" y="2929255"/>
            <a:ext cx="95059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6928.108124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3115310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28063" y="3091815"/>
            <a:ext cx="95059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2600.000000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" y="3277870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28063" y="3254375"/>
            <a:ext cx="95059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7600.000000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4400" y="3440429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43964" y="3416934"/>
            <a:ext cx="10350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11700.000000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3602990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2969" y="2604134"/>
            <a:ext cx="446405" cy="11684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count </a:t>
            </a:r>
            <a:r>
              <a:rPr sz="1100" spc="-20" dirty="0">
                <a:latin typeface="Courier New"/>
                <a:cs typeface="Courier New"/>
              </a:rPr>
              <a:t>mean </a:t>
            </a:r>
            <a:r>
              <a:rPr sz="1100" spc="-25" dirty="0">
                <a:latin typeface="Courier New"/>
                <a:cs typeface="Courier New"/>
              </a:rPr>
              <a:t>std min 25%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25" dirty="0">
                <a:latin typeface="Courier New"/>
                <a:cs typeface="Courier New"/>
              </a:rPr>
              <a:t>50%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25" dirty="0">
                <a:latin typeface="Courier New"/>
                <a:cs typeface="Courier New"/>
              </a:rPr>
              <a:t>75%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43964" y="3579495"/>
            <a:ext cx="10350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15300.000000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3765549"/>
            <a:ext cx="3197225" cy="324485"/>
          </a:xfrm>
          <a:custGeom>
            <a:avLst/>
            <a:gdLst/>
            <a:ahLst/>
            <a:cxnLst/>
            <a:rect l="l" t="t" r="r" b="b"/>
            <a:pathLst>
              <a:path w="3197225" h="32448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  <a:path w="3197225" h="324485">
                <a:moveTo>
                  <a:pt x="31972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197225" y="324485"/>
                </a:lnTo>
                <a:lnTo>
                  <a:pt x="319722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02969" y="3742054"/>
            <a:ext cx="4232910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853440" algn="l"/>
              </a:tabLst>
            </a:pPr>
            <a:r>
              <a:rPr sz="1100" spc="-25" dirty="0">
                <a:latin typeface="Courier New"/>
                <a:cs typeface="Courier New"/>
              </a:rPr>
              <a:t>max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45220.000000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revenue_realized,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higher_limit=</a:t>
            </a:r>
            <a:r>
              <a:rPr sz="1100" spc="-1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df_bookings.revenue_realized.mean()+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*df_bookings.revenue_realized.std()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higher_limit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4832350"/>
            <a:ext cx="24403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np.float64(33480.44762788103)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2969" y="5098415"/>
            <a:ext cx="47377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df_bookings[df_bookings.revenue_realized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&gt;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higher_limit]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914400" y="5411470"/>
          <a:ext cx="5796915" cy="194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May012216559RT41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27-04-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139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May012216559RT43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143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May012216559RT47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May012216559RT413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24-04-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May012216560RT45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134331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Jul312219560RT412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134467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Jul312219562RT45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134474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Jul312219562RT412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25-07-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Jul312217564RT42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Jul312217564RT47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31-07-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914400" y="7509509"/>
          <a:ext cx="5393690" cy="1459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8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3655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checkout_date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no_guests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booking_platform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rati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180"/>
                        </a:lnSpc>
                        <a:tabLst>
                          <a:tab pos="100965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ngs_given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5755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139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5755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tripster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143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5755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5755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848360" y="914400"/>
            <a:ext cx="6076315" cy="8124825"/>
          </a:xfrm>
          <a:custGeom>
            <a:avLst/>
            <a:gdLst/>
            <a:ahLst/>
            <a:cxnLst/>
            <a:rect l="l" t="t" r="r" b="b"/>
            <a:pathLst>
              <a:path w="6076315" h="8124825">
                <a:moveTo>
                  <a:pt x="0" y="1904"/>
                </a:moveTo>
                <a:lnTo>
                  <a:pt x="6076315" y="1904"/>
                </a:lnTo>
              </a:path>
              <a:path w="6076315" h="8124825">
                <a:moveTo>
                  <a:pt x="6075045" y="0"/>
                </a:moveTo>
                <a:lnTo>
                  <a:pt x="6075045" y="681354"/>
                </a:lnTo>
              </a:path>
              <a:path w="6076315" h="8124825">
                <a:moveTo>
                  <a:pt x="1905" y="681354"/>
                </a:moveTo>
                <a:lnTo>
                  <a:pt x="1905" y="0"/>
                </a:lnTo>
              </a:path>
              <a:path w="6076315" h="8124825">
                <a:moveTo>
                  <a:pt x="6075045" y="554354"/>
                </a:moveTo>
                <a:lnTo>
                  <a:pt x="6075045" y="1133475"/>
                </a:lnTo>
              </a:path>
              <a:path w="6076315" h="8124825">
                <a:moveTo>
                  <a:pt x="1905" y="1133475"/>
                </a:moveTo>
                <a:lnTo>
                  <a:pt x="1905" y="554354"/>
                </a:lnTo>
              </a:path>
              <a:path w="6076315" h="8124825">
                <a:moveTo>
                  <a:pt x="6075045" y="1006475"/>
                </a:moveTo>
                <a:lnTo>
                  <a:pt x="6075045" y="1423034"/>
                </a:lnTo>
              </a:path>
              <a:path w="6076315" h="8124825">
                <a:moveTo>
                  <a:pt x="1905" y="1423034"/>
                </a:moveTo>
                <a:lnTo>
                  <a:pt x="1905" y="1006475"/>
                </a:lnTo>
              </a:path>
              <a:path w="6076315" h="8124825">
                <a:moveTo>
                  <a:pt x="6075045" y="1296034"/>
                </a:moveTo>
                <a:lnTo>
                  <a:pt x="6075045" y="1712595"/>
                </a:lnTo>
              </a:path>
              <a:path w="6076315" h="8124825">
                <a:moveTo>
                  <a:pt x="1905" y="1712595"/>
                </a:moveTo>
                <a:lnTo>
                  <a:pt x="1905" y="1296034"/>
                </a:lnTo>
              </a:path>
              <a:path w="6076315" h="8124825">
                <a:moveTo>
                  <a:pt x="6075045" y="1585595"/>
                </a:moveTo>
                <a:lnTo>
                  <a:pt x="6075045" y="3302635"/>
                </a:lnTo>
              </a:path>
              <a:path w="6076315" h="8124825">
                <a:moveTo>
                  <a:pt x="1905" y="3302635"/>
                </a:moveTo>
                <a:lnTo>
                  <a:pt x="1905" y="1585595"/>
                </a:lnTo>
              </a:path>
              <a:path w="6076315" h="8124825">
                <a:moveTo>
                  <a:pt x="6075045" y="3175635"/>
                </a:moveTo>
                <a:lnTo>
                  <a:pt x="6075045" y="3917315"/>
                </a:lnTo>
              </a:path>
              <a:path w="6076315" h="8124825">
                <a:moveTo>
                  <a:pt x="1905" y="3917315"/>
                </a:moveTo>
                <a:lnTo>
                  <a:pt x="1905" y="3175635"/>
                </a:lnTo>
              </a:path>
              <a:path w="6076315" h="8124825">
                <a:moveTo>
                  <a:pt x="6075045" y="3790315"/>
                </a:moveTo>
                <a:lnTo>
                  <a:pt x="6075045" y="4206875"/>
                </a:lnTo>
              </a:path>
              <a:path w="6076315" h="8124825">
                <a:moveTo>
                  <a:pt x="1905" y="4206875"/>
                </a:moveTo>
                <a:lnTo>
                  <a:pt x="1905" y="3790315"/>
                </a:lnTo>
              </a:path>
              <a:path w="6076315" h="8124825">
                <a:moveTo>
                  <a:pt x="6075045" y="4079875"/>
                </a:moveTo>
                <a:lnTo>
                  <a:pt x="6075045" y="4496435"/>
                </a:lnTo>
              </a:path>
              <a:path w="6076315" h="8124825">
                <a:moveTo>
                  <a:pt x="1905" y="4496435"/>
                </a:moveTo>
                <a:lnTo>
                  <a:pt x="1905" y="4079875"/>
                </a:lnTo>
              </a:path>
              <a:path w="6076315" h="8124825">
                <a:moveTo>
                  <a:pt x="6075045" y="4369435"/>
                </a:moveTo>
                <a:lnTo>
                  <a:pt x="6075045" y="8124825"/>
                </a:lnTo>
              </a:path>
              <a:path w="6076315" h="8124825">
                <a:moveTo>
                  <a:pt x="6076315" y="8123555"/>
                </a:moveTo>
                <a:lnTo>
                  <a:pt x="0" y="8123555"/>
                </a:lnTo>
              </a:path>
              <a:path w="6076315" h="8124825">
                <a:moveTo>
                  <a:pt x="1905" y="8124825"/>
                </a:moveTo>
                <a:lnTo>
                  <a:pt x="1905" y="4369435"/>
                </a:lnTo>
              </a:path>
              <a:path w="6076315" h="8124825">
                <a:moveTo>
                  <a:pt x="0" y="1904"/>
                </a:moveTo>
                <a:lnTo>
                  <a:pt x="6076315" y="1904"/>
                </a:lnTo>
              </a:path>
              <a:path w="6076315" h="8124825">
                <a:moveTo>
                  <a:pt x="6075045" y="0"/>
                </a:moveTo>
                <a:lnTo>
                  <a:pt x="6075045" y="681354"/>
                </a:lnTo>
              </a:path>
              <a:path w="6076315" h="8124825">
                <a:moveTo>
                  <a:pt x="1905" y="681354"/>
                </a:moveTo>
                <a:lnTo>
                  <a:pt x="1905" y="0"/>
                </a:lnTo>
              </a:path>
              <a:path w="6076315" h="8124825">
                <a:moveTo>
                  <a:pt x="6075045" y="554354"/>
                </a:moveTo>
                <a:lnTo>
                  <a:pt x="6075045" y="1133475"/>
                </a:lnTo>
              </a:path>
              <a:path w="6076315" h="8124825">
                <a:moveTo>
                  <a:pt x="1905" y="1133475"/>
                </a:moveTo>
                <a:lnTo>
                  <a:pt x="1905" y="554354"/>
                </a:lnTo>
              </a:path>
              <a:path w="6076315" h="8124825">
                <a:moveTo>
                  <a:pt x="6075045" y="1006475"/>
                </a:moveTo>
                <a:lnTo>
                  <a:pt x="6075045" y="1423034"/>
                </a:lnTo>
              </a:path>
              <a:path w="6076315" h="8124825">
                <a:moveTo>
                  <a:pt x="1905" y="1423034"/>
                </a:moveTo>
                <a:lnTo>
                  <a:pt x="1905" y="1006475"/>
                </a:lnTo>
              </a:path>
              <a:path w="6076315" h="8124825">
                <a:moveTo>
                  <a:pt x="6075045" y="1296034"/>
                </a:moveTo>
                <a:lnTo>
                  <a:pt x="6075045" y="1712595"/>
                </a:lnTo>
              </a:path>
              <a:path w="6076315" h="8124825">
                <a:moveTo>
                  <a:pt x="1905" y="1712595"/>
                </a:moveTo>
                <a:lnTo>
                  <a:pt x="1905" y="1296034"/>
                </a:lnTo>
              </a:path>
              <a:path w="6076315" h="8124825">
                <a:moveTo>
                  <a:pt x="6075045" y="1585595"/>
                </a:moveTo>
                <a:lnTo>
                  <a:pt x="6075045" y="3302635"/>
                </a:lnTo>
              </a:path>
              <a:path w="6076315" h="8124825">
                <a:moveTo>
                  <a:pt x="1905" y="3302635"/>
                </a:moveTo>
                <a:lnTo>
                  <a:pt x="1905" y="1585595"/>
                </a:lnTo>
              </a:path>
              <a:path w="6076315" h="8124825">
                <a:moveTo>
                  <a:pt x="6075045" y="3175635"/>
                </a:moveTo>
                <a:lnTo>
                  <a:pt x="6075045" y="3917315"/>
                </a:lnTo>
              </a:path>
              <a:path w="6076315" h="8124825">
                <a:moveTo>
                  <a:pt x="1905" y="3917315"/>
                </a:moveTo>
                <a:lnTo>
                  <a:pt x="1905" y="3175635"/>
                </a:lnTo>
              </a:path>
              <a:path w="6076315" h="8124825">
                <a:moveTo>
                  <a:pt x="6075045" y="3790315"/>
                </a:moveTo>
                <a:lnTo>
                  <a:pt x="6075045" y="4206875"/>
                </a:lnTo>
              </a:path>
              <a:path w="6076315" h="8124825">
                <a:moveTo>
                  <a:pt x="1905" y="4206875"/>
                </a:moveTo>
                <a:lnTo>
                  <a:pt x="1905" y="3790315"/>
                </a:lnTo>
              </a:path>
              <a:path w="6076315" h="8124825">
                <a:moveTo>
                  <a:pt x="6075045" y="4079875"/>
                </a:moveTo>
                <a:lnTo>
                  <a:pt x="6075045" y="4496435"/>
                </a:lnTo>
              </a:path>
              <a:path w="6076315" h="8124825">
                <a:moveTo>
                  <a:pt x="1905" y="4496435"/>
                </a:moveTo>
                <a:lnTo>
                  <a:pt x="1905" y="4079875"/>
                </a:lnTo>
              </a:path>
              <a:path w="6076315" h="8124825">
                <a:moveTo>
                  <a:pt x="6075045" y="4369435"/>
                </a:moveTo>
                <a:lnTo>
                  <a:pt x="6075045" y="8124825"/>
                </a:lnTo>
              </a:path>
              <a:path w="6076315" h="8124825">
                <a:moveTo>
                  <a:pt x="6076315" y="8123555"/>
                </a:moveTo>
                <a:lnTo>
                  <a:pt x="0" y="8123555"/>
                </a:lnTo>
              </a:path>
              <a:path w="6076315" h="8124825">
                <a:moveTo>
                  <a:pt x="1905" y="8124825"/>
                </a:moveTo>
                <a:lnTo>
                  <a:pt x="1905" y="436943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216900"/>
          </a:xfrm>
          <a:custGeom>
            <a:avLst/>
            <a:gdLst/>
            <a:ahLst/>
            <a:cxnLst/>
            <a:rect l="l" t="t" r="r" b="b"/>
            <a:pathLst>
              <a:path w="6076950" h="8216900">
                <a:moveTo>
                  <a:pt x="6076950" y="0"/>
                </a:moveTo>
                <a:lnTo>
                  <a:pt x="0" y="0"/>
                </a:lnTo>
                <a:lnTo>
                  <a:pt x="0" y="4914265"/>
                </a:lnTo>
                <a:lnTo>
                  <a:pt x="0" y="4914900"/>
                </a:lnTo>
                <a:lnTo>
                  <a:pt x="0" y="8216900"/>
                </a:lnTo>
                <a:lnTo>
                  <a:pt x="6076950" y="8216900"/>
                </a:lnTo>
                <a:lnTo>
                  <a:pt x="6076950" y="491426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356860" cy="2496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1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9883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134331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1/8/2022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9883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134467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1/8/2022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makeyourtrip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134474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6/8/2022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offline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1/8/2022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makeyourtrip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1/8/2022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1437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3567429"/>
          <a:ext cx="5292725" cy="1945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2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booking_status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139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45220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45220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143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35530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35530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149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41990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41990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34580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34580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...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134331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39900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39900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134467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39900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39900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134474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37050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37050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134586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Checked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38760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4400" y="5666740"/>
            <a:ext cx="2031364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[1300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rows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x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columns]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5932804"/>
            <a:ext cx="3308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df_rooms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"dim_rooms.csv"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df_rooms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6535419"/>
            <a:ext cx="1947545" cy="81216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5"/>
              </a:lnSpc>
              <a:tabLst>
                <a:tab pos="924560" algn="l"/>
              </a:tabLst>
            </a:pPr>
            <a:r>
              <a:rPr sz="1100" spc="-10" dirty="0">
                <a:latin typeface="Courier New"/>
                <a:cs typeface="Courier New"/>
              </a:rPr>
              <a:t>room_id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room_class</a:t>
            </a:r>
            <a:endParaRPr sz="1100">
              <a:latin typeface="Courier New"/>
              <a:cs typeface="Courier New"/>
            </a:endParaRPr>
          </a:p>
          <a:p>
            <a:pPr marL="504190" indent="-504190" algn="r">
              <a:lnSpc>
                <a:spcPts val="1280"/>
              </a:lnSpc>
              <a:buAutoNum type="arabicPlain"/>
              <a:tabLst>
                <a:tab pos="504190" algn="l"/>
                <a:tab pos="1261110" algn="l"/>
              </a:tabLst>
            </a:pP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 marL="505459" indent="-504825">
              <a:lnSpc>
                <a:spcPts val="1280"/>
              </a:lnSpc>
              <a:buAutoNum type="arabicPlain"/>
              <a:tabLst>
                <a:tab pos="505459" algn="l"/>
                <a:tab pos="1514475" algn="l"/>
              </a:tabLst>
            </a:pPr>
            <a:r>
              <a:rPr sz="1100" spc="-25" dirty="0">
                <a:latin typeface="Courier New"/>
                <a:cs typeface="Courier New"/>
              </a:rPr>
              <a:t>RT2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Elite</a:t>
            </a:r>
            <a:endParaRPr sz="1100">
              <a:latin typeface="Courier New"/>
              <a:cs typeface="Courier New"/>
            </a:endParaRPr>
          </a:p>
          <a:p>
            <a:pPr marL="505459" indent="-504825">
              <a:lnSpc>
                <a:spcPts val="1280"/>
              </a:lnSpc>
              <a:buAutoNum type="arabicPlain"/>
              <a:tabLst>
                <a:tab pos="505459" algn="l"/>
                <a:tab pos="1346200" algn="l"/>
              </a:tabLst>
            </a:pPr>
            <a:r>
              <a:rPr sz="1100" spc="-25" dirty="0">
                <a:latin typeface="Courier New"/>
                <a:cs typeface="Courier New"/>
              </a:rPr>
              <a:t>RT3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Premium</a:t>
            </a:r>
            <a:endParaRPr sz="1100">
              <a:latin typeface="Courier New"/>
              <a:cs typeface="Courier New"/>
            </a:endParaRPr>
          </a:p>
          <a:p>
            <a:pPr marL="505459" indent="-504825">
              <a:lnSpc>
                <a:spcPts val="1300"/>
              </a:lnSpc>
              <a:buAutoNum type="arabicPlain"/>
              <a:tabLst>
                <a:tab pos="505459" algn="l"/>
                <a:tab pos="925830" algn="l"/>
              </a:tabLst>
            </a:pP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Presidential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7451725"/>
            <a:ext cx="313753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df_bookings[df_bookings.room_category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==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"RT4"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].revenue_realized.describe()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400" y="7927340"/>
          <a:ext cx="1844039" cy="1135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count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16073.000000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mean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23440.103652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std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9048.865206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min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7600.000000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19000.000000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26600.000000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75%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32300.000000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848360" y="914400"/>
            <a:ext cx="6076315" cy="8216265"/>
          </a:xfrm>
          <a:custGeom>
            <a:avLst/>
            <a:gdLst/>
            <a:ahLst/>
            <a:cxnLst/>
            <a:rect l="l" t="t" r="r" b="b"/>
            <a:pathLst>
              <a:path w="6076315" h="8216265">
                <a:moveTo>
                  <a:pt x="0" y="1904"/>
                </a:moveTo>
                <a:lnTo>
                  <a:pt x="6076315" y="1904"/>
                </a:lnTo>
              </a:path>
              <a:path w="6076315" h="8216265">
                <a:moveTo>
                  <a:pt x="6075045" y="0"/>
                </a:moveTo>
                <a:lnTo>
                  <a:pt x="6075045" y="5041265"/>
                </a:lnTo>
              </a:path>
              <a:path w="6076315" h="8216265">
                <a:moveTo>
                  <a:pt x="1905" y="5041265"/>
                </a:moveTo>
                <a:lnTo>
                  <a:pt x="1905" y="0"/>
                </a:lnTo>
              </a:path>
              <a:path w="6076315" h="8216265">
                <a:moveTo>
                  <a:pt x="6075045" y="4914265"/>
                </a:moveTo>
                <a:lnTo>
                  <a:pt x="6075045" y="5330825"/>
                </a:lnTo>
              </a:path>
              <a:path w="6076315" h="8216265">
                <a:moveTo>
                  <a:pt x="1905" y="5330825"/>
                </a:moveTo>
                <a:lnTo>
                  <a:pt x="1905" y="4914265"/>
                </a:lnTo>
              </a:path>
              <a:path w="6076315" h="8216265">
                <a:moveTo>
                  <a:pt x="6075045" y="5203825"/>
                </a:moveTo>
                <a:lnTo>
                  <a:pt x="6075045" y="5620385"/>
                </a:lnTo>
              </a:path>
              <a:path w="6076315" h="8216265">
                <a:moveTo>
                  <a:pt x="1905" y="5620385"/>
                </a:moveTo>
                <a:lnTo>
                  <a:pt x="1905" y="5203825"/>
                </a:lnTo>
              </a:path>
              <a:path w="6076315" h="8216265">
                <a:moveTo>
                  <a:pt x="6075045" y="5493385"/>
                </a:moveTo>
                <a:lnTo>
                  <a:pt x="6075045" y="6560184"/>
                </a:lnTo>
              </a:path>
              <a:path w="6076315" h="8216265">
                <a:moveTo>
                  <a:pt x="1905" y="6560184"/>
                </a:moveTo>
                <a:lnTo>
                  <a:pt x="1905" y="5493385"/>
                </a:lnTo>
              </a:path>
              <a:path w="6076315" h="8216265">
                <a:moveTo>
                  <a:pt x="6075045" y="6433185"/>
                </a:moveTo>
                <a:lnTo>
                  <a:pt x="6075045" y="7012305"/>
                </a:lnTo>
              </a:path>
              <a:path w="6076315" h="8216265">
                <a:moveTo>
                  <a:pt x="1905" y="7012305"/>
                </a:moveTo>
                <a:lnTo>
                  <a:pt x="1905" y="6433185"/>
                </a:lnTo>
              </a:path>
              <a:path w="6076315" h="8216265">
                <a:moveTo>
                  <a:pt x="6075045" y="6885305"/>
                </a:moveTo>
                <a:lnTo>
                  <a:pt x="6075045" y="8216265"/>
                </a:lnTo>
              </a:path>
              <a:path w="6076315" h="8216265">
                <a:moveTo>
                  <a:pt x="6076315" y="8214995"/>
                </a:moveTo>
                <a:lnTo>
                  <a:pt x="0" y="8214995"/>
                </a:lnTo>
              </a:path>
              <a:path w="6076315" h="8216265">
                <a:moveTo>
                  <a:pt x="1905" y="8216265"/>
                </a:moveTo>
                <a:lnTo>
                  <a:pt x="1905" y="6885305"/>
                </a:lnTo>
              </a:path>
              <a:path w="6076315" h="8216265">
                <a:moveTo>
                  <a:pt x="0" y="1904"/>
                </a:moveTo>
                <a:lnTo>
                  <a:pt x="6076315" y="1904"/>
                </a:lnTo>
              </a:path>
              <a:path w="6076315" h="8216265">
                <a:moveTo>
                  <a:pt x="6075045" y="0"/>
                </a:moveTo>
                <a:lnTo>
                  <a:pt x="6075045" y="5041265"/>
                </a:lnTo>
              </a:path>
              <a:path w="6076315" h="8216265">
                <a:moveTo>
                  <a:pt x="1905" y="5041265"/>
                </a:moveTo>
                <a:lnTo>
                  <a:pt x="1905" y="0"/>
                </a:lnTo>
              </a:path>
              <a:path w="6076315" h="8216265">
                <a:moveTo>
                  <a:pt x="6075045" y="4914265"/>
                </a:moveTo>
                <a:lnTo>
                  <a:pt x="6075045" y="5330825"/>
                </a:lnTo>
              </a:path>
              <a:path w="6076315" h="8216265">
                <a:moveTo>
                  <a:pt x="1905" y="5330825"/>
                </a:moveTo>
                <a:lnTo>
                  <a:pt x="1905" y="4914265"/>
                </a:lnTo>
              </a:path>
              <a:path w="6076315" h="8216265">
                <a:moveTo>
                  <a:pt x="6075045" y="5203825"/>
                </a:moveTo>
                <a:lnTo>
                  <a:pt x="6075045" y="5620385"/>
                </a:lnTo>
              </a:path>
              <a:path w="6076315" h="8216265">
                <a:moveTo>
                  <a:pt x="1905" y="5620385"/>
                </a:moveTo>
                <a:lnTo>
                  <a:pt x="1905" y="5203825"/>
                </a:lnTo>
              </a:path>
              <a:path w="6076315" h="8216265">
                <a:moveTo>
                  <a:pt x="6075045" y="5493385"/>
                </a:moveTo>
                <a:lnTo>
                  <a:pt x="6075045" y="6560184"/>
                </a:lnTo>
              </a:path>
              <a:path w="6076315" h="8216265">
                <a:moveTo>
                  <a:pt x="1905" y="6560184"/>
                </a:moveTo>
                <a:lnTo>
                  <a:pt x="1905" y="5493385"/>
                </a:lnTo>
              </a:path>
              <a:path w="6076315" h="8216265">
                <a:moveTo>
                  <a:pt x="6075045" y="6433185"/>
                </a:moveTo>
                <a:lnTo>
                  <a:pt x="6075045" y="7012305"/>
                </a:lnTo>
              </a:path>
              <a:path w="6076315" h="8216265">
                <a:moveTo>
                  <a:pt x="1905" y="7012305"/>
                </a:moveTo>
                <a:lnTo>
                  <a:pt x="1905" y="6433185"/>
                </a:lnTo>
              </a:path>
              <a:path w="6076315" h="8216265">
                <a:moveTo>
                  <a:pt x="6075045" y="6885305"/>
                </a:moveTo>
                <a:lnTo>
                  <a:pt x="6075045" y="8216265"/>
                </a:lnTo>
              </a:path>
              <a:path w="6076315" h="8216265">
                <a:moveTo>
                  <a:pt x="6076315" y="8214995"/>
                </a:moveTo>
                <a:lnTo>
                  <a:pt x="0" y="8214995"/>
                </a:lnTo>
              </a:path>
              <a:path w="6076315" h="8216265">
                <a:moveTo>
                  <a:pt x="1905" y="8216265"/>
                </a:moveTo>
                <a:lnTo>
                  <a:pt x="1905" y="688530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25459"/>
            <a:chOff x="847725" y="913764"/>
            <a:chExt cx="6076950" cy="8125459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25459"/>
            </a:xfrm>
            <a:custGeom>
              <a:avLst/>
              <a:gdLst/>
              <a:ahLst/>
              <a:cxnLst/>
              <a:rect l="l" t="t" r="r" b="b"/>
              <a:pathLst>
                <a:path w="6076950" h="8125459">
                  <a:moveTo>
                    <a:pt x="6076950" y="0"/>
                  </a:moveTo>
                  <a:lnTo>
                    <a:pt x="0" y="0"/>
                  </a:lnTo>
                  <a:lnTo>
                    <a:pt x="0" y="391795"/>
                  </a:lnTo>
                  <a:lnTo>
                    <a:pt x="0" y="392430"/>
                  </a:lnTo>
                  <a:lnTo>
                    <a:pt x="0" y="8125460"/>
                  </a:lnTo>
                  <a:lnTo>
                    <a:pt x="6076950" y="8125460"/>
                  </a:lnTo>
                  <a:lnTo>
                    <a:pt x="6076950" y="39179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3197225" cy="324485"/>
            </a:xfrm>
            <a:custGeom>
              <a:avLst/>
              <a:gdLst/>
              <a:ahLst/>
              <a:cxnLst/>
              <a:rect l="l" t="t" r="r" b="b"/>
              <a:pathLst>
                <a:path w="3197225" h="324484">
                  <a:moveTo>
                    <a:pt x="176720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767205" y="161925"/>
                  </a:lnTo>
                  <a:lnTo>
                    <a:pt x="1767205" y="0"/>
                  </a:lnTo>
                  <a:close/>
                </a:path>
                <a:path w="3197225" h="324484">
                  <a:moveTo>
                    <a:pt x="319722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3197225" y="324485"/>
                  </a:lnTo>
                  <a:lnTo>
                    <a:pt x="3197225" y="1625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3221355" cy="64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768985" algn="l"/>
              </a:tabLst>
            </a:pPr>
            <a:r>
              <a:rPr sz="1100" spc="-25" dirty="0">
                <a:latin typeface="Courier New"/>
                <a:cs typeface="Courier New"/>
              </a:rPr>
              <a:t>max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45220.000000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revenue_realized,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A95C00"/>
                </a:solidFill>
                <a:latin typeface="Courier New"/>
                <a:cs typeface="Courier New"/>
              </a:rPr>
              <a:t>2439</a:t>
            </a:r>
            <a:r>
              <a:rPr sz="1100" spc="-20" dirty="0">
                <a:solidFill>
                  <a:srgbClr val="A95C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+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*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9048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723389"/>
            <a:ext cx="4337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29583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2264409"/>
            <a:ext cx="22136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df_bookings.isnull().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2576829"/>
            <a:ext cx="2187575" cy="1950085"/>
          </a:xfrm>
          <a:custGeom>
            <a:avLst/>
            <a:gdLst/>
            <a:ahLst/>
            <a:cxnLst/>
            <a:rect l="l" t="t" r="r" b="b"/>
            <a:pathLst>
              <a:path w="2187575" h="1950085">
                <a:moveTo>
                  <a:pt x="2187575" y="1788160"/>
                </a:moveTo>
                <a:lnTo>
                  <a:pt x="0" y="1788160"/>
                </a:lnTo>
                <a:lnTo>
                  <a:pt x="0" y="1950085"/>
                </a:lnTo>
                <a:lnTo>
                  <a:pt x="2187575" y="1950085"/>
                </a:lnTo>
                <a:lnTo>
                  <a:pt x="2187575" y="1788160"/>
                </a:lnTo>
                <a:close/>
              </a:path>
              <a:path w="2187575" h="1950085">
                <a:moveTo>
                  <a:pt x="2187575" y="1625600"/>
                </a:moveTo>
                <a:lnTo>
                  <a:pt x="0" y="1625600"/>
                </a:lnTo>
                <a:lnTo>
                  <a:pt x="0" y="1787525"/>
                </a:lnTo>
                <a:lnTo>
                  <a:pt x="2187575" y="1787525"/>
                </a:lnTo>
                <a:lnTo>
                  <a:pt x="2187575" y="1625600"/>
                </a:lnTo>
                <a:close/>
              </a:path>
              <a:path w="2187575" h="1950085">
                <a:moveTo>
                  <a:pt x="218757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2187575" y="1624965"/>
                </a:lnTo>
                <a:lnTo>
                  <a:pt x="2187575" y="1463040"/>
                </a:lnTo>
                <a:close/>
              </a:path>
              <a:path w="2187575" h="1950085">
                <a:moveTo>
                  <a:pt x="218757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2187575" y="1462405"/>
                </a:lnTo>
                <a:lnTo>
                  <a:pt x="2187575" y="1300480"/>
                </a:lnTo>
                <a:close/>
              </a:path>
              <a:path w="2187575" h="1950085">
                <a:moveTo>
                  <a:pt x="218757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2187575" y="1299845"/>
                </a:lnTo>
                <a:lnTo>
                  <a:pt x="2187575" y="1137920"/>
                </a:lnTo>
                <a:close/>
              </a:path>
              <a:path w="2187575" h="1950085">
                <a:moveTo>
                  <a:pt x="2187575" y="975372"/>
                </a:moveTo>
                <a:lnTo>
                  <a:pt x="0" y="975372"/>
                </a:lnTo>
                <a:lnTo>
                  <a:pt x="0" y="1137285"/>
                </a:lnTo>
                <a:lnTo>
                  <a:pt x="2187575" y="1137285"/>
                </a:lnTo>
                <a:lnTo>
                  <a:pt x="2187575" y="975372"/>
                </a:lnTo>
                <a:close/>
              </a:path>
              <a:path w="2187575" h="1950085">
                <a:moveTo>
                  <a:pt x="218757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2187575" y="974725"/>
                </a:lnTo>
                <a:lnTo>
                  <a:pt x="2187575" y="812800"/>
                </a:lnTo>
                <a:close/>
              </a:path>
              <a:path w="2187575" h="1950085">
                <a:moveTo>
                  <a:pt x="218757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2187575" y="812165"/>
                </a:lnTo>
                <a:lnTo>
                  <a:pt x="2187575" y="650240"/>
                </a:lnTo>
                <a:close/>
              </a:path>
              <a:path w="2187575" h="1950085">
                <a:moveTo>
                  <a:pt x="218757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2187575" y="649605"/>
                </a:lnTo>
                <a:lnTo>
                  <a:pt x="2187575" y="487680"/>
                </a:lnTo>
                <a:close/>
              </a:path>
              <a:path w="2187575" h="1950085">
                <a:moveTo>
                  <a:pt x="218757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2187575" y="487045"/>
                </a:lnTo>
                <a:lnTo>
                  <a:pt x="2187575" y="325120"/>
                </a:lnTo>
                <a:close/>
              </a:path>
              <a:path w="2187575" h="1950085">
                <a:moveTo>
                  <a:pt x="21875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2187575" y="324485"/>
                </a:lnTo>
                <a:lnTo>
                  <a:pt x="2187575" y="162560"/>
                </a:lnTo>
                <a:close/>
              </a:path>
              <a:path w="2187575" h="1950085">
                <a:moveTo>
                  <a:pt x="2187575" y="0"/>
                </a:moveTo>
                <a:lnTo>
                  <a:pt x="0" y="0"/>
                </a:lnTo>
                <a:lnTo>
                  <a:pt x="0" y="161925"/>
                </a:lnTo>
                <a:lnTo>
                  <a:pt x="2187575" y="161925"/>
                </a:lnTo>
                <a:lnTo>
                  <a:pt x="21875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81757" y="2553969"/>
            <a:ext cx="433705" cy="198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77907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300"/>
              </a:lnSpc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4527550"/>
            <a:ext cx="1009015" cy="161925"/>
          </a:xfrm>
          <a:custGeom>
            <a:avLst/>
            <a:gdLst/>
            <a:ahLst/>
            <a:cxnLst/>
            <a:rect l="l" t="t" r="r" b="b"/>
            <a:pathLst>
              <a:path w="1009014" h="161925">
                <a:moveTo>
                  <a:pt x="1009014" y="0"/>
                </a:moveTo>
                <a:lnTo>
                  <a:pt x="0" y="0"/>
                </a:lnTo>
                <a:lnTo>
                  <a:pt x="0" y="161925"/>
                </a:lnTo>
                <a:lnTo>
                  <a:pt x="1009014" y="161925"/>
                </a:lnTo>
                <a:lnTo>
                  <a:pt x="100901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2553969"/>
            <a:ext cx="1442720" cy="21437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booking_id property_id booking_date check_in_date checkout_date no_guests room_category booking_platform ratings_given booking_status revenue_generated revenue_realized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539622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6724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672465" y="324485"/>
                </a:lnTo>
                <a:lnTo>
                  <a:pt x="672465" y="162560"/>
                </a:lnTo>
                <a:close/>
              </a:path>
              <a:path w="5553075" h="324485">
                <a:moveTo>
                  <a:pt x="5553075" y="0"/>
                </a:moveTo>
                <a:lnTo>
                  <a:pt x="0" y="0"/>
                </a:lnTo>
                <a:lnTo>
                  <a:pt x="0" y="161925"/>
                </a:lnTo>
                <a:lnTo>
                  <a:pt x="5553075" y="161925"/>
                </a:lnTo>
                <a:lnTo>
                  <a:pt x="55530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02969" y="4794250"/>
            <a:ext cx="5576570" cy="9347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df_agg_bookings</a:t>
            </a:r>
            <a:r>
              <a:rPr sz="1100" spc="-8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9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"fact_aggregated_bookings.csv"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</a:t>
            </a:r>
            <a:endParaRPr sz="1100">
              <a:latin typeface="Courier New"/>
              <a:cs typeface="Courier New"/>
            </a:endParaRPr>
          </a:p>
          <a:p>
            <a:pPr marL="12700" marR="5080" indent="504190">
              <a:lnSpc>
                <a:spcPts val="1280"/>
              </a:lnSpc>
              <a:spcBef>
                <a:spcPts val="1035"/>
              </a:spcBef>
              <a:tabLst>
                <a:tab pos="3964940" algn="l"/>
              </a:tabLst>
            </a:pPr>
            <a:r>
              <a:rPr sz="1100" dirty="0">
                <a:latin typeface="Courier New"/>
                <a:cs typeface="Courier New"/>
              </a:rPr>
              <a:t>property_id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check_in_date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 capacity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5721350"/>
            <a:ext cx="5553075" cy="161925"/>
          </a:xfrm>
          <a:custGeom>
            <a:avLst/>
            <a:gdLst/>
            <a:ahLst/>
            <a:cxnLst/>
            <a:rect l="l" t="t" r="r" b="b"/>
            <a:pathLst>
              <a:path w="5553075" h="161925">
                <a:moveTo>
                  <a:pt x="5553075" y="0"/>
                </a:moveTo>
                <a:lnTo>
                  <a:pt x="0" y="0"/>
                </a:lnTo>
                <a:lnTo>
                  <a:pt x="0" y="161925"/>
                </a:lnTo>
                <a:lnTo>
                  <a:pt x="5553075" y="161925"/>
                </a:lnTo>
                <a:lnTo>
                  <a:pt x="55530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12162" y="5698490"/>
            <a:ext cx="45669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260" algn="l"/>
                <a:tab pos="2535555" algn="l"/>
                <a:tab pos="4385310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5883909"/>
            <a:ext cx="5553075" cy="2925445"/>
          </a:xfrm>
          <a:custGeom>
            <a:avLst/>
            <a:gdLst/>
            <a:ahLst/>
            <a:cxnLst/>
            <a:rect l="l" t="t" r="r" b="b"/>
            <a:pathLst>
              <a:path w="5553075" h="2925445">
                <a:moveTo>
                  <a:pt x="252095" y="2600960"/>
                </a:moveTo>
                <a:lnTo>
                  <a:pt x="0" y="2600960"/>
                </a:lnTo>
                <a:lnTo>
                  <a:pt x="0" y="2762885"/>
                </a:lnTo>
                <a:lnTo>
                  <a:pt x="252095" y="2762885"/>
                </a:lnTo>
                <a:lnTo>
                  <a:pt x="252095" y="2600960"/>
                </a:lnTo>
                <a:close/>
              </a:path>
              <a:path w="5553075" h="2925445">
                <a:moveTo>
                  <a:pt x="252095" y="1625600"/>
                </a:moveTo>
                <a:lnTo>
                  <a:pt x="0" y="1625600"/>
                </a:lnTo>
                <a:lnTo>
                  <a:pt x="0" y="1787525"/>
                </a:lnTo>
                <a:lnTo>
                  <a:pt x="252095" y="1787525"/>
                </a:lnTo>
                <a:lnTo>
                  <a:pt x="252095" y="1625600"/>
                </a:lnTo>
                <a:close/>
              </a:path>
              <a:path w="5553075" h="2925445">
                <a:moveTo>
                  <a:pt x="335915" y="2275840"/>
                </a:moveTo>
                <a:lnTo>
                  <a:pt x="0" y="2275840"/>
                </a:lnTo>
                <a:lnTo>
                  <a:pt x="0" y="2437765"/>
                </a:lnTo>
                <a:lnTo>
                  <a:pt x="335915" y="2437765"/>
                </a:lnTo>
                <a:lnTo>
                  <a:pt x="335915" y="2275840"/>
                </a:lnTo>
                <a:close/>
              </a:path>
              <a:path w="5553075" h="2925445">
                <a:moveTo>
                  <a:pt x="335915" y="1950720"/>
                </a:moveTo>
                <a:lnTo>
                  <a:pt x="0" y="1950720"/>
                </a:lnTo>
                <a:lnTo>
                  <a:pt x="0" y="2112645"/>
                </a:lnTo>
                <a:lnTo>
                  <a:pt x="335915" y="2112645"/>
                </a:lnTo>
                <a:lnTo>
                  <a:pt x="335915" y="1950720"/>
                </a:lnTo>
                <a:close/>
              </a:path>
              <a:path w="5553075" h="2925445">
                <a:moveTo>
                  <a:pt x="33591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335915" y="1462405"/>
                </a:lnTo>
                <a:lnTo>
                  <a:pt x="335915" y="1300480"/>
                </a:lnTo>
                <a:close/>
              </a:path>
              <a:path w="5553075" h="2925445">
                <a:moveTo>
                  <a:pt x="33591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335915" y="1137285"/>
                </a:lnTo>
                <a:lnTo>
                  <a:pt x="335915" y="975360"/>
                </a:lnTo>
                <a:close/>
              </a:path>
              <a:path w="5553075" h="2925445">
                <a:moveTo>
                  <a:pt x="33591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335915" y="812165"/>
                </a:lnTo>
                <a:lnTo>
                  <a:pt x="335915" y="650240"/>
                </a:lnTo>
                <a:close/>
              </a:path>
              <a:path w="5553075" h="2925445">
                <a:moveTo>
                  <a:pt x="33591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35915" y="487045"/>
                </a:lnTo>
                <a:lnTo>
                  <a:pt x="335915" y="325120"/>
                </a:lnTo>
                <a:close/>
              </a:path>
              <a:path w="5553075" h="292544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2925445">
                <a:moveTo>
                  <a:pt x="5553075" y="2763520"/>
                </a:moveTo>
                <a:lnTo>
                  <a:pt x="0" y="2763520"/>
                </a:lnTo>
                <a:lnTo>
                  <a:pt x="0" y="2925445"/>
                </a:lnTo>
                <a:lnTo>
                  <a:pt x="5553075" y="2925445"/>
                </a:lnTo>
                <a:lnTo>
                  <a:pt x="5553075" y="2763520"/>
                </a:lnTo>
                <a:close/>
              </a:path>
              <a:path w="5553075" h="2925445">
                <a:moveTo>
                  <a:pt x="5553075" y="2438400"/>
                </a:moveTo>
                <a:lnTo>
                  <a:pt x="0" y="2438400"/>
                </a:lnTo>
                <a:lnTo>
                  <a:pt x="0" y="2600325"/>
                </a:lnTo>
                <a:lnTo>
                  <a:pt x="5553075" y="2600325"/>
                </a:lnTo>
                <a:lnTo>
                  <a:pt x="5553075" y="2438400"/>
                </a:lnTo>
                <a:close/>
              </a:path>
              <a:path w="5553075" h="2925445">
                <a:moveTo>
                  <a:pt x="5553075" y="2113280"/>
                </a:moveTo>
                <a:lnTo>
                  <a:pt x="0" y="2113280"/>
                </a:lnTo>
                <a:lnTo>
                  <a:pt x="0" y="2275205"/>
                </a:lnTo>
                <a:lnTo>
                  <a:pt x="5553075" y="2275205"/>
                </a:lnTo>
                <a:lnTo>
                  <a:pt x="5553075" y="2113280"/>
                </a:lnTo>
                <a:close/>
              </a:path>
              <a:path w="5553075" h="2925445">
                <a:moveTo>
                  <a:pt x="5553075" y="1788160"/>
                </a:moveTo>
                <a:lnTo>
                  <a:pt x="0" y="1788160"/>
                </a:lnTo>
                <a:lnTo>
                  <a:pt x="0" y="1950085"/>
                </a:lnTo>
                <a:lnTo>
                  <a:pt x="5553075" y="1950085"/>
                </a:lnTo>
                <a:lnTo>
                  <a:pt x="5553075" y="1788160"/>
                </a:lnTo>
                <a:close/>
              </a:path>
              <a:path w="5553075" h="2925445">
                <a:moveTo>
                  <a:pt x="555307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5553075" y="1624965"/>
                </a:lnTo>
                <a:lnTo>
                  <a:pt x="5553075" y="1463040"/>
                </a:lnTo>
                <a:close/>
              </a:path>
              <a:path w="5553075" h="2925445">
                <a:moveTo>
                  <a:pt x="555307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5553075" y="1299845"/>
                </a:lnTo>
                <a:lnTo>
                  <a:pt x="5553075" y="1137920"/>
                </a:lnTo>
                <a:close/>
              </a:path>
              <a:path w="5553075" h="2925445">
                <a:moveTo>
                  <a:pt x="555307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5553075" y="974725"/>
                </a:lnTo>
                <a:lnTo>
                  <a:pt x="5553075" y="812800"/>
                </a:lnTo>
                <a:close/>
              </a:path>
              <a:path w="5553075" h="2925445">
                <a:moveTo>
                  <a:pt x="555307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553075" y="649605"/>
                </a:lnTo>
                <a:lnTo>
                  <a:pt x="5553075" y="487680"/>
                </a:lnTo>
                <a:close/>
              </a:path>
              <a:path w="5553075" h="292544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912162" y="6023609"/>
            <a:ext cx="4566920" cy="279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924560" algn="l"/>
                <a:tab pos="2522855" algn="l"/>
                <a:tab pos="4372610" algn="l"/>
              </a:tabLst>
            </a:pPr>
            <a:r>
              <a:rPr sz="1100" spc="-10" dirty="0">
                <a:latin typeface="Courier New"/>
                <a:cs typeface="Courier New"/>
              </a:rPr>
              <a:t>19562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28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924560" algn="l"/>
                <a:tab pos="2522855" algn="l"/>
                <a:tab pos="4372610" algn="l"/>
              </a:tabLst>
            </a:pP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924560" algn="l"/>
                <a:tab pos="2522855" algn="l"/>
                <a:tab pos="4372610" algn="l"/>
              </a:tabLst>
            </a:pP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30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924560" algn="l"/>
                <a:tab pos="2522855" algn="l"/>
                <a:tab pos="4372610" algn="l"/>
              </a:tabLst>
            </a:pP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18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1177290" algn="l"/>
                <a:tab pos="2354580" algn="l"/>
                <a:tab pos="4120515" algn="l"/>
              </a:tabLst>
            </a:pPr>
            <a:r>
              <a:rPr sz="1100" spc="-25" dirty="0">
                <a:latin typeface="Courier New"/>
                <a:cs typeface="Courier New"/>
              </a:rPr>
              <a:t>...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...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...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  <a:tab pos="4372610" algn="l"/>
              </a:tabLst>
            </a:pPr>
            <a:r>
              <a:rPr sz="1100" spc="-10" dirty="0">
                <a:latin typeface="Courier New"/>
                <a:cs typeface="Courier New"/>
              </a:rPr>
              <a:t>16563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13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  <a:tab pos="4372610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13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  <a:tab pos="4457065" algn="l"/>
              </a:tabLst>
            </a:pP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  <a:tab pos="4457065" algn="l"/>
              </a:tabLst>
            </a:pP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8809990"/>
            <a:ext cx="252095" cy="161925"/>
          </a:xfrm>
          <a:custGeom>
            <a:avLst/>
            <a:gdLst/>
            <a:ahLst/>
            <a:cxnLst/>
            <a:rect l="l" t="t" r="r" b="b"/>
            <a:pathLst>
              <a:path w="252094" h="161925">
                <a:moveTo>
                  <a:pt x="252094" y="0"/>
                </a:moveTo>
                <a:lnTo>
                  <a:pt x="0" y="0"/>
                </a:lnTo>
                <a:lnTo>
                  <a:pt x="0" y="161924"/>
                </a:lnTo>
                <a:lnTo>
                  <a:pt x="252094" y="161924"/>
                </a:lnTo>
                <a:lnTo>
                  <a:pt x="2520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02969" y="5698490"/>
            <a:ext cx="361950" cy="3281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19.0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19.0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spc="-25" dirty="0">
                <a:latin typeface="Courier New"/>
                <a:cs typeface="Courier New"/>
              </a:rPr>
              <a:t>... </a:t>
            </a:r>
            <a:r>
              <a:rPr sz="1100" spc="-20" dirty="0">
                <a:latin typeface="Courier New"/>
                <a:cs typeface="Courier New"/>
              </a:rPr>
              <a:t>9195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20" dirty="0">
                <a:latin typeface="Courier New"/>
                <a:cs typeface="Courier New"/>
              </a:rPr>
              <a:t>18.0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9196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18.0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9197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6.0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9198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25" dirty="0">
                <a:latin typeface="Courier New"/>
                <a:cs typeface="Courier New"/>
              </a:rPr>
              <a:t>6.0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8360" y="914400"/>
            <a:ext cx="6076315" cy="8124825"/>
          </a:xfrm>
          <a:custGeom>
            <a:avLst/>
            <a:gdLst/>
            <a:ahLst/>
            <a:cxnLst/>
            <a:rect l="l" t="t" r="r" b="b"/>
            <a:pathLst>
              <a:path w="6076315" h="8124825">
                <a:moveTo>
                  <a:pt x="0" y="1904"/>
                </a:moveTo>
                <a:lnTo>
                  <a:pt x="6076315" y="1904"/>
                </a:lnTo>
              </a:path>
              <a:path w="6076315" h="8124825">
                <a:moveTo>
                  <a:pt x="6075045" y="0"/>
                </a:moveTo>
                <a:lnTo>
                  <a:pt x="6075045" y="518795"/>
                </a:lnTo>
              </a:path>
              <a:path w="6076315" h="8124825">
                <a:moveTo>
                  <a:pt x="1905" y="518795"/>
                </a:moveTo>
                <a:lnTo>
                  <a:pt x="1905" y="0"/>
                </a:lnTo>
              </a:path>
              <a:path w="6076315" h="8124825">
                <a:moveTo>
                  <a:pt x="6075045" y="391795"/>
                </a:moveTo>
                <a:lnTo>
                  <a:pt x="6075045" y="808354"/>
                </a:lnTo>
              </a:path>
              <a:path w="6076315" h="8124825">
                <a:moveTo>
                  <a:pt x="1905" y="808354"/>
                </a:moveTo>
                <a:lnTo>
                  <a:pt x="1905" y="391795"/>
                </a:lnTo>
              </a:path>
              <a:path w="6076315" h="8124825">
                <a:moveTo>
                  <a:pt x="6075045" y="681354"/>
                </a:moveTo>
                <a:lnTo>
                  <a:pt x="6075045" y="1097915"/>
                </a:lnTo>
              </a:path>
              <a:path w="6076315" h="8124825">
                <a:moveTo>
                  <a:pt x="1905" y="1097915"/>
                </a:moveTo>
                <a:lnTo>
                  <a:pt x="1905" y="681354"/>
                </a:lnTo>
              </a:path>
              <a:path w="6076315" h="8124825">
                <a:moveTo>
                  <a:pt x="6075045" y="970915"/>
                </a:moveTo>
                <a:lnTo>
                  <a:pt x="6075045" y="1372870"/>
                </a:lnTo>
              </a:path>
              <a:path w="6076315" h="8124825">
                <a:moveTo>
                  <a:pt x="1905" y="1372870"/>
                </a:moveTo>
                <a:lnTo>
                  <a:pt x="1905" y="970915"/>
                </a:lnTo>
              </a:path>
              <a:path w="6076315" h="8124825">
                <a:moveTo>
                  <a:pt x="6075045" y="1245870"/>
                </a:moveTo>
                <a:lnTo>
                  <a:pt x="6075045" y="1662429"/>
                </a:lnTo>
              </a:path>
              <a:path w="6076315" h="8124825">
                <a:moveTo>
                  <a:pt x="1905" y="1662429"/>
                </a:moveTo>
                <a:lnTo>
                  <a:pt x="1905" y="1245870"/>
                </a:lnTo>
              </a:path>
              <a:path w="6076315" h="8124825">
                <a:moveTo>
                  <a:pt x="6075045" y="1535429"/>
                </a:moveTo>
                <a:lnTo>
                  <a:pt x="6075045" y="3902710"/>
                </a:lnTo>
              </a:path>
              <a:path w="6076315" h="8124825">
                <a:moveTo>
                  <a:pt x="1905" y="3902710"/>
                </a:moveTo>
                <a:lnTo>
                  <a:pt x="1905" y="1535429"/>
                </a:lnTo>
              </a:path>
              <a:path w="6076315" h="8124825">
                <a:moveTo>
                  <a:pt x="6075045" y="3775710"/>
                </a:moveTo>
                <a:lnTo>
                  <a:pt x="6075045" y="4192270"/>
                </a:lnTo>
              </a:path>
              <a:path w="6076315" h="8124825">
                <a:moveTo>
                  <a:pt x="1905" y="4192270"/>
                </a:moveTo>
                <a:lnTo>
                  <a:pt x="1905" y="3775710"/>
                </a:lnTo>
              </a:path>
              <a:path w="6076315" h="8124825">
                <a:moveTo>
                  <a:pt x="6075045" y="4065270"/>
                </a:moveTo>
                <a:lnTo>
                  <a:pt x="6075045" y="4481830"/>
                </a:lnTo>
              </a:path>
              <a:path w="6076315" h="8124825">
                <a:moveTo>
                  <a:pt x="1905" y="4481830"/>
                </a:moveTo>
                <a:lnTo>
                  <a:pt x="1905" y="4065270"/>
                </a:lnTo>
              </a:path>
              <a:path w="6076315" h="8124825">
                <a:moveTo>
                  <a:pt x="6075045" y="4354830"/>
                </a:moveTo>
                <a:lnTo>
                  <a:pt x="6075045" y="8124825"/>
                </a:lnTo>
              </a:path>
              <a:path w="6076315" h="8124825">
                <a:moveTo>
                  <a:pt x="6076315" y="8123555"/>
                </a:moveTo>
                <a:lnTo>
                  <a:pt x="0" y="8123555"/>
                </a:lnTo>
              </a:path>
              <a:path w="6076315" h="8124825">
                <a:moveTo>
                  <a:pt x="1905" y="8124825"/>
                </a:moveTo>
                <a:lnTo>
                  <a:pt x="1905" y="4354830"/>
                </a:lnTo>
              </a:path>
              <a:path w="6076315" h="8124825">
                <a:moveTo>
                  <a:pt x="0" y="1904"/>
                </a:moveTo>
                <a:lnTo>
                  <a:pt x="6076315" y="1904"/>
                </a:lnTo>
              </a:path>
              <a:path w="6076315" h="8124825">
                <a:moveTo>
                  <a:pt x="6075045" y="0"/>
                </a:moveTo>
                <a:lnTo>
                  <a:pt x="6075045" y="518795"/>
                </a:lnTo>
              </a:path>
              <a:path w="6076315" h="8124825">
                <a:moveTo>
                  <a:pt x="1905" y="518795"/>
                </a:moveTo>
                <a:lnTo>
                  <a:pt x="1905" y="0"/>
                </a:lnTo>
              </a:path>
              <a:path w="6076315" h="8124825">
                <a:moveTo>
                  <a:pt x="6075045" y="391795"/>
                </a:moveTo>
                <a:lnTo>
                  <a:pt x="6075045" y="808354"/>
                </a:lnTo>
              </a:path>
              <a:path w="6076315" h="8124825">
                <a:moveTo>
                  <a:pt x="1905" y="808354"/>
                </a:moveTo>
                <a:lnTo>
                  <a:pt x="1905" y="391795"/>
                </a:lnTo>
              </a:path>
              <a:path w="6076315" h="8124825">
                <a:moveTo>
                  <a:pt x="6075045" y="681354"/>
                </a:moveTo>
                <a:lnTo>
                  <a:pt x="6075045" y="1097915"/>
                </a:lnTo>
              </a:path>
              <a:path w="6076315" h="8124825">
                <a:moveTo>
                  <a:pt x="1905" y="1097915"/>
                </a:moveTo>
                <a:lnTo>
                  <a:pt x="1905" y="681354"/>
                </a:lnTo>
              </a:path>
              <a:path w="6076315" h="8124825">
                <a:moveTo>
                  <a:pt x="6075045" y="970915"/>
                </a:moveTo>
                <a:lnTo>
                  <a:pt x="6075045" y="1372870"/>
                </a:lnTo>
              </a:path>
              <a:path w="6076315" h="8124825">
                <a:moveTo>
                  <a:pt x="1905" y="1372870"/>
                </a:moveTo>
                <a:lnTo>
                  <a:pt x="1905" y="970915"/>
                </a:lnTo>
              </a:path>
              <a:path w="6076315" h="8124825">
                <a:moveTo>
                  <a:pt x="6075045" y="1245870"/>
                </a:moveTo>
                <a:lnTo>
                  <a:pt x="6075045" y="1662429"/>
                </a:lnTo>
              </a:path>
              <a:path w="6076315" h="8124825">
                <a:moveTo>
                  <a:pt x="1905" y="1662429"/>
                </a:moveTo>
                <a:lnTo>
                  <a:pt x="1905" y="1245870"/>
                </a:lnTo>
              </a:path>
              <a:path w="6076315" h="8124825">
                <a:moveTo>
                  <a:pt x="6075045" y="1535429"/>
                </a:moveTo>
                <a:lnTo>
                  <a:pt x="6075045" y="3902710"/>
                </a:lnTo>
              </a:path>
              <a:path w="6076315" h="8124825">
                <a:moveTo>
                  <a:pt x="1905" y="3902710"/>
                </a:moveTo>
                <a:lnTo>
                  <a:pt x="1905" y="1535429"/>
                </a:lnTo>
              </a:path>
              <a:path w="6076315" h="8124825">
                <a:moveTo>
                  <a:pt x="6075045" y="3775710"/>
                </a:moveTo>
                <a:lnTo>
                  <a:pt x="6075045" y="4192270"/>
                </a:lnTo>
              </a:path>
              <a:path w="6076315" h="8124825">
                <a:moveTo>
                  <a:pt x="1905" y="4192270"/>
                </a:moveTo>
                <a:lnTo>
                  <a:pt x="1905" y="3775710"/>
                </a:lnTo>
              </a:path>
              <a:path w="6076315" h="8124825">
                <a:moveTo>
                  <a:pt x="6075045" y="4065270"/>
                </a:moveTo>
                <a:lnTo>
                  <a:pt x="6075045" y="4481830"/>
                </a:lnTo>
              </a:path>
              <a:path w="6076315" h="8124825">
                <a:moveTo>
                  <a:pt x="1905" y="4481830"/>
                </a:moveTo>
                <a:lnTo>
                  <a:pt x="1905" y="4065270"/>
                </a:lnTo>
              </a:path>
              <a:path w="6076315" h="8124825">
                <a:moveTo>
                  <a:pt x="6075045" y="4354830"/>
                </a:moveTo>
                <a:lnTo>
                  <a:pt x="6075045" y="8124825"/>
                </a:lnTo>
              </a:path>
              <a:path w="6076315" h="8124825">
                <a:moveTo>
                  <a:pt x="6076315" y="8123555"/>
                </a:moveTo>
                <a:lnTo>
                  <a:pt x="0" y="8123555"/>
                </a:lnTo>
              </a:path>
              <a:path w="6076315" h="8124825">
                <a:moveTo>
                  <a:pt x="1905" y="8124825"/>
                </a:moveTo>
                <a:lnTo>
                  <a:pt x="1905" y="435483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54340"/>
            <a:chOff x="847725" y="913764"/>
            <a:chExt cx="6076950" cy="805434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54340"/>
            </a:xfrm>
            <a:custGeom>
              <a:avLst/>
              <a:gdLst/>
              <a:ahLst/>
              <a:cxnLst/>
              <a:rect l="l" t="t" r="r" b="b"/>
              <a:pathLst>
                <a:path w="6076950" h="8054340">
                  <a:moveTo>
                    <a:pt x="6076950" y="0"/>
                  </a:moveTo>
                  <a:lnTo>
                    <a:pt x="0" y="0"/>
                  </a:lnTo>
                  <a:lnTo>
                    <a:pt x="0" y="702310"/>
                  </a:lnTo>
                  <a:lnTo>
                    <a:pt x="0" y="991870"/>
                  </a:lnTo>
                  <a:lnTo>
                    <a:pt x="0" y="8054340"/>
                  </a:lnTo>
                  <a:lnTo>
                    <a:pt x="6076950" y="8054340"/>
                  </a:lnTo>
                  <a:lnTo>
                    <a:pt x="6076950" y="702310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553075" cy="161925"/>
            </a:xfrm>
            <a:custGeom>
              <a:avLst/>
              <a:gdLst/>
              <a:ahLst/>
              <a:cxnLst/>
              <a:rect l="l" t="t" r="r" b="b"/>
              <a:pathLst>
                <a:path w="5553075" h="161925">
                  <a:moveTo>
                    <a:pt x="555307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553075" y="161925"/>
                  </a:lnTo>
                  <a:lnTo>
                    <a:pt x="555307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3619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9199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2162" y="958215"/>
            <a:ext cx="446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17561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3156" y="958215"/>
            <a:ext cx="782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5144" y="958215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RT4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9431" y="958215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1144269"/>
            <a:ext cx="252095" cy="161925"/>
          </a:xfrm>
          <a:custGeom>
            <a:avLst/>
            <a:gdLst/>
            <a:ahLst/>
            <a:cxnLst/>
            <a:rect l="l" t="t" r="r" b="b"/>
            <a:pathLst>
              <a:path w="252094" h="161925">
                <a:moveTo>
                  <a:pt x="252094" y="0"/>
                </a:moveTo>
                <a:lnTo>
                  <a:pt x="0" y="0"/>
                </a:lnTo>
                <a:lnTo>
                  <a:pt x="0" y="161925"/>
                </a:lnTo>
                <a:lnTo>
                  <a:pt x="252094" y="161925"/>
                </a:lnTo>
                <a:lnTo>
                  <a:pt x="2520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969" y="1120775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4.0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1454150"/>
            <a:ext cx="19475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[9200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rows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x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columns]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2969" y="1720850"/>
            <a:ext cx="25501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df_agg_bookings.isnull().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2033270"/>
            <a:ext cx="2018664" cy="161925"/>
          </a:xfrm>
          <a:custGeom>
            <a:avLst/>
            <a:gdLst/>
            <a:ahLst/>
            <a:cxnLst/>
            <a:rect l="l" t="t" r="r" b="b"/>
            <a:pathLst>
              <a:path w="2018664" h="161925">
                <a:moveTo>
                  <a:pt x="2018664" y="0"/>
                </a:moveTo>
                <a:lnTo>
                  <a:pt x="0" y="0"/>
                </a:lnTo>
                <a:lnTo>
                  <a:pt x="0" y="161925"/>
                </a:lnTo>
                <a:lnTo>
                  <a:pt x="2018664" y="161925"/>
                </a:lnTo>
                <a:lnTo>
                  <a:pt x="20186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37256" y="2010409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2195829"/>
            <a:ext cx="2018664" cy="161925"/>
          </a:xfrm>
          <a:custGeom>
            <a:avLst/>
            <a:gdLst/>
            <a:ahLst/>
            <a:cxnLst/>
            <a:rect l="l" t="t" r="r" b="b"/>
            <a:pathLst>
              <a:path w="2018664" h="161925">
                <a:moveTo>
                  <a:pt x="2018664" y="0"/>
                </a:moveTo>
                <a:lnTo>
                  <a:pt x="0" y="0"/>
                </a:lnTo>
                <a:lnTo>
                  <a:pt x="0" y="161925"/>
                </a:lnTo>
                <a:lnTo>
                  <a:pt x="2018664" y="161925"/>
                </a:lnTo>
                <a:lnTo>
                  <a:pt x="20186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837256" y="2172969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2358389"/>
            <a:ext cx="2018664" cy="161925"/>
          </a:xfrm>
          <a:custGeom>
            <a:avLst/>
            <a:gdLst/>
            <a:ahLst/>
            <a:cxnLst/>
            <a:rect l="l" t="t" r="r" b="b"/>
            <a:pathLst>
              <a:path w="2018664" h="161925">
                <a:moveTo>
                  <a:pt x="2018664" y="0"/>
                </a:moveTo>
                <a:lnTo>
                  <a:pt x="0" y="0"/>
                </a:lnTo>
                <a:lnTo>
                  <a:pt x="0" y="161925"/>
                </a:lnTo>
                <a:lnTo>
                  <a:pt x="2018664" y="161925"/>
                </a:lnTo>
                <a:lnTo>
                  <a:pt x="20186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837256" y="2335530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4400" y="2520950"/>
            <a:ext cx="2018664" cy="161925"/>
          </a:xfrm>
          <a:custGeom>
            <a:avLst/>
            <a:gdLst/>
            <a:ahLst/>
            <a:cxnLst/>
            <a:rect l="l" t="t" r="r" b="b"/>
            <a:pathLst>
              <a:path w="2018664" h="161925">
                <a:moveTo>
                  <a:pt x="2018664" y="0"/>
                </a:moveTo>
                <a:lnTo>
                  <a:pt x="0" y="0"/>
                </a:lnTo>
                <a:lnTo>
                  <a:pt x="0" y="161925"/>
                </a:lnTo>
                <a:lnTo>
                  <a:pt x="2018664" y="161925"/>
                </a:lnTo>
                <a:lnTo>
                  <a:pt x="20186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837256" y="2498090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2683510"/>
            <a:ext cx="2018664" cy="161925"/>
          </a:xfrm>
          <a:custGeom>
            <a:avLst/>
            <a:gdLst/>
            <a:ahLst/>
            <a:cxnLst/>
            <a:rect l="l" t="t" r="r" b="b"/>
            <a:pathLst>
              <a:path w="2018664" h="161925">
                <a:moveTo>
                  <a:pt x="2018664" y="0"/>
                </a:moveTo>
                <a:lnTo>
                  <a:pt x="0" y="0"/>
                </a:lnTo>
                <a:lnTo>
                  <a:pt x="0" y="161925"/>
                </a:lnTo>
                <a:lnTo>
                  <a:pt x="2018664" y="161925"/>
                </a:lnTo>
                <a:lnTo>
                  <a:pt x="20186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02969" y="2010409"/>
            <a:ext cx="1623695" cy="84328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property_id check_in_date room_category successful_bookings capacity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37256" y="2660650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4400" y="2846070"/>
            <a:ext cx="1009015" cy="161925"/>
          </a:xfrm>
          <a:custGeom>
            <a:avLst/>
            <a:gdLst/>
            <a:ahLst/>
            <a:cxnLst/>
            <a:rect l="l" t="t" r="r" b="b"/>
            <a:pathLst>
              <a:path w="1009014" h="161925">
                <a:moveTo>
                  <a:pt x="1009014" y="0"/>
                </a:moveTo>
                <a:lnTo>
                  <a:pt x="0" y="0"/>
                </a:lnTo>
                <a:lnTo>
                  <a:pt x="0" y="161925"/>
                </a:lnTo>
                <a:lnTo>
                  <a:pt x="1009014" y="161925"/>
                </a:lnTo>
                <a:lnTo>
                  <a:pt x="100901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2969" y="2823209"/>
            <a:ext cx="12871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3425190"/>
            <a:ext cx="5553075" cy="161925"/>
          </a:xfrm>
          <a:custGeom>
            <a:avLst/>
            <a:gdLst/>
            <a:ahLst/>
            <a:cxnLst/>
            <a:rect l="l" t="t" r="r" b="b"/>
            <a:pathLst>
              <a:path w="5553075" h="161925">
                <a:moveTo>
                  <a:pt x="5553075" y="0"/>
                </a:moveTo>
                <a:lnTo>
                  <a:pt x="0" y="0"/>
                </a:lnTo>
                <a:lnTo>
                  <a:pt x="0" y="161924"/>
                </a:lnTo>
                <a:lnTo>
                  <a:pt x="5553075" y="161924"/>
                </a:lnTo>
                <a:lnTo>
                  <a:pt x="55530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4855641" y="3402330"/>
            <a:ext cx="16236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successful_bookings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14400" y="3587750"/>
            <a:ext cx="672465" cy="161925"/>
          </a:xfrm>
          <a:custGeom>
            <a:avLst/>
            <a:gdLst/>
            <a:ahLst/>
            <a:cxnLst/>
            <a:rect l="l" t="t" r="r" b="b"/>
            <a:pathLst>
              <a:path w="672465" h="161925">
                <a:moveTo>
                  <a:pt x="672465" y="0"/>
                </a:moveTo>
                <a:lnTo>
                  <a:pt x="0" y="0"/>
                </a:lnTo>
                <a:lnTo>
                  <a:pt x="0" y="161925"/>
                </a:lnTo>
                <a:lnTo>
                  <a:pt x="672465" y="161925"/>
                </a:lnTo>
                <a:lnTo>
                  <a:pt x="6724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02969" y="3402330"/>
            <a:ext cx="381000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50419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latin typeface="Courier New"/>
                <a:cs typeface="Courier New"/>
              </a:rPr>
              <a:t>property_id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check_in_date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room_category capacity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3750309"/>
            <a:ext cx="5553075" cy="161925"/>
          </a:xfrm>
          <a:custGeom>
            <a:avLst/>
            <a:gdLst/>
            <a:ahLst/>
            <a:cxnLst/>
            <a:rect l="l" t="t" r="r" b="b"/>
            <a:pathLst>
              <a:path w="5553075" h="161925">
                <a:moveTo>
                  <a:pt x="5553075" y="0"/>
                </a:moveTo>
                <a:lnTo>
                  <a:pt x="0" y="0"/>
                </a:lnTo>
                <a:lnTo>
                  <a:pt x="0" y="161925"/>
                </a:lnTo>
                <a:lnTo>
                  <a:pt x="5553075" y="161925"/>
                </a:lnTo>
                <a:lnTo>
                  <a:pt x="55530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12162" y="3727450"/>
            <a:ext cx="28009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260" algn="l"/>
                <a:tab pos="2535555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85331" y="3727450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25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4400" y="391286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285331" y="4052570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28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14400" y="423798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85331" y="4377690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23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14400" y="456310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285331" y="4702809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30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4400" y="488822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285331" y="5027929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4400" y="521334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201232" y="5353050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14400" y="553846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252095" y="0"/>
                </a:moveTo>
                <a:lnTo>
                  <a:pt x="0" y="0"/>
                </a:lnTo>
                <a:lnTo>
                  <a:pt x="0" y="161925"/>
                </a:lnTo>
                <a:lnTo>
                  <a:pt x="252095" y="161925"/>
                </a:lnTo>
                <a:lnTo>
                  <a:pt x="25209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285331" y="5678170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914400" y="586358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5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285331" y="6003290"/>
            <a:ext cx="1936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914400" y="618870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4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  <a:path w="5553075" h="324484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369431" y="6328409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14400" y="651382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4">
                <a:moveTo>
                  <a:pt x="252095" y="0"/>
                </a:moveTo>
                <a:lnTo>
                  <a:pt x="0" y="0"/>
                </a:lnTo>
                <a:lnTo>
                  <a:pt x="0" y="161925"/>
                </a:lnTo>
                <a:lnTo>
                  <a:pt x="252095" y="161925"/>
                </a:lnTo>
                <a:lnTo>
                  <a:pt x="252095" y="0"/>
                </a:lnTo>
                <a:close/>
              </a:path>
              <a:path w="5553075" h="324484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6369431" y="6653530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914400" y="6838950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4">
                <a:moveTo>
                  <a:pt x="252095" y="0"/>
                </a:moveTo>
                <a:lnTo>
                  <a:pt x="0" y="0"/>
                </a:lnTo>
                <a:lnTo>
                  <a:pt x="0" y="161925"/>
                </a:lnTo>
                <a:lnTo>
                  <a:pt x="252095" y="161925"/>
                </a:lnTo>
                <a:lnTo>
                  <a:pt x="252095" y="0"/>
                </a:lnTo>
                <a:close/>
              </a:path>
              <a:path w="5553075" h="324484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912162" y="4052570"/>
            <a:ext cx="2800985" cy="311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tabLst>
                <a:tab pos="92456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19562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92456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92456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92456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1177290" algn="l"/>
                <a:tab pos="2354580" algn="l"/>
              </a:tabLst>
            </a:pPr>
            <a:r>
              <a:rPr sz="1100" spc="-25" dirty="0">
                <a:latin typeface="Courier New"/>
                <a:cs typeface="Courier New"/>
              </a:rPr>
              <a:t>...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...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16563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40"/>
              </a:spcBef>
              <a:tabLst>
                <a:tab pos="840740" algn="l"/>
                <a:tab pos="2522855" algn="l"/>
              </a:tabLst>
            </a:pPr>
            <a:r>
              <a:rPr sz="1100" spc="-10" dirty="0">
                <a:latin typeface="Courier New"/>
                <a:cs typeface="Courier New"/>
              </a:rPr>
              <a:t>17561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369431" y="6978650"/>
            <a:ext cx="1098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14400" y="7164069"/>
            <a:ext cx="252095" cy="161925"/>
          </a:xfrm>
          <a:custGeom>
            <a:avLst/>
            <a:gdLst/>
            <a:ahLst/>
            <a:cxnLst/>
            <a:rect l="l" t="t" r="r" b="b"/>
            <a:pathLst>
              <a:path w="252094" h="161925">
                <a:moveTo>
                  <a:pt x="252094" y="0"/>
                </a:moveTo>
                <a:lnTo>
                  <a:pt x="0" y="0"/>
                </a:lnTo>
                <a:lnTo>
                  <a:pt x="0" y="161924"/>
                </a:lnTo>
                <a:lnTo>
                  <a:pt x="252094" y="161924"/>
                </a:lnTo>
                <a:lnTo>
                  <a:pt x="2520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902969" y="3727450"/>
            <a:ext cx="361950" cy="3606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19.0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19.0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spc="-25" dirty="0">
                <a:latin typeface="Courier New"/>
                <a:cs typeface="Courier New"/>
              </a:rPr>
              <a:t>... </a:t>
            </a:r>
            <a:r>
              <a:rPr sz="1100" spc="-20" dirty="0">
                <a:latin typeface="Courier New"/>
                <a:cs typeface="Courier New"/>
              </a:rPr>
              <a:t>9195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20" dirty="0">
                <a:latin typeface="Courier New"/>
                <a:cs typeface="Courier New"/>
              </a:rPr>
              <a:t>18.0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9196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18.0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9197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6.0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9198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6.0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9199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25" dirty="0">
                <a:latin typeface="Courier New"/>
                <a:cs typeface="Courier New"/>
              </a:rPr>
              <a:t>4.0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14400" y="7475219"/>
            <a:ext cx="19475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[9200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rows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x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columns]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15669" y="7741284"/>
            <a:ext cx="5469255" cy="11684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2095" indent="-252729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].fillna( 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].median()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25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R="1591945">
              <a:lnSpc>
                <a:spcPts val="1280"/>
              </a:lnSpc>
              <a:spcBef>
                <a:spcPts val="5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=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].fillna(</a:t>
            </a:r>
            <a:endParaRPr sz="1100">
              <a:latin typeface="Courier New"/>
              <a:cs typeface="Courier New"/>
            </a:endParaRPr>
          </a:p>
          <a:p>
            <a:pPr marL="335915">
              <a:lnSpc>
                <a:spcPts val="12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].median()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48360" y="914400"/>
            <a:ext cx="6076315" cy="8053705"/>
          </a:xfrm>
          <a:custGeom>
            <a:avLst/>
            <a:gdLst/>
            <a:ahLst/>
            <a:cxnLst/>
            <a:rect l="l" t="t" r="r" b="b"/>
            <a:pathLst>
              <a:path w="6076315" h="8053705">
                <a:moveTo>
                  <a:pt x="0" y="1904"/>
                </a:moveTo>
                <a:lnTo>
                  <a:pt x="6076315" y="1904"/>
                </a:lnTo>
              </a:path>
              <a:path w="6076315" h="8053705">
                <a:moveTo>
                  <a:pt x="6075045" y="0"/>
                </a:moveTo>
                <a:lnTo>
                  <a:pt x="6075045" y="829309"/>
                </a:lnTo>
              </a:path>
              <a:path w="6076315" h="8053705">
                <a:moveTo>
                  <a:pt x="1905" y="829309"/>
                </a:moveTo>
                <a:lnTo>
                  <a:pt x="1905" y="0"/>
                </a:lnTo>
              </a:path>
              <a:path w="6076315" h="8053705">
                <a:moveTo>
                  <a:pt x="6075045" y="702309"/>
                </a:moveTo>
                <a:lnTo>
                  <a:pt x="6075045" y="1118870"/>
                </a:lnTo>
              </a:path>
              <a:path w="6076315" h="8053705">
                <a:moveTo>
                  <a:pt x="1905" y="1118870"/>
                </a:moveTo>
                <a:lnTo>
                  <a:pt x="1905" y="702309"/>
                </a:lnTo>
              </a:path>
              <a:path w="6076315" h="8053705">
                <a:moveTo>
                  <a:pt x="6075045" y="991870"/>
                </a:moveTo>
                <a:lnTo>
                  <a:pt x="6075045" y="2221229"/>
                </a:lnTo>
              </a:path>
              <a:path w="6076315" h="8053705">
                <a:moveTo>
                  <a:pt x="1905" y="2221229"/>
                </a:moveTo>
                <a:lnTo>
                  <a:pt x="1905" y="991870"/>
                </a:lnTo>
              </a:path>
              <a:path w="6076315" h="8053705">
                <a:moveTo>
                  <a:pt x="6075045" y="2094229"/>
                </a:moveTo>
                <a:lnTo>
                  <a:pt x="6075045" y="2510790"/>
                </a:lnTo>
              </a:path>
              <a:path w="6076315" h="8053705">
                <a:moveTo>
                  <a:pt x="1905" y="2510790"/>
                </a:moveTo>
                <a:lnTo>
                  <a:pt x="1905" y="2094229"/>
                </a:lnTo>
              </a:path>
              <a:path w="6076315" h="8053705">
                <a:moveTo>
                  <a:pt x="6075045" y="2383790"/>
                </a:moveTo>
                <a:lnTo>
                  <a:pt x="6075045" y="6849745"/>
                </a:lnTo>
              </a:path>
              <a:path w="6076315" h="8053705">
                <a:moveTo>
                  <a:pt x="1905" y="6849745"/>
                </a:moveTo>
                <a:lnTo>
                  <a:pt x="1905" y="2383790"/>
                </a:lnTo>
              </a:path>
              <a:path w="6076315" h="8053705">
                <a:moveTo>
                  <a:pt x="6075045" y="6722745"/>
                </a:moveTo>
                <a:lnTo>
                  <a:pt x="6075045" y="8053705"/>
                </a:lnTo>
              </a:path>
              <a:path w="6076315" h="8053705">
                <a:moveTo>
                  <a:pt x="6076315" y="8052434"/>
                </a:moveTo>
                <a:lnTo>
                  <a:pt x="0" y="8052434"/>
                </a:lnTo>
              </a:path>
              <a:path w="6076315" h="8053705">
                <a:moveTo>
                  <a:pt x="1905" y="8053705"/>
                </a:moveTo>
                <a:lnTo>
                  <a:pt x="1905" y="6722745"/>
                </a:lnTo>
              </a:path>
              <a:path w="6076315" h="8053705">
                <a:moveTo>
                  <a:pt x="0" y="1904"/>
                </a:moveTo>
                <a:lnTo>
                  <a:pt x="6076315" y="1904"/>
                </a:lnTo>
              </a:path>
              <a:path w="6076315" h="8053705">
                <a:moveTo>
                  <a:pt x="6075045" y="0"/>
                </a:moveTo>
                <a:lnTo>
                  <a:pt x="6075045" y="829309"/>
                </a:lnTo>
              </a:path>
              <a:path w="6076315" h="8053705">
                <a:moveTo>
                  <a:pt x="1905" y="829309"/>
                </a:moveTo>
                <a:lnTo>
                  <a:pt x="1905" y="0"/>
                </a:lnTo>
              </a:path>
              <a:path w="6076315" h="8053705">
                <a:moveTo>
                  <a:pt x="6075045" y="702309"/>
                </a:moveTo>
                <a:lnTo>
                  <a:pt x="6075045" y="1118870"/>
                </a:lnTo>
              </a:path>
              <a:path w="6076315" h="8053705">
                <a:moveTo>
                  <a:pt x="1905" y="1118870"/>
                </a:moveTo>
                <a:lnTo>
                  <a:pt x="1905" y="702309"/>
                </a:lnTo>
              </a:path>
              <a:path w="6076315" h="8053705">
                <a:moveTo>
                  <a:pt x="6075045" y="991870"/>
                </a:moveTo>
                <a:lnTo>
                  <a:pt x="6075045" y="2221229"/>
                </a:lnTo>
              </a:path>
              <a:path w="6076315" h="8053705">
                <a:moveTo>
                  <a:pt x="1905" y="2221229"/>
                </a:moveTo>
                <a:lnTo>
                  <a:pt x="1905" y="991870"/>
                </a:lnTo>
              </a:path>
              <a:path w="6076315" h="8053705">
                <a:moveTo>
                  <a:pt x="6075045" y="2094229"/>
                </a:moveTo>
                <a:lnTo>
                  <a:pt x="6075045" y="2510790"/>
                </a:lnTo>
              </a:path>
              <a:path w="6076315" h="8053705">
                <a:moveTo>
                  <a:pt x="1905" y="2510790"/>
                </a:moveTo>
                <a:lnTo>
                  <a:pt x="1905" y="2094229"/>
                </a:lnTo>
              </a:path>
              <a:path w="6076315" h="8053705">
                <a:moveTo>
                  <a:pt x="6075045" y="2383790"/>
                </a:moveTo>
                <a:lnTo>
                  <a:pt x="6075045" y="6849745"/>
                </a:lnTo>
              </a:path>
              <a:path w="6076315" h="8053705">
                <a:moveTo>
                  <a:pt x="1905" y="6849745"/>
                </a:moveTo>
                <a:lnTo>
                  <a:pt x="1905" y="2383790"/>
                </a:lnTo>
              </a:path>
              <a:path w="6076315" h="8053705">
                <a:moveTo>
                  <a:pt x="6075045" y="6722745"/>
                </a:moveTo>
                <a:lnTo>
                  <a:pt x="6075045" y="8053705"/>
                </a:lnTo>
              </a:path>
              <a:path w="6076315" h="8053705">
                <a:moveTo>
                  <a:pt x="6076315" y="8052434"/>
                </a:moveTo>
                <a:lnTo>
                  <a:pt x="0" y="8052434"/>
                </a:lnTo>
              </a:path>
              <a:path w="6076315" h="8053705">
                <a:moveTo>
                  <a:pt x="1905" y="8053705"/>
                </a:moveTo>
                <a:lnTo>
                  <a:pt x="1905" y="672274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67370"/>
          </a:xfrm>
          <a:custGeom>
            <a:avLst/>
            <a:gdLst/>
            <a:ahLst/>
            <a:cxnLst/>
            <a:rect l="l" t="t" r="r" b="b"/>
            <a:pathLst>
              <a:path w="6076950" h="8167370">
                <a:moveTo>
                  <a:pt x="6076950" y="0"/>
                </a:moveTo>
                <a:lnTo>
                  <a:pt x="0" y="0"/>
                </a:lnTo>
                <a:lnTo>
                  <a:pt x="0" y="1175385"/>
                </a:lnTo>
                <a:lnTo>
                  <a:pt x="0" y="1176020"/>
                </a:lnTo>
                <a:lnTo>
                  <a:pt x="0" y="8167370"/>
                </a:lnTo>
                <a:lnTo>
                  <a:pt x="6076950" y="8167370"/>
                </a:lnTo>
                <a:lnTo>
                  <a:pt x="6076950" y="117538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3728085" cy="99123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48615" marR="5080" indent="-33655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df_invalid_bookings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 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&gt;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df_invalid_bookings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2217420"/>
          <a:ext cx="5629275" cy="2270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 gridSpan="5">
                  <a:txBody>
                    <a:bodyPr/>
                    <a:lstStyle/>
                    <a:p>
                      <a:pPr marL="505459">
                        <a:lnSpc>
                          <a:spcPts val="1215"/>
                        </a:lnSpc>
                        <a:tabLst>
                          <a:tab pos="395351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4136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11-Jun-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6209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8522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25-Jul-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9194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54659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18.0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969" y="4596765"/>
            <a:ext cx="3728085" cy="97028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48615" marR="5080" indent="-33655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'occupancy_pct'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(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/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* </a:t>
            </a:r>
            <a:r>
              <a:rPr sz="1100" spc="-25" dirty="0">
                <a:solidFill>
                  <a:srgbClr val="A95C00"/>
                </a:solidFill>
                <a:latin typeface="Courier New"/>
                <a:cs typeface="Courier New"/>
              </a:rPr>
              <a:t>100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400" y="5687059"/>
          <a:ext cx="5376545" cy="1297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15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14400" y="7134859"/>
            <a:ext cx="135826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83.333333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93.333333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58928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76.666667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7889240"/>
            <a:ext cx="5410835" cy="113284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172085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'occ_pct'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apply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7827A0"/>
                </a:solidFill>
                <a:latin typeface="Courier New"/>
                <a:cs typeface="Courier New"/>
              </a:rPr>
              <a:t>lambda</a:t>
            </a:r>
            <a:r>
              <a:rPr sz="1100" spc="-1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row: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row[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]/row[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axis=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new_col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apply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7827A0"/>
                </a:solidFill>
                <a:latin typeface="Courier New"/>
                <a:cs typeface="Courier New"/>
              </a:rPr>
              <a:t>lambda</a:t>
            </a:r>
            <a:r>
              <a:rPr sz="1100" spc="-3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row: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row[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'successful_bookings'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]/row[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'capacity'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axis=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df_agg_bookings</a:t>
            </a:r>
            <a:r>
              <a:rPr sz="1100" spc="-8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9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df_agg_bookings.assign(occ_pct=new_col.values) df_agg_bookings.head(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8360" y="914400"/>
            <a:ext cx="6076315" cy="8166734"/>
          </a:xfrm>
          <a:custGeom>
            <a:avLst/>
            <a:gdLst/>
            <a:ahLst/>
            <a:cxnLst/>
            <a:rect l="l" t="t" r="r" b="b"/>
            <a:pathLst>
              <a:path w="6076315" h="8166734">
                <a:moveTo>
                  <a:pt x="0" y="1904"/>
                </a:moveTo>
                <a:lnTo>
                  <a:pt x="6076315" y="1904"/>
                </a:lnTo>
              </a:path>
              <a:path w="6076315" h="8166734">
                <a:moveTo>
                  <a:pt x="6075045" y="0"/>
                </a:moveTo>
                <a:lnTo>
                  <a:pt x="6075045" y="1302384"/>
                </a:lnTo>
              </a:path>
              <a:path w="6076315" h="8166734">
                <a:moveTo>
                  <a:pt x="1905" y="1302384"/>
                </a:moveTo>
                <a:lnTo>
                  <a:pt x="1905" y="0"/>
                </a:lnTo>
              </a:path>
              <a:path w="6076315" h="8166734">
                <a:moveTo>
                  <a:pt x="6075045" y="1175384"/>
                </a:moveTo>
                <a:lnTo>
                  <a:pt x="6075045" y="3705225"/>
                </a:lnTo>
              </a:path>
              <a:path w="6076315" h="8166734">
                <a:moveTo>
                  <a:pt x="1905" y="3705225"/>
                </a:moveTo>
                <a:lnTo>
                  <a:pt x="1905" y="1175384"/>
                </a:lnTo>
              </a:path>
              <a:path w="6076315" h="8166734">
                <a:moveTo>
                  <a:pt x="6075045" y="3578225"/>
                </a:moveTo>
                <a:lnTo>
                  <a:pt x="6075045" y="4482465"/>
                </a:lnTo>
              </a:path>
              <a:path w="6076315" h="8166734">
                <a:moveTo>
                  <a:pt x="1905" y="4482465"/>
                </a:moveTo>
                <a:lnTo>
                  <a:pt x="1905" y="3578225"/>
                </a:lnTo>
              </a:path>
              <a:path w="6076315" h="8166734">
                <a:moveTo>
                  <a:pt x="6075045" y="4355465"/>
                </a:moveTo>
                <a:lnTo>
                  <a:pt x="6075045" y="4772025"/>
                </a:lnTo>
              </a:path>
              <a:path w="6076315" h="8166734">
                <a:moveTo>
                  <a:pt x="1905" y="4772025"/>
                </a:moveTo>
                <a:lnTo>
                  <a:pt x="1905" y="4355465"/>
                </a:lnTo>
              </a:path>
              <a:path w="6076315" h="8166734">
                <a:moveTo>
                  <a:pt x="6075045" y="4645025"/>
                </a:moveTo>
                <a:lnTo>
                  <a:pt x="6075045" y="6997700"/>
                </a:lnTo>
              </a:path>
              <a:path w="6076315" h="8166734">
                <a:moveTo>
                  <a:pt x="1905" y="6997700"/>
                </a:moveTo>
                <a:lnTo>
                  <a:pt x="1905" y="4645025"/>
                </a:lnTo>
              </a:path>
              <a:path w="6076315" h="8166734">
                <a:moveTo>
                  <a:pt x="6075045" y="6870700"/>
                </a:moveTo>
                <a:lnTo>
                  <a:pt x="6075045" y="7449820"/>
                </a:lnTo>
              </a:path>
              <a:path w="6076315" h="8166734">
                <a:moveTo>
                  <a:pt x="1905" y="7449820"/>
                </a:moveTo>
                <a:lnTo>
                  <a:pt x="1905" y="6870700"/>
                </a:lnTo>
              </a:path>
              <a:path w="6076315" h="8166734">
                <a:moveTo>
                  <a:pt x="6075045" y="7322820"/>
                </a:moveTo>
                <a:lnTo>
                  <a:pt x="6075045" y="8166734"/>
                </a:lnTo>
              </a:path>
              <a:path w="6076315" h="8166734">
                <a:moveTo>
                  <a:pt x="6076315" y="8165465"/>
                </a:moveTo>
                <a:lnTo>
                  <a:pt x="0" y="8165465"/>
                </a:lnTo>
              </a:path>
              <a:path w="6076315" h="8166734">
                <a:moveTo>
                  <a:pt x="1905" y="8166734"/>
                </a:moveTo>
                <a:lnTo>
                  <a:pt x="1905" y="7322820"/>
                </a:lnTo>
              </a:path>
              <a:path w="6076315" h="8166734">
                <a:moveTo>
                  <a:pt x="0" y="1904"/>
                </a:moveTo>
                <a:lnTo>
                  <a:pt x="6076315" y="1904"/>
                </a:lnTo>
              </a:path>
              <a:path w="6076315" h="8166734">
                <a:moveTo>
                  <a:pt x="6075045" y="0"/>
                </a:moveTo>
                <a:lnTo>
                  <a:pt x="6075045" y="1302384"/>
                </a:lnTo>
              </a:path>
              <a:path w="6076315" h="8166734">
                <a:moveTo>
                  <a:pt x="1905" y="1302384"/>
                </a:moveTo>
                <a:lnTo>
                  <a:pt x="1905" y="0"/>
                </a:lnTo>
              </a:path>
              <a:path w="6076315" h="8166734">
                <a:moveTo>
                  <a:pt x="6075045" y="1175384"/>
                </a:moveTo>
                <a:lnTo>
                  <a:pt x="6075045" y="3705225"/>
                </a:lnTo>
              </a:path>
              <a:path w="6076315" h="8166734">
                <a:moveTo>
                  <a:pt x="1905" y="3705225"/>
                </a:moveTo>
                <a:lnTo>
                  <a:pt x="1905" y="1175384"/>
                </a:lnTo>
              </a:path>
              <a:path w="6076315" h="8166734">
                <a:moveTo>
                  <a:pt x="6075045" y="3578225"/>
                </a:moveTo>
                <a:lnTo>
                  <a:pt x="6075045" y="4482465"/>
                </a:lnTo>
              </a:path>
              <a:path w="6076315" h="8166734">
                <a:moveTo>
                  <a:pt x="1905" y="4482465"/>
                </a:moveTo>
                <a:lnTo>
                  <a:pt x="1905" y="3578225"/>
                </a:lnTo>
              </a:path>
              <a:path w="6076315" h="8166734">
                <a:moveTo>
                  <a:pt x="6075045" y="4355465"/>
                </a:moveTo>
                <a:lnTo>
                  <a:pt x="6075045" y="4772025"/>
                </a:lnTo>
              </a:path>
              <a:path w="6076315" h="8166734">
                <a:moveTo>
                  <a:pt x="1905" y="4772025"/>
                </a:moveTo>
                <a:lnTo>
                  <a:pt x="1905" y="4355465"/>
                </a:lnTo>
              </a:path>
              <a:path w="6076315" h="8166734">
                <a:moveTo>
                  <a:pt x="6075045" y="4645025"/>
                </a:moveTo>
                <a:lnTo>
                  <a:pt x="6075045" y="6997700"/>
                </a:lnTo>
              </a:path>
              <a:path w="6076315" h="8166734">
                <a:moveTo>
                  <a:pt x="1905" y="6997700"/>
                </a:moveTo>
                <a:lnTo>
                  <a:pt x="1905" y="4645025"/>
                </a:lnTo>
              </a:path>
              <a:path w="6076315" h="8166734">
                <a:moveTo>
                  <a:pt x="6075045" y="6870700"/>
                </a:moveTo>
                <a:lnTo>
                  <a:pt x="6075045" y="7449820"/>
                </a:lnTo>
              </a:path>
              <a:path w="6076315" h="8166734">
                <a:moveTo>
                  <a:pt x="1905" y="7449820"/>
                </a:moveTo>
                <a:lnTo>
                  <a:pt x="1905" y="6870700"/>
                </a:lnTo>
              </a:path>
              <a:path w="6076315" h="8166734">
                <a:moveTo>
                  <a:pt x="6075045" y="7322820"/>
                </a:moveTo>
                <a:lnTo>
                  <a:pt x="6075045" y="8166734"/>
                </a:lnTo>
              </a:path>
              <a:path w="6076315" h="8166734">
                <a:moveTo>
                  <a:pt x="6076315" y="8165465"/>
                </a:moveTo>
                <a:lnTo>
                  <a:pt x="0" y="8165465"/>
                </a:lnTo>
              </a:path>
              <a:path w="6076315" h="8166734">
                <a:moveTo>
                  <a:pt x="1905" y="8166734"/>
                </a:moveTo>
                <a:lnTo>
                  <a:pt x="1905" y="732282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54340"/>
          </a:xfrm>
          <a:custGeom>
            <a:avLst/>
            <a:gdLst/>
            <a:ahLst/>
            <a:cxnLst/>
            <a:rect l="l" t="t" r="r" b="b"/>
            <a:pathLst>
              <a:path w="6076950" h="8054340">
                <a:moveTo>
                  <a:pt x="6076950" y="0"/>
                </a:moveTo>
                <a:lnTo>
                  <a:pt x="0" y="0"/>
                </a:lnTo>
                <a:lnTo>
                  <a:pt x="0" y="2165350"/>
                </a:lnTo>
                <a:lnTo>
                  <a:pt x="0" y="2780030"/>
                </a:lnTo>
                <a:lnTo>
                  <a:pt x="0" y="8054340"/>
                </a:lnTo>
                <a:lnTo>
                  <a:pt x="6076950" y="8054340"/>
                </a:lnTo>
                <a:lnTo>
                  <a:pt x="6076950" y="216535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440680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15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4400" y="2429510"/>
            <a:ext cx="220027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598930" algn="l"/>
              </a:tabLst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occ_pct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51447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0.833333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51447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0.933333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589280" algn="l"/>
                <a:tab pos="151447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76.666667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0.766667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3183890"/>
            <a:ext cx="5748655" cy="518159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'occ_pct'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'occ_pct'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apply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7827A0"/>
                </a:solidFill>
                <a:latin typeface="Courier New"/>
                <a:cs typeface="Courier New"/>
              </a:rPr>
              <a:t>lambda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x: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A95C00"/>
                </a:solidFill>
                <a:latin typeface="Courier New"/>
                <a:cs typeface="Courier New"/>
              </a:rPr>
              <a:t>round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(x*</a:t>
            </a:r>
            <a:r>
              <a:rPr sz="1100" dirty="0">
                <a:solidFill>
                  <a:srgbClr val="A95C00"/>
                </a:solidFill>
                <a:latin typeface="Courier New"/>
                <a:cs typeface="Courier New"/>
              </a:rPr>
              <a:t>100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))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14400" y="3821429"/>
          <a:ext cx="5376545" cy="1297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485"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20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14400" y="5270500"/>
            <a:ext cx="211645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15"/>
              </a:lnSpc>
              <a:tabLst>
                <a:tab pos="1514475" algn="l"/>
              </a:tabLst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occ_pct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589280" algn="l"/>
                <a:tab pos="168275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76.666667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6024245"/>
            <a:ext cx="18757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df_agg_bookings.info()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6337300"/>
            <a:ext cx="31134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&lt;class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'pandas.core.frame.DataFrame'&gt;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6499859"/>
            <a:ext cx="29571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RangeIndex: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9200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entries,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9199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6662419"/>
            <a:ext cx="26206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columns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(total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7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columns):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6824980"/>
            <a:ext cx="3954145" cy="161925"/>
          </a:xfrm>
          <a:custGeom>
            <a:avLst/>
            <a:gdLst/>
            <a:ahLst/>
            <a:cxnLst/>
            <a:rect l="l" t="t" r="r" b="b"/>
            <a:pathLst>
              <a:path w="3954145" h="161925">
                <a:moveTo>
                  <a:pt x="3954145" y="0"/>
                </a:moveTo>
                <a:lnTo>
                  <a:pt x="0" y="0"/>
                </a:lnTo>
                <a:lnTo>
                  <a:pt x="0" y="161925"/>
                </a:lnTo>
                <a:lnTo>
                  <a:pt x="3954145" y="161925"/>
                </a:lnTo>
                <a:lnTo>
                  <a:pt x="39541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87069" y="6801484"/>
            <a:ext cx="3305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615" algn="l"/>
                <a:tab pos="2114550" algn="l"/>
              </a:tabLst>
            </a:pPr>
            <a:r>
              <a:rPr sz="1100" spc="-50" dirty="0">
                <a:latin typeface="Courier New"/>
                <a:cs typeface="Courier New"/>
              </a:rPr>
              <a:t>#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Column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Non-</a:t>
            </a:r>
            <a:r>
              <a:rPr sz="1100" dirty="0">
                <a:latin typeface="Courier New"/>
                <a:cs typeface="Courier New"/>
              </a:rPr>
              <a:t>Null</a:t>
            </a:r>
            <a:r>
              <a:rPr sz="1100" spc="-10" dirty="0">
                <a:latin typeface="Courier New"/>
                <a:cs typeface="Courier New"/>
              </a:rPr>
              <a:t> Count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5144" y="6801484"/>
            <a:ext cx="446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Dtype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09955" y="6987540"/>
            <a:ext cx="4042410" cy="649605"/>
            <a:chOff x="909955" y="6987540"/>
            <a:chExt cx="4042410" cy="649605"/>
          </a:xfrm>
        </p:grpSpPr>
        <p:sp>
          <p:nvSpPr>
            <p:cNvPr id="16" name="object 16"/>
            <p:cNvSpPr/>
            <p:nvPr/>
          </p:nvSpPr>
          <p:spPr>
            <a:xfrm>
              <a:off x="914400" y="6987540"/>
              <a:ext cx="3954145" cy="161925"/>
            </a:xfrm>
            <a:custGeom>
              <a:avLst/>
              <a:gdLst/>
              <a:ahLst/>
              <a:cxnLst/>
              <a:rect l="l" t="t" r="r" b="b"/>
              <a:pathLst>
                <a:path w="3954145" h="161925">
                  <a:moveTo>
                    <a:pt x="3954145" y="0"/>
                  </a:moveTo>
                  <a:lnTo>
                    <a:pt x="0" y="0"/>
                  </a:lnTo>
                  <a:lnTo>
                    <a:pt x="0" y="161924"/>
                  </a:lnTo>
                  <a:lnTo>
                    <a:pt x="3954145" y="161924"/>
                  </a:lnTo>
                  <a:lnTo>
                    <a:pt x="395414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5670" y="7078167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30">
                  <a:moveTo>
                    <a:pt x="0" y="0"/>
                  </a:moveTo>
                  <a:lnTo>
                    <a:pt x="252298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36167" y="7078167"/>
              <a:ext cx="504825" cy="0"/>
            </a:xfrm>
            <a:custGeom>
              <a:avLst/>
              <a:gdLst/>
              <a:ahLst/>
              <a:cxnLst/>
              <a:rect l="l" t="t" r="r" b="b"/>
              <a:pathLst>
                <a:path w="504825">
                  <a:moveTo>
                    <a:pt x="0" y="0"/>
                  </a:moveTo>
                  <a:lnTo>
                    <a:pt x="504596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02254" y="7078167"/>
              <a:ext cx="1177925" cy="0"/>
            </a:xfrm>
            <a:custGeom>
              <a:avLst/>
              <a:gdLst/>
              <a:ahLst/>
              <a:cxnLst/>
              <a:rect l="l" t="t" r="r" b="b"/>
              <a:pathLst>
                <a:path w="1177925">
                  <a:moveTo>
                    <a:pt x="0" y="0"/>
                  </a:moveTo>
                  <a:lnTo>
                    <a:pt x="1177391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47844" y="7078167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4">
                  <a:moveTo>
                    <a:pt x="0" y="0"/>
                  </a:moveTo>
                  <a:lnTo>
                    <a:pt x="420497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4400" y="7150100"/>
              <a:ext cx="4037965" cy="487045"/>
            </a:xfrm>
            <a:custGeom>
              <a:avLst/>
              <a:gdLst/>
              <a:ahLst/>
              <a:cxnLst/>
              <a:rect l="l" t="t" r="r" b="b"/>
              <a:pathLst>
                <a:path w="4037965" h="487045">
                  <a:moveTo>
                    <a:pt x="395414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3954145" y="161925"/>
                  </a:lnTo>
                  <a:lnTo>
                    <a:pt x="3954145" y="0"/>
                  </a:lnTo>
                  <a:close/>
                </a:path>
                <a:path w="4037965" h="487045">
                  <a:moveTo>
                    <a:pt x="403796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4037965" y="487045"/>
                  </a:lnTo>
                  <a:lnTo>
                    <a:pt x="4037965" y="325120"/>
                  </a:lnTo>
                  <a:close/>
                </a:path>
                <a:path w="4037965" h="487045">
                  <a:moveTo>
                    <a:pt x="403796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4037965" y="324485"/>
                  </a:lnTo>
                  <a:lnTo>
                    <a:pt x="4037965" y="1625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87069" y="7126605"/>
            <a:ext cx="1455420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 indent="-335915">
              <a:lnSpc>
                <a:spcPts val="1300"/>
              </a:lnSpc>
              <a:spcBef>
                <a:spcPts val="100"/>
              </a:spcBef>
              <a:buAutoNum type="arabicPlain"/>
              <a:tabLst>
                <a:tab pos="348615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endParaRPr sz="1100">
              <a:latin typeface="Courier New"/>
              <a:cs typeface="Courier New"/>
            </a:endParaRPr>
          </a:p>
          <a:p>
            <a:pPr marL="348615" indent="-335915">
              <a:lnSpc>
                <a:spcPts val="1280"/>
              </a:lnSpc>
              <a:buAutoNum type="arabicPlain"/>
              <a:tabLst>
                <a:tab pos="348615" algn="l"/>
              </a:tabLst>
            </a:pP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  <a:p>
            <a:pPr marL="348615" indent="-335915">
              <a:lnSpc>
                <a:spcPts val="1300"/>
              </a:lnSpc>
              <a:buAutoNum type="arabicPlain"/>
              <a:tabLst>
                <a:tab pos="348615" algn="l"/>
              </a:tabLst>
            </a:pPr>
            <a:r>
              <a:rPr sz="1100" spc="-10" dirty="0">
                <a:latin typeface="Courier New"/>
                <a:cs typeface="Courier New"/>
              </a:rPr>
              <a:t>room_category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9554" y="7126605"/>
            <a:ext cx="1875789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1357630" algn="l"/>
              </a:tabLst>
            </a:pPr>
            <a:r>
              <a:rPr sz="1100" dirty="0">
                <a:latin typeface="Courier New"/>
                <a:cs typeface="Courier New"/>
              </a:rPr>
              <a:t>9200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  <a:tabLst>
                <a:tab pos="1357630" algn="l"/>
              </a:tabLst>
            </a:pPr>
            <a:r>
              <a:rPr sz="1100" dirty="0">
                <a:latin typeface="Courier New"/>
                <a:cs typeface="Courier New"/>
              </a:rPr>
              <a:t>9200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tabLst>
                <a:tab pos="1357630" algn="l"/>
              </a:tabLst>
            </a:pPr>
            <a:r>
              <a:rPr sz="1100" dirty="0">
                <a:latin typeface="Courier New"/>
                <a:cs typeface="Courier New"/>
              </a:rPr>
              <a:t>9200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7637780"/>
            <a:ext cx="3954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ts val="1235"/>
              </a:lnSpc>
              <a:tabLst>
                <a:tab pos="421640" algn="l"/>
                <a:tab pos="2187575" algn="l"/>
                <a:tab pos="353314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</a:t>
            </a:r>
            <a:r>
              <a:rPr sz="1100" dirty="0">
                <a:latin typeface="Courier New"/>
                <a:cs typeface="Courier New"/>
              </a:rPr>
              <a:t>	9200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4400" y="7800340"/>
            <a:ext cx="4123054" cy="487045"/>
          </a:xfrm>
          <a:custGeom>
            <a:avLst/>
            <a:gdLst/>
            <a:ahLst/>
            <a:cxnLst/>
            <a:rect l="l" t="t" r="r" b="b"/>
            <a:pathLst>
              <a:path w="4123054" h="487045">
                <a:moveTo>
                  <a:pt x="412305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4123055" y="487045"/>
                </a:lnTo>
                <a:lnTo>
                  <a:pt x="4123055" y="325120"/>
                </a:lnTo>
                <a:close/>
              </a:path>
              <a:path w="4123054" h="487045">
                <a:moveTo>
                  <a:pt x="412305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4123055" y="324485"/>
                </a:lnTo>
                <a:lnTo>
                  <a:pt x="4123055" y="162560"/>
                </a:lnTo>
                <a:close/>
              </a:path>
              <a:path w="4123054" h="487045">
                <a:moveTo>
                  <a:pt x="4123055" y="0"/>
                </a:moveTo>
                <a:lnTo>
                  <a:pt x="0" y="0"/>
                </a:lnTo>
                <a:lnTo>
                  <a:pt x="0" y="161925"/>
                </a:lnTo>
                <a:lnTo>
                  <a:pt x="4123055" y="161925"/>
                </a:lnTo>
                <a:lnTo>
                  <a:pt x="41230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99769" y="7776844"/>
            <a:ext cx="1442720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35915">
              <a:lnSpc>
                <a:spcPts val="1300"/>
              </a:lnSpc>
              <a:spcBef>
                <a:spcPts val="100"/>
              </a:spcBef>
              <a:buAutoNum type="arabicPlain" startAt="4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capacity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280"/>
              </a:lnSpc>
              <a:buAutoNum type="arabicPlain" startAt="4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300"/>
              </a:lnSpc>
              <a:buAutoNum type="arabicPlain" startAt="4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occ_pct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02254" y="7776844"/>
            <a:ext cx="194754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  <a:tabLst>
                <a:tab pos="1344930" algn="l"/>
              </a:tabLst>
            </a:pPr>
            <a:r>
              <a:rPr sz="1100" dirty="0">
                <a:latin typeface="Courier New"/>
                <a:cs typeface="Courier New"/>
              </a:rPr>
              <a:t>9198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1344930" algn="l"/>
              </a:tabLst>
            </a:pPr>
            <a:r>
              <a:rPr sz="1100" dirty="0">
                <a:latin typeface="Courier New"/>
                <a:cs typeface="Courier New"/>
              </a:rPr>
              <a:t>9198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1344930" algn="l"/>
              </a:tabLst>
            </a:pPr>
            <a:r>
              <a:rPr sz="1100" dirty="0">
                <a:latin typeface="Courier New"/>
                <a:cs typeface="Courier New"/>
              </a:rPr>
              <a:t>9198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4400" y="8288019"/>
            <a:ext cx="32937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dtypes: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float64(3),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int64(2),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object(2)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8450580"/>
            <a:ext cx="19475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memory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usage: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503.2+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KB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2969" y="8716644"/>
            <a:ext cx="19615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48360" y="914400"/>
            <a:ext cx="6076315" cy="8053705"/>
          </a:xfrm>
          <a:custGeom>
            <a:avLst/>
            <a:gdLst/>
            <a:ahLst/>
            <a:cxnLst/>
            <a:rect l="l" t="t" r="r" b="b"/>
            <a:pathLst>
              <a:path w="6076315" h="8053705">
                <a:moveTo>
                  <a:pt x="0" y="1904"/>
                </a:moveTo>
                <a:lnTo>
                  <a:pt x="6076315" y="1904"/>
                </a:lnTo>
              </a:path>
              <a:path w="6076315" h="8053705">
                <a:moveTo>
                  <a:pt x="6075045" y="0"/>
                </a:moveTo>
                <a:lnTo>
                  <a:pt x="6075045" y="2292350"/>
                </a:lnTo>
              </a:path>
              <a:path w="6076315" h="8053705">
                <a:moveTo>
                  <a:pt x="1905" y="2292350"/>
                </a:moveTo>
                <a:lnTo>
                  <a:pt x="1905" y="0"/>
                </a:lnTo>
              </a:path>
              <a:path w="6076315" h="8053705">
                <a:moveTo>
                  <a:pt x="6075045" y="2165350"/>
                </a:moveTo>
                <a:lnTo>
                  <a:pt x="6075045" y="2907029"/>
                </a:lnTo>
              </a:path>
              <a:path w="6076315" h="8053705">
                <a:moveTo>
                  <a:pt x="1905" y="2907029"/>
                </a:moveTo>
                <a:lnTo>
                  <a:pt x="1905" y="2165350"/>
                </a:lnTo>
              </a:path>
              <a:path w="6076315" h="8053705">
                <a:moveTo>
                  <a:pt x="6075045" y="2780029"/>
                </a:moveTo>
                <a:lnTo>
                  <a:pt x="6075045" y="5132705"/>
                </a:lnTo>
              </a:path>
              <a:path w="6076315" h="8053705">
                <a:moveTo>
                  <a:pt x="1905" y="5132705"/>
                </a:moveTo>
                <a:lnTo>
                  <a:pt x="1905" y="2780029"/>
                </a:lnTo>
              </a:path>
              <a:path w="6076315" h="8053705">
                <a:moveTo>
                  <a:pt x="6075045" y="5005705"/>
                </a:moveTo>
                <a:lnTo>
                  <a:pt x="6075045" y="5422265"/>
                </a:lnTo>
              </a:path>
              <a:path w="6076315" h="8053705">
                <a:moveTo>
                  <a:pt x="1905" y="5422265"/>
                </a:moveTo>
                <a:lnTo>
                  <a:pt x="1905" y="5005705"/>
                </a:lnTo>
              </a:path>
              <a:path w="6076315" h="8053705">
                <a:moveTo>
                  <a:pt x="6075045" y="5295265"/>
                </a:moveTo>
                <a:lnTo>
                  <a:pt x="6075045" y="7825105"/>
                </a:lnTo>
              </a:path>
              <a:path w="6076315" h="8053705">
                <a:moveTo>
                  <a:pt x="1905" y="7825105"/>
                </a:moveTo>
                <a:lnTo>
                  <a:pt x="1905" y="5295265"/>
                </a:lnTo>
              </a:path>
              <a:path w="6076315" h="8053705">
                <a:moveTo>
                  <a:pt x="6075045" y="7698105"/>
                </a:moveTo>
                <a:lnTo>
                  <a:pt x="6075045" y="8053705"/>
                </a:lnTo>
              </a:path>
              <a:path w="6076315" h="8053705">
                <a:moveTo>
                  <a:pt x="6076315" y="8052434"/>
                </a:moveTo>
                <a:lnTo>
                  <a:pt x="0" y="8052434"/>
                </a:lnTo>
              </a:path>
              <a:path w="6076315" h="8053705">
                <a:moveTo>
                  <a:pt x="1905" y="8053705"/>
                </a:moveTo>
                <a:lnTo>
                  <a:pt x="1905" y="7698105"/>
                </a:lnTo>
              </a:path>
              <a:path w="6076315" h="8053705">
                <a:moveTo>
                  <a:pt x="0" y="1904"/>
                </a:moveTo>
                <a:lnTo>
                  <a:pt x="6076315" y="1904"/>
                </a:lnTo>
              </a:path>
              <a:path w="6076315" h="8053705">
                <a:moveTo>
                  <a:pt x="6075045" y="0"/>
                </a:moveTo>
                <a:lnTo>
                  <a:pt x="6075045" y="2292350"/>
                </a:lnTo>
              </a:path>
              <a:path w="6076315" h="8053705">
                <a:moveTo>
                  <a:pt x="1905" y="2292350"/>
                </a:moveTo>
                <a:lnTo>
                  <a:pt x="1905" y="0"/>
                </a:lnTo>
              </a:path>
              <a:path w="6076315" h="8053705">
                <a:moveTo>
                  <a:pt x="6075045" y="2165350"/>
                </a:moveTo>
                <a:lnTo>
                  <a:pt x="6075045" y="2907029"/>
                </a:lnTo>
              </a:path>
              <a:path w="6076315" h="8053705">
                <a:moveTo>
                  <a:pt x="1905" y="2907029"/>
                </a:moveTo>
                <a:lnTo>
                  <a:pt x="1905" y="2165350"/>
                </a:lnTo>
              </a:path>
              <a:path w="6076315" h="8053705">
                <a:moveTo>
                  <a:pt x="6075045" y="2780029"/>
                </a:moveTo>
                <a:lnTo>
                  <a:pt x="6075045" y="5132705"/>
                </a:lnTo>
              </a:path>
              <a:path w="6076315" h="8053705">
                <a:moveTo>
                  <a:pt x="1905" y="5132705"/>
                </a:moveTo>
                <a:lnTo>
                  <a:pt x="1905" y="2780029"/>
                </a:lnTo>
              </a:path>
              <a:path w="6076315" h="8053705">
                <a:moveTo>
                  <a:pt x="6075045" y="5005705"/>
                </a:moveTo>
                <a:lnTo>
                  <a:pt x="6075045" y="5422265"/>
                </a:lnTo>
              </a:path>
              <a:path w="6076315" h="8053705">
                <a:moveTo>
                  <a:pt x="1905" y="5422265"/>
                </a:moveTo>
                <a:lnTo>
                  <a:pt x="1905" y="5005705"/>
                </a:lnTo>
              </a:path>
              <a:path w="6076315" h="8053705">
                <a:moveTo>
                  <a:pt x="6075045" y="5295265"/>
                </a:moveTo>
                <a:lnTo>
                  <a:pt x="6075045" y="7825105"/>
                </a:lnTo>
              </a:path>
              <a:path w="6076315" h="8053705">
                <a:moveTo>
                  <a:pt x="1905" y="7825105"/>
                </a:moveTo>
                <a:lnTo>
                  <a:pt x="1905" y="5295265"/>
                </a:lnTo>
              </a:path>
              <a:path w="6076315" h="8053705">
                <a:moveTo>
                  <a:pt x="6075045" y="7698105"/>
                </a:moveTo>
                <a:lnTo>
                  <a:pt x="6075045" y="8053705"/>
                </a:lnTo>
              </a:path>
              <a:path w="6076315" h="8053705">
                <a:moveTo>
                  <a:pt x="6076315" y="8052434"/>
                </a:moveTo>
                <a:lnTo>
                  <a:pt x="0" y="8052434"/>
                </a:lnTo>
              </a:path>
              <a:path w="6076315" h="8053705">
                <a:moveTo>
                  <a:pt x="1905" y="8053705"/>
                </a:moveTo>
                <a:lnTo>
                  <a:pt x="1905" y="769810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81340"/>
          </a:xfrm>
          <a:custGeom>
            <a:avLst/>
            <a:gdLst/>
            <a:ahLst/>
            <a:cxnLst/>
            <a:rect l="l" t="t" r="r" b="b"/>
            <a:pathLst>
              <a:path w="6076950" h="8181340">
                <a:moveTo>
                  <a:pt x="6076950" y="0"/>
                </a:moveTo>
                <a:lnTo>
                  <a:pt x="0" y="0"/>
                </a:lnTo>
                <a:lnTo>
                  <a:pt x="0" y="2165350"/>
                </a:lnTo>
                <a:lnTo>
                  <a:pt x="0" y="2454910"/>
                </a:lnTo>
                <a:lnTo>
                  <a:pt x="0" y="8181340"/>
                </a:lnTo>
                <a:lnTo>
                  <a:pt x="6076950" y="8181340"/>
                </a:lnTo>
                <a:lnTo>
                  <a:pt x="6076950" y="216535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440680" cy="136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15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4400" y="2429510"/>
            <a:ext cx="211645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514475" algn="l"/>
              </a:tabLst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occ_pct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589280" algn="l"/>
                <a:tab pos="168275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76.666667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3183890"/>
            <a:ext cx="49060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"room_category"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"occ_pct"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3496309"/>
            <a:ext cx="1094105" cy="161925"/>
          </a:xfrm>
          <a:custGeom>
            <a:avLst/>
            <a:gdLst/>
            <a:ahLst/>
            <a:cxnLst/>
            <a:rect l="l" t="t" r="r" b="b"/>
            <a:pathLst>
              <a:path w="1094105" h="161925">
                <a:moveTo>
                  <a:pt x="1094105" y="0"/>
                </a:moveTo>
                <a:lnTo>
                  <a:pt x="0" y="0"/>
                </a:lnTo>
                <a:lnTo>
                  <a:pt x="0" y="161925"/>
                </a:lnTo>
                <a:lnTo>
                  <a:pt x="1094105" y="161925"/>
                </a:lnTo>
                <a:lnTo>
                  <a:pt x="10941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400" y="3496309"/>
          <a:ext cx="2607945" cy="97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60">
                <a:tc gridSpan="2"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58.232748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58.040278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58.028213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59.300461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Name: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occ_pct,</a:t>
                      </a:r>
                      <a:r>
                        <a:rPr sz="11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dt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ype: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969" y="4575809"/>
            <a:ext cx="5495925" cy="518159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pd.merge(df_agg_bookings,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df_rooms,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left_on=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"room_category"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 right_on=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"room_id"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400" y="5213350"/>
          <a:ext cx="5376545" cy="1621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485"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20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914400" y="6987540"/>
            <a:ext cx="3701415" cy="161925"/>
          </a:xfrm>
          <a:custGeom>
            <a:avLst/>
            <a:gdLst/>
            <a:ahLst/>
            <a:cxnLst/>
            <a:rect l="l" t="t" r="r" b="b"/>
            <a:pathLst>
              <a:path w="3701415" h="161925">
                <a:moveTo>
                  <a:pt x="3701415" y="0"/>
                </a:moveTo>
                <a:lnTo>
                  <a:pt x="0" y="0"/>
                </a:lnTo>
                <a:lnTo>
                  <a:pt x="0" y="161924"/>
                </a:lnTo>
                <a:lnTo>
                  <a:pt x="3701415" y="161924"/>
                </a:lnTo>
                <a:lnTo>
                  <a:pt x="37014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29459" y="6964044"/>
            <a:ext cx="21996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occ_pct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room_id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room_class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7150100"/>
            <a:ext cx="3701415" cy="649605"/>
          </a:xfrm>
          <a:custGeom>
            <a:avLst/>
            <a:gdLst/>
            <a:ahLst/>
            <a:cxnLst/>
            <a:rect l="l" t="t" r="r" b="b"/>
            <a:pathLst>
              <a:path w="3701415" h="649604">
                <a:moveTo>
                  <a:pt x="370141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3701415" y="649605"/>
                </a:lnTo>
                <a:lnTo>
                  <a:pt x="3701415" y="487680"/>
                </a:lnTo>
                <a:close/>
              </a:path>
              <a:path w="3701415" h="649604">
                <a:moveTo>
                  <a:pt x="370141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701415" y="487045"/>
                </a:lnTo>
                <a:lnTo>
                  <a:pt x="3701415" y="325120"/>
                </a:lnTo>
                <a:close/>
              </a:path>
              <a:path w="3701415" h="649604">
                <a:moveTo>
                  <a:pt x="370141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701415" y="324485"/>
                </a:lnTo>
                <a:lnTo>
                  <a:pt x="3701415" y="162560"/>
                </a:lnTo>
                <a:close/>
              </a:path>
              <a:path w="3701415" h="649604">
                <a:moveTo>
                  <a:pt x="3701415" y="0"/>
                </a:moveTo>
                <a:lnTo>
                  <a:pt x="0" y="0"/>
                </a:lnTo>
                <a:lnTo>
                  <a:pt x="0" y="161925"/>
                </a:lnTo>
                <a:lnTo>
                  <a:pt x="3701415" y="161925"/>
                </a:lnTo>
                <a:lnTo>
                  <a:pt x="37014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5669" y="7126605"/>
            <a:ext cx="971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</a:pPr>
            <a:r>
              <a:rPr sz="1100" spc="-50" dirty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7968" y="6964044"/>
            <a:ext cx="1863089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  <a:tabLst>
                <a:tab pos="1092835" algn="l"/>
              </a:tabLst>
            </a:pPr>
            <a:r>
              <a:rPr sz="1100" spc="-10" dirty="0">
                <a:latin typeface="Courier New"/>
                <a:cs typeface="Courier New"/>
              </a:rPr>
              <a:t>83.333333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  <a:tabLst>
                <a:tab pos="1092835" algn="l"/>
              </a:tabLst>
            </a:pPr>
            <a:r>
              <a:rPr sz="1100" spc="-10" dirty="0">
                <a:latin typeface="Courier New"/>
                <a:cs typeface="Courier New"/>
              </a:rPr>
              <a:t>93.333333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  <a:tabLst>
                <a:tab pos="1092835" algn="l"/>
              </a:tabLst>
            </a:pPr>
            <a:r>
              <a:rPr sz="1100" spc="-10" dirty="0">
                <a:latin typeface="Courier New"/>
                <a:cs typeface="Courier New"/>
              </a:rPr>
              <a:t>76.666667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76.67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300"/>
              </a:lnSpc>
              <a:tabLst>
                <a:tab pos="1092835" algn="l"/>
              </a:tabLst>
            </a:pPr>
            <a:r>
              <a:rPr sz="1100" spc="-10" dirty="0">
                <a:latin typeface="Courier New"/>
                <a:cs typeface="Courier New"/>
              </a:rPr>
              <a:t>157.894737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157.89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8652" y="7126605"/>
            <a:ext cx="11906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  <a:tabLst>
                <a:tab pos="504190" algn="l"/>
              </a:tabLst>
            </a:pP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504190" algn="l"/>
              </a:tabLst>
            </a:pP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504190" algn="l"/>
              </a:tabLst>
            </a:pP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504190" algn="l"/>
              </a:tabLst>
            </a:pP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2969" y="7903844"/>
            <a:ext cx="330898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df.drop(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"room_id"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,axis=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 inplace=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14400" y="8379459"/>
          <a:ext cx="5441315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 gridSpan="2">
                  <a:txBody>
                    <a:bodyPr/>
                    <a:lstStyle/>
                    <a:p>
                      <a:pPr marL="25336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91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 marR="3937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317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42164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848360" y="914400"/>
            <a:ext cx="6076315" cy="8180705"/>
          </a:xfrm>
          <a:custGeom>
            <a:avLst/>
            <a:gdLst/>
            <a:ahLst/>
            <a:cxnLst/>
            <a:rect l="l" t="t" r="r" b="b"/>
            <a:pathLst>
              <a:path w="6076315" h="8180705">
                <a:moveTo>
                  <a:pt x="0" y="1904"/>
                </a:moveTo>
                <a:lnTo>
                  <a:pt x="6076315" y="1904"/>
                </a:lnTo>
              </a:path>
              <a:path w="6076315" h="8180705">
                <a:moveTo>
                  <a:pt x="6075045" y="0"/>
                </a:moveTo>
                <a:lnTo>
                  <a:pt x="6075045" y="2292350"/>
                </a:lnTo>
              </a:path>
              <a:path w="6076315" h="8180705">
                <a:moveTo>
                  <a:pt x="1905" y="2292350"/>
                </a:moveTo>
                <a:lnTo>
                  <a:pt x="1905" y="0"/>
                </a:lnTo>
              </a:path>
              <a:path w="6076315" h="8180705">
                <a:moveTo>
                  <a:pt x="6075045" y="2165350"/>
                </a:moveTo>
                <a:lnTo>
                  <a:pt x="6075045" y="2581909"/>
                </a:lnTo>
              </a:path>
              <a:path w="6076315" h="8180705">
                <a:moveTo>
                  <a:pt x="1905" y="2581909"/>
                </a:moveTo>
                <a:lnTo>
                  <a:pt x="1905" y="2165350"/>
                </a:lnTo>
              </a:path>
              <a:path w="6076315" h="8180705">
                <a:moveTo>
                  <a:pt x="6075045" y="2454909"/>
                </a:moveTo>
                <a:lnTo>
                  <a:pt x="6075045" y="3684270"/>
                </a:lnTo>
              </a:path>
              <a:path w="6076315" h="8180705">
                <a:moveTo>
                  <a:pt x="1905" y="3684270"/>
                </a:moveTo>
                <a:lnTo>
                  <a:pt x="1905" y="2454909"/>
                </a:lnTo>
              </a:path>
              <a:path w="6076315" h="8180705">
                <a:moveTo>
                  <a:pt x="6075045" y="3557270"/>
                </a:moveTo>
                <a:lnTo>
                  <a:pt x="6075045" y="4298950"/>
                </a:lnTo>
              </a:path>
              <a:path w="6076315" h="8180705">
                <a:moveTo>
                  <a:pt x="1905" y="4298950"/>
                </a:moveTo>
                <a:lnTo>
                  <a:pt x="1905" y="3557270"/>
                </a:lnTo>
              </a:path>
              <a:path w="6076315" h="8180705">
                <a:moveTo>
                  <a:pt x="6075045" y="4171950"/>
                </a:moveTo>
                <a:lnTo>
                  <a:pt x="6075045" y="7012305"/>
                </a:lnTo>
              </a:path>
              <a:path w="6076315" h="8180705">
                <a:moveTo>
                  <a:pt x="1905" y="7012305"/>
                </a:moveTo>
                <a:lnTo>
                  <a:pt x="1905" y="4171950"/>
                </a:lnTo>
              </a:path>
              <a:path w="6076315" h="8180705">
                <a:moveTo>
                  <a:pt x="6075045" y="6885305"/>
                </a:moveTo>
                <a:lnTo>
                  <a:pt x="6075045" y="7464425"/>
                </a:lnTo>
              </a:path>
              <a:path w="6076315" h="8180705">
                <a:moveTo>
                  <a:pt x="1905" y="7464425"/>
                </a:moveTo>
                <a:lnTo>
                  <a:pt x="1905" y="6885305"/>
                </a:lnTo>
              </a:path>
              <a:path w="6076315" h="8180705">
                <a:moveTo>
                  <a:pt x="6075045" y="7337425"/>
                </a:moveTo>
                <a:lnTo>
                  <a:pt x="6075045" y="8180705"/>
                </a:lnTo>
              </a:path>
              <a:path w="6076315" h="8180705">
                <a:moveTo>
                  <a:pt x="6076315" y="8179434"/>
                </a:moveTo>
                <a:lnTo>
                  <a:pt x="0" y="8179434"/>
                </a:lnTo>
              </a:path>
              <a:path w="6076315" h="8180705">
                <a:moveTo>
                  <a:pt x="1905" y="8180705"/>
                </a:moveTo>
                <a:lnTo>
                  <a:pt x="1905" y="7337425"/>
                </a:lnTo>
              </a:path>
              <a:path w="6076315" h="8180705">
                <a:moveTo>
                  <a:pt x="0" y="1904"/>
                </a:moveTo>
                <a:lnTo>
                  <a:pt x="6076315" y="1904"/>
                </a:lnTo>
              </a:path>
              <a:path w="6076315" h="8180705">
                <a:moveTo>
                  <a:pt x="6075045" y="0"/>
                </a:moveTo>
                <a:lnTo>
                  <a:pt x="6075045" y="2292350"/>
                </a:lnTo>
              </a:path>
              <a:path w="6076315" h="8180705">
                <a:moveTo>
                  <a:pt x="1905" y="2292350"/>
                </a:moveTo>
                <a:lnTo>
                  <a:pt x="1905" y="0"/>
                </a:lnTo>
              </a:path>
              <a:path w="6076315" h="8180705">
                <a:moveTo>
                  <a:pt x="6075045" y="2165350"/>
                </a:moveTo>
                <a:lnTo>
                  <a:pt x="6075045" y="2581909"/>
                </a:lnTo>
              </a:path>
              <a:path w="6076315" h="8180705">
                <a:moveTo>
                  <a:pt x="1905" y="2581909"/>
                </a:moveTo>
                <a:lnTo>
                  <a:pt x="1905" y="2165350"/>
                </a:lnTo>
              </a:path>
              <a:path w="6076315" h="8180705">
                <a:moveTo>
                  <a:pt x="6075045" y="2454909"/>
                </a:moveTo>
                <a:lnTo>
                  <a:pt x="6075045" y="3684270"/>
                </a:lnTo>
              </a:path>
              <a:path w="6076315" h="8180705">
                <a:moveTo>
                  <a:pt x="1905" y="3684270"/>
                </a:moveTo>
                <a:lnTo>
                  <a:pt x="1905" y="2454909"/>
                </a:lnTo>
              </a:path>
              <a:path w="6076315" h="8180705">
                <a:moveTo>
                  <a:pt x="6075045" y="3557270"/>
                </a:moveTo>
                <a:lnTo>
                  <a:pt x="6075045" y="4298950"/>
                </a:lnTo>
              </a:path>
              <a:path w="6076315" h="8180705">
                <a:moveTo>
                  <a:pt x="1905" y="4298950"/>
                </a:moveTo>
                <a:lnTo>
                  <a:pt x="1905" y="3557270"/>
                </a:lnTo>
              </a:path>
              <a:path w="6076315" h="8180705">
                <a:moveTo>
                  <a:pt x="6075045" y="4171950"/>
                </a:moveTo>
                <a:lnTo>
                  <a:pt x="6075045" y="7012305"/>
                </a:lnTo>
              </a:path>
              <a:path w="6076315" h="8180705">
                <a:moveTo>
                  <a:pt x="1905" y="7012305"/>
                </a:moveTo>
                <a:lnTo>
                  <a:pt x="1905" y="4171950"/>
                </a:lnTo>
              </a:path>
              <a:path w="6076315" h="8180705">
                <a:moveTo>
                  <a:pt x="6075045" y="6885305"/>
                </a:moveTo>
                <a:lnTo>
                  <a:pt x="6075045" y="7464425"/>
                </a:lnTo>
              </a:path>
              <a:path w="6076315" h="8180705">
                <a:moveTo>
                  <a:pt x="1905" y="7464425"/>
                </a:moveTo>
                <a:lnTo>
                  <a:pt x="1905" y="6885305"/>
                </a:lnTo>
              </a:path>
              <a:path w="6076315" h="8180705">
                <a:moveTo>
                  <a:pt x="6075045" y="7337425"/>
                </a:moveTo>
                <a:lnTo>
                  <a:pt x="6075045" y="8180705"/>
                </a:lnTo>
              </a:path>
              <a:path w="6076315" h="8180705">
                <a:moveTo>
                  <a:pt x="6076315" y="8179434"/>
                </a:moveTo>
                <a:lnTo>
                  <a:pt x="0" y="8179434"/>
                </a:lnTo>
              </a:path>
              <a:path w="6076315" h="8180705">
                <a:moveTo>
                  <a:pt x="1905" y="8180705"/>
                </a:moveTo>
                <a:lnTo>
                  <a:pt x="1905" y="733742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74659"/>
          </a:xfrm>
          <a:custGeom>
            <a:avLst/>
            <a:gdLst/>
            <a:ahLst/>
            <a:cxnLst/>
            <a:rect l="l" t="t" r="r" b="b"/>
            <a:pathLst>
              <a:path w="6076950" h="8074659">
                <a:moveTo>
                  <a:pt x="6076950" y="0"/>
                </a:moveTo>
                <a:lnTo>
                  <a:pt x="0" y="0"/>
                </a:lnTo>
                <a:lnTo>
                  <a:pt x="0" y="2002790"/>
                </a:lnTo>
                <a:lnTo>
                  <a:pt x="0" y="2292350"/>
                </a:lnTo>
                <a:lnTo>
                  <a:pt x="0" y="8074660"/>
                </a:lnTo>
                <a:lnTo>
                  <a:pt x="6076950" y="8074660"/>
                </a:lnTo>
                <a:lnTo>
                  <a:pt x="6076950" y="200279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440680" cy="1036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4400" y="2104389"/>
            <a:ext cx="3041015" cy="81216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514475" algn="l"/>
              </a:tabLst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r>
              <a:rPr sz="1100" dirty="0">
                <a:latin typeface="Courier New"/>
                <a:cs typeface="Courier New"/>
              </a:rPr>
              <a:t>	occ_pct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room_class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  <a:tab pos="235585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83.33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  <a:tab pos="235585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93.333333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589280" algn="l"/>
                <a:tab pos="1682750" algn="l"/>
                <a:tab pos="235585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76.666667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505459" algn="l"/>
                <a:tab pos="1598930" algn="l"/>
                <a:tab pos="235585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157.894737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157.89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3021330"/>
            <a:ext cx="3559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"room_class"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"occ_pct"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3333750"/>
            <a:ext cx="841375" cy="161925"/>
          </a:xfrm>
          <a:custGeom>
            <a:avLst/>
            <a:gdLst/>
            <a:ahLst/>
            <a:cxnLst/>
            <a:rect l="l" t="t" r="r" b="b"/>
            <a:pathLst>
              <a:path w="841375" h="161925">
                <a:moveTo>
                  <a:pt x="841375" y="0"/>
                </a:moveTo>
                <a:lnTo>
                  <a:pt x="0" y="0"/>
                </a:lnTo>
                <a:lnTo>
                  <a:pt x="0" y="161925"/>
                </a:lnTo>
                <a:lnTo>
                  <a:pt x="841375" y="161925"/>
                </a:lnTo>
                <a:lnTo>
                  <a:pt x="8413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4400" y="3333750"/>
          <a:ext cx="25165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room_class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Elite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58.040278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Premium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58.028213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Presidential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59.300461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58.224247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Name: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occ_pct,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dtype: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float64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969" y="4413250"/>
            <a:ext cx="37274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df[df.room_class==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"Standard"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].occ_pct.mean()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4725670"/>
            <a:ext cx="24403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np.float64(58.22424717145344)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4992370"/>
            <a:ext cx="3475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df_hotels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"dim_hotels.csv"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5594350"/>
            <a:ext cx="395414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346200" algn="l"/>
                <a:tab pos="2607945" algn="l"/>
                <a:tab pos="3616960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property_name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280"/>
              </a:lnSpc>
              <a:buAutoNum type="arabicPlain"/>
              <a:tabLst>
                <a:tab pos="757555" algn="l"/>
                <a:tab pos="1430655" algn="l"/>
                <a:tab pos="2776220" algn="l"/>
                <a:tab pos="3533140" algn="l"/>
              </a:tabLst>
            </a:pP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280"/>
              </a:lnSpc>
              <a:buAutoNum type="arabicPlain"/>
              <a:tabLst>
                <a:tab pos="757555" algn="l"/>
                <a:tab pos="1346200" algn="l"/>
                <a:tab pos="277622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Exotica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Mumbai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300"/>
              </a:lnSpc>
              <a:buAutoNum type="arabicPlain"/>
              <a:tabLst>
                <a:tab pos="757555" algn="l"/>
                <a:tab pos="1598930" algn="l"/>
                <a:tab pos="2607945" algn="l"/>
                <a:tab pos="3533140" algn="l"/>
              </a:tabLst>
            </a:pPr>
            <a:r>
              <a:rPr sz="1100" spc="-10" dirty="0">
                <a:latin typeface="Courier New"/>
                <a:cs typeface="Courier New"/>
              </a:rPr>
              <a:t>16560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2969" y="6348729"/>
            <a:ext cx="3897629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pd.merge(df,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df_hotels,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"property_id"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4400" y="6823709"/>
          <a:ext cx="5376545" cy="1297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485">
                <a:tc gridSpan="5">
                  <a:txBody>
                    <a:bodyPr/>
                    <a:lstStyle/>
                    <a:p>
                      <a:pPr marL="253365">
                        <a:lnSpc>
                          <a:spcPts val="1220"/>
                        </a:lnSpc>
                        <a:tabLst>
                          <a:tab pos="3701415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914400" y="8272780"/>
          <a:ext cx="5226685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64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6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occupancy_pct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occ_pct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room_class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property_name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83.333333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83.33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Exotica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848360" y="914400"/>
            <a:ext cx="6076315" cy="8074025"/>
          </a:xfrm>
          <a:custGeom>
            <a:avLst/>
            <a:gdLst/>
            <a:ahLst/>
            <a:cxnLst/>
            <a:rect l="l" t="t" r="r" b="b"/>
            <a:pathLst>
              <a:path w="6076315" h="8074025">
                <a:moveTo>
                  <a:pt x="0" y="1904"/>
                </a:moveTo>
                <a:lnTo>
                  <a:pt x="6076315" y="1904"/>
                </a:lnTo>
              </a:path>
              <a:path w="6076315" h="8074025">
                <a:moveTo>
                  <a:pt x="6075045" y="0"/>
                </a:moveTo>
                <a:lnTo>
                  <a:pt x="6075045" y="2129790"/>
                </a:lnTo>
              </a:path>
              <a:path w="6076315" h="8074025">
                <a:moveTo>
                  <a:pt x="1905" y="2129790"/>
                </a:moveTo>
                <a:lnTo>
                  <a:pt x="1905" y="0"/>
                </a:lnTo>
              </a:path>
              <a:path w="6076315" h="8074025">
                <a:moveTo>
                  <a:pt x="6075045" y="2002790"/>
                </a:moveTo>
                <a:lnTo>
                  <a:pt x="6075045" y="2419350"/>
                </a:lnTo>
              </a:path>
              <a:path w="6076315" h="8074025">
                <a:moveTo>
                  <a:pt x="1905" y="2419350"/>
                </a:moveTo>
                <a:lnTo>
                  <a:pt x="1905" y="2002790"/>
                </a:lnTo>
              </a:path>
              <a:path w="6076315" h="8074025">
                <a:moveTo>
                  <a:pt x="6075045" y="2292350"/>
                </a:moveTo>
                <a:lnTo>
                  <a:pt x="6075045" y="3521710"/>
                </a:lnTo>
              </a:path>
              <a:path w="6076315" h="8074025">
                <a:moveTo>
                  <a:pt x="1905" y="3521710"/>
                </a:moveTo>
                <a:lnTo>
                  <a:pt x="1905" y="2292350"/>
                </a:lnTo>
              </a:path>
              <a:path w="6076315" h="8074025">
                <a:moveTo>
                  <a:pt x="6075045" y="3394710"/>
                </a:moveTo>
                <a:lnTo>
                  <a:pt x="6075045" y="3811270"/>
                </a:lnTo>
              </a:path>
              <a:path w="6076315" h="8074025">
                <a:moveTo>
                  <a:pt x="1905" y="3811270"/>
                </a:moveTo>
                <a:lnTo>
                  <a:pt x="1905" y="3394710"/>
                </a:lnTo>
              </a:path>
              <a:path w="6076315" h="8074025">
                <a:moveTo>
                  <a:pt x="6075045" y="3684270"/>
                </a:moveTo>
                <a:lnTo>
                  <a:pt x="6075045" y="4100829"/>
                </a:lnTo>
              </a:path>
              <a:path w="6076315" h="8074025">
                <a:moveTo>
                  <a:pt x="1905" y="4100829"/>
                </a:moveTo>
                <a:lnTo>
                  <a:pt x="1905" y="3684270"/>
                </a:lnTo>
              </a:path>
              <a:path w="6076315" h="8074025">
                <a:moveTo>
                  <a:pt x="6075045" y="3973829"/>
                </a:moveTo>
                <a:lnTo>
                  <a:pt x="6075045" y="4390390"/>
                </a:lnTo>
              </a:path>
              <a:path w="6076315" h="8074025">
                <a:moveTo>
                  <a:pt x="1905" y="4390390"/>
                </a:moveTo>
                <a:lnTo>
                  <a:pt x="1905" y="3973829"/>
                </a:lnTo>
              </a:path>
              <a:path w="6076315" h="8074025">
                <a:moveTo>
                  <a:pt x="6075045" y="4263390"/>
                </a:moveTo>
                <a:lnTo>
                  <a:pt x="6075045" y="4679950"/>
                </a:lnTo>
              </a:path>
              <a:path w="6076315" h="8074025">
                <a:moveTo>
                  <a:pt x="1905" y="4679950"/>
                </a:moveTo>
                <a:lnTo>
                  <a:pt x="1905" y="4263390"/>
                </a:lnTo>
              </a:path>
              <a:path w="6076315" h="8074025">
                <a:moveTo>
                  <a:pt x="6075045" y="4552950"/>
                </a:moveTo>
                <a:lnTo>
                  <a:pt x="6075045" y="5457190"/>
                </a:lnTo>
              </a:path>
              <a:path w="6076315" h="8074025">
                <a:moveTo>
                  <a:pt x="1905" y="5457190"/>
                </a:moveTo>
                <a:lnTo>
                  <a:pt x="1905" y="4552950"/>
                </a:lnTo>
              </a:path>
              <a:path w="6076315" h="8074025">
                <a:moveTo>
                  <a:pt x="6075045" y="5330190"/>
                </a:moveTo>
                <a:lnTo>
                  <a:pt x="6075045" y="5909310"/>
                </a:lnTo>
              </a:path>
              <a:path w="6076315" h="8074025">
                <a:moveTo>
                  <a:pt x="1905" y="5909310"/>
                </a:moveTo>
                <a:lnTo>
                  <a:pt x="1905" y="5330190"/>
                </a:lnTo>
              </a:path>
              <a:path w="6076315" h="8074025">
                <a:moveTo>
                  <a:pt x="6075045" y="5782310"/>
                </a:moveTo>
                <a:lnTo>
                  <a:pt x="6075045" y="8074025"/>
                </a:lnTo>
              </a:path>
              <a:path w="6076315" h="8074025">
                <a:moveTo>
                  <a:pt x="6076315" y="8072755"/>
                </a:moveTo>
                <a:lnTo>
                  <a:pt x="0" y="8072755"/>
                </a:lnTo>
              </a:path>
              <a:path w="6076315" h="8074025">
                <a:moveTo>
                  <a:pt x="1905" y="8074025"/>
                </a:moveTo>
                <a:lnTo>
                  <a:pt x="1905" y="5782310"/>
                </a:lnTo>
              </a:path>
              <a:path w="6076315" h="8074025">
                <a:moveTo>
                  <a:pt x="0" y="1904"/>
                </a:moveTo>
                <a:lnTo>
                  <a:pt x="6076315" y="1904"/>
                </a:lnTo>
              </a:path>
              <a:path w="6076315" h="8074025">
                <a:moveTo>
                  <a:pt x="6075045" y="0"/>
                </a:moveTo>
                <a:lnTo>
                  <a:pt x="6075045" y="2129790"/>
                </a:lnTo>
              </a:path>
              <a:path w="6076315" h="8074025">
                <a:moveTo>
                  <a:pt x="1905" y="2129790"/>
                </a:moveTo>
                <a:lnTo>
                  <a:pt x="1905" y="0"/>
                </a:lnTo>
              </a:path>
              <a:path w="6076315" h="8074025">
                <a:moveTo>
                  <a:pt x="6075045" y="2002790"/>
                </a:moveTo>
                <a:lnTo>
                  <a:pt x="6075045" y="2419350"/>
                </a:lnTo>
              </a:path>
              <a:path w="6076315" h="8074025">
                <a:moveTo>
                  <a:pt x="1905" y="2419350"/>
                </a:moveTo>
                <a:lnTo>
                  <a:pt x="1905" y="2002790"/>
                </a:lnTo>
              </a:path>
              <a:path w="6076315" h="8074025">
                <a:moveTo>
                  <a:pt x="6075045" y="2292350"/>
                </a:moveTo>
                <a:lnTo>
                  <a:pt x="6075045" y="3521710"/>
                </a:lnTo>
              </a:path>
              <a:path w="6076315" h="8074025">
                <a:moveTo>
                  <a:pt x="1905" y="3521710"/>
                </a:moveTo>
                <a:lnTo>
                  <a:pt x="1905" y="2292350"/>
                </a:lnTo>
              </a:path>
              <a:path w="6076315" h="8074025">
                <a:moveTo>
                  <a:pt x="6075045" y="3394710"/>
                </a:moveTo>
                <a:lnTo>
                  <a:pt x="6075045" y="3811270"/>
                </a:lnTo>
              </a:path>
              <a:path w="6076315" h="8074025">
                <a:moveTo>
                  <a:pt x="1905" y="3811270"/>
                </a:moveTo>
                <a:lnTo>
                  <a:pt x="1905" y="3394710"/>
                </a:lnTo>
              </a:path>
              <a:path w="6076315" h="8074025">
                <a:moveTo>
                  <a:pt x="6075045" y="3684270"/>
                </a:moveTo>
                <a:lnTo>
                  <a:pt x="6075045" y="4100829"/>
                </a:lnTo>
              </a:path>
              <a:path w="6076315" h="8074025">
                <a:moveTo>
                  <a:pt x="1905" y="4100829"/>
                </a:moveTo>
                <a:lnTo>
                  <a:pt x="1905" y="3684270"/>
                </a:lnTo>
              </a:path>
              <a:path w="6076315" h="8074025">
                <a:moveTo>
                  <a:pt x="6075045" y="3973829"/>
                </a:moveTo>
                <a:lnTo>
                  <a:pt x="6075045" y="4390390"/>
                </a:lnTo>
              </a:path>
              <a:path w="6076315" h="8074025">
                <a:moveTo>
                  <a:pt x="1905" y="4390390"/>
                </a:moveTo>
                <a:lnTo>
                  <a:pt x="1905" y="3973829"/>
                </a:lnTo>
              </a:path>
              <a:path w="6076315" h="8074025">
                <a:moveTo>
                  <a:pt x="6075045" y="4263390"/>
                </a:moveTo>
                <a:lnTo>
                  <a:pt x="6075045" y="4679950"/>
                </a:lnTo>
              </a:path>
              <a:path w="6076315" h="8074025">
                <a:moveTo>
                  <a:pt x="1905" y="4679950"/>
                </a:moveTo>
                <a:lnTo>
                  <a:pt x="1905" y="4263390"/>
                </a:lnTo>
              </a:path>
              <a:path w="6076315" h="8074025">
                <a:moveTo>
                  <a:pt x="6075045" y="4552950"/>
                </a:moveTo>
                <a:lnTo>
                  <a:pt x="6075045" y="5457190"/>
                </a:lnTo>
              </a:path>
              <a:path w="6076315" h="8074025">
                <a:moveTo>
                  <a:pt x="1905" y="5457190"/>
                </a:moveTo>
                <a:lnTo>
                  <a:pt x="1905" y="4552950"/>
                </a:lnTo>
              </a:path>
              <a:path w="6076315" h="8074025">
                <a:moveTo>
                  <a:pt x="6075045" y="5330190"/>
                </a:moveTo>
                <a:lnTo>
                  <a:pt x="6075045" y="5909310"/>
                </a:lnTo>
              </a:path>
              <a:path w="6076315" h="8074025">
                <a:moveTo>
                  <a:pt x="1905" y="5909310"/>
                </a:moveTo>
                <a:lnTo>
                  <a:pt x="1905" y="5330190"/>
                </a:lnTo>
              </a:path>
              <a:path w="6076315" h="8074025">
                <a:moveTo>
                  <a:pt x="6075045" y="5782310"/>
                </a:moveTo>
                <a:lnTo>
                  <a:pt x="6075045" y="8074025"/>
                </a:lnTo>
              </a:path>
              <a:path w="6076315" h="8074025">
                <a:moveTo>
                  <a:pt x="6076315" y="8072755"/>
                </a:moveTo>
                <a:lnTo>
                  <a:pt x="0" y="8072755"/>
                </a:lnTo>
              </a:path>
              <a:path w="6076315" h="8074025">
                <a:moveTo>
                  <a:pt x="1905" y="8074025"/>
                </a:moveTo>
                <a:lnTo>
                  <a:pt x="1905" y="578231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7947659"/>
            <a:chOff x="847725" y="913764"/>
            <a:chExt cx="6076950" cy="7947659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7947659"/>
            </a:xfrm>
            <a:custGeom>
              <a:avLst/>
              <a:gdLst/>
              <a:ahLst/>
              <a:cxnLst/>
              <a:rect l="l" t="t" r="r" b="b"/>
              <a:pathLst>
                <a:path w="6076950" h="7947659">
                  <a:moveTo>
                    <a:pt x="6076950" y="0"/>
                  </a:moveTo>
                  <a:lnTo>
                    <a:pt x="0" y="0"/>
                  </a:lnTo>
                  <a:lnTo>
                    <a:pt x="0" y="716915"/>
                  </a:lnTo>
                  <a:lnTo>
                    <a:pt x="0" y="717550"/>
                  </a:lnTo>
                  <a:lnTo>
                    <a:pt x="0" y="7947660"/>
                  </a:lnTo>
                  <a:lnTo>
                    <a:pt x="6076950" y="7947660"/>
                  </a:lnTo>
                  <a:lnTo>
                    <a:pt x="6076950" y="71691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132705" cy="161925"/>
            </a:xfrm>
            <a:custGeom>
              <a:avLst/>
              <a:gdLst/>
              <a:ahLst/>
              <a:cxnLst/>
              <a:rect l="l" t="t" r="r" b="b"/>
              <a:pathLst>
                <a:path w="5132705" h="161925">
                  <a:moveTo>
                    <a:pt x="513270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132705" y="161925"/>
                  </a:lnTo>
                  <a:lnTo>
                    <a:pt x="513270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13716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71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93.333333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269"/>
            <a:ext cx="7702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Bangalore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1306830"/>
            <a:ext cx="5132705" cy="161925"/>
          </a:xfrm>
          <a:custGeom>
            <a:avLst/>
            <a:gdLst/>
            <a:ahLst/>
            <a:cxnLst/>
            <a:rect l="l" t="t" r="r" b="b"/>
            <a:pathLst>
              <a:path w="5132705" h="161925">
                <a:moveTo>
                  <a:pt x="5132705" y="0"/>
                </a:moveTo>
                <a:lnTo>
                  <a:pt x="0" y="0"/>
                </a:lnTo>
                <a:lnTo>
                  <a:pt x="0" y="161925"/>
                </a:lnTo>
                <a:lnTo>
                  <a:pt x="5132705" y="161925"/>
                </a:lnTo>
                <a:lnTo>
                  <a:pt x="513270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5669" y="1283334"/>
            <a:ext cx="13589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801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76.666667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4958" y="958215"/>
            <a:ext cx="347408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165" algn="l"/>
                <a:tab pos="1862455" algn="l"/>
                <a:tab pos="2955925" algn="l"/>
              </a:tabLst>
            </a:pPr>
            <a:r>
              <a:rPr sz="1100" spc="-10" dirty="0">
                <a:latin typeface="Courier New"/>
                <a:cs typeface="Courier New"/>
              </a:rPr>
              <a:t>93.33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Bay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685165" algn="l"/>
                <a:tab pos="1610360" algn="l"/>
                <a:tab pos="2787650" algn="l"/>
              </a:tabLst>
            </a:pPr>
            <a:r>
              <a:rPr sz="1100" spc="-10" dirty="0">
                <a:latin typeface="Courier New"/>
                <a:cs typeface="Courier New"/>
              </a:rPr>
              <a:t>76.67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Palace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1469389"/>
            <a:ext cx="757555" cy="161925"/>
          </a:xfrm>
          <a:custGeom>
            <a:avLst/>
            <a:gdLst/>
            <a:ahLst/>
            <a:cxnLst/>
            <a:rect l="l" t="t" r="r" b="b"/>
            <a:pathLst>
              <a:path w="757555" h="161925">
                <a:moveTo>
                  <a:pt x="757555" y="0"/>
                </a:moveTo>
                <a:lnTo>
                  <a:pt x="0" y="0"/>
                </a:lnTo>
                <a:lnTo>
                  <a:pt x="0" y="161925"/>
                </a:lnTo>
                <a:lnTo>
                  <a:pt x="757555" y="161925"/>
                </a:lnTo>
                <a:lnTo>
                  <a:pt x="7575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969" y="1445894"/>
            <a:ext cx="30549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Bangalore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"city"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"occ_pct"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2048510"/>
            <a:ext cx="335915" cy="161925"/>
          </a:xfrm>
          <a:custGeom>
            <a:avLst/>
            <a:gdLst/>
            <a:ahLst/>
            <a:cxnLst/>
            <a:rect l="l" t="t" r="r" b="b"/>
            <a:pathLst>
              <a:path w="335915" h="16192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14400" y="2048510"/>
          <a:ext cx="1927860" cy="81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6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56.594207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61.606467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Hyderabad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58.144651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57.936305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914400" y="2861310"/>
            <a:ext cx="24403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occ_pct,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2969" y="3127375"/>
            <a:ext cx="31394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df_date</a:t>
            </a:r>
            <a:r>
              <a:rPr sz="1100" spc="-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"dim_date.csv"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df_date.head(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14400" y="3729990"/>
          <a:ext cx="3273425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  <a:tabLst>
                          <a:tab pos="25209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01-May-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  <a:tabLst>
                          <a:tab pos="25209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02-May-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  <a:tabLst>
                          <a:tab pos="25209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03-May-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902969" y="4483734"/>
            <a:ext cx="574865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pd.merge(df,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df_date,</a:t>
            </a:r>
            <a:r>
              <a:rPr sz="1100" spc="-5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left_on=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right_on=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4959350"/>
            <a:ext cx="53003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35"/>
              </a:lnSpc>
              <a:tabLst>
                <a:tab pos="3701415" algn="l"/>
              </a:tabLst>
            </a:pPr>
            <a:r>
              <a:rPr sz="1100" dirty="0">
                <a:latin typeface="Courier New"/>
                <a:cs typeface="Courier New"/>
              </a:rPr>
              <a:t>property_id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check_in_date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5121909"/>
            <a:ext cx="925194" cy="161925"/>
          </a:xfrm>
          <a:custGeom>
            <a:avLst/>
            <a:gdLst/>
            <a:ahLst/>
            <a:cxnLst/>
            <a:rect l="l" t="t" r="r" b="b"/>
            <a:pathLst>
              <a:path w="925194" h="161925">
                <a:moveTo>
                  <a:pt x="925194" y="0"/>
                </a:moveTo>
                <a:lnTo>
                  <a:pt x="0" y="0"/>
                </a:lnTo>
                <a:lnTo>
                  <a:pt x="0" y="161925"/>
                </a:lnTo>
                <a:lnTo>
                  <a:pt x="925194" y="161925"/>
                </a:lnTo>
                <a:lnTo>
                  <a:pt x="9251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914400" y="5121909"/>
          <a:ext cx="5467985" cy="1136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3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7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180"/>
                        </a:lnSpc>
                        <a:tabLst>
                          <a:tab pos="505459" algn="l"/>
                        </a:tabLst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18560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10-May-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7556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914400" y="6407150"/>
            <a:ext cx="5047615" cy="161925"/>
          </a:xfrm>
          <a:custGeom>
            <a:avLst/>
            <a:gdLst/>
            <a:ahLst/>
            <a:cxnLst/>
            <a:rect l="l" t="t" r="r" b="b"/>
            <a:pathLst>
              <a:path w="5047615" h="161925">
                <a:moveTo>
                  <a:pt x="5047615" y="0"/>
                </a:moveTo>
                <a:lnTo>
                  <a:pt x="0" y="0"/>
                </a:lnTo>
                <a:lnTo>
                  <a:pt x="0" y="161925"/>
                </a:lnTo>
                <a:lnTo>
                  <a:pt x="5047615" y="161925"/>
                </a:lnTo>
                <a:lnTo>
                  <a:pt x="50476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155268" y="6384290"/>
            <a:ext cx="1118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6569709"/>
            <a:ext cx="6013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505459" algn="l"/>
              </a:tabLst>
            </a:pPr>
            <a:r>
              <a:rPr sz="1100" spc="-20" dirty="0">
                <a:latin typeface="Courier New"/>
                <a:cs typeface="Courier New"/>
              </a:rPr>
              <a:t>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14400" y="6732269"/>
            <a:ext cx="5047615" cy="161925"/>
          </a:xfrm>
          <a:custGeom>
            <a:avLst/>
            <a:gdLst/>
            <a:ahLst/>
            <a:cxnLst/>
            <a:rect l="l" t="t" r="r" b="b"/>
            <a:pathLst>
              <a:path w="5047615" h="161925">
                <a:moveTo>
                  <a:pt x="5047615" y="0"/>
                </a:moveTo>
                <a:lnTo>
                  <a:pt x="0" y="0"/>
                </a:lnTo>
                <a:lnTo>
                  <a:pt x="0" y="161924"/>
                </a:lnTo>
                <a:lnTo>
                  <a:pt x="5047615" y="161924"/>
                </a:lnTo>
                <a:lnTo>
                  <a:pt x="50476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15669" y="6709409"/>
            <a:ext cx="13589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801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51.724138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6894830"/>
            <a:ext cx="768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Bangalore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7057390"/>
            <a:ext cx="5047615" cy="161925"/>
          </a:xfrm>
          <a:custGeom>
            <a:avLst/>
            <a:gdLst/>
            <a:ahLst/>
            <a:cxnLst/>
            <a:rect l="l" t="t" r="r" b="b"/>
            <a:pathLst>
              <a:path w="5047615" h="161925">
                <a:moveTo>
                  <a:pt x="5047615" y="0"/>
                </a:moveTo>
                <a:lnTo>
                  <a:pt x="0" y="0"/>
                </a:lnTo>
                <a:lnTo>
                  <a:pt x="0" y="161924"/>
                </a:lnTo>
                <a:lnTo>
                  <a:pt x="5047615" y="161924"/>
                </a:lnTo>
                <a:lnTo>
                  <a:pt x="50476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15669" y="7034530"/>
            <a:ext cx="13589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801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63.333333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7219950"/>
            <a:ext cx="768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Hyderabad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14400" y="7382509"/>
            <a:ext cx="5047615" cy="161925"/>
          </a:xfrm>
          <a:custGeom>
            <a:avLst/>
            <a:gdLst/>
            <a:ahLst/>
            <a:cxnLst/>
            <a:rect l="l" t="t" r="r" b="b"/>
            <a:pathLst>
              <a:path w="5047615" h="161925">
                <a:moveTo>
                  <a:pt x="5047615" y="0"/>
                </a:moveTo>
                <a:lnTo>
                  <a:pt x="0" y="0"/>
                </a:lnTo>
                <a:lnTo>
                  <a:pt x="0" y="161925"/>
                </a:lnTo>
                <a:lnTo>
                  <a:pt x="5047615" y="161925"/>
                </a:lnTo>
                <a:lnTo>
                  <a:pt x="50476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915669" y="7359650"/>
            <a:ext cx="13589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8801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60.000000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16759" y="6384290"/>
            <a:ext cx="3557904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71470" algn="l"/>
              </a:tabLst>
            </a:pPr>
            <a:r>
              <a:rPr sz="1100" dirty="0">
                <a:latin typeface="Courier New"/>
                <a:cs typeface="Courier New"/>
              </a:rPr>
              <a:t>occ_pct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room_class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property_name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endParaRPr sz="110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  <a:spcBef>
                <a:spcPts val="1240"/>
              </a:spcBef>
              <a:tabLst>
                <a:tab pos="937260" algn="l"/>
                <a:tab pos="1694180" algn="l"/>
                <a:tab pos="2871470" algn="l"/>
              </a:tabLst>
            </a:pPr>
            <a:r>
              <a:rPr sz="1100" spc="-10" dirty="0">
                <a:latin typeface="Courier New"/>
                <a:cs typeface="Courier New"/>
              </a:rPr>
              <a:t>51.72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Premium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Palace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endParaRPr sz="110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1862455" algn="l"/>
                <a:tab pos="2871470" algn="l"/>
              </a:tabLst>
            </a:pPr>
            <a:r>
              <a:rPr sz="1100" spc="-10" dirty="0">
                <a:latin typeface="Courier New"/>
                <a:cs typeface="Courier New"/>
              </a:rPr>
              <a:t>63.33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endParaRPr sz="1100">
              <a:latin typeface="Courier New"/>
              <a:cs typeface="Courier New"/>
            </a:endParaRPr>
          </a:p>
          <a:p>
            <a:pPr marL="18034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1946910" algn="l"/>
                <a:tab pos="3039745" algn="l"/>
              </a:tabLst>
            </a:pPr>
            <a:r>
              <a:rPr sz="1100" spc="-10" dirty="0">
                <a:latin typeface="Courier New"/>
                <a:cs typeface="Courier New"/>
              </a:rPr>
              <a:t>60.00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Standard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Bay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14400" y="7545069"/>
            <a:ext cx="756285" cy="161925"/>
          </a:xfrm>
          <a:custGeom>
            <a:avLst/>
            <a:gdLst/>
            <a:ahLst/>
            <a:cxnLst/>
            <a:rect l="l" t="t" r="r" b="b"/>
            <a:pathLst>
              <a:path w="756285" h="161925">
                <a:moveTo>
                  <a:pt x="756285" y="0"/>
                </a:moveTo>
                <a:lnTo>
                  <a:pt x="0" y="0"/>
                </a:lnTo>
                <a:lnTo>
                  <a:pt x="0" y="161924"/>
                </a:lnTo>
                <a:lnTo>
                  <a:pt x="756285" y="161924"/>
                </a:lnTo>
                <a:lnTo>
                  <a:pt x="75628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02969" y="7522209"/>
            <a:ext cx="782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Bangalore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14400" y="7856219"/>
            <a:ext cx="3197225" cy="161925"/>
          </a:xfrm>
          <a:custGeom>
            <a:avLst/>
            <a:gdLst/>
            <a:ahLst/>
            <a:cxnLst/>
            <a:rect l="l" t="t" r="r" b="b"/>
            <a:pathLst>
              <a:path w="3197225" h="161925">
                <a:moveTo>
                  <a:pt x="3197225" y="0"/>
                </a:moveTo>
                <a:lnTo>
                  <a:pt x="0" y="0"/>
                </a:lnTo>
                <a:lnTo>
                  <a:pt x="0" y="161924"/>
                </a:lnTo>
                <a:lnTo>
                  <a:pt x="3197225" y="161924"/>
                </a:lnTo>
                <a:lnTo>
                  <a:pt x="31972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093061" y="7832725"/>
            <a:ext cx="11906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mmm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week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no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14400" y="8018779"/>
            <a:ext cx="3197225" cy="487045"/>
          </a:xfrm>
          <a:custGeom>
            <a:avLst/>
            <a:gdLst/>
            <a:ahLst/>
            <a:cxnLst/>
            <a:rect l="l" t="t" r="r" b="b"/>
            <a:pathLst>
              <a:path w="3197225" h="487045">
                <a:moveTo>
                  <a:pt x="319722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197225" y="487045"/>
                </a:lnTo>
                <a:lnTo>
                  <a:pt x="3197225" y="325120"/>
                </a:lnTo>
                <a:close/>
              </a:path>
              <a:path w="3197225" h="487045">
                <a:moveTo>
                  <a:pt x="31972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197225" y="324485"/>
                </a:lnTo>
                <a:lnTo>
                  <a:pt x="3197225" y="162560"/>
                </a:lnTo>
                <a:close/>
              </a:path>
              <a:path w="3197225" h="487045">
                <a:moveTo>
                  <a:pt x="3197225" y="0"/>
                </a:moveTo>
                <a:lnTo>
                  <a:pt x="0" y="0"/>
                </a:lnTo>
                <a:lnTo>
                  <a:pt x="0" y="161925"/>
                </a:lnTo>
                <a:lnTo>
                  <a:pt x="3197225" y="161925"/>
                </a:lnTo>
                <a:lnTo>
                  <a:pt x="31972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15669" y="7832725"/>
            <a:ext cx="10223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2465">
              <a:lnSpc>
                <a:spcPts val="13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date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25209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10-May-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25209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10-May-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25209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10-May-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93061" y="7995284"/>
            <a:ext cx="51752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34055" y="7832725"/>
            <a:ext cx="1190625" cy="680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R="5080" indent="504190">
              <a:lnSpc>
                <a:spcPts val="1280"/>
              </a:lnSpc>
              <a:spcBef>
                <a:spcPts val="175"/>
              </a:spcBef>
              <a:tabLst>
                <a:tab pos="504190" algn="l"/>
              </a:tabLst>
            </a:pPr>
            <a:r>
              <a:rPr sz="1100" spc="-10" dirty="0">
                <a:latin typeface="Courier New"/>
                <a:cs typeface="Courier New"/>
              </a:rPr>
              <a:t>day_type </a:t>
            </a:r>
            <a:r>
              <a:rPr sz="1100" dirty="0">
                <a:latin typeface="Courier New"/>
                <a:cs typeface="Courier New"/>
              </a:rPr>
              <a:t>W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weekeday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25"/>
              </a:lnSpc>
              <a:tabLst>
                <a:tab pos="504190" algn="l"/>
              </a:tabLst>
            </a:pPr>
            <a:r>
              <a:rPr sz="1100" dirty="0">
                <a:latin typeface="Courier New"/>
                <a:cs typeface="Courier New"/>
              </a:rPr>
              <a:t>W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weekeday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504190" algn="l"/>
              </a:tabLst>
            </a:pPr>
            <a:r>
              <a:rPr sz="1100" dirty="0">
                <a:latin typeface="Courier New"/>
                <a:cs typeface="Courier New"/>
              </a:rPr>
              <a:t>W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weekeday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02969" y="8609965"/>
            <a:ext cx="41503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"day_type"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"occ_pct"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round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48360" y="914400"/>
            <a:ext cx="6076315" cy="7947025"/>
          </a:xfrm>
          <a:custGeom>
            <a:avLst/>
            <a:gdLst/>
            <a:ahLst/>
            <a:cxnLst/>
            <a:rect l="l" t="t" r="r" b="b"/>
            <a:pathLst>
              <a:path w="6076315" h="7947025">
                <a:moveTo>
                  <a:pt x="0" y="1904"/>
                </a:moveTo>
                <a:lnTo>
                  <a:pt x="6076315" y="1904"/>
                </a:lnTo>
              </a:path>
              <a:path w="6076315" h="7947025">
                <a:moveTo>
                  <a:pt x="6075045" y="0"/>
                </a:moveTo>
                <a:lnTo>
                  <a:pt x="6075045" y="843915"/>
                </a:lnTo>
              </a:path>
              <a:path w="6076315" h="7947025">
                <a:moveTo>
                  <a:pt x="1905" y="843915"/>
                </a:moveTo>
                <a:lnTo>
                  <a:pt x="1905" y="0"/>
                </a:lnTo>
              </a:path>
              <a:path w="6076315" h="7947025">
                <a:moveTo>
                  <a:pt x="6075045" y="716915"/>
                </a:moveTo>
                <a:lnTo>
                  <a:pt x="6075045" y="1133475"/>
                </a:lnTo>
              </a:path>
              <a:path w="6076315" h="7947025">
                <a:moveTo>
                  <a:pt x="1905" y="1133475"/>
                </a:moveTo>
                <a:lnTo>
                  <a:pt x="1905" y="716915"/>
                </a:lnTo>
              </a:path>
              <a:path w="6076315" h="7947025">
                <a:moveTo>
                  <a:pt x="6075045" y="1006475"/>
                </a:moveTo>
                <a:lnTo>
                  <a:pt x="6075045" y="2235834"/>
                </a:lnTo>
              </a:path>
              <a:path w="6076315" h="7947025">
                <a:moveTo>
                  <a:pt x="1905" y="2235834"/>
                </a:moveTo>
                <a:lnTo>
                  <a:pt x="1905" y="1006475"/>
                </a:lnTo>
              </a:path>
              <a:path w="6076315" h="7947025">
                <a:moveTo>
                  <a:pt x="6075045" y="2108834"/>
                </a:moveTo>
                <a:lnTo>
                  <a:pt x="6075045" y="2525395"/>
                </a:lnTo>
              </a:path>
              <a:path w="6076315" h="7947025">
                <a:moveTo>
                  <a:pt x="1905" y="2525395"/>
                </a:moveTo>
                <a:lnTo>
                  <a:pt x="1905" y="2108834"/>
                </a:lnTo>
              </a:path>
              <a:path w="6076315" h="7947025">
                <a:moveTo>
                  <a:pt x="6075045" y="2398395"/>
                </a:moveTo>
                <a:lnTo>
                  <a:pt x="6075045" y="2814954"/>
                </a:lnTo>
              </a:path>
              <a:path w="6076315" h="7947025">
                <a:moveTo>
                  <a:pt x="1905" y="2814954"/>
                </a:moveTo>
                <a:lnTo>
                  <a:pt x="1905" y="2398395"/>
                </a:lnTo>
              </a:path>
              <a:path w="6076315" h="7947025">
                <a:moveTo>
                  <a:pt x="6075045" y="2687954"/>
                </a:moveTo>
                <a:lnTo>
                  <a:pt x="6075045" y="3592195"/>
                </a:lnTo>
              </a:path>
              <a:path w="6076315" h="7947025">
                <a:moveTo>
                  <a:pt x="1905" y="3592195"/>
                </a:moveTo>
                <a:lnTo>
                  <a:pt x="1905" y="2687954"/>
                </a:lnTo>
              </a:path>
              <a:path w="6076315" h="7947025">
                <a:moveTo>
                  <a:pt x="6075045" y="3465195"/>
                </a:moveTo>
                <a:lnTo>
                  <a:pt x="6075045" y="4044315"/>
                </a:lnTo>
              </a:path>
              <a:path w="6076315" h="7947025">
                <a:moveTo>
                  <a:pt x="1905" y="4044315"/>
                </a:moveTo>
                <a:lnTo>
                  <a:pt x="1905" y="3465195"/>
                </a:lnTo>
              </a:path>
              <a:path w="6076315" h="7947025">
                <a:moveTo>
                  <a:pt x="6075045" y="3917315"/>
                </a:moveTo>
                <a:lnTo>
                  <a:pt x="6075045" y="7718425"/>
                </a:lnTo>
              </a:path>
              <a:path w="6076315" h="7947025">
                <a:moveTo>
                  <a:pt x="1905" y="7718425"/>
                </a:moveTo>
                <a:lnTo>
                  <a:pt x="1905" y="3917315"/>
                </a:lnTo>
              </a:path>
              <a:path w="6076315" h="7947025">
                <a:moveTo>
                  <a:pt x="6075045" y="7591425"/>
                </a:moveTo>
                <a:lnTo>
                  <a:pt x="6075045" y="7947025"/>
                </a:lnTo>
              </a:path>
              <a:path w="6076315" h="7947025">
                <a:moveTo>
                  <a:pt x="6076315" y="7945755"/>
                </a:moveTo>
                <a:lnTo>
                  <a:pt x="0" y="7945755"/>
                </a:lnTo>
              </a:path>
              <a:path w="6076315" h="7947025">
                <a:moveTo>
                  <a:pt x="1905" y="7947025"/>
                </a:moveTo>
                <a:lnTo>
                  <a:pt x="1905" y="7591425"/>
                </a:lnTo>
              </a:path>
              <a:path w="6076315" h="7947025">
                <a:moveTo>
                  <a:pt x="0" y="1904"/>
                </a:moveTo>
                <a:lnTo>
                  <a:pt x="6076315" y="1904"/>
                </a:lnTo>
              </a:path>
              <a:path w="6076315" h="7947025">
                <a:moveTo>
                  <a:pt x="6075045" y="0"/>
                </a:moveTo>
                <a:lnTo>
                  <a:pt x="6075045" y="843915"/>
                </a:lnTo>
              </a:path>
              <a:path w="6076315" h="7947025">
                <a:moveTo>
                  <a:pt x="1905" y="843915"/>
                </a:moveTo>
                <a:lnTo>
                  <a:pt x="1905" y="0"/>
                </a:lnTo>
              </a:path>
              <a:path w="6076315" h="7947025">
                <a:moveTo>
                  <a:pt x="6075045" y="716915"/>
                </a:moveTo>
                <a:lnTo>
                  <a:pt x="6075045" y="1133475"/>
                </a:lnTo>
              </a:path>
              <a:path w="6076315" h="7947025">
                <a:moveTo>
                  <a:pt x="1905" y="1133475"/>
                </a:moveTo>
                <a:lnTo>
                  <a:pt x="1905" y="716915"/>
                </a:lnTo>
              </a:path>
              <a:path w="6076315" h="7947025">
                <a:moveTo>
                  <a:pt x="6075045" y="1006475"/>
                </a:moveTo>
                <a:lnTo>
                  <a:pt x="6075045" y="2235834"/>
                </a:lnTo>
              </a:path>
              <a:path w="6076315" h="7947025">
                <a:moveTo>
                  <a:pt x="1905" y="2235834"/>
                </a:moveTo>
                <a:lnTo>
                  <a:pt x="1905" y="1006475"/>
                </a:lnTo>
              </a:path>
              <a:path w="6076315" h="7947025">
                <a:moveTo>
                  <a:pt x="6075045" y="2108834"/>
                </a:moveTo>
                <a:lnTo>
                  <a:pt x="6075045" y="2525395"/>
                </a:lnTo>
              </a:path>
              <a:path w="6076315" h="7947025">
                <a:moveTo>
                  <a:pt x="1905" y="2525395"/>
                </a:moveTo>
                <a:lnTo>
                  <a:pt x="1905" y="2108834"/>
                </a:lnTo>
              </a:path>
              <a:path w="6076315" h="7947025">
                <a:moveTo>
                  <a:pt x="6075045" y="2398395"/>
                </a:moveTo>
                <a:lnTo>
                  <a:pt x="6075045" y="2814954"/>
                </a:lnTo>
              </a:path>
              <a:path w="6076315" h="7947025">
                <a:moveTo>
                  <a:pt x="1905" y="2814954"/>
                </a:moveTo>
                <a:lnTo>
                  <a:pt x="1905" y="2398395"/>
                </a:lnTo>
              </a:path>
              <a:path w="6076315" h="7947025">
                <a:moveTo>
                  <a:pt x="6075045" y="2687954"/>
                </a:moveTo>
                <a:lnTo>
                  <a:pt x="6075045" y="3592195"/>
                </a:lnTo>
              </a:path>
              <a:path w="6076315" h="7947025">
                <a:moveTo>
                  <a:pt x="1905" y="3592195"/>
                </a:moveTo>
                <a:lnTo>
                  <a:pt x="1905" y="2687954"/>
                </a:lnTo>
              </a:path>
              <a:path w="6076315" h="7947025">
                <a:moveTo>
                  <a:pt x="6075045" y="3465195"/>
                </a:moveTo>
                <a:lnTo>
                  <a:pt x="6075045" y="4044315"/>
                </a:lnTo>
              </a:path>
              <a:path w="6076315" h="7947025">
                <a:moveTo>
                  <a:pt x="1905" y="4044315"/>
                </a:moveTo>
                <a:lnTo>
                  <a:pt x="1905" y="3465195"/>
                </a:lnTo>
              </a:path>
              <a:path w="6076315" h="7947025">
                <a:moveTo>
                  <a:pt x="6075045" y="3917315"/>
                </a:moveTo>
                <a:lnTo>
                  <a:pt x="6075045" y="7718425"/>
                </a:lnTo>
              </a:path>
              <a:path w="6076315" h="7947025">
                <a:moveTo>
                  <a:pt x="1905" y="7718425"/>
                </a:moveTo>
                <a:lnTo>
                  <a:pt x="1905" y="3917315"/>
                </a:lnTo>
              </a:path>
              <a:path w="6076315" h="7947025">
                <a:moveTo>
                  <a:pt x="6075045" y="7591425"/>
                </a:moveTo>
                <a:lnTo>
                  <a:pt x="6075045" y="7947025"/>
                </a:lnTo>
              </a:path>
              <a:path w="6076315" h="7947025">
                <a:moveTo>
                  <a:pt x="6076315" y="7945755"/>
                </a:moveTo>
                <a:lnTo>
                  <a:pt x="0" y="7945755"/>
                </a:lnTo>
              </a:path>
              <a:path w="6076315" h="7947025">
                <a:moveTo>
                  <a:pt x="1905" y="7947025"/>
                </a:moveTo>
                <a:lnTo>
                  <a:pt x="1905" y="759142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81340"/>
            <a:chOff x="847725" y="913764"/>
            <a:chExt cx="6076950" cy="818134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81340"/>
            </a:xfrm>
            <a:custGeom>
              <a:avLst/>
              <a:gdLst/>
              <a:ahLst/>
              <a:cxnLst/>
              <a:rect l="l" t="t" r="r" b="b"/>
              <a:pathLst>
                <a:path w="6076950" h="8181340">
                  <a:moveTo>
                    <a:pt x="6076950" y="0"/>
                  </a:moveTo>
                  <a:lnTo>
                    <a:pt x="0" y="0"/>
                  </a:lnTo>
                  <a:lnTo>
                    <a:pt x="0" y="716915"/>
                  </a:lnTo>
                  <a:lnTo>
                    <a:pt x="0" y="717550"/>
                  </a:lnTo>
                  <a:lnTo>
                    <a:pt x="0" y="8181340"/>
                  </a:lnTo>
                  <a:lnTo>
                    <a:pt x="6076950" y="8181340"/>
                  </a:lnTo>
                  <a:lnTo>
                    <a:pt x="6076950" y="71691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672465" cy="161925"/>
            </a:xfrm>
            <a:custGeom>
              <a:avLst/>
              <a:gdLst/>
              <a:ahLst/>
              <a:cxnLst/>
              <a:rect l="l" t="t" r="r" b="b"/>
              <a:pathLst>
                <a:path w="672465" h="161925">
                  <a:moveTo>
                    <a:pt x="67246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672465" y="161925"/>
                  </a:lnTo>
                  <a:lnTo>
                    <a:pt x="67246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69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day_type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1144269"/>
            <a:ext cx="1430655" cy="161925"/>
          </a:xfrm>
          <a:custGeom>
            <a:avLst/>
            <a:gdLst/>
            <a:ahLst/>
            <a:cxnLst/>
            <a:rect l="l" t="t" r="r" b="b"/>
            <a:pathLst>
              <a:path w="1430655" h="161925">
                <a:moveTo>
                  <a:pt x="1430655" y="0"/>
                </a:moveTo>
                <a:lnTo>
                  <a:pt x="0" y="0"/>
                </a:lnTo>
                <a:lnTo>
                  <a:pt x="0" y="161925"/>
                </a:lnTo>
                <a:lnTo>
                  <a:pt x="1430655" y="161925"/>
                </a:lnTo>
                <a:lnTo>
                  <a:pt x="14306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5669" y="1120775"/>
            <a:ext cx="6858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weekeday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24862" y="1120775"/>
            <a:ext cx="4337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50.90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1306829"/>
            <a:ext cx="2440305" cy="324485"/>
          </a:xfrm>
          <a:custGeom>
            <a:avLst/>
            <a:gdLst/>
            <a:ahLst/>
            <a:cxnLst/>
            <a:rect l="l" t="t" r="r" b="b"/>
            <a:pathLst>
              <a:path w="2440304" h="324485">
                <a:moveTo>
                  <a:pt x="1430655" y="0"/>
                </a:moveTo>
                <a:lnTo>
                  <a:pt x="0" y="0"/>
                </a:lnTo>
                <a:lnTo>
                  <a:pt x="0" y="161925"/>
                </a:lnTo>
                <a:lnTo>
                  <a:pt x="1430655" y="161925"/>
                </a:lnTo>
                <a:lnTo>
                  <a:pt x="1430655" y="0"/>
                </a:lnTo>
                <a:close/>
              </a:path>
              <a:path w="2440304" h="324485">
                <a:moveTo>
                  <a:pt x="244030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2440305" y="324485"/>
                </a:lnTo>
                <a:lnTo>
                  <a:pt x="244030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1283334"/>
            <a:ext cx="3308350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1021715" algn="l"/>
              </a:tabLst>
            </a:pPr>
            <a:r>
              <a:rPr sz="1100" spc="-10" dirty="0">
                <a:latin typeface="Courier New"/>
                <a:cs typeface="Courier New"/>
              </a:rPr>
              <a:t>weekend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72.39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occ_pct,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df_june_22</a:t>
            </a:r>
            <a:r>
              <a:rPr sz="1100" spc="-8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8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df[df[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"mmm</a:t>
            </a:r>
            <a:r>
              <a:rPr sz="1100" spc="-8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yy"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]==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"Jun</a:t>
            </a:r>
            <a:r>
              <a:rPr sz="1100" spc="-8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22"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]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df_june_22.head(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14400" y="2211070"/>
          <a:ext cx="5629275" cy="16217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4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7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 gridSpan="5">
                  <a:txBody>
                    <a:bodyPr/>
                    <a:lstStyle/>
                    <a:p>
                      <a:pPr marL="505459">
                        <a:lnSpc>
                          <a:spcPts val="1215"/>
                        </a:lnSpc>
                        <a:tabLst>
                          <a:tab pos="395351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property_id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check_in_date</a:t>
                      </a:r>
                      <a:r>
                        <a:rPr sz="1100" spc="-1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room_category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successful_bookings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635">
                        <a:lnSpc>
                          <a:spcPts val="1240"/>
                        </a:lnSpc>
                        <a:tabLst>
                          <a:tab pos="842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capacity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19563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191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19.0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914400" y="3983990"/>
            <a:ext cx="53841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05459">
              <a:lnSpc>
                <a:spcPts val="1240"/>
              </a:lnSpc>
              <a:tabLst>
                <a:tab pos="1767205" algn="l"/>
                <a:tab pos="3448685" algn="l"/>
                <a:tab pos="4710430" algn="l"/>
              </a:tabLst>
            </a:pPr>
            <a:r>
              <a:rPr sz="1100" spc="-10" dirty="0">
                <a:latin typeface="Courier New"/>
                <a:cs typeface="Courier New"/>
              </a:rPr>
              <a:t>occupancy_pct</a:t>
            </a:r>
            <a:r>
              <a:rPr sz="1100" dirty="0">
                <a:latin typeface="Courier New"/>
                <a:cs typeface="Courier New"/>
              </a:rPr>
              <a:t>	occ_pct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room_class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property_name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4146550"/>
            <a:ext cx="588645" cy="161925"/>
          </a:xfrm>
          <a:custGeom>
            <a:avLst/>
            <a:gdLst/>
            <a:ahLst/>
            <a:cxnLst/>
            <a:rect l="l" t="t" r="r" b="b"/>
            <a:pathLst>
              <a:path w="588644" h="161925">
                <a:moveTo>
                  <a:pt x="588644" y="0"/>
                </a:moveTo>
                <a:lnTo>
                  <a:pt x="0" y="0"/>
                </a:lnTo>
                <a:lnTo>
                  <a:pt x="0" y="161925"/>
                </a:lnTo>
                <a:lnTo>
                  <a:pt x="588644" y="161925"/>
                </a:lnTo>
                <a:lnTo>
                  <a:pt x="58864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4400" y="4471670"/>
            <a:ext cx="504825" cy="161925"/>
          </a:xfrm>
          <a:custGeom>
            <a:avLst/>
            <a:gdLst/>
            <a:ahLst/>
            <a:cxnLst/>
            <a:rect l="l" t="t" r="r" b="b"/>
            <a:pathLst>
              <a:path w="504825" h="161925">
                <a:moveTo>
                  <a:pt x="504825" y="0"/>
                </a:moveTo>
                <a:lnTo>
                  <a:pt x="0" y="0"/>
                </a:lnTo>
                <a:lnTo>
                  <a:pt x="0" y="161925"/>
                </a:lnTo>
                <a:lnTo>
                  <a:pt x="504825" y="161925"/>
                </a:lnTo>
                <a:lnTo>
                  <a:pt x="5048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14400" y="5447029"/>
            <a:ext cx="504825" cy="161925"/>
          </a:xfrm>
          <a:custGeom>
            <a:avLst/>
            <a:gdLst/>
            <a:ahLst/>
            <a:cxnLst/>
            <a:rect l="l" t="t" r="r" b="b"/>
            <a:pathLst>
              <a:path w="504825" h="161925">
                <a:moveTo>
                  <a:pt x="504825" y="0"/>
                </a:moveTo>
                <a:lnTo>
                  <a:pt x="0" y="0"/>
                </a:lnTo>
                <a:lnTo>
                  <a:pt x="0" y="161925"/>
                </a:lnTo>
                <a:lnTo>
                  <a:pt x="504825" y="161925"/>
                </a:lnTo>
                <a:lnTo>
                  <a:pt x="5048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914400" y="4146550"/>
          <a:ext cx="5460365" cy="1461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72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505459" algn="l"/>
                        </a:tabLst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66.666667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66.67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Exotica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63.333333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63.33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Bay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56.666667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56.67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Palace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Business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47.368421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47.37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14400" y="5758179"/>
          <a:ext cx="5460365" cy="81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348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2037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mmm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week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Jun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Jun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Jun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2203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10-Jun-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Jun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902969" y="6674484"/>
            <a:ext cx="474027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df_june_22.groupby(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'occ_pct'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round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).sort_values(ascending=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7150100"/>
            <a:ext cx="335915" cy="161925"/>
          </a:xfrm>
          <a:custGeom>
            <a:avLst/>
            <a:gdLst/>
            <a:ahLst/>
            <a:cxnLst/>
            <a:rect l="l" t="t" r="r" b="b"/>
            <a:pathLst>
              <a:path w="335915" h="16192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914400" y="7150100"/>
          <a:ext cx="1591310" cy="81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6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62.47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Hyderabad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58.46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58.38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56.58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914400" y="7962900"/>
            <a:ext cx="24403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occ_pct,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2969" y="8228965"/>
            <a:ext cx="5918835" cy="518159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df_june_22.groupby(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'city'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'occ_pct'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round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).sort_values(ascending=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).plot(kind=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"ba 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r"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8867140"/>
            <a:ext cx="17799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&lt;Axes: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xlabel='city'&gt;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48360" y="914400"/>
            <a:ext cx="6076315" cy="8180705"/>
          </a:xfrm>
          <a:custGeom>
            <a:avLst/>
            <a:gdLst/>
            <a:ahLst/>
            <a:cxnLst/>
            <a:rect l="l" t="t" r="r" b="b"/>
            <a:pathLst>
              <a:path w="6076315" h="8180705">
                <a:moveTo>
                  <a:pt x="0" y="1904"/>
                </a:moveTo>
                <a:lnTo>
                  <a:pt x="6076315" y="1904"/>
                </a:lnTo>
              </a:path>
              <a:path w="6076315" h="8180705">
                <a:moveTo>
                  <a:pt x="6075045" y="0"/>
                </a:moveTo>
                <a:lnTo>
                  <a:pt x="6075045" y="843915"/>
                </a:lnTo>
              </a:path>
              <a:path w="6076315" h="8180705">
                <a:moveTo>
                  <a:pt x="1905" y="843915"/>
                </a:moveTo>
                <a:lnTo>
                  <a:pt x="1905" y="0"/>
                </a:lnTo>
              </a:path>
              <a:path w="6076315" h="8180705">
                <a:moveTo>
                  <a:pt x="6075045" y="716915"/>
                </a:moveTo>
                <a:lnTo>
                  <a:pt x="6075045" y="1296034"/>
                </a:lnTo>
              </a:path>
              <a:path w="6076315" h="8180705">
                <a:moveTo>
                  <a:pt x="1905" y="1296034"/>
                </a:moveTo>
                <a:lnTo>
                  <a:pt x="1905" y="716915"/>
                </a:lnTo>
              </a:path>
              <a:path w="6076315" h="8180705">
                <a:moveTo>
                  <a:pt x="6075045" y="1169034"/>
                </a:moveTo>
                <a:lnTo>
                  <a:pt x="6075045" y="5782945"/>
                </a:lnTo>
              </a:path>
              <a:path w="6076315" h="8180705">
                <a:moveTo>
                  <a:pt x="1905" y="5782945"/>
                </a:moveTo>
                <a:lnTo>
                  <a:pt x="1905" y="1169034"/>
                </a:lnTo>
              </a:path>
              <a:path w="6076315" h="8180705">
                <a:moveTo>
                  <a:pt x="6075045" y="5655945"/>
                </a:moveTo>
                <a:lnTo>
                  <a:pt x="6075045" y="6235065"/>
                </a:lnTo>
              </a:path>
              <a:path w="6076315" h="8180705">
                <a:moveTo>
                  <a:pt x="1905" y="6235065"/>
                </a:moveTo>
                <a:lnTo>
                  <a:pt x="1905" y="5655945"/>
                </a:lnTo>
              </a:path>
              <a:path w="6076315" h="8180705">
                <a:moveTo>
                  <a:pt x="6075045" y="6108065"/>
                </a:moveTo>
                <a:lnTo>
                  <a:pt x="6075045" y="7337425"/>
                </a:lnTo>
              </a:path>
              <a:path w="6076315" h="8180705">
                <a:moveTo>
                  <a:pt x="1905" y="7337425"/>
                </a:moveTo>
                <a:lnTo>
                  <a:pt x="1905" y="6108065"/>
                </a:lnTo>
              </a:path>
              <a:path w="6076315" h="8180705">
                <a:moveTo>
                  <a:pt x="6075045" y="7210425"/>
                </a:moveTo>
                <a:lnTo>
                  <a:pt x="6075045" y="7952105"/>
                </a:lnTo>
              </a:path>
              <a:path w="6076315" h="8180705">
                <a:moveTo>
                  <a:pt x="1905" y="7952105"/>
                </a:moveTo>
                <a:lnTo>
                  <a:pt x="1905" y="7210425"/>
                </a:lnTo>
              </a:path>
              <a:path w="6076315" h="8180705">
                <a:moveTo>
                  <a:pt x="6075045" y="7825105"/>
                </a:moveTo>
                <a:lnTo>
                  <a:pt x="6075045" y="8180705"/>
                </a:lnTo>
              </a:path>
              <a:path w="6076315" h="8180705">
                <a:moveTo>
                  <a:pt x="6076315" y="8179434"/>
                </a:moveTo>
                <a:lnTo>
                  <a:pt x="0" y="8179434"/>
                </a:lnTo>
              </a:path>
              <a:path w="6076315" h="8180705">
                <a:moveTo>
                  <a:pt x="1905" y="8180705"/>
                </a:moveTo>
                <a:lnTo>
                  <a:pt x="1905" y="7825105"/>
                </a:lnTo>
              </a:path>
              <a:path w="6076315" h="8180705">
                <a:moveTo>
                  <a:pt x="0" y="1904"/>
                </a:moveTo>
                <a:lnTo>
                  <a:pt x="6076315" y="1904"/>
                </a:lnTo>
              </a:path>
              <a:path w="6076315" h="8180705">
                <a:moveTo>
                  <a:pt x="6075045" y="0"/>
                </a:moveTo>
                <a:lnTo>
                  <a:pt x="6075045" y="843915"/>
                </a:lnTo>
              </a:path>
              <a:path w="6076315" h="8180705">
                <a:moveTo>
                  <a:pt x="1905" y="843915"/>
                </a:moveTo>
                <a:lnTo>
                  <a:pt x="1905" y="0"/>
                </a:lnTo>
              </a:path>
              <a:path w="6076315" h="8180705">
                <a:moveTo>
                  <a:pt x="6075045" y="716915"/>
                </a:moveTo>
                <a:lnTo>
                  <a:pt x="6075045" y="1296034"/>
                </a:lnTo>
              </a:path>
              <a:path w="6076315" h="8180705">
                <a:moveTo>
                  <a:pt x="1905" y="1296034"/>
                </a:moveTo>
                <a:lnTo>
                  <a:pt x="1905" y="716915"/>
                </a:lnTo>
              </a:path>
              <a:path w="6076315" h="8180705">
                <a:moveTo>
                  <a:pt x="6075045" y="1169034"/>
                </a:moveTo>
                <a:lnTo>
                  <a:pt x="6075045" y="5782945"/>
                </a:lnTo>
              </a:path>
              <a:path w="6076315" h="8180705">
                <a:moveTo>
                  <a:pt x="1905" y="5782945"/>
                </a:moveTo>
                <a:lnTo>
                  <a:pt x="1905" y="1169034"/>
                </a:lnTo>
              </a:path>
              <a:path w="6076315" h="8180705">
                <a:moveTo>
                  <a:pt x="6075045" y="5655945"/>
                </a:moveTo>
                <a:lnTo>
                  <a:pt x="6075045" y="6235065"/>
                </a:lnTo>
              </a:path>
              <a:path w="6076315" h="8180705">
                <a:moveTo>
                  <a:pt x="1905" y="6235065"/>
                </a:moveTo>
                <a:lnTo>
                  <a:pt x="1905" y="5655945"/>
                </a:lnTo>
              </a:path>
              <a:path w="6076315" h="8180705">
                <a:moveTo>
                  <a:pt x="6075045" y="6108065"/>
                </a:moveTo>
                <a:lnTo>
                  <a:pt x="6075045" y="7337425"/>
                </a:lnTo>
              </a:path>
              <a:path w="6076315" h="8180705">
                <a:moveTo>
                  <a:pt x="1905" y="7337425"/>
                </a:moveTo>
                <a:lnTo>
                  <a:pt x="1905" y="6108065"/>
                </a:lnTo>
              </a:path>
              <a:path w="6076315" h="8180705">
                <a:moveTo>
                  <a:pt x="6075045" y="7210425"/>
                </a:moveTo>
                <a:lnTo>
                  <a:pt x="6075045" y="7952105"/>
                </a:lnTo>
              </a:path>
              <a:path w="6076315" h="8180705">
                <a:moveTo>
                  <a:pt x="1905" y="7952105"/>
                </a:moveTo>
                <a:lnTo>
                  <a:pt x="1905" y="7210425"/>
                </a:lnTo>
              </a:path>
              <a:path w="6076315" h="8180705">
                <a:moveTo>
                  <a:pt x="6075045" y="7825105"/>
                </a:moveTo>
                <a:lnTo>
                  <a:pt x="6075045" y="8180705"/>
                </a:lnTo>
              </a:path>
              <a:path w="6076315" h="8180705">
                <a:moveTo>
                  <a:pt x="6076315" y="8179434"/>
                </a:moveTo>
                <a:lnTo>
                  <a:pt x="0" y="8179434"/>
                </a:lnTo>
              </a:path>
              <a:path w="6076315" h="8180705">
                <a:moveTo>
                  <a:pt x="1905" y="8180705"/>
                </a:moveTo>
                <a:lnTo>
                  <a:pt x="1905" y="782510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5600064"/>
            <a:ext cx="6076950" cy="3482340"/>
          </a:xfrm>
          <a:custGeom>
            <a:avLst/>
            <a:gdLst/>
            <a:ahLst/>
            <a:cxnLst/>
            <a:rect l="l" t="t" r="r" b="b"/>
            <a:pathLst>
              <a:path w="6076950" h="3482340">
                <a:moveTo>
                  <a:pt x="6076950" y="0"/>
                </a:moveTo>
                <a:lnTo>
                  <a:pt x="0" y="0"/>
                </a:lnTo>
                <a:lnTo>
                  <a:pt x="0" y="391795"/>
                </a:lnTo>
                <a:lnTo>
                  <a:pt x="0" y="392430"/>
                </a:lnTo>
                <a:lnTo>
                  <a:pt x="0" y="3482340"/>
                </a:lnTo>
                <a:lnTo>
                  <a:pt x="6076950" y="3482340"/>
                </a:lnTo>
                <a:lnTo>
                  <a:pt x="6076950" y="392430"/>
                </a:lnTo>
                <a:lnTo>
                  <a:pt x="6076950" y="39179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827" y="988280"/>
            <a:ext cx="4875452" cy="443283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14400" y="6120129"/>
            <a:ext cx="5384165" cy="324485"/>
          </a:xfrm>
          <a:custGeom>
            <a:avLst/>
            <a:gdLst/>
            <a:ahLst/>
            <a:cxnLst/>
            <a:rect l="l" t="t" r="r" b="b"/>
            <a:pathLst>
              <a:path w="5384165" h="324485">
                <a:moveTo>
                  <a:pt x="109410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094105" y="324485"/>
                </a:lnTo>
                <a:lnTo>
                  <a:pt x="1094105" y="162560"/>
                </a:lnTo>
                <a:close/>
              </a:path>
              <a:path w="5384165" h="324485">
                <a:moveTo>
                  <a:pt x="5384165" y="0"/>
                </a:moveTo>
                <a:lnTo>
                  <a:pt x="0" y="0"/>
                </a:lnTo>
                <a:lnTo>
                  <a:pt x="0" y="161925"/>
                </a:lnTo>
                <a:lnTo>
                  <a:pt x="5384165" y="161925"/>
                </a:lnTo>
                <a:lnTo>
                  <a:pt x="53841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2969" y="5644515"/>
            <a:ext cx="5408295" cy="807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1515745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df_august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pd.read_csv(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"new_data_august.csv"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df_august.head(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5080" indent="252095">
              <a:lnSpc>
                <a:spcPts val="1280"/>
              </a:lnSpc>
              <a:spcBef>
                <a:spcPts val="1000"/>
              </a:spcBef>
              <a:tabLst>
                <a:tab pos="1021715" algn="l"/>
                <a:tab pos="1357630" algn="l"/>
                <a:tab pos="2619375" algn="l"/>
                <a:tab pos="3881120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property_name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r>
              <a:rPr sz="1100" dirty="0">
                <a:latin typeface="Courier New"/>
                <a:cs typeface="Courier New"/>
              </a:rPr>
              <a:t>	city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room_category room_class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6445250"/>
            <a:ext cx="5384165" cy="324485"/>
          </a:xfrm>
          <a:custGeom>
            <a:avLst/>
            <a:gdLst/>
            <a:ahLst/>
            <a:cxnLst/>
            <a:rect l="l" t="t" r="r" b="b"/>
            <a:pathLst>
              <a:path w="5384165" h="324484">
                <a:moveTo>
                  <a:pt x="6724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672465" y="324485"/>
                </a:lnTo>
                <a:lnTo>
                  <a:pt x="672465" y="162560"/>
                </a:lnTo>
                <a:close/>
              </a:path>
              <a:path w="5384165" h="324484">
                <a:moveTo>
                  <a:pt x="5384165" y="0"/>
                </a:moveTo>
                <a:lnTo>
                  <a:pt x="0" y="0"/>
                </a:lnTo>
                <a:lnTo>
                  <a:pt x="0" y="161925"/>
                </a:lnTo>
                <a:lnTo>
                  <a:pt x="5384165" y="161925"/>
                </a:lnTo>
                <a:lnTo>
                  <a:pt x="53841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2969" y="6584315"/>
            <a:ext cx="69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6770369"/>
            <a:ext cx="5384165" cy="161925"/>
          </a:xfrm>
          <a:custGeom>
            <a:avLst/>
            <a:gdLst/>
            <a:ahLst/>
            <a:cxnLst/>
            <a:rect l="l" t="t" r="r" b="b"/>
            <a:pathLst>
              <a:path w="5384165" h="161925">
                <a:moveTo>
                  <a:pt x="5384165" y="0"/>
                </a:moveTo>
                <a:lnTo>
                  <a:pt x="0" y="0"/>
                </a:lnTo>
                <a:lnTo>
                  <a:pt x="0" y="161924"/>
                </a:lnTo>
                <a:lnTo>
                  <a:pt x="5384165" y="161924"/>
                </a:lnTo>
                <a:lnTo>
                  <a:pt x="53841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2969" y="6746875"/>
            <a:ext cx="12033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898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19562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6932930"/>
            <a:ext cx="672465" cy="161925"/>
          </a:xfrm>
          <a:custGeom>
            <a:avLst/>
            <a:gdLst/>
            <a:ahLst/>
            <a:cxnLst/>
            <a:rect l="l" t="t" r="r" b="b"/>
            <a:pathLst>
              <a:path w="672465" h="161925">
                <a:moveTo>
                  <a:pt x="672465" y="0"/>
                </a:moveTo>
                <a:lnTo>
                  <a:pt x="0" y="0"/>
                </a:lnTo>
                <a:lnTo>
                  <a:pt x="0" y="161925"/>
                </a:lnTo>
                <a:lnTo>
                  <a:pt x="672465" y="161925"/>
                </a:lnTo>
                <a:lnTo>
                  <a:pt x="6724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969" y="6909434"/>
            <a:ext cx="69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14400" y="7095490"/>
            <a:ext cx="5384165" cy="161925"/>
          </a:xfrm>
          <a:custGeom>
            <a:avLst/>
            <a:gdLst/>
            <a:ahLst/>
            <a:cxnLst/>
            <a:rect l="l" t="t" r="r" b="b"/>
            <a:pathLst>
              <a:path w="5384165" h="161925">
                <a:moveTo>
                  <a:pt x="5384165" y="0"/>
                </a:moveTo>
                <a:lnTo>
                  <a:pt x="0" y="0"/>
                </a:lnTo>
                <a:lnTo>
                  <a:pt x="0" y="161924"/>
                </a:lnTo>
                <a:lnTo>
                  <a:pt x="5384165" y="161924"/>
                </a:lnTo>
                <a:lnTo>
                  <a:pt x="53841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02969" y="6421754"/>
            <a:ext cx="5408295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8985" algn="l"/>
                <a:tab pos="1357630" algn="l"/>
                <a:tab pos="2787650" algn="l"/>
                <a:tab pos="3712845" algn="l"/>
                <a:tab pos="514223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Exotica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Mumbai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  <a:p>
            <a:pPr marL="1694180">
              <a:lnSpc>
                <a:spcPct val="100000"/>
              </a:lnSpc>
              <a:spcBef>
                <a:spcPts val="1240"/>
              </a:spcBef>
              <a:tabLst>
                <a:tab pos="2787650" algn="l"/>
                <a:tab pos="3460115" algn="l"/>
                <a:tab pos="5142230" algn="l"/>
              </a:tabLst>
            </a:pPr>
            <a:r>
              <a:rPr sz="1100" dirty="0">
                <a:latin typeface="Courier New"/>
                <a:cs typeface="Courier New"/>
              </a:rPr>
              <a:t>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Bay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Bangalore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768985" algn="l"/>
                <a:tab pos="1442085" algn="l"/>
                <a:tab pos="2619375" algn="l"/>
                <a:tab pos="3460115" algn="l"/>
                <a:tab pos="514223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Palace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Bangalore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7258050"/>
            <a:ext cx="672465" cy="161925"/>
          </a:xfrm>
          <a:custGeom>
            <a:avLst/>
            <a:gdLst/>
            <a:ahLst/>
            <a:cxnLst/>
            <a:rect l="l" t="t" r="r" b="b"/>
            <a:pathLst>
              <a:path w="672465" h="161925">
                <a:moveTo>
                  <a:pt x="672465" y="0"/>
                </a:moveTo>
                <a:lnTo>
                  <a:pt x="0" y="0"/>
                </a:lnTo>
                <a:lnTo>
                  <a:pt x="0" y="161925"/>
                </a:lnTo>
                <a:lnTo>
                  <a:pt x="672465" y="161925"/>
                </a:lnTo>
                <a:lnTo>
                  <a:pt x="6724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2969" y="7234555"/>
            <a:ext cx="69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Standard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7567930"/>
            <a:ext cx="52165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8910">
              <a:lnSpc>
                <a:spcPts val="1240"/>
              </a:lnSpc>
              <a:tabLst>
                <a:tab pos="1430655" algn="l"/>
                <a:tab pos="2776220" algn="l"/>
                <a:tab pos="3616960" algn="l"/>
              </a:tabLst>
            </a:pPr>
            <a:r>
              <a:rPr sz="1100" spc="-10" dirty="0">
                <a:latin typeface="Courier New"/>
                <a:cs typeface="Courier New"/>
              </a:rPr>
              <a:t>check_in_date</a:t>
            </a:r>
            <a:r>
              <a:rPr sz="1100" dirty="0">
                <a:latin typeface="Courier New"/>
                <a:cs typeface="Courier New"/>
              </a:rPr>
              <a:t>	mmm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week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no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day_type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14400" y="7730490"/>
            <a:ext cx="925194" cy="161925"/>
          </a:xfrm>
          <a:custGeom>
            <a:avLst/>
            <a:gdLst/>
            <a:ahLst/>
            <a:cxnLst/>
            <a:rect l="l" t="t" r="r" b="b"/>
            <a:pathLst>
              <a:path w="925194" h="161925">
                <a:moveTo>
                  <a:pt x="925194" y="0"/>
                </a:moveTo>
                <a:lnTo>
                  <a:pt x="0" y="0"/>
                </a:lnTo>
                <a:lnTo>
                  <a:pt x="0" y="161924"/>
                </a:lnTo>
                <a:lnTo>
                  <a:pt x="925194" y="161924"/>
                </a:lnTo>
                <a:lnTo>
                  <a:pt x="9251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914400" y="7730490"/>
          <a:ext cx="5384165" cy="1136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4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cap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180"/>
                        </a:lnSpc>
                        <a:tabLst>
                          <a:tab pos="67310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01-Aug-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3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01-Aug-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01-Aug-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7556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848360" y="5600700"/>
            <a:ext cx="6076315" cy="3481704"/>
          </a:xfrm>
          <a:custGeom>
            <a:avLst/>
            <a:gdLst/>
            <a:ahLst/>
            <a:cxnLst/>
            <a:rect l="l" t="t" r="r" b="b"/>
            <a:pathLst>
              <a:path w="6076315" h="3481704">
                <a:moveTo>
                  <a:pt x="0" y="1904"/>
                </a:moveTo>
                <a:lnTo>
                  <a:pt x="6076315" y="1904"/>
                </a:lnTo>
              </a:path>
              <a:path w="6076315" h="3481704">
                <a:moveTo>
                  <a:pt x="6075045" y="0"/>
                </a:moveTo>
                <a:lnTo>
                  <a:pt x="6075045" y="518795"/>
                </a:lnTo>
              </a:path>
              <a:path w="6076315" h="3481704">
                <a:moveTo>
                  <a:pt x="1905" y="518795"/>
                </a:moveTo>
                <a:lnTo>
                  <a:pt x="1905" y="0"/>
                </a:lnTo>
              </a:path>
              <a:path w="6076315" h="3481704">
                <a:moveTo>
                  <a:pt x="6075045" y="391795"/>
                </a:moveTo>
                <a:lnTo>
                  <a:pt x="6075045" y="3481704"/>
                </a:lnTo>
              </a:path>
              <a:path w="6076315" h="3481704">
                <a:moveTo>
                  <a:pt x="6076315" y="3480435"/>
                </a:moveTo>
                <a:lnTo>
                  <a:pt x="0" y="3480435"/>
                </a:lnTo>
              </a:path>
              <a:path w="6076315" h="3481704">
                <a:moveTo>
                  <a:pt x="1905" y="3481704"/>
                </a:moveTo>
                <a:lnTo>
                  <a:pt x="1905" y="391795"/>
                </a:lnTo>
              </a:path>
              <a:path w="6076315" h="3481704">
                <a:moveTo>
                  <a:pt x="0" y="1904"/>
                </a:moveTo>
                <a:lnTo>
                  <a:pt x="6076315" y="1904"/>
                </a:lnTo>
              </a:path>
              <a:path w="6076315" h="3481704">
                <a:moveTo>
                  <a:pt x="6075045" y="0"/>
                </a:moveTo>
                <a:lnTo>
                  <a:pt x="6075045" y="518795"/>
                </a:lnTo>
              </a:path>
              <a:path w="6076315" h="3481704">
                <a:moveTo>
                  <a:pt x="1905" y="518795"/>
                </a:moveTo>
                <a:lnTo>
                  <a:pt x="1905" y="0"/>
                </a:lnTo>
              </a:path>
              <a:path w="6076315" h="3481704">
                <a:moveTo>
                  <a:pt x="6075045" y="391795"/>
                </a:moveTo>
                <a:lnTo>
                  <a:pt x="6075045" y="3481704"/>
                </a:lnTo>
              </a:path>
              <a:path w="6076315" h="3481704">
                <a:moveTo>
                  <a:pt x="6076315" y="3480435"/>
                </a:moveTo>
                <a:lnTo>
                  <a:pt x="0" y="3480435"/>
                </a:lnTo>
              </a:path>
              <a:path w="6076315" h="3481704">
                <a:moveTo>
                  <a:pt x="1905" y="3481704"/>
                </a:moveTo>
                <a:lnTo>
                  <a:pt x="1905" y="39179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68309"/>
          </a:xfrm>
          <a:custGeom>
            <a:avLst/>
            <a:gdLst/>
            <a:ahLst/>
            <a:cxnLst/>
            <a:rect l="l" t="t" r="r" b="b"/>
            <a:pathLst>
              <a:path w="6076950" h="8068309">
                <a:moveTo>
                  <a:pt x="6076950" y="0"/>
                </a:moveTo>
                <a:lnTo>
                  <a:pt x="0" y="0"/>
                </a:lnTo>
                <a:lnTo>
                  <a:pt x="0" y="716915"/>
                </a:lnTo>
                <a:lnTo>
                  <a:pt x="0" y="717550"/>
                </a:lnTo>
                <a:lnTo>
                  <a:pt x="0" y="8068310"/>
                </a:lnTo>
                <a:lnTo>
                  <a:pt x="6076950" y="8068310"/>
                </a:lnTo>
                <a:lnTo>
                  <a:pt x="6076950" y="71691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400" y="981710"/>
            <a:ext cx="77025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421640">
              <a:lnSpc>
                <a:spcPts val="1215"/>
              </a:lnSpc>
            </a:pPr>
            <a:r>
              <a:rPr sz="1100" spc="-20" dirty="0">
                <a:latin typeface="Courier New"/>
                <a:cs typeface="Courier New"/>
              </a:rPr>
              <a:t>occ%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25336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100.00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33718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70.00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33718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76.67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969" y="1735455"/>
            <a:ext cx="1455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df_august.columns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2048510"/>
            <a:ext cx="48799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Index(['property_id',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'property_name',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'category',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'city',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21107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'room_category',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373629"/>
            <a:ext cx="5889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'room_class',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'check_in_date',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'mmm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yy',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'week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'day_type',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2536189"/>
            <a:ext cx="42068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'successful_bookings',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'capacity',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'occ%'],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698750"/>
            <a:ext cx="17799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05459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dtype='object')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2964815"/>
            <a:ext cx="8667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df.columns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3277870"/>
            <a:ext cx="46272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Index(['property_id',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'check_in_date',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'room_category',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3440429"/>
            <a:ext cx="1863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'successful_bookings',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3602990"/>
            <a:ext cx="50476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'capacity',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'occupancy_pct',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'occ_pct',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'room_class',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376555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'property_name',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3928109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'category',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'city',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'date',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'mmm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yy',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'week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'day_type'],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4090670"/>
            <a:ext cx="17799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05459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dtype='object')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2969" y="4356734"/>
            <a:ext cx="1287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df_august.shape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4669790"/>
            <a:ext cx="6013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(7,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13)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2969" y="4935854"/>
            <a:ext cx="69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5248909"/>
            <a:ext cx="8540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(6500,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15)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4400" y="5990589"/>
            <a:ext cx="5553075" cy="324485"/>
          </a:xfrm>
          <a:custGeom>
            <a:avLst/>
            <a:gdLst/>
            <a:ahLst/>
            <a:cxnLst/>
            <a:rect l="l" t="t" r="r" b="b"/>
            <a:pathLst>
              <a:path w="5553075" h="324485">
                <a:moveTo>
                  <a:pt x="92519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925195" y="324485"/>
                </a:lnTo>
                <a:lnTo>
                  <a:pt x="925195" y="162560"/>
                </a:lnTo>
                <a:close/>
              </a:path>
              <a:path w="5553075" h="324485">
                <a:moveTo>
                  <a:pt x="5553075" y="0"/>
                </a:moveTo>
                <a:lnTo>
                  <a:pt x="0" y="0"/>
                </a:lnTo>
                <a:lnTo>
                  <a:pt x="0" y="161925"/>
                </a:lnTo>
                <a:lnTo>
                  <a:pt x="5553075" y="161925"/>
                </a:lnTo>
                <a:lnTo>
                  <a:pt x="55530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02969" y="5514975"/>
            <a:ext cx="5833745" cy="807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latest_df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pd.concat([df,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df_august],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ignore_index</a:t>
            </a:r>
            <a:r>
              <a:rPr sz="1100" spc="-5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axis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latest_df.tail(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10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262255" indent="504190">
              <a:lnSpc>
                <a:spcPts val="1280"/>
              </a:lnSpc>
              <a:spcBef>
                <a:spcPts val="1000"/>
              </a:spcBef>
              <a:tabLst>
                <a:tab pos="853440" algn="l"/>
                <a:tab pos="3964940" algn="l"/>
              </a:tabLst>
            </a:pPr>
            <a:r>
              <a:rPr sz="1100" dirty="0">
                <a:latin typeface="Courier New"/>
                <a:cs typeface="Courier New"/>
              </a:rPr>
              <a:t>property_id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check_in_date</a:t>
            </a:r>
            <a:r>
              <a:rPr sz="1100" spc="-1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room_category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 capacity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400" y="6315709"/>
            <a:ext cx="5553075" cy="161925"/>
          </a:xfrm>
          <a:custGeom>
            <a:avLst/>
            <a:gdLst/>
            <a:ahLst/>
            <a:cxnLst/>
            <a:rect l="l" t="t" r="r" b="b"/>
            <a:pathLst>
              <a:path w="5553075" h="161925">
                <a:moveTo>
                  <a:pt x="5553075" y="0"/>
                </a:moveTo>
                <a:lnTo>
                  <a:pt x="0" y="0"/>
                </a:lnTo>
                <a:lnTo>
                  <a:pt x="0" y="161925"/>
                </a:lnTo>
                <a:lnTo>
                  <a:pt x="5553075" y="161925"/>
                </a:lnTo>
                <a:lnTo>
                  <a:pt x="55530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912162" y="6292215"/>
            <a:ext cx="45669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3440" algn="l"/>
                <a:tab pos="2535555" algn="l"/>
                <a:tab pos="4469765" algn="l"/>
              </a:tabLst>
            </a:pP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4400" y="6478269"/>
            <a:ext cx="5553075" cy="2275205"/>
          </a:xfrm>
          <a:custGeom>
            <a:avLst/>
            <a:gdLst/>
            <a:ahLst/>
            <a:cxnLst/>
            <a:rect l="l" t="t" r="r" b="b"/>
            <a:pathLst>
              <a:path w="5553075" h="2275204">
                <a:moveTo>
                  <a:pt x="25209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252095" y="812165"/>
                </a:lnTo>
                <a:lnTo>
                  <a:pt x="252095" y="650240"/>
                </a:lnTo>
                <a:close/>
              </a:path>
              <a:path w="5553075" h="2275204">
                <a:moveTo>
                  <a:pt x="25209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252095" y="487045"/>
                </a:lnTo>
                <a:lnTo>
                  <a:pt x="252095" y="325120"/>
                </a:lnTo>
                <a:close/>
              </a:path>
              <a:path w="5553075" h="2275204">
                <a:moveTo>
                  <a:pt x="252095" y="0"/>
                </a:moveTo>
                <a:lnTo>
                  <a:pt x="0" y="0"/>
                </a:lnTo>
                <a:lnTo>
                  <a:pt x="0" y="161925"/>
                </a:lnTo>
                <a:lnTo>
                  <a:pt x="252095" y="161925"/>
                </a:lnTo>
                <a:lnTo>
                  <a:pt x="252095" y="0"/>
                </a:lnTo>
                <a:close/>
              </a:path>
              <a:path w="5553075" h="2275204">
                <a:moveTo>
                  <a:pt x="335915" y="1950720"/>
                </a:moveTo>
                <a:lnTo>
                  <a:pt x="0" y="1950720"/>
                </a:lnTo>
                <a:lnTo>
                  <a:pt x="0" y="2112645"/>
                </a:lnTo>
                <a:lnTo>
                  <a:pt x="335915" y="2112645"/>
                </a:lnTo>
                <a:lnTo>
                  <a:pt x="335915" y="1950720"/>
                </a:lnTo>
                <a:close/>
              </a:path>
              <a:path w="5553075" h="2275204">
                <a:moveTo>
                  <a:pt x="335915" y="1625600"/>
                </a:moveTo>
                <a:lnTo>
                  <a:pt x="0" y="1625600"/>
                </a:lnTo>
                <a:lnTo>
                  <a:pt x="0" y="1787525"/>
                </a:lnTo>
                <a:lnTo>
                  <a:pt x="335915" y="1787525"/>
                </a:lnTo>
                <a:lnTo>
                  <a:pt x="335915" y="1625600"/>
                </a:lnTo>
                <a:close/>
              </a:path>
              <a:path w="5553075" h="2275204">
                <a:moveTo>
                  <a:pt x="33591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335915" y="1462405"/>
                </a:lnTo>
                <a:lnTo>
                  <a:pt x="335915" y="1300480"/>
                </a:lnTo>
                <a:close/>
              </a:path>
              <a:path w="5553075" h="2275204">
                <a:moveTo>
                  <a:pt x="33591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335915" y="1137285"/>
                </a:lnTo>
                <a:lnTo>
                  <a:pt x="335915" y="975360"/>
                </a:lnTo>
                <a:close/>
              </a:path>
              <a:path w="5553075" h="2275204">
                <a:moveTo>
                  <a:pt x="5553075" y="2113280"/>
                </a:moveTo>
                <a:lnTo>
                  <a:pt x="0" y="2113280"/>
                </a:lnTo>
                <a:lnTo>
                  <a:pt x="0" y="2275205"/>
                </a:lnTo>
                <a:lnTo>
                  <a:pt x="5553075" y="2275205"/>
                </a:lnTo>
                <a:lnTo>
                  <a:pt x="5553075" y="2113280"/>
                </a:lnTo>
                <a:close/>
              </a:path>
              <a:path w="5553075" h="2275204">
                <a:moveTo>
                  <a:pt x="5553075" y="1788160"/>
                </a:moveTo>
                <a:lnTo>
                  <a:pt x="0" y="1788160"/>
                </a:lnTo>
                <a:lnTo>
                  <a:pt x="0" y="1950085"/>
                </a:lnTo>
                <a:lnTo>
                  <a:pt x="5553075" y="1950085"/>
                </a:lnTo>
                <a:lnTo>
                  <a:pt x="5553075" y="1788160"/>
                </a:lnTo>
                <a:close/>
              </a:path>
              <a:path w="5553075" h="2275204">
                <a:moveTo>
                  <a:pt x="555307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5553075" y="1624965"/>
                </a:lnTo>
                <a:lnTo>
                  <a:pt x="5553075" y="1463040"/>
                </a:lnTo>
                <a:close/>
              </a:path>
              <a:path w="5553075" h="2275204">
                <a:moveTo>
                  <a:pt x="555307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5553075" y="1299845"/>
                </a:lnTo>
                <a:lnTo>
                  <a:pt x="5553075" y="1137920"/>
                </a:lnTo>
                <a:close/>
              </a:path>
              <a:path w="5553075" h="2275204">
                <a:moveTo>
                  <a:pt x="555307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5553075" y="974725"/>
                </a:lnTo>
                <a:lnTo>
                  <a:pt x="5553075" y="812800"/>
                </a:lnTo>
                <a:close/>
              </a:path>
              <a:path w="5553075" h="2275204">
                <a:moveTo>
                  <a:pt x="555307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553075" y="649605"/>
                </a:lnTo>
                <a:lnTo>
                  <a:pt x="5553075" y="487680"/>
                </a:lnTo>
                <a:close/>
              </a:path>
              <a:path w="5553075" h="2275204">
                <a:moveTo>
                  <a:pt x="55530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553075" y="324485"/>
                </a:lnTo>
                <a:lnTo>
                  <a:pt x="55530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912162" y="6617334"/>
            <a:ext cx="4566920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3440" algn="l"/>
                <a:tab pos="2535555" algn="l"/>
                <a:tab pos="4469765" algn="l"/>
              </a:tabLst>
            </a:pP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2535555" algn="l"/>
                <a:tab pos="4469765" algn="l"/>
              </a:tabLst>
            </a:pPr>
            <a:r>
              <a:rPr sz="1100" spc="-10" dirty="0">
                <a:latin typeface="Courier New"/>
                <a:cs typeface="Courier New"/>
              </a:rPr>
              <a:t>17561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31-Jul-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2535555" algn="l"/>
                <a:tab pos="4385310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01-Aug-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30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2535555" algn="l"/>
                <a:tab pos="4385310" algn="l"/>
              </a:tabLst>
            </a:pPr>
            <a:r>
              <a:rPr sz="1100" spc="-10" dirty="0">
                <a:latin typeface="Courier New"/>
                <a:cs typeface="Courier New"/>
              </a:rPr>
              <a:t>19562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01-Aug-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2535555" algn="l"/>
                <a:tab pos="4385310" algn="l"/>
              </a:tabLst>
            </a:pP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01-Aug-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2535555" algn="l"/>
                <a:tab pos="4385310" algn="l"/>
              </a:tabLst>
            </a:pPr>
            <a:r>
              <a:rPr sz="1100" spc="-10" dirty="0">
                <a:latin typeface="Courier New"/>
                <a:cs typeface="Courier New"/>
              </a:rPr>
              <a:t>19558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01-Aug-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30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853440" algn="l"/>
                <a:tab pos="2535555" algn="l"/>
                <a:tab pos="4385310" algn="l"/>
              </a:tabLst>
            </a:pPr>
            <a:r>
              <a:rPr sz="1100" spc="-10" dirty="0">
                <a:latin typeface="Courier New"/>
                <a:cs typeface="Courier New"/>
              </a:rPr>
              <a:t>19560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01-Aug-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8754109"/>
            <a:ext cx="335915" cy="161925"/>
          </a:xfrm>
          <a:custGeom>
            <a:avLst/>
            <a:gdLst/>
            <a:ahLst/>
            <a:cxnLst/>
            <a:rect l="l" t="t" r="r" b="b"/>
            <a:pathLst>
              <a:path w="335915" h="16192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02969" y="6292215"/>
            <a:ext cx="361950" cy="263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6497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6.0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6498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6.0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6499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5" dirty="0">
                <a:latin typeface="Courier New"/>
                <a:cs typeface="Courier New"/>
              </a:rPr>
              <a:t>4.0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6500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6501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6502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30.0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6503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40.0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spc="-20" dirty="0">
                <a:latin typeface="Courier New"/>
                <a:cs typeface="Courier New"/>
              </a:rPr>
              <a:t>6504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20" dirty="0">
                <a:latin typeface="Courier New"/>
                <a:cs typeface="Courier New"/>
              </a:rPr>
              <a:t>26.0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8360" y="914400"/>
            <a:ext cx="6076315" cy="8067675"/>
          </a:xfrm>
          <a:custGeom>
            <a:avLst/>
            <a:gdLst/>
            <a:ahLst/>
            <a:cxnLst/>
            <a:rect l="l" t="t" r="r" b="b"/>
            <a:pathLst>
              <a:path w="6076315" h="8067675">
                <a:moveTo>
                  <a:pt x="0" y="1904"/>
                </a:moveTo>
                <a:lnTo>
                  <a:pt x="6076315" y="1904"/>
                </a:lnTo>
              </a:path>
              <a:path w="6076315" h="8067675">
                <a:moveTo>
                  <a:pt x="6075045" y="0"/>
                </a:moveTo>
                <a:lnTo>
                  <a:pt x="6075045" y="843915"/>
                </a:lnTo>
              </a:path>
              <a:path w="6076315" h="8067675">
                <a:moveTo>
                  <a:pt x="1905" y="843915"/>
                </a:moveTo>
                <a:lnTo>
                  <a:pt x="1905" y="0"/>
                </a:lnTo>
              </a:path>
              <a:path w="6076315" h="8067675">
                <a:moveTo>
                  <a:pt x="6075045" y="716915"/>
                </a:moveTo>
                <a:lnTo>
                  <a:pt x="6075045" y="1133475"/>
                </a:lnTo>
              </a:path>
              <a:path w="6076315" h="8067675">
                <a:moveTo>
                  <a:pt x="1905" y="1133475"/>
                </a:moveTo>
                <a:lnTo>
                  <a:pt x="1905" y="716915"/>
                </a:lnTo>
              </a:path>
              <a:path w="6076315" h="8067675">
                <a:moveTo>
                  <a:pt x="6075045" y="1006475"/>
                </a:moveTo>
                <a:lnTo>
                  <a:pt x="6075045" y="2073275"/>
                </a:lnTo>
              </a:path>
              <a:path w="6076315" h="8067675">
                <a:moveTo>
                  <a:pt x="1905" y="2073275"/>
                </a:moveTo>
                <a:lnTo>
                  <a:pt x="1905" y="1006475"/>
                </a:lnTo>
              </a:path>
              <a:path w="6076315" h="8067675">
                <a:moveTo>
                  <a:pt x="6075045" y="1946275"/>
                </a:moveTo>
                <a:lnTo>
                  <a:pt x="6075045" y="2362834"/>
                </a:lnTo>
              </a:path>
              <a:path w="6076315" h="8067675">
                <a:moveTo>
                  <a:pt x="1905" y="2362834"/>
                </a:moveTo>
                <a:lnTo>
                  <a:pt x="1905" y="1946275"/>
                </a:lnTo>
              </a:path>
              <a:path w="6076315" h="8067675">
                <a:moveTo>
                  <a:pt x="6075045" y="2235834"/>
                </a:moveTo>
                <a:lnTo>
                  <a:pt x="6075045" y="3465195"/>
                </a:lnTo>
              </a:path>
              <a:path w="6076315" h="8067675">
                <a:moveTo>
                  <a:pt x="1905" y="3465195"/>
                </a:moveTo>
                <a:lnTo>
                  <a:pt x="1905" y="2235834"/>
                </a:lnTo>
              </a:path>
              <a:path w="6076315" h="8067675">
                <a:moveTo>
                  <a:pt x="6075045" y="3338195"/>
                </a:moveTo>
                <a:lnTo>
                  <a:pt x="6075045" y="3754754"/>
                </a:lnTo>
              </a:path>
              <a:path w="6076315" h="8067675">
                <a:moveTo>
                  <a:pt x="1905" y="3754754"/>
                </a:moveTo>
                <a:lnTo>
                  <a:pt x="1905" y="3338195"/>
                </a:lnTo>
              </a:path>
              <a:path w="6076315" h="8067675">
                <a:moveTo>
                  <a:pt x="6075045" y="3627754"/>
                </a:moveTo>
                <a:lnTo>
                  <a:pt x="6075045" y="4044315"/>
                </a:lnTo>
              </a:path>
              <a:path w="6076315" h="8067675">
                <a:moveTo>
                  <a:pt x="1905" y="4044315"/>
                </a:moveTo>
                <a:lnTo>
                  <a:pt x="1905" y="3627754"/>
                </a:lnTo>
              </a:path>
              <a:path w="6076315" h="8067675">
                <a:moveTo>
                  <a:pt x="6075045" y="3917315"/>
                </a:moveTo>
                <a:lnTo>
                  <a:pt x="6075045" y="4333875"/>
                </a:lnTo>
              </a:path>
              <a:path w="6076315" h="8067675">
                <a:moveTo>
                  <a:pt x="1905" y="4333875"/>
                </a:moveTo>
                <a:lnTo>
                  <a:pt x="1905" y="3917315"/>
                </a:lnTo>
              </a:path>
              <a:path w="6076315" h="8067675">
                <a:moveTo>
                  <a:pt x="6075045" y="4206875"/>
                </a:moveTo>
                <a:lnTo>
                  <a:pt x="6075045" y="4623435"/>
                </a:lnTo>
              </a:path>
              <a:path w="6076315" h="8067675">
                <a:moveTo>
                  <a:pt x="1905" y="4623435"/>
                </a:moveTo>
                <a:lnTo>
                  <a:pt x="1905" y="4206875"/>
                </a:lnTo>
              </a:path>
              <a:path w="6076315" h="8067675">
                <a:moveTo>
                  <a:pt x="6075045" y="4496435"/>
                </a:moveTo>
                <a:lnTo>
                  <a:pt x="6075045" y="5075555"/>
                </a:lnTo>
              </a:path>
              <a:path w="6076315" h="8067675">
                <a:moveTo>
                  <a:pt x="1905" y="5075555"/>
                </a:moveTo>
                <a:lnTo>
                  <a:pt x="1905" y="4496435"/>
                </a:lnTo>
              </a:path>
              <a:path w="6076315" h="8067675">
                <a:moveTo>
                  <a:pt x="6075045" y="4948555"/>
                </a:moveTo>
                <a:lnTo>
                  <a:pt x="6075045" y="8067675"/>
                </a:lnTo>
              </a:path>
              <a:path w="6076315" h="8067675">
                <a:moveTo>
                  <a:pt x="6076315" y="8066405"/>
                </a:moveTo>
                <a:lnTo>
                  <a:pt x="0" y="8066405"/>
                </a:lnTo>
              </a:path>
              <a:path w="6076315" h="8067675">
                <a:moveTo>
                  <a:pt x="1905" y="8067675"/>
                </a:moveTo>
                <a:lnTo>
                  <a:pt x="1905" y="4948555"/>
                </a:lnTo>
              </a:path>
              <a:path w="6076315" h="8067675">
                <a:moveTo>
                  <a:pt x="0" y="1904"/>
                </a:moveTo>
                <a:lnTo>
                  <a:pt x="6076315" y="1904"/>
                </a:lnTo>
              </a:path>
              <a:path w="6076315" h="8067675">
                <a:moveTo>
                  <a:pt x="6075045" y="0"/>
                </a:moveTo>
                <a:lnTo>
                  <a:pt x="6075045" y="843915"/>
                </a:lnTo>
              </a:path>
              <a:path w="6076315" h="8067675">
                <a:moveTo>
                  <a:pt x="1905" y="843915"/>
                </a:moveTo>
                <a:lnTo>
                  <a:pt x="1905" y="0"/>
                </a:lnTo>
              </a:path>
              <a:path w="6076315" h="8067675">
                <a:moveTo>
                  <a:pt x="6075045" y="716915"/>
                </a:moveTo>
                <a:lnTo>
                  <a:pt x="6075045" y="1133475"/>
                </a:lnTo>
              </a:path>
              <a:path w="6076315" h="8067675">
                <a:moveTo>
                  <a:pt x="1905" y="1133475"/>
                </a:moveTo>
                <a:lnTo>
                  <a:pt x="1905" y="716915"/>
                </a:lnTo>
              </a:path>
              <a:path w="6076315" h="8067675">
                <a:moveTo>
                  <a:pt x="6075045" y="1006475"/>
                </a:moveTo>
                <a:lnTo>
                  <a:pt x="6075045" y="2073275"/>
                </a:lnTo>
              </a:path>
              <a:path w="6076315" h="8067675">
                <a:moveTo>
                  <a:pt x="1905" y="2073275"/>
                </a:moveTo>
                <a:lnTo>
                  <a:pt x="1905" y="1006475"/>
                </a:lnTo>
              </a:path>
              <a:path w="6076315" h="8067675">
                <a:moveTo>
                  <a:pt x="6075045" y="1946275"/>
                </a:moveTo>
                <a:lnTo>
                  <a:pt x="6075045" y="2362834"/>
                </a:lnTo>
              </a:path>
              <a:path w="6076315" h="8067675">
                <a:moveTo>
                  <a:pt x="1905" y="2362834"/>
                </a:moveTo>
                <a:lnTo>
                  <a:pt x="1905" y="1946275"/>
                </a:lnTo>
              </a:path>
              <a:path w="6076315" h="8067675">
                <a:moveTo>
                  <a:pt x="6075045" y="2235834"/>
                </a:moveTo>
                <a:lnTo>
                  <a:pt x="6075045" y="3465195"/>
                </a:lnTo>
              </a:path>
              <a:path w="6076315" h="8067675">
                <a:moveTo>
                  <a:pt x="1905" y="3465195"/>
                </a:moveTo>
                <a:lnTo>
                  <a:pt x="1905" y="2235834"/>
                </a:lnTo>
              </a:path>
              <a:path w="6076315" h="8067675">
                <a:moveTo>
                  <a:pt x="6075045" y="3338195"/>
                </a:moveTo>
                <a:lnTo>
                  <a:pt x="6075045" y="3754754"/>
                </a:lnTo>
              </a:path>
              <a:path w="6076315" h="8067675">
                <a:moveTo>
                  <a:pt x="1905" y="3754754"/>
                </a:moveTo>
                <a:lnTo>
                  <a:pt x="1905" y="3338195"/>
                </a:lnTo>
              </a:path>
              <a:path w="6076315" h="8067675">
                <a:moveTo>
                  <a:pt x="6075045" y="3627754"/>
                </a:moveTo>
                <a:lnTo>
                  <a:pt x="6075045" y="4044315"/>
                </a:lnTo>
              </a:path>
              <a:path w="6076315" h="8067675">
                <a:moveTo>
                  <a:pt x="1905" y="4044315"/>
                </a:moveTo>
                <a:lnTo>
                  <a:pt x="1905" y="3627754"/>
                </a:lnTo>
              </a:path>
              <a:path w="6076315" h="8067675">
                <a:moveTo>
                  <a:pt x="6075045" y="3917315"/>
                </a:moveTo>
                <a:lnTo>
                  <a:pt x="6075045" y="4333875"/>
                </a:lnTo>
              </a:path>
              <a:path w="6076315" h="8067675">
                <a:moveTo>
                  <a:pt x="1905" y="4333875"/>
                </a:moveTo>
                <a:lnTo>
                  <a:pt x="1905" y="3917315"/>
                </a:lnTo>
              </a:path>
              <a:path w="6076315" h="8067675">
                <a:moveTo>
                  <a:pt x="6075045" y="4206875"/>
                </a:moveTo>
                <a:lnTo>
                  <a:pt x="6075045" y="4623435"/>
                </a:lnTo>
              </a:path>
              <a:path w="6076315" h="8067675">
                <a:moveTo>
                  <a:pt x="1905" y="4623435"/>
                </a:moveTo>
                <a:lnTo>
                  <a:pt x="1905" y="4206875"/>
                </a:lnTo>
              </a:path>
              <a:path w="6076315" h="8067675">
                <a:moveTo>
                  <a:pt x="6075045" y="4496435"/>
                </a:moveTo>
                <a:lnTo>
                  <a:pt x="6075045" y="5075555"/>
                </a:lnTo>
              </a:path>
              <a:path w="6076315" h="8067675">
                <a:moveTo>
                  <a:pt x="1905" y="5075555"/>
                </a:moveTo>
                <a:lnTo>
                  <a:pt x="1905" y="4496435"/>
                </a:lnTo>
              </a:path>
              <a:path w="6076315" h="8067675">
                <a:moveTo>
                  <a:pt x="6075045" y="4948555"/>
                </a:moveTo>
                <a:lnTo>
                  <a:pt x="6075045" y="8067675"/>
                </a:lnTo>
              </a:path>
              <a:path w="6076315" h="8067675">
                <a:moveTo>
                  <a:pt x="6076315" y="8066405"/>
                </a:moveTo>
                <a:lnTo>
                  <a:pt x="0" y="8066405"/>
                </a:lnTo>
              </a:path>
              <a:path w="6076315" h="8067675">
                <a:moveTo>
                  <a:pt x="1905" y="8067675"/>
                </a:moveTo>
                <a:lnTo>
                  <a:pt x="1905" y="49485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75930"/>
          </a:xfrm>
          <a:custGeom>
            <a:avLst/>
            <a:gdLst/>
            <a:ahLst/>
            <a:cxnLst/>
            <a:rect l="l" t="t" r="r" b="b"/>
            <a:pathLst>
              <a:path w="6076950" h="8075930">
                <a:moveTo>
                  <a:pt x="6076950" y="0"/>
                </a:moveTo>
                <a:lnTo>
                  <a:pt x="0" y="0"/>
                </a:lnTo>
                <a:lnTo>
                  <a:pt x="0" y="4589145"/>
                </a:lnTo>
                <a:lnTo>
                  <a:pt x="0" y="4589780"/>
                </a:lnTo>
                <a:lnTo>
                  <a:pt x="0" y="8075930"/>
                </a:lnTo>
                <a:lnTo>
                  <a:pt x="6076950" y="8075930"/>
                </a:lnTo>
                <a:lnTo>
                  <a:pt x="6076950" y="458914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6029960" cy="713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769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01-Aug-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244475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17564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01-Aug-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16.0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1779270"/>
          <a:ext cx="5965825" cy="17830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occupancy_pct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occ_pct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room_class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property_name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6497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Presidential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50.0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Presidential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Palace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Business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6499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75.0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75.0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Presidential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Blu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Exotica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Bay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Palace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Business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Business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Blu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25209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4769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Standard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Seasons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Business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3716020"/>
          <a:ext cx="5123815" cy="1783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3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40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week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occ%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6497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Jul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6498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Jul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6499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31-Jul-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Jul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70.00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76.67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75.00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76.92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69.23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493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6506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Aug-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W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32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62.50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969" y="5607684"/>
            <a:ext cx="12871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latest_df.shape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5920740"/>
            <a:ext cx="8540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(6507,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16)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6186804"/>
            <a:ext cx="1539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df_bookings.head()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400" y="6499859"/>
          <a:ext cx="5150485" cy="1946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6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8864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che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  <a:tabLst>
                          <a:tab pos="1092835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ckout_date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27-04-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27-04-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14400" y="8597900"/>
            <a:ext cx="48799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40"/>
              </a:lnSpc>
              <a:tabLst>
                <a:tab pos="3785235" algn="l"/>
              </a:tabLst>
            </a:pPr>
            <a:r>
              <a:rPr sz="1100" dirty="0">
                <a:latin typeface="Courier New"/>
                <a:cs typeface="Courier New"/>
              </a:rPr>
              <a:t>no_guests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ratings_given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8760459"/>
            <a:ext cx="14433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1346200" algn="l"/>
              </a:tabLst>
            </a:pPr>
            <a:r>
              <a:rPr sz="1100" spc="-10" dirty="0">
                <a:latin typeface="Courier New"/>
                <a:cs typeface="Courier New"/>
              </a:rPr>
              <a:t>booking_status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8360" y="914400"/>
            <a:ext cx="6076315" cy="8075295"/>
          </a:xfrm>
          <a:custGeom>
            <a:avLst/>
            <a:gdLst/>
            <a:ahLst/>
            <a:cxnLst/>
            <a:rect l="l" t="t" r="r" b="b"/>
            <a:pathLst>
              <a:path w="6076315" h="8075295">
                <a:moveTo>
                  <a:pt x="0" y="1904"/>
                </a:moveTo>
                <a:lnTo>
                  <a:pt x="6076315" y="1904"/>
                </a:lnTo>
              </a:path>
              <a:path w="6076315" h="8075295">
                <a:moveTo>
                  <a:pt x="6075045" y="0"/>
                </a:moveTo>
                <a:lnTo>
                  <a:pt x="6075045" y="4716145"/>
                </a:lnTo>
              </a:path>
              <a:path w="6076315" h="8075295">
                <a:moveTo>
                  <a:pt x="1905" y="4716145"/>
                </a:moveTo>
                <a:lnTo>
                  <a:pt x="1905" y="0"/>
                </a:lnTo>
              </a:path>
              <a:path w="6076315" h="8075295">
                <a:moveTo>
                  <a:pt x="6075045" y="4589145"/>
                </a:moveTo>
                <a:lnTo>
                  <a:pt x="6075045" y="5005705"/>
                </a:lnTo>
              </a:path>
              <a:path w="6076315" h="8075295">
                <a:moveTo>
                  <a:pt x="1905" y="5005705"/>
                </a:moveTo>
                <a:lnTo>
                  <a:pt x="1905" y="4589145"/>
                </a:lnTo>
              </a:path>
              <a:path w="6076315" h="8075295">
                <a:moveTo>
                  <a:pt x="6075045" y="4878705"/>
                </a:moveTo>
                <a:lnTo>
                  <a:pt x="6075045" y="5295265"/>
                </a:lnTo>
              </a:path>
              <a:path w="6076315" h="8075295">
                <a:moveTo>
                  <a:pt x="1905" y="5295265"/>
                </a:moveTo>
                <a:lnTo>
                  <a:pt x="1905" y="4878705"/>
                </a:lnTo>
              </a:path>
              <a:path w="6076315" h="8075295">
                <a:moveTo>
                  <a:pt x="6075045" y="5168265"/>
                </a:moveTo>
                <a:lnTo>
                  <a:pt x="6075045" y="5584825"/>
                </a:lnTo>
              </a:path>
              <a:path w="6076315" h="8075295">
                <a:moveTo>
                  <a:pt x="1905" y="5584825"/>
                </a:moveTo>
                <a:lnTo>
                  <a:pt x="1905" y="5168265"/>
                </a:lnTo>
              </a:path>
              <a:path w="6076315" h="8075295">
                <a:moveTo>
                  <a:pt x="6075045" y="5457825"/>
                </a:moveTo>
                <a:lnTo>
                  <a:pt x="6075045" y="8075295"/>
                </a:lnTo>
              </a:path>
              <a:path w="6076315" h="8075295">
                <a:moveTo>
                  <a:pt x="6076315" y="8074025"/>
                </a:moveTo>
                <a:lnTo>
                  <a:pt x="0" y="8074025"/>
                </a:lnTo>
              </a:path>
              <a:path w="6076315" h="8075295">
                <a:moveTo>
                  <a:pt x="1905" y="8075295"/>
                </a:moveTo>
                <a:lnTo>
                  <a:pt x="1905" y="5457825"/>
                </a:lnTo>
              </a:path>
              <a:path w="6076315" h="8075295">
                <a:moveTo>
                  <a:pt x="0" y="1904"/>
                </a:moveTo>
                <a:lnTo>
                  <a:pt x="6076315" y="1904"/>
                </a:lnTo>
              </a:path>
              <a:path w="6076315" h="8075295">
                <a:moveTo>
                  <a:pt x="6075045" y="0"/>
                </a:moveTo>
                <a:lnTo>
                  <a:pt x="6075045" y="4716145"/>
                </a:lnTo>
              </a:path>
              <a:path w="6076315" h="8075295">
                <a:moveTo>
                  <a:pt x="1905" y="4716145"/>
                </a:moveTo>
                <a:lnTo>
                  <a:pt x="1905" y="0"/>
                </a:lnTo>
              </a:path>
              <a:path w="6076315" h="8075295">
                <a:moveTo>
                  <a:pt x="6075045" y="4589145"/>
                </a:moveTo>
                <a:lnTo>
                  <a:pt x="6075045" y="5005705"/>
                </a:lnTo>
              </a:path>
              <a:path w="6076315" h="8075295">
                <a:moveTo>
                  <a:pt x="1905" y="5005705"/>
                </a:moveTo>
                <a:lnTo>
                  <a:pt x="1905" y="4589145"/>
                </a:lnTo>
              </a:path>
              <a:path w="6076315" h="8075295">
                <a:moveTo>
                  <a:pt x="6075045" y="4878705"/>
                </a:moveTo>
                <a:lnTo>
                  <a:pt x="6075045" y="5295265"/>
                </a:lnTo>
              </a:path>
              <a:path w="6076315" h="8075295">
                <a:moveTo>
                  <a:pt x="1905" y="5295265"/>
                </a:moveTo>
                <a:lnTo>
                  <a:pt x="1905" y="4878705"/>
                </a:lnTo>
              </a:path>
              <a:path w="6076315" h="8075295">
                <a:moveTo>
                  <a:pt x="6075045" y="5168265"/>
                </a:moveTo>
                <a:lnTo>
                  <a:pt x="6075045" y="5584825"/>
                </a:lnTo>
              </a:path>
              <a:path w="6076315" h="8075295">
                <a:moveTo>
                  <a:pt x="1905" y="5584825"/>
                </a:moveTo>
                <a:lnTo>
                  <a:pt x="1905" y="5168265"/>
                </a:lnTo>
              </a:path>
              <a:path w="6076315" h="8075295">
                <a:moveTo>
                  <a:pt x="6075045" y="5457825"/>
                </a:moveTo>
                <a:lnTo>
                  <a:pt x="6075045" y="8075295"/>
                </a:lnTo>
              </a:path>
              <a:path w="6076315" h="8075295">
                <a:moveTo>
                  <a:pt x="6076315" y="8074025"/>
                </a:moveTo>
                <a:lnTo>
                  <a:pt x="0" y="8074025"/>
                </a:lnTo>
              </a:path>
              <a:path w="6076315" h="8075295">
                <a:moveTo>
                  <a:pt x="1905" y="8075295"/>
                </a:moveTo>
                <a:lnTo>
                  <a:pt x="1905" y="545782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75930"/>
          </a:xfrm>
          <a:custGeom>
            <a:avLst/>
            <a:gdLst/>
            <a:ahLst/>
            <a:cxnLst/>
            <a:rect l="l" t="t" r="r" b="b"/>
            <a:pathLst>
              <a:path w="6076950" h="8075930">
                <a:moveTo>
                  <a:pt x="6076950" y="0"/>
                </a:moveTo>
                <a:lnTo>
                  <a:pt x="0" y="0"/>
                </a:lnTo>
                <a:lnTo>
                  <a:pt x="0" y="2815590"/>
                </a:lnTo>
                <a:lnTo>
                  <a:pt x="0" y="3105150"/>
                </a:lnTo>
                <a:lnTo>
                  <a:pt x="0" y="3882390"/>
                </a:lnTo>
                <a:lnTo>
                  <a:pt x="0" y="4334510"/>
                </a:lnTo>
                <a:lnTo>
                  <a:pt x="0" y="8075930"/>
                </a:lnTo>
                <a:lnTo>
                  <a:pt x="6076950" y="8075930"/>
                </a:lnTo>
                <a:lnTo>
                  <a:pt x="6076950" y="4334510"/>
                </a:lnTo>
                <a:lnTo>
                  <a:pt x="6076950" y="3882390"/>
                </a:lnTo>
                <a:lnTo>
                  <a:pt x="6076950" y="3105150"/>
                </a:lnTo>
                <a:lnTo>
                  <a:pt x="6076950" y="281559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5944870" cy="1685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6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1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769"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  <a:tabLst>
                          <a:tab pos="67373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3.0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1.0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75755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75755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logtrip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67373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others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NaN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5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Cancelled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757555" algn="l"/>
                        </a:tabLst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4.0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49657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direct</a:t>
                      </a:r>
                      <a:r>
                        <a:rPr sz="1100" spc="-6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online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5.0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4400" y="2754629"/>
            <a:ext cx="3197225" cy="9747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851025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262380" algn="l"/>
                <a:tab pos="277622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10010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10010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346200" algn="l"/>
                <a:tab pos="286004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094105" algn="l"/>
                <a:tab pos="286004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9100000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1346200" algn="l"/>
                <a:tab pos="286004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1262380" algn="l"/>
                <a:tab pos="2776220" algn="l"/>
              </a:tabLst>
            </a:pPr>
            <a:r>
              <a:rPr sz="1100" spc="-50" dirty="0">
                <a:latin typeface="Courier New"/>
                <a:cs typeface="Courier New"/>
              </a:rPr>
              <a:t>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10920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10920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3834129"/>
            <a:ext cx="14566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df_hotels.head(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4146550"/>
            <a:ext cx="395414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346200" algn="l"/>
                <a:tab pos="2607945" algn="l"/>
                <a:tab pos="3616960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property_name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280"/>
              </a:lnSpc>
              <a:buAutoNum type="arabicPlain"/>
              <a:tabLst>
                <a:tab pos="757555" algn="l"/>
                <a:tab pos="1430655" algn="l"/>
                <a:tab pos="2776220" algn="l"/>
                <a:tab pos="3533140" algn="l"/>
              </a:tabLst>
            </a:pP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280"/>
              </a:lnSpc>
              <a:buAutoNum type="arabicPlain"/>
              <a:tabLst>
                <a:tab pos="757555" algn="l"/>
                <a:tab pos="1346200" algn="l"/>
                <a:tab pos="277622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Exotica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Mumbai</a:t>
            </a:r>
            <a:endParaRPr sz="1100">
              <a:latin typeface="Courier New"/>
              <a:cs typeface="Courier New"/>
            </a:endParaRPr>
          </a:p>
          <a:p>
            <a:pPr marL="757555" indent="-756920">
              <a:lnSpc>
                <a:spcPts val="1300"/>
              </a:lnSpc>
              <a:buAutoNum type="arabicPlain"/>
              <a:tabLst>
                <a:tab pos="757555" algn="l"/>
                <a:tab pos="1598930" algn="l"/>
                <a:tab pos="2607945" algn="l"/>
                <a:tab pos="3533140" algn="l"/>
              </a:tabLst>
            </a:pPr>
            <a:r>
              <a:rPr sz="1100" spc="-10" dirty="0">
                <a:latin typeface="Courier New"/>
                <a:cs typeface="Courier New"/>
              </a:rPr>
              <a:t>16560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Business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4900929"/>
            <a:ext cx="574802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df_bookings_all</a:t>
            </a:r>
            <a:r>
              <a:rPr sz="1100" spc="-7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8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pd.merge(df_bookings,</a:t>
            </a:r>
            <a:r>
              <a:rPr sz="1100" spc="-8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df_hotels,</a:t>
            </a:r>
            <a:r>
              <a:rPr sz="1100" spc="-8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"property_id"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df_bookings_all.head(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14400" y="5375909"/>
          <a:ext cx="5150485" cy="1298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60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R="850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58864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property_id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booking_date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check_in_date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che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  <a:tabLst>
                          <a:tab pos="1092835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ckout_date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27-04-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30-04-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85090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May012216558RT13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16558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28-04-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4/5/2022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14400" y="6824980"/>
            <a:ext cx="48799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35"/>
              </a:lnSpc>
              <a:tabLst>
                <a:tab pos="3785235" algn="l"/>
              </a:tabLst>
            </a:pPr>
            <a:r>
              <a:rPr sz="1100" dirty="0">
                <a:latin typeface="Courier New"/>
                <a:cs typeface="Courier New"/>
              </a:rPr>
              <a:t>no_guests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ratings_given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6987540"/>
            <a:ext cx="1443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  <a:tabLst>
                <a:tab pos="1346200" algn="l"/>
              </a:tabLst>
            </a:pPr>
            <a:r>
              <a:rPr sz="1100" spc="-10" dirty="0">
                <a:latin typeface="Courier New"/>
                <a:cs typeface="Courier New"/>
              </a:rPr>
              <a:t>booking_status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715010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15669" y="7126605"/>
            <a:ext cx="48907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72465" algn="l"/>
                <a:tab pos="1934210" algn="l"/>
                <a:tab pos="2522855" algn="l"/>
                <a:tab pos="462534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3.0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9833" y="7126605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7312659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" y="7475219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4"/>
                </a:lnTo>
                <a:lnTo>
                  <a:pt x="4879975" y="161924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5669" y="7451725"/>
            <a:ext cx="48907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111500" algn="l"/>
                <a:tab pos="462534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7637780"/>
            <a:ext cx="768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780034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4"/>
                </a:lnTo>
                <a:lnTo>
                  <a:pt x="5804534" y="161924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15669" y="7776844"/>
            <a:ext cx="48907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027045" algn="l"/>
                <a:tab pos="462534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logtrip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5.0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29833" y="7776844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7962900"/>
            <a:ext cx="26479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8272780"/>
            <a:ext cx="5720715" cy="64960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851025" algn="l"/>
                <a:tab pos="5383530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property_name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  <a:p>
            <a:pPr marL="1262380" indent="-1261745">
              <a:lnSpc>
                <a:spcPts val="1280"/>
              </a:lnSpc>
              <a:buAutoNum type="arabicPlain"/>
              <a:tabLst>
                <a:tab pos="1262380" algn="l"/>
                <a:tab pos="2776220" algn="l"/>
                <a:tab pos="3364865" algn="l"/>
                <a:tab pos="4626610" algn="l"/>
                <a:tab pos="5299075" algn="l"/>
              </a:tabLst>
            </a:pPr>
            <a:r>
              <a:rPr sz="1100" spc="-10" dirty="0">
                <a:latin typeface="Courier New"/>
                <a:cs typeface="Courier New"/>
              </a:rPr>
              <a:t>10010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10010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1346200" indent="-1345565">
              <a:lnSpc>
                <a:spcPts val="1280"/>
              </a:lnSpc>
              <a:buAutoNum type="arabicPlain"/>
              <a:tabLst>
                <a:tab pos="1346200" algn="l"/>
                <a:tab pos="2860040" algn="l"/>
                <a:tab pos="3364865" algn="l"/>
                <a:tab pos="4626610" algn="l"/>
                <a:tab pos="5299075" algn="l"/>
              </a:tabLst>
            </a:pP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1094105" indent="-1093470">
              <a:lnSpc>
                <a:spcPts val="1300"/>
              </a:lnSpc>
              <a:buAutoNum type="arabicPlain"/>
              <a:tabLst>
                <a:tab pos="1094105" algn="l"/>
                <a:tab pos="2860040" algn="l"/>
                <a:tab pos="3364865" algn="l"/>
                <a:tab pos="4626610" algn="l"/>
                <a:tab pos="5299075" algn="l"/>
              </a:tabLst>
            </a:pPr>
            <a:r>
              <a:rPr sz="1100" spc="-10" dirty="0">
                <a:latin typeface="Courier New"/>
                <a:cs typeface="Courier New"/>
              </a:rPr>
              <a:t>9100000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48360" y="914400"/>
            <a:ext cx="6076315" cy="8075295"/>
          </a:xfrm>
          <a:custGeom>
            <a:avLst/>
            <a:gdLst/>
            <a:ahLst/>
            <a:cxnLst/>
            <a:rect l="l" t="t" r="r" b="b"/>
            <a:pathLst>
              <a:path w="6076315" h="8075295">
                <a:moveTo>
                  <a:pt x="0" y="1904"/>
                </a:moveTo>
                <a:lnTo>
                  <a:pt x="6076315" y="1904"/>
                </a:lnTo>
              </a:path>
              <a:path w="6076315" h="8075295">
                <a:moveTo>
                  <a:pt x="6075045" y="0"/>
                </a:moveTo>
                <a:lnTo>
                  <a:pt x="6075045" y="2942590"/>
                </a:lnTo>
              </a:path>
              <a:path w="6076315" h="8075295">
                <a:moveTo>
                  <a:pt x="1905" y="2942590"/>
                </a:moveTo>
                <a:lnTo>
                  <a:pt x="1905" y="0"/>
                </a:lnTo>
              </a:path>
              <a:path w="6076315" h="8075295">
                <a:moveTo>
                  <a:pt x="6075045" y="2815590"/>
                </a:moveTo>
                <a:lnTo>
                  <a:pt x="6075045" y="3232150"/>
                </a:lnTo>
              </a:path>
              <a:path w="6076315" h="8075295">
                <a:moveTo>
                  <a:pt x="1905" y="3232150"/>
                </a:moveTo>
                <a:lnTo>
                  <a:pt x="1905" y="2815590"/>
                </a:lnTo>
              </a:path>
              <a:path w="6076315" h="8075295">
                <a:moveTo>
                  <a:pt x="6075045" y="3105150"/>
                </a:moveTo>
                <a:lnTo>
                  <a:pt x="6075045" y="4009390"/>
                </a:lnTo>
              </a:path>
              <a:path w="6076315" h="8075295">
                <a:moveTo>
                  <a:pt x="1905" y="4009390"/>
                </a:moveTo>
                <a:lnTo>
                  <a:pt x="1905" y="3105150"/>
                </a:lnTo>
              </a:path>
              <a:path w="6076315" h="8075295">
                <a:moveTo>
                  <a:pt x="6075045" y="3882390"/>
                </a:moveTo>
                <a:lnTo>
                  <a:pt x="6075045" y="4461510"/>
                </a:lnTo>
              </a:path>
              <a:path w="6076315" h="8075295">
                <a:moveTo>
                  <a:pt x="1905" y="4461510"/>
                </a:moveTo>
                <a:lnTo>
                  <a:pt x="1905" y="3882390"/>
                </a:lnTo>
              </a:path>
              <a:path w="6076315" h="8075295">
                <a:moveTo>
                  <a:pt x="6075045" y="4334510"/>
                </a:moveTo>
                <a:lnTo>
                  <a:pt x="6075045" y="8075295"/>
                </a:lnTo>
              </a:path>
              <a:path w="6076315" h="8075295">
                <a:moveTo>
                  <a:pt x="6076315" y="8074025"/>
                </a:moveTo>
                <a:lnTo>
                  <a:pt x="0" y="8074025"/>
                </a:lnTo>
              </a:path>
              <a:path w="6076315" h="8075295">
                <a:moveTo>
                  <a:pt x="1905" y="8075295"/>
                </a:moveTo>
                <a:lnTo>
                  <a:pt x="1905" y="4334510"/>
                </a:lnTo>
              </a:path>
              <a:path w="6076315" h="8075295">
                <a:moveTo>
                  <a:pt x="0" y="1904"/>
                </a:moveTo>
                <a:lnTo>
                  <a:pt x="6076315" y="1904"/>
                </a:lnTo>
              </a:path>
              <a:path w="6076315" h="8075295">
                <a:moveTo>
                  <a:pt x="6075045" y="0"/>
                </a:moveTo>
                <a:lnTo>
                  <a:pt x="6075045" y="2942590"/>
                </a:lnTo>
              </a:path>
              <a:path w="6076315" h="8075295">
                <a:moveTo>
                  <a:pt x="1905" y="2942590"/>
                </a:moveTo>
                <a:lnTo>
                  <a:pt x="1905" y="0"/>
                </a:lnTo>
              </a:path>
              <a:path w="6076315" h="8075295">
                <a:moveTo>
                  <a:pt x="6075045" y="2815590"/>
                </a:moveTo>
                <a:lnTo>
                  <a:pt x="6075045" y="3232150"/>
                </a:lnTo>
              </a:path>
              <a:path w="6076315" h="8075295">
                <a:moveTo>
                  <a:pt x="1905" y="3232150"/>
                </a:moveTo>
                <a:lnTo>
                  <a:pt x="1905" y="2815590"/>
                </a:lnTo>
              </a:path>
              <a:path w="6076315" h="8075295">
                <a:moveTo>
                  <a:pt x="6075045" y="3105150"/>
                </a:moveTo>
                <a:lnTo>
                  <a:pt x="6075045" y="4009390"/>
                </a:lnTo>
              </a:path>
              <a:path w="6076315" h="8075295">
                <a:moveTo>
                  <a:pt x="1905" y="4009390"/>
                </a:moveTo>
                <a:lnTo>
                  <a:pt x="1905" y="3105150"/>
                </a:lnTo>
              </a:path>
              <a:path w="6076315" h="8075295">
                <a:moveTo>
                  <a:pt x="6075045" y="3882390"/>
                </a:moveTo>
                <a:lnTo>
                  <a:pt x="6075045" y="4461510"/>
                </a:lnTo>
              </a:path>
              <a:path w="6076315" h="8075295">
                <a:moveTo>
                  <a:pt x="1905" y="4461510"/>
                </a:moveTo>
                <a:lnTo>
                  <a:pt x="1905" y="3882390"/>
                </a:lnTo>
              </a:path>
              <a:path w="6076315" h="8075295">
                <a:moveTo>
                  <a:pt x="6075045" y="4334510"/>
                </a:moveTo>
                <a:lnTo>
                  <a:pt x="6075045" y="8075295"/>
                </a:lnTo>
              </a:path>
              <a:path w="6076315" h="8075295">
                <a:moveTo>
                  <a:pt x="6076315" y="8074025"/>
                </a:moveTo>
                <a:lnTo>
                  <a:pt x="0" y="8074025"/>
                </a:lnTo>
              </a:path>
              <a:path w="6076315" h="8075295">
                <a:moveTo>
                  <a:pt x="1905" y="8075295"/>
                </a:moveTo>
                <a:lnTo>
                  <a:pt x="1905" y="433451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74659"/>
          </a:xfrm>
          <a:custGeom>
            <a:avLst/>
            <a:gdLst/>
            <a:ahLst/>
            <a:cxnLst/>
            <a:rect l="l" t="t" r="r" b="b"/>
            <a:pathLst>
              <a:path w="6076950" h="8074659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8074660"/>
                </a:lnTo>
                <a:lnTo>
                  <a:pt x="6076950" y="807466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48215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"city"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"revenue_realized"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271269"/>
            <a:ext cx="335915" cy="161925"/>
          </a:xfrm>
          <a:custGeom>
            <a:avLst/>
            <a:gdLst/>
            <a:ahLst/>
            <a:cxnLst/>
            <a:rect l="l" t="t" r="r" b="b"/>
            <a:pathLst>
              <a:path w="335915" h="161925">
                <a:moveTo>
                  <a:pt x="335915" y="0"/>
                </a:moveTo>
                <a:lnTo>
                  <a:pt x="0" y="0"/>
                </a:lnTo>
                <a:lnTo>
                  <a:pt x="0" y="161925"/>
                </a:lnTo>
                <a:lnTo>
                  <a:pt x="335915" y="161925"/>
                </a:lnTo>
                <a:lnTo>
                  <a:pt x="3359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1271269"/>
          <a:ext cx="1927860" cy="809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6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Bangalore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420397050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294500318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Hyderabad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325232870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Mumbai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668640991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14400" y="2084070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revenue_realized,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2350134"/>
            <a:ext cx="1288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df_date.head(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4400" y="2663189"/>
            <a:ext cx="3197225" cy="161925"/>
          </a:xfrm>
          <a:custGeom>
            <a:avLst/>
            <a:gdLst/>
            <a:ahLst/>
            <a:cxnLst/>
            <a:rect l="l" t="t" r="r" b="b"/>
            <a:pathLst>
              <a:path w="3197225" h="161925">
                <a:moveTo>
                  <a:pt x="3197225" y="0"/>
                </a:moveTo>
                <a:lnTo>
                  <a:pt x="0" y="0"/>
                </a:lnTo>
                <a:lnTo>
                  <a:pt x="0" y="161925"/>
                </a:lnTo>
                <a:lnTo>
                  <a:pt x="3197225" y="161925"/>
                </a:lnTo>
                <a:lnTo>
                  <a:pt x="31972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93061" y="2639694"/>
            <a:ext cx="11906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mmm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week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no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2825749"/>
            <a:ext cx="3197225" cy="487045"/>
          </a:xfrm>
          <a:custGeom>
            <a:avLst/>
            <a:gdLst/>
            <a:ahLst/>
            <a:cxnLst/>
            <a:rect l="l" t="t" r="r" b="b"/>
            <a:pathLst>
              <a:path w="3197225" h="487045">
                <a:moveTo>
                  <a:pt x="319722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197225" y="487045"/>
                </a:lnTo>
                <a:lnTo>
                  <a:pt x="3197225" y="325120"/>
                </a:lnTo>
                <a:close/>
              </a:path>
              <a:path w="3197225" h="487045">
                <a:moveTo>
                  <a:pt x="31972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197225" y="324485"/>
                </a:lnTo>
                <a:lnTo>
                  <a:pt x="3197225" y="162560"/>
                </a:lnTo>
                <a:close/>
              </a:path>
              <a:path w="3197225" h="487045">
                <a:moveTo>
                  <a:pt x="3197225" y="0"/>
                </a:moveTo>
                <a:lnTo>
                  <a:pt x="0" y="0"/>
                </a:lnTo>
                <a:lnTo>
                  <a:pt x="0" y="161925"/>
                </a:lnTo>
                <a:lnTo>
                  <a:pt x="3197225" y="161925"/>
                </a:lnTo>
                <a:lnTo>
                  <a:pt x="31972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2639694"/>
            <a:ext cx="102235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2465">
              <a:lnSpc>
                <a:spcPts val="1300"/>
              </a:lnSpc>
              <a:spcBef>
                <a:spcPts val="100"/>
              </a:spcBef>
            </a:pPr>
            <a:r>
              <a:rPr sz="1100" spc="-20" dirty="0">
                <a:latin typeface="Courier New"/>
                <a:cs typeface="Courier New"/>
              </a:rPr>
              <a:t>date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25209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01-May-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25209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02-May-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25209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03-May-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93061" y="2802255"/>
            <a:ext cx="51752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</a:pP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34055" y="2639694"/>
            <a:ext cx="119062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day_type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  <a:tabLst>
                <a:tab pos="588010" algn="l"/>
              </a:tabLst>
            </a:pPr>
            <a:r>
              <a:rPr sz="1100" dirty="0">
                <a:latin typeface="Courier New"/>
                <a:cs typeface="Courier New"/>
              </a:rPr>
              <a:t>W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weekend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280"/>
              </a:lnSpc>
              <a:tabLst>
                <a:tab pos="504190" algn="l"/>
              </a:tabLst>
            </a:pPr>
            <a:r>
              <a:rPr sz="1100" dirty="0">
                <a:latin typeface="Courier New"/>
                <a:cs typeface="Courier New"/>
              </a:rPr>
              <a:t>W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weekeday</a:t>
            </a:r>
            <a:endParaRPr sz="1100">
              <a:latin typeface="Courier New"/>
              <a:cs typeface="Courier New"/>
            </a:endParaRPr>
          </a:p>
          <a:p>
            <a:pPr marR="5080" algn="r">
              <a:lnSpc>
                <a:spcPts val="1300"/>
              </a:lnSpc>
              <a:tabLst>
                <a:tab pos="504190" algn="l"/>
              </a:tabLst>
            </a:pPr>
            <a:r>
              <a:rPr sz="1100" dirty="0">
                <a:latin typeface="Courier New"/>
                <a:cs typeface="Courier New"/>
              </a:rPr>
              <a:t>W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weekeday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2969" y="3416934"/>
            <a:ext cx="22129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df_date[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"mmm</a:t>
            </a:r>
            <a:r>
              <a:rPr sz="1100" spc="-1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yy"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].unique()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3729990"/>
            <a:ext cx="429069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array(['May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22',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'Jun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22',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'Jul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22'],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dtype=object)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430910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2969" y="3996054"/>
            <a:ext cx="49872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768985">
              <a:lnSpc>
                <a:spcPct val="100000"/>
              </a:lnSpc>
              <a:spcBef>
                <a:spcPts val="960"/>
              </a:spcBef>
              <a:tabLst>
                <a:tab pos="1778635" algn="l"/>
              </a:tabLst>
            </a:pPr>
            <a:r>
              <a:rPr sz="1100" spc="-10" dirty="0">
                <a:latin typeface="Courier New"/>
                <a:cs typeface="Courier New"/>
              </a:rPr>
              <a:t>booking_id</a:t>
            </a:r>
            <a:r>
              <a:rPr sz="1100" dirty="0">
                <a:latin typeface="Courier New"/>
                <a:cs typeface="Courier New"/>
              </a:rPr>
              <a:t>	property_id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447167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  <a:tabLst>
                <a:tab pos="1262380" algn="l"/>
              </a:tabLst>
            </a:pPr>
            <a:r>
              <a:rPr sz="1100" spc="-10" dirty="0">
                <a:latin typeface="Courier New"/>
                <a:cs typeface="Courier New"/>
              </a:rPr>
              <a:t>checkout_date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463422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5669" y="4610734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28879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479679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495935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15669" y="4935854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28879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30-04-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512190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4400" y="5284469"/>
            <a:ext cx="4963795" cy="324485"/>
          </a:xfrm>
          <a:custGeom>
            <a:avLst/>
            <a:gdLst/>
            <a:ahLst/>
            <a:cxnLst/>
            <a:rect l="l" t="t" r="r" b="b"/>
            <a:pathLst>
              <a:path w="4963795" h="324485">
                <a:moveTo>
                  <a:pt x="6724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672465" y="324485"/>
                </a:lnTo>
                <a:lnTo>
                  <a:pt x="672465" y="162560"/>
                </a:lnTo>
                <a:close/>
              </a:path>
              <a:path w="4963795" h="32448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2969" y="5260975"/>
            <a:ext cx="498729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264795" algn="l"/>
                <a:tab pos="2282825" algn="l"/>
                <a:tab pos="3124200" algn="l"/>
                <a:tab pos="4301490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1/5/2022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10" dirty="0">
                <a:latin typeface="Courier New"/>
                <a:cs typeface="Courier New"/>
              </a:rPr>
              <a:t>4/5/2022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5756909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55268" y="5734050"/>
            <a:ext cx="338962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no_guests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87443" y="5734050"/>
            <a:ext cx="1118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ratings_given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5919470"/>
            <a:ext cx="1443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1346200" algn="l"/>
              </a:tabLst>
            </a:pPr>
            <a:r>
              <a:rPr sz="1100" spc="-10" dirty="0">
                <a:latin typeface="Courier New"/>
                <a:cs typeface="Courier New"/>
              </a:rPr>
              <a:t>booking_status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6082029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15669" y="6059170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72465" algn="l"/>
                <a:tab pos="1934210" algn="l"/>
                <a:tab pos="252285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3.0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41137" y="605917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29833" y="6059170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400" y="6244590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14400" y="6407150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15669" y="6384290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11150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41137" y="638429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4400" y="6569709"/>
            <a:ext cx="768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4400" y="6732269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4"/>
                </a:lnTo>
                <a:lnTo>
                  <a:pt x="5804534" y="161924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15669" y="6709409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02704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logtrip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41137" y="6709409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5.0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29833" y="6709409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914400" y="6894830"/>
          <a:ext cx="5796915" cy="960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8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5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Out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revenue_generated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revenue_realized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property_name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category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city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  <a:tabLst>
                          <a:tab pos="588010" algn="l"/>
                        </a:tabLst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3640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9100000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Atliq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5" name="object 45"/>
          <p:cNvSpPr/>
          <p:nvPr/>
        </p:nvSpPr>
        <p:spPr>
          <a:xfrm>
            <a:off x="914400" y="8272780"/>
            <a:ext cx="3113405" cy="161925"/>
          </a:xfrm>
          <a:custGeom>
            <a:avLst/>
            <a:gdLst/>
            <a:ahLst/>
            <a:cxnLst/>
            <a:rect l="l" t="t" r="r" b="b"/>
            <a:pathLst>
              <a:path w="3113404" h="161925">
                <a:moveTo>
                  <a:pt x="3113404" y="0"/>
                </a:moveTo>
                <a:lnTo>
                  <a:pt x="0" y="0"/>
                </a:lnTo>
                <a:lnTo>
                  <a:pt x="0" y="161925"/>
                </a:lnTo>
                <a:lnTo>
                  <a:pt x="3113404" y="161925"/>
                </a:lnTo>
                <a:lnTo>
                  <a:pt x="311340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02969" y="7959725"/>
            <a:ext cx="3137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df_date.info()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&lt;class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'pandas.core.frame.DataFrame'&gt;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4400" y="8435340"/>
            <a:ext cx="26206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RangeIndex: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92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entries,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91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14400" y="8597162"/>
            <a:ext cx="262064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columns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(total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columns):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914400" y="8760459"/>
            <a:ext cx="3028315" cy="161925"/>
          </a:xfrm>
          <a:custGeom>
            <a:avLst/>
            <a:gdLst/>
            <a:ahLst/>
            <a:cxnLst/>
            <a:rect l="l" t="t" r="r" b="b"/>
            <a:pathLst>
              <a:path w="3028315" h="161925">
                <a:moveTo>
                  <a:pt x="3028315" y="0"/>
                </a:moveTo>
                <a:lnTo>
                  <a:pt x="0" y="0"/>
                </a:lnTo>
                <a:lnTo>
                  <a:pt x="0" y="161925"/>
                </a:lnTo>
                <a:lnTo>
                  <a:pt x="3028315" y="161925"/>
                </a:lnTo>
                <a:lnTo>
                  <a:pt x="30283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987069" y="8736965"/>
            <a:ext cx="29692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615" algn="l"/>
                <a:tab pos="1189990" algn="l"/>
                <a:tab pos="2535555" algn="l"/>
              </a:tabLst>
            </a:pPr>
            <a:r>
              <a:rPr sz="1100" spc="-50" dirty="0">
                <a:latin typeface="Courier New"/>
                <a:cs typeface="Courier New"/>
              </a:rPr>
              <a:t>#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Column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Non-</a:t>
            </a:r>
            <a:r>
              <a:rPr sz="1100" dirty="0">
                <a:latin typeface="Courier New"/>
                <a:cs typeface="Courier New"/>
              </a:rPr>
              <a:t>Null</a:t>
            </a:r>
            <a:r>
              <a:rPr sz="1100" spc="-10" dirty="0">
                <a:latin typeface="Courier New"/>
                <a:cs typeface="Courier New"/>
              </a:rPr>
              <a:t> Count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Dtype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48360" y="914400"/>
            <a:ext cx="6076315" cy="8074025"/>
          </a:xfrm>
          <a:custGeom>
            <a:avLst/>
            <a:gdLst/>
            <a:ahLst/>
            <a:cxnLst/>
            <a:rect l="l" t="t" r="r" b="b"/>
            <a:pathLst>
              <a:path w="6076315" h="8074025">
                <a:moveTo>
                  <a:pt x="0" y="1904"/>
                </a:moveTo>
                <a:lnTo>
                  <a:pt x="6076315" y="1904"/>
                </a:lnTo>
              </a:path>
              <a:path w="6076315" h="8074025">
                <a:moveTo>
                  <a:pt x="6075045" y="0"/>
                </a:moveTo>
                <a:lnTo>
                  <a:pt x="6075045" y="356234"/>
                </a:lnTo>
              </a:path>
              <a:path w="6076315" h="8074025">
                <a:moveTo>
                  <a:pt x="1905" y="356234"/>
                </a:moveTo>
                <a:lnTo>
                  <a:pt x="1905" y="0"/>
                </a:lnTo>
              </a:path>
              <a:path w="6076315" h="8074025">
                <a:moveTo>
                  <a:pt x="6075045" y="229234"/>
                </a:moveTo>
                <a:lnTo>
                  <a:pt x="6075045" y="1458595"/>
                </a:lnTo>
              </a:path>
              <a:path w="6076315" h="8074025">
                <a:moveTo>
                  <a:pt x="1905" y="1458595"/>
                </a:moveTo>
                <a:lnTo>
                  <a:pt x="1905" y="229234"/>
                </a:lnTo>
              </a:path>
              <a:path w="6076315" h="8074025">
                <a:moveTo>
                  <a:pt x="6075045" y="1331595"/>
                </a:moveTo>
                <a:lnTo>
                  <a:pt x="6075045" y="1748154"/>
                </a:lnTo>
              </a:path>
              <a:path w="6076315" h="8074025">
                <a:moveTo>
                  <a:pt x="1905" y="1748154"/>
                </a:moveTo>
                <a:lnTo>
                  <a:pt x="1905" y="1331595"/>
                </a:lnTo>
              </a:path>
              <a:path w="6076315" h="8074025">
                <a:moveTo>
                  <a:pt x="6075045" y="1621154"/>
                </a:moveTo>
                <a:lnTo>
                  <a:pt x="6075045" y="2525395"/>
                </a:lnTo>
              </a:path>
              <a:path w="6076315" h="8074025">
                <a:moveTo>
                  <a:pt x="1905" y="2525395"/>
                </a:moveTo>
                <a:lnTo>
                  <a:pt x="1905" y="1621154"/>
                </a:lnTo>
              </a:path>
              <a:path w="6076315" h="8074025">
                <a:moveTo>
                  <a:pt x="6075045" y="2398395"/>
                </a:moveTo>
                <a:lnTo>
                  <a:pt x="6075045" y="2814954"/>
                </a:lnTo>
              </a:path>
              <a:path w="6076315" h="8074025">
                <a:moveTo>
                  <a:pt x="1905" y="2814954"/>
                </a:moveTo>
                <a:lnTo>
                  <a:pt x="1905" y="2398395"/>
                </a:lnTo>
              </a:path>
              <a:path w="6076315" h="8074025">
                <a:moveTo>
                  <a:pt x="6075045" y="2687954"/>
                </a:moveTo>
                <a:lnTo>
                  <a:pt x="6075045" y="3104515"/>
                </a:lnTo>
              </a:path>
              <a:path w="6076315" h="8074025">
                <a:moveTo>
                  <a:pt x="1905" y="3104515"/>
                </a:moveTo>
                <a:lnTo>
                  <a:pt x="1905" y="2687954"/>
                </a:lnTo>
              </a:path>
              <a:path w="6076315" h="8074025">
                <a:moveTo>
                  <a:pt x="6075045" y="2977515"/>
                </a:moveTo>
                <a:lnTo>
                  <a:pt x="6075045" y="3394075"/>
                </a:lnTo>
              </a:path>
              <a:path w="6076315" h="8074025">
                <a:moveTo>
                  <a:pt x="1905" y="3394075"/>
                </a:moveTo>
                <a:lnTo>
                  <a:pt x="1905" y="2977515"/>
                </a:lnTo>
              </a:path>
              <a:path w="6076315" h="8074025">
                <a:moveTo>
                  <a:pt x="6075045" y="3267075"/>
                </a:moveTo>
                <a:lnTo>
                  <a:pt x="6075045" y="7068184"/>
                </a:lnTo>
              </a:path>
              <a:path w="6076315" h="8074025">
                <a:moveTo>
                  <a:pt x="1905" y="7068184"/>
                </a:moveTo>
                <a:lnTo>
                  <a:pt x="1905" y="3267075"/>
                </a:lnTo>
              </a:path>
              <a:path w="6076315" h="8074025">
                <a:moveTo>
                  <a:pt x="6075045" y="6941184"/>
                </a:moveTo>
                <a:lnTo>
                  <a:pt x="6075045" y="7357745"/>
                </a:lnTo>
              </a:path>
              <a:path w="6076315" h="8074025">
                <a:moveTo>
                  <a:pt x="1905" y="7357745"/>
                </a:moveTo>
                <a:lnTo>
                  <a:pt x="1905" y="6941184"/>
                </a:lnTo>
              </a:path>
              <a:path w="6076315" h="8074025">
                <a:moveTo>
                  <a:pt x="6075045" y="7230745"/>
                </a:moveTo>
                <a:lnTo>
                  <a:pt x="6075045" y="8074025"/>
                </a:lnTo>
              </a:path>
              <a:path w="6076315" h="8074025">
                <a:moveTo>
                  <a:pt x="6076315" y="8072755"/>
                </a:moveTo>
                <a:lnTo>
                  <a:pt x="0" y="8072755"/>
                </a:lnTo>
              </a:path>
              <a:path w="6076315" h="8074025">
                <a:moveTo>
                  <a:pt x="1905" y="8074025"/>
                </a:moveTo>
                <a:lnTo>
                  <a:pt x="1905" y="7230745"/>
                </a:lnTo>
              </a:path>
              <a:path w="6076315" h="8074025">
                <a:moveTo>
                  <a:pt x="0" y="1904"/>
                </a:moveTo>
                <a:lnTo>
                  <a:pt x="6076315" y="1904"/>
                </a:lnTo>
              </a:path>
              <a:path w="6076315" h="8074025">
                <a:moveTo>
                  <a:pt x="6075045" y="0"/>
                </a:moveTo>
                <a:lnTo>
                  <a:pt x="6075045" y="356234"/>
                </a:lnTo>
              </a:path>
              <a:path w="6076315" h="8074025">
                <a:moveTo>
                  <a:pt x="1905" y="356234"/>
                </a:moveTo>
                <a:lnTo>
                  <a:pt x="1905" y="0"/>
                </a:lnTo>
              </a:path>
              <a:path w="6076315" h="8074025">
                <a:moveTo>
                  <a:pt x="6075045" y="229234"/>
                </a:moveTo>
                <a:lnTo>
                  <a:pt x="6075045" y="1458595"/>
                </a:lnTo>
              </a:path>
              <a:path w="6076315" h="8074025">
                <a:moveTo>
                  <a:pt x="1905" y="1458595"/>
                </a:moveTo>
                <a:lnTo>
                  <a:pt x="1905" y="229234"/>
                </a:lnTo>
              </a:path>
              <a:path w="6076315" h="8074025">
                <a:moveTo>
                  <a:pt x="6075045" y="1331595"/>
                </a:moveTo>
                <a:lnTo>
                  <a:pt x="6075045" y="1748154"/>
                </a:lnTo>
              </a:path>
              <a:path w="6076315" h="8074025">
                <a:moveTo>
                  <a:pt x="1905" y="1748154"/>
                </a:moveTo>
                <a:lnTo>
                  <a:pt x="1905" y="1331595"/>
                </a:lnTo>
              </a:path>
              <a:path w="6076315" h="8074025">
                <a:moveTo>
                  <a:pt x="6075045" y="1621154"/>
                </a:moveTo>
                <a:lnTo>
                  <a:pt x="6075045" y="2525395"/>
                </a:lnTo>
              </a:path>
              <a:path w="6076315" h="8074025">
                <a:moveTo>
                  <a:pt x="1905" y="2525395"/>
                </a:moveTo>
                <a:lnTo>
                  <a:pt x="1905" y="1621154"/>
                </a:lnTo>
              </a:path>
              <a:path w="6076315" h="8074025">
                <a:moveTo>
                  <a:pt x="6075045" y="2398395"/>
                </a:moveTo>
                <a:lnTo>
                  <a:pt x="6075045" y="2814954"/>
                </a:lnTo>
              </a:path>
              <a:path w="6076315" h="8074025">
                <a:moveTo>
                  <a:pt x="1905" y="2814954"/>
                </a:moveTo>
                <a:lnTo>
                  <a:pt x="1905" y="2398395"/>
                </a:lnTo>
              </a:path>
              <a:path w="6076315" h="8074025">
                <a:moveTo>
                  <a:pt x="6075045" y="2687954"/>
                </a:moveTo>
                <a:lnTo>
                  <a:pt x="6075045" y="3104515"/>
                </a:lnTo>
              </a:path>
              <a:path w="6076315" h="8074025">
                <a:moveTo>
                  <a:pt x="1905" y="3104515"/>
                </a:moveTo>
                <a:lnTo>
                  <a:pt x="1905" y="2687954"/>
                </a:lnTo>
              </a:path>
              <a:path w="6076315" h="8074025">
                <a:moveTo>
                  <a:pt x="6075045" y="2977515"/>
                </a:moveTo>
                <a:lnTo>
                  <a:pt x="6075045" y="3394075"/>
                </a:lnTo>
              </a:path>
              <a:path w="6076315" h="8074025">
                <a:moveTo>
                  <a:pt x="1905" y="3394075"/>
                </a:moveTo>
                <a:lnTo>
                  <a:pt x="1905" y="2977515"/>
                </a:lnTo>
              </a:path>
              <a:path w="6076315" h="8074025">
                <a:moveTo>
                  <a:pt x="6075045" y="3267075"/>
                </a:moveTo>
                <a:lnTo>
                  <a:pt x="6075045" y="7068184"/>
                </a:lnTo>
              </a:path>
              <a:path w="6076315" h="8074025">
                <a:moveTo>
                  <a:pt x="1905" y="7068184"/>
                </a:moveTo>
                <a:lnTo>
                  <a:pt x="1905" y="3267075"/>
                </a:lnTo>
              </a:path>
              <a:path w="6076315" h="8074025">
                <a:moveTo>
                  <a:pt x="6075045" y="6941184"/>
                </a:moveTo>
                <a:lnTo>
                  <a:pt x="6075045" y="7357745"/>
                </a:lnTo>
              </a:path>
              <a:path w="6076315" h="8074025">
                <a:moveTo>
                  <a:pt x="1905" y="7357745"/>
                </a:moveTo>
                <a:lnTo>
                  <a:pt x="1905" y="6941184"/>
                </a:lnTo>
              </a:path>
              <a:path w="6076315" h="8074025">
                <a:moveTo>
                  <a:pt x="6075045" y="7230745"/>
                </a:moveTo>
                <a:lnTo>
                  <a:pt x="6075045" y="8074025"/>
                </a:lnTo>
              </a:path>
              <a:path w="6076315" h="8074025">
                <a:moveTo>
                  <a:pt x="6076315" y="8072755"/>
                </a:moveTo>
                <a:lnTo>
                  <a:pt x="0" y="8072755"/>
                </a:lnTo>
              </a:path>
              <a:path w="6076315" h="8074025">
                <a:moveTo>
                  <a:pt x="1905" y="8074025"/>
                </a:moveTo>
                <a:lnTo>
                  <a:pt x="1905" y="723074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210550"/>
            <a:chOff x="847725" y="913764"/>
            <a:chExt cx="6076950" cy="821055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210550"/>
            </a:xfrm>
            <a:custGeom>
              <a:avLst/>
              <a:gdLst/>
              <a:ahLst/>
              <a:cxnLst/>
              <a:rect l="l" t="t" r="r" b="b"/>
              <a:pathLst>
                <a:path w="6076950" h="8210550">
                  <a:moveTo>
                    <a:pt x="6076950" y="0"/>
                  </a:moveTo>
                  <a:lnTo>
                    <a:pt x="0" y="0"/>
                  </a:lnTo>
                  <a:lnTo>
                    <a:pt x="0" y="1204595"/>
                  </a:lnTo>
                  <a:lnTo>
                    <a:pt x="0" y="1205230"/>
                  </a:lnTo>
                  <a:lnTo>
                    <a:pt x="0" y="8210550"/>
                  </a:lnTo>
                  <a:lnTo>
                    <a:pt x="6076950" y="8210550"/>
                  </a:lnTo>
                  <a:lnTo>
                    <a:pt x="6076950" y="120459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3028315" cy="161925"/>
            </a:xfrm>
            <a:custGeom>
              <a:avLst/>
              <a:gdLst/>
              <a:ahLst/>
              <a:cxnLst/>
              <a:rect l="l" t="t" r="r" b="b"/>
              <a:pathLst>
                <a:path w="3028315" h="161925">
                  <a:moveTo>
                    <a:pt x="302831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3028315" y="161925"/>
                  </a:lnTo>
                  <a:lnTo>
                    <a:pt x="302831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669" y="1072337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30">
                  <a:moveTo>
                    <a:pt x="0" y="0"/>
                  </a:moveTo>
                  <a:lnTo>
                    <a:pt x="252298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6167" y="1072337"/>
              <a:ext cx="504825" cy="0"/>
            </a:xfrm>
            <a:custGeom>
              <a:avLst/>
              <a:gdLst/>
              <a:ahLst/>
              <a:cxnLst/>
              <a:rect l="l" t="t" r="r" b="b"/>
              <a:pathLst>
                <a:path w="504825">
                  <a:moveTo>
                    <a:pt x="0" y="0"/>
                  </a:moveTo>
                  <a:lnTo>
                    <a:pt x="504596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77161" y="1072337"/>
              <a:ext cx="1177925" cy="0"/>
            </a:xfrm>
            <a:custGeom>
              <a:avLst/>
              <a:gdLst/>
              <a:ahLst/>
              <a:cxnLst/>
              <a:rect l="l" t="t" r="r" b="b"/>
              <a:pathLst>
                <a:path w="1177925">
                  <a:moveTo>
                    <a:pt x="0" y="0"/>
                  </a:moveTo>
                  <a:lnTo>
                    <a:pt x="1177391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22751" y="1072337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4">
                  <a:moveTo>
                    <a:pt x="0" y="0"/>
                  </a:moveTo>
                  <a:lnTo>
                    <a:pt x="420497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4400" y="1144269"/>
          <a:ext cx="3199130" cy="810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7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5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R="3302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non-null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3302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non-null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3302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non-null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R="33020" algn="ctr">
                        <a:lnSpc>
                          <a:spcPts val="118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18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92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18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non-null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object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 gridSpan="3"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dtypes:</a:t>
                      </a:r>
                      <a:r>
                        <a:rPr sz="1100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object(4)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14400" y="1957070"/>
            <a:ext cx="17799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memory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usage: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3.0+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KB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969" y="2223134"/>
            <a:ext cx="4148454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df_date[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"date"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8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8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pd.to_datetime(df_date[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]) df_date.head(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14400" y="2698750"/>
          <a:ext cx="3273425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no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weekeday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914400" y="3765550"/>
            <a:ext cx="3113405" cy="161925"/>
          </a:xfrm>
          <a:custGeom>
            <a:avLst/>
            <a:gdLst/>
            <a:ahLst/>
            <a:cxnLst/>
            <a:rect l="l" t="t" r="r" b="b"/>
            <a:pathLst>
              <a:path w="3113404" h="161925">
                <a:moveTo>
                  <a:pt x="3113404" y="0"/>
                </a:moveTo>
                <a:lnTo>
                  <a:pt x="0" y="0"/>
                </a:lnTo>
                <a:lnTo>
                  <a:pt x="0" y="161925"/>
                </a:lnTo>
                <a:lnTo>
                  <a:pt x="3113404" y="161925"/>
                </a:lnTo>
                <a:lnTo>
                  <a:pt x="311340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2969" y="3452495"/>
            <a:ext cx="31375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df_bookings_all.info()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&lt;class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'pandas.core.frame.DataFrame'&gt;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3928109"/>
            <a:ext cx="32937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RangeIndex: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entries,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134589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4090670"/>
            <a:ext cx="27044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columns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(total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15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columns):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9955" y="4253229"/>
            <a:ext cx="3958590" cy="649605"/>
            <a:chOff x="909955" y="4253229"/>
            <a:chExt cx="3958590" cy="649605"/>
          </a:xfrm>
        </p:grpSpPr>
        <p:sp>
          <p:nvSpPr>
            <p:cNvPr id="18" name="object 18"/>
            <p:cNvSpPr/>
            <p:nvPr/>
          </p:nvSpPr>
          <p:spPr>
            <a:xfrm>
              <a:off x="914400" y="4253229"/>
              <a:ext cx="3870325" cy="324485"/>
            </a:xfrm>
            <a:custGeom>
              <a:avLst/>
              <a:gdLst/>
              <a:ahLst/>
              <a:cxnLst/>
              <a:rect l="l" t="t" r="r" b="b"/>
              <a:pathLst>
                <a:path w="3870325" h="324485">
                  <a:moveTo>
                    <a:pt x="387032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3870325" y="324485"/>
                  </a:lnTo>
                  <a:lnTo>
                    <a:pt x="3870325" y="162560"/>
                  </a:lnTo>
                  <a:close/>
                </a:path>
                <a:path w="3870325" h="324485">
                  <a:moveTo>
                    <a:pt x="38703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3870325" y="161925"/>
                  </a:lnTo>
                  <a:lnTo>
                    <a:pt x="387032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5670" y="4506417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30">
                  <a:moveTo>
                    <a:pt x="0" y="0"/>
                  </a:moveTo>
                  <a:lnTo>
                    <a:pt x="252298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6167" y="4506417"/>
              <a:ext cx="504825" cy="0"/>
            </a:xfrm>
            <a:custGeom>
              <a:avLst/>
              <a:gdLst/>
              <a:ahLst/>
              <a:cxnLst/>
              <a:rect l="l" t="t" r="r" b="b"/>
              <a:pathLst>
                <a:path w="504825">
                  <a:moveTo>
                    <a:pt x="0" y="0"/>
                  </a:moveTo>
                  <a:lnTo>
                    <a:pt x="504596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34055" y="4506417"/>
              <a:ext cx="1177925" cy="0"/>
            </a:xfrm>
            <a:custGeom>
              <a:avLst/>
              <a:gdLst/>
              <a:ahLst/>
              <a:cxnLst/>
              <a:rect l="l" t="t" r="r" b="b"/>
              <a:pathLst>
                <a:path w="1177925">
                  <a:moveTo>
                    <a:pt x="0" y="0"/>
                  </a:moveTo>
                  <a:lnTo>
                    <a:pt x="1177391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63745" y="4506417"/>
              <a:ext cx="421005" cy="0"/>
            </a:xfrm>
            <a:custGeom>
              <a:avLst/>
              <a:gdLst/>
              <a:ahLst/>
              <a:cxnLst/>
              <a:rect l="l" t="t" r="r" b="b"/>
              <a:pathLst>
                <a:path w="421004">
                  <a:moveTo>
                    <a:pt x="0" y="0"/>
                  </a:moveTo>
                  <a:lnTo>
                    <a:pt x="420497" y="0"/>
                  </a:lnTo>
                </a:path>
              </a:pathLst>
            </a:custGeom>
            <a:ln w="1117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14400" y="4578349"/>
              <a:ext cx="3954145" cy="324485"/>
            </a:xfrm>
            <a:custGeom>
              <a:avLst/>
              <a:gdLst/>
              <a:ahLst/>
              <a:cxnLst/>
              <a:rect l="l" t="t" r="r" b="b"/>
              <a:pathLst>
                <a:path w="3954145" h="324485">
                  <a:moveTo>
                    <a:pt x="387032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3870325" y="324485"/>
                  </a:lnTo>
                  <a:lnTo>
                    <a:pt x="3870325" y="162560"/>
                  </a:lnTo>
                  <a:close/>
                </a:path>
                <a:path w="3954145" h="324485">
                  <a:moveTo>
                    <a:pt x="395414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3954145" y="161925"/>
                  </a:lnTo>
                  <a:lnTo>
                    <a:pt x="395414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87069" y="4229734"/>
            <a:ext cx="3894454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8615" algn="l"/>
                <a:tab pos="1946910" algn="l"/>
                <a:tab pos="3376295" algn="l"/>
              </a:tabLst>
            </a:pPr>
            <a:r>
              <a:rPr sz="1100" spc="-50" dirty="0">
                <a:latin typeface="Courier New"/>
                <a:cs typeface="Courier New"/>
              </a:rPr>
              <a:t>#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Column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Non-</a:t>
            </a:r>
            <a:r>
              <a:rPr sz="1100" dirty="0">
                <a:latin typeface="Courier New"/>
                <a:cs typeface="Courier New"/>
              </a:rPr>
              <a:t>Null</a:t>
            </a:r>
            <a:r>
              <a:rPr sz="1100" spc="-10" dirty="0">
                <a:latin typeface="Courier New"/>
                <a:cs typeface="Courier New"/>
              </a:rPr>
              <a:t> Count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Dtype</a:t>
            </a:r>
            <a:endParaRPr sz="1100">
              <a:latin typeface="Courier New"/>
              <a:cs typeface="Courier New"/>
            </a:endParaRPr>
          </a:p>
          <a:p>
            <a:pPr marL="348615" indent="-335915">
              <a:lnSpc>
                <a:spcPts val="1300"/>
              </a:lnSpc>
              <a:spcBef>
                <a:spcPts val="1240"/>
              </a:spcBef>
              <a:buAutoNum type="arabicPlain"/>
              <a:tabLst>
                <a:tab pos="348615" algn="l"/>
                <a:tab pos="1946910" algn="l"/>
                <a:tab pos="3376295" algn="l"/>
              </a:tabLst>
            </a:pPr>
            <a:r>
              <a:rPr sz="1100" spc="-10" dirty="0">
                <a:latin typeface="Courier New"/>
                <a:cs typeface="Courier New"/>
              </a:rPr>
              <a:t>booking_id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 marL="348615" indent="-335915">
              <a:lnSpc>
                <a:spcPts val="1300"/>
              </a:lnSpc>
              <a:buAutoNum type="arabicPlain"/>
              <a:tabLst>
                <a:tab pos="348615" algn="l"/>
                <a:tab pos="1946910" algn="l"/>
                <a:tab pos="3376295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4400" y="4903469"/>
            <a:ext cx="3954145" cy="487045"/>
          </a:xfrm>
          <a:custGeom>
            <a:avLst/>
            <a:gdLst/>
            <a:ahLst/>
            <a:cxnLst/>
            <a:rect l="l" t="t" r="r" b="b"/>
            <a:pathLst>
              <a:path w="3954145" h="487045">
                <a:moveTo>
                  <a:pt x="395414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954145" y="487045"/>
                </a:lnTo>
                <a:lnTo>
                  <a:pt x="3954145" y="325120"/>
                </a:lnTo>
                <a:close/>
              </a:path>
              <a:path w="3954145" h="487045">
                <a:moveTo>
                  <a:pt x="39541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954145" y="324485"/>
                </a:lnTo>
                <a:lnTo>
                  <a:pt x="3954145" y="162560"/>
                </a:lnTo>
                <a:close/>
              </a:path>
              <a:path w="3954145" h="487045">
                <a:moveTo>
                  <a:pt x="3954145" y="0"/>
                </a:moveTo>
                <a:lnTo>
                  <a:pt x="0" y="0"/>
                </a:lnTo>
                <a:lnTo>
                  <a:pt x="0" y="161925"/>
                </a:lnTo>
                <a:lnTo>
                  <a:pt x="3954145" y="161925"/>
                </a:lnTo>
                <a:lnTo>
                  <a:pt x="39541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99769" y="4879975"/>
            <a:ext cx="1442720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35915">
              <a:lnSpc>
                <a:spcPts val="1300"/>
              </a:lnSpc>
              <a:spcBef>
                <a:spcPts val="100"/>
              </a:spcBef>
              <a:buAutoNum type="arabicPlain" startAt="2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booking_date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280"/>
              </a:lnSpc>
              <a:buAutoNum type="arabicPlain" startAt="2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300"/>
              </a:lnSpc>
              <a:buAutoNum type="arabicPlain" startAt="2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checkout_date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34055" y="4879975"/>
            <a:ext cx="194754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  <a:tabLst>
                <a:tab pos="1429385" algn="l"/>
              </a:tabLst>
            </a:pP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1429385" algn="l"/>
              </a:tabLst>
            </a:pP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1429385" algn="l"/>
              </a:tabLst>
            </a:pP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4400" y="5391150"/>
            <a:ext cx="4037965" cy="161925"/>
          </a:xfrm>
          <a:custGeom>
            <a:avLst/>
            <a:gdLst/>
            <a:ahLst/>
            <a:cxnLst/>
            <a:rect l="l" t="t" r="r" b="b"/>
            <a:pathLst>
              <a:path w="4037965" h="161925">
                <a:moveTo>
                  <a:pt x="4037965" y="0"/>
                </a:moveTo>
                <a:lnTo>
                  <a:pt x="0" y="0"/>
                </a:lnTo>
                <a:lnTo>
                  <a:pt x="0" y="161925"/>
                </a:lnTo>
                <a:lnTo>
                  <a:pt x="4037965" y="161925"/>
                </a:lnTo>
                <a:lnTo>
                  <a:pt x="40379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9769" y="5367654"/>
            <a:ext cx="39655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35915" algn="l"/>
                <a:tab pos="1934210" algn="l"/>
                <a:tab pos="3363595" algn="l"/>
              </a:tabLst>
            </a:pPr>
            <a:r>
              <a:rPr sz="1100" spc="-50" dirty="0">
                <a:latin typeface="Courier New"/>
                <a:cs typeface="Courier New"/>
              </a:rPr>
              <a:t>5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no_guests</a:t>
            </a:r>
            <a:r>
              <a:rPr sz="1100" dirty="0">
                <a:latin typeface="Courier New"/>
                <a:cs typeface="Courier New"/>
              </a:rPr>
              <a:t>	134587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5553709"/>
            <a:ext cx="3954145" cy="32512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421640" indent="-336550">
              <a:lnSpc>
                <a:spcPts val="1215"/>
              </a:lnSpc>
              <a:buAutoNum type="arabicPlain" startAt="6"/>
              <a:tabLst>
                <a:tab pos="421640" algn="l"/>
                <a:tab pos="201930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room_category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 marL="421640" indent="-336550">
              <a:lnSpc>
                <a:spcPts val="1300"/>
              </a:lnSpc>
              <a:buAutoNum type="arabicPlain" startAt="6"/>
              <a:tabLst>
                <a:tab pos="421640" algn="l"/>
                <a:tab pos="201930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booking_platform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5878829"/>
            <a:ext cx="4037965" cy="324485"/>
          </a:xfrm>
          <a:custGeom>
            <a:avLst/>
            <a:gdLst/>
            <a:ahLst/>
            <a:cxnLst/>
            <a:rect l="l" t="t" r="r" b="b"/>
            <a:pathLst>
              <a:path w="4037965" h="324485">
                <a:moveTo>
                  <a:pt x="39541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954145" y="324485"/>
                </a:lnTo>
                <a:lnTo>
                  <a:pt x="3954145" y="162560"/>
                </a:lnTo>
                <a:close/>
              </a:path>
              <a:path w="4037965" h="324485">
                <a:moveTo>
                  <a:pt x="4037965" y="0"/>
                </a:moveTo>
                <a:lnTo>
                  <a:pt x="0" y="0"/>
                </a:lnTo>
                <a:lnTo>
                  <a:pt x="0" y="161925"/>
                </a:lnTo>
                <a:lnTo>
                  <a:pt x="4037965" y="161925"/>
                </a:lnTo>
                <a:lnTo>
                  <a:pt x="40379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99769" y="5855334"/>
            <a:ext cx="3965575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35915">
              <a:lnSpc>
                <a:spcPts val="1300"/>
              </a:lnSpc>
              <a:spcBef>
                <a:spcPts val="100"/>
              </a:spcBef>
              <a:buAutoNum type="arabicPlain" startAt="8"/>
              <a:tabLst>
                <a:tab pos="335915" algn="l"/>
                <a:tab pos="1934210" algn="l"/>
                <a:tab pos="3363595" algn="l"/>
              </a:tabLst>
            </a:pPr>
            <a:r>
              <a:rPr sz="1100" spc="-10" dirty="0">
                <a:latin typeface="Courier New"/>
                <a:cs typeface="Courier New"/>
              </a:rPr>
              <a:t>ratings_given</a:t>
            </a:r>
            <a:r>
              <a:rPr sz="1100" dirty="0">
                <a:latin typeface="Courier New"/>
                <a:cs typeface="Courier New"/>
              </a:rPr>
              <a:t>	56683</a:t>
            </a:r>
            <a:r>
              <a:rPr sz="1100" spc="-20" dirty="0">
                <a:latin typeface="Courier New"/>
                <a:cs typeface="Courier New"/>
              </a:rPr>
              <a:t> 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float64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300"/>
              </a:lnSpc>
              <a:buAutoNum type="arabicPlain" startAt="8"/>
              <a:tabLst>
                <a:tab pos="335915" algn="l"/>
                <a:tab pos="1934210" algn="l"/>
                <a:tab pos="3363595" algn="l"/>
              </a:tabLst>
            </a:pPr>
            <a:r>
              <a:rPr sz="1100" spc="-10" dirty="0">
                <a:latin typeface="Courier New"/>
                <a:cs typeface="Courier New"/>
              </a:rPr>
              <a:t>booking_status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400" y="6203950"/>
            <a:ext cx="3870325" cy="32512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421640" indent="-336550">
              <a:lnSpc>
                <a:spcPts val="1215"/>
              </a:lnSpc>
              <a:buAutoNum type="arabicPlain" startAt="10"/>
              <a:tabLst>
                <a:tab pos="421640" algn="l"/>
                <a:tab pos="201930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  <a:p>
            <a:pPr marL="421640" indent="-336550">
              <a:lnSpc>
                <a:spcPts val="1300"/>
              </a:lnSpc>
              <a:buAutoNum type="arabicPlain" startAt="10"/>
              <a:tabLst>
                <a:tab pos="421640" algn="l"/>
                <a:tab pos="2019300" algn="l"/>
                <a:tab pos="3448685" algn="l"/>
              </a:tabLst>
            </a:pPr>
            <a:r>
              <a:rPr sz="1100" spc="-10" dirty="0">
                <a:latin typeface="Courier New"/>
                <a:cs typeface="Courier New"/>
              </a:rPr>
              <a:t>revenue_realized</a:t>
            </a:r>
            <a:r>
              <a:rPr sz="1100" dirty="0">
                <a:latin typeface="Courier New"/>
                <a:cs typeface="Courier New"/>
              </a:rPr>
              <a:t>	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4400" y="6529069"/>
            <a:ext cx="3954145" cy="487045"/>
          </a:xfrm>
          <a:custGeom>
            <a:avLst/>
            <a:gdLst/>
            <a:ahLst/>
            <a:cxnLst/>
            <a:rect l="l" t="t" r="r" b="b"/>
            <a:pathLst>
              <a:path w="3954145" h="487045">
                <a:moveTo>
                  <a:pt x="395414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954145" y="487045"/>
                </a:lnTo>
                <a:lnTo>
                  <a:pt x="3954145" y="325120"/>
                </a:lnTo>
                <a:close/>
              </a:path>
              <a:path w="3954145" h="487045">
                <a:moveTo>
                  <a:pt x="39541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954145" y="324485"/>
                </a:lnTo>
                <a:lnTo>
                  <a:pt x="3954145" y="162560"/>
                </a:lnTo>
                <a:close/>
              </a:path>
              <a:path w="3954145" h="487045">
                <a:moveTo>
                  <a:pt x="3954145" y="0"/>
                </a:moveTo>
                <a:lnTo>
                  <a:pt x="0" y="0"/>
                </a:lnTo>
                <a:lnTo>
                  <a:pt x="0" y="161925"/>
                </a:lnTo>
                <a:lnTo>
                  <a:pt x="3954145" y="161925"/>
                </a:lnTo>
                <a:lnTo>
                  <a:pt x="39541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99769" y="6505575"/>
            <a:ext cx="1442720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indent="-335915">
              <a:lnSpc>
                <a:spcPts val="1300"/>
              </a:lnSpc>
              <a:spcBef>
                <a:spcPts val="100"/>
              </a:spcBef>
              <a:buAutoNum type="arabicPlain" startAt="12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property_name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280"/>
              </a:lnSpc>
              <a:buAutoNum type="arabicPlain" startAt="12"/>
              <a:tabLst>
                <a:tab pos="335915" algn="l"/>
              </a:tabLst>
            </a:pPr>
            <a:r>
              <a:rPr sz="1100" spc="-10" dirty="0">
                <a:latin typeface="Courier New"/>
                <a:cs typeface="Courier New"/>
              </a:rPr>
              <a:t>category</a:t>
            </a:r>
            <a:endParaRPr sz="1100">
              <a:latin typeface="Courier New"/>
              <a:cs typeface="Courier New"/>
            </a:endParaRPr>
          </a:p>
          <a:p>
            <a:pPr marL="335915" indent="-335915">
              <a:lnSpc>
                <a:spcPts val="1300"/>
              </a:lnSpc>
              <a:buAutoNum type="arabicPlain" startAt="12"/>
              <a:tabLst>
                <a:tab pos="335915" algn="l"/>
              </a:tabLst>
            </a:pP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34055" y="6505575"/>
            <a:ext cx="1947545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300"/>
              </a:lnSpc>
              <a:spcBef>
                <a:spcPts val="100"/>
              </a:spcBef>
              <a:tabLst>
                <a:tab pos="1429385" algn="l"/>
              </a:tabLst>
            </a:pP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280"/>
              </a:lnSpc>
              <a:tabLst>
                <a:tab pos="1429385" algn="l"/>
              </a:tabLst>
            </a:pP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ts val="1300"/>
              </a:lnSpc>
              <a:tabLst>
                <a:tab pos="1429385" algn="l"/>
              </a:tabLst>
            </a:pPr>
            <a:r>
              <a:rPr sz="1100" dirty="0">
                <a:latin typeface="Courier New"/>
                <a:cs typeface="Courier New"/>
              </a:rPr>
              <a:t>134590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non-null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object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4400" y="7016750"/>
            <a:ext cx="33775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dtypes: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float64(2),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int64(3),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object(10)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14400" y="7179309"/>
            <a:ext cx="1851025" cy="161925"/>
          </a:xfrm>
          <a:custGeom>
            <a:avLst/>
            <a:gdLst/>
            <a:ahLst/>
            <a:cxnLst/>
            <a:rect l="l" t="t" r="r" b="b"/>
            <a:pathLst>
              <a:path w="1851025" h="161925">
                <a:moveTo>
                  <a:pt x="1851025" y="0"/>
                </a:moveTo>
                <a:lnTo>
                  <a:pt x="0" y="0"/>
                </a:lnTo>
                <a:lnTo>
                  <a:pt x="0" y="161925"/>
                </a:lnTo>
                <a:lnTo>
                  <a:pt x="1851025" y="161925"/>
                </a:lnTo>
                <a:lnTo>
                  <a:pt x="1851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02969" y="7155815"/>
            <a:ext cx="4220210" cy="191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memory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usage: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15.4+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MB</a:t>
            </a:r>
            <a:endParaRPr sz="1100">
              <a:latin typeface="Courier New"/>
              <a:cs typeface="Courier New"/>
            </a:endParaRPr>
          </a:p>
          <a:p>
            <a:pPr marL="348615" marR="328930" indent="-33655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pd.to_datetime( df_bookings[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"mixed"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dayfirst=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348615" indent="-33655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pd.to_datetime( df_bookings_all[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"mixed"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4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dayfirst=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48360" y="914400"/>
            <a:ext cx="6076315" cy="8209915"/>
          </a:xfrm>
          <a:custGeom>
            <a:avLst/>
            <a:gdLst/>
            <a:ahLst/>
            <a:cxnLst/>
            <a:rect l="l" t="t" r="r" b="b"/>
            <a:pathLst>
              <a:path w="6076315" h="8209915">
                <a:moveTo>
                  <a:pt x="0" y="1904"/>
                </a:moveTo>
                <a:lnTo>
                  <a:pt x="6076315" y="1904"/>
                </a:lnTo>
              </a:path>
              <a:path w="6076315" h="8209915">
                <a:moveTo>
                  <a:pt x="6075045" y="0"/>
                </a:moveTo>
                <a:lnTo>
                  <a:pt x="6075045" y="1331595"/>
                </a:lnTo>
              </a:path>
              <a:path w="6076315" h="8209915">
                <a:moveTo>
                  <a:pt x="1905" y="1331595"/>
                </a:moveTo>
                <a:lnTo>
                  <a:pt x="1905" y="0"/>
                </a:lnTo>
              </a:path>
              <a:path w="6076315" h="8209915">
                <a:moveTo>
                  <a:pt x="6075045" y="1204595"/>
                </a:moveTo>
                <a:lnTo>
                  <a:pt x="6075045" y="1783715"/>
                </a:lnTo>
              </a:path>
              <a:path w="6076315" h="8209915">
                <a:moveTo>
                  <a:pt x="1905" y="1783715"/>
                </a:moveTo>
                <a:lnTo>
                  <a:pt x="1905" y="1204595"/>
                </a:lnTo>
              </a:path>
              <a:path w="6076315" h="8209915">
                <a:moveTo>
                  <a:pt x="6075045" y="1656715"/>
                </a:moveTo>
                <a:lnTo>
                  <a:pt x="6075045" y="2560954"/>
                </a:lnTo>
              </a:path>
              <a:path w="6076315" h="8209915">
                <a:moveTo>
                  <a:pt x="1905" y="2560954"/>
                </a:moveTo>
                <a:lnTo>
                  <a:pt x="1905" y="1656715"/>
                </a:lnTo>
              </a:path>
              <a:path w="6076315" h="8209915">
                <a:moveTo>
                  <a:pt x="6075045" y="2433954"/>
                </a:moveTo>
                <a:lnTo>
                  <a:pt x="6075045" y="2850515"/>
                </a:lnTo>
              </a:path>
              <a:path w="6076315" h="8209915">
                <a:moveTo>
                  <a:pt x="1905" y="2850515"/>
                </a:moveTo>
                <a:lnTo>
                  <a:pt x="1905" y="2433954"/>
                </a:lnTo>
              </a:path>
              <a:path w="6076315" h="8209915">
                <a:moveTo>
                  <a:pt x="6075045" y="2723515"/>
                </a:moveTo>
                <a:lnTo>
                  <a:pt x="6075045" y="6553834"/>
                </a:lnTo>
              </a:path>
              <a:path w="6076315" h="8209915">
                <a:moveTo>
                  <a:pt x="1905" y="6553834"/>
                </a:moveTo>
                <a:lnTo>
                  <a:pt x="1905" y="2723515"/>
                </a:lnTo>
              </a:path>
              <a:path w="6076315" h="8209915">
                <a:moveTo>
                  <a:pt x="6075045" y="6426835"/>
                </a:moveTo>
                <a:lnTo>
                  <a:pt x="6075045" y="7493634"/>
                </a:lnTo>
              </a:path>
              <a:path w="6076315" h="8209915">
                <a:moveTo>
                  <a:pt x="1905" y="7493634"/>
                </a:moveTo>
                <a:lnTo>
                  <a:pt x="1905" y="6426835"/>
                </a:lnTo>
              </a:path>
              <a:path w="6076315" h="8209915">
                <a:moveTo>
                  <a:pt x="6075045" y="7366634"/>
                </a:moveTo>
                <a:lnTo>
                  <a:pt x="6075045" y="8209915"/>
                </a:lnTo>
              </a:path>
              <a:path w="6076315" h="8209915">
                <a:moveTo>
                  <a:pt x="6076315" y="8208645"/>
                </a:moveTo>
                <a:lnTo>
                  <a:pt x="0" y="8208645"/>
                </a:lnTo>
              </a:path>
              <a:path w="6076315" h="8209915">
                <a:moveTo>
                  <a:pt x="1905" y="8209915"/>
                </a:moveTo>
                <a:lnTo>
                  <a:pt x="1905" y="7366634"/>
                </a:lnTo>
              </a:path>
              <a:path w="6076315" h="8209915">
                <a:moveTo>
                  <a:pt x="0" y="1904"/>
                </a:moveTo>
                <a:lnTo>
                  <a:pt x="6076315" y="1904"/>
                </a:lnTo>
              </a:path>
              <a:path w="6076315" h="8209915">
                <a:moveTo>
                  <a:pt x="6075045" y="0"/>
                </a:moveTo>
                <a:lnTo>
                  <a:pt x="6075045" y="1331595"/>
                </a:lnTo>
              </a:path>
              <a:path w="6076315" h="8209915">
                <a:moveTo>
                  <a:pt x="1905" y="1331595"/>
                </a:moveTo>
                <a:lnTo>
                  <a:pt x="1905" y="0"/>
                </a:lnTo>
              </a:path>
              <a:path w="6076315" h="8209915">
                <a:moveTo>
                  <a:pt x="6075045" y="1204595"/>
                </a:moveTo>
                <a:lnTo>
                  <a:pt x="6075045" y="1783715"/>
                </a:lnTo>
              </a:path>
              <a:path w="6076315" h="8209915">
                <a:moveTo>
                  <a:pt x="1905" y="1783715"/>
                </a:moveTo>
                <a:lnTo>
                  <a:pt x="1905" y="1204595"/>
                </a:lnTo>
              </a:path>
              <a:path w="6076315" h="8209915">
                <a:moveTo>
                  <a:pt x="6075045" y="1656715"/>
                </a:moveTo>
                <a:lnTo>
                  <a:pt x="6075045" y="2560954"/>
                </a:lnTo>
              </a:path>
              <a:path w="6076315" h="8209915">
                <a:moveTo>
                  <a:pt x="1905" y="2560954"/>
                </a:moveTo>
                <a:lnTo>
                  <a:pt x="1905" y="1656715"/>
                </a:lnTo>
              </a:path>
              <a:path w="6076315" h="8209915">
                <a:moveTo>
                  <a:pt x="6075045" y="2433954"/>
                </a:moveTo>
                <a:lnTo>
                  <a:pt x="6075045" y="2850515"/>
                </a:lnTo>
              </a:path>
              <a:path w="6076315" h="8209915">
                <a:moveTo>
                  <a:pt x="1905" y="2850515"/>
                </a:moveTo>
                <a:lnTo>
                  <a:pt x="1905" y="2433954"/>
                </a:lnTo>
              </a:path>
              <a:path w="6076315" h="8209915">
                <a:moveTo>
                  <a:pt x="6075045" y="2723515"/>
                </a:moveTo>
                <a:lnTo>
                  <a:pt x="6075045" y="6553834"/>
                </a:lnTo>
              </a:path>
              <a:path w="6076315" h="8209915">
                <a:moveTo>
                  <a:pt x="1905" y="6553834"/>
                </a:moveTo>
                <a:lnTo>
                  <a:pt x="1905" y="2723515"/>
                </a:lnTo>
              </a:path>
              <a:path w="6076315" h="8209915">
                <a:moveTo>
                  <a:pt x="6075045" y="6426835"/>
                </a:moveTo>
                <a:lnTo>
                  <a:pt x="6075045" y="7493634"/>
                </a:lnTo>
              </a:path>
              <a:path w="6076315" h="8209915">
                <a:moveTo>
                  <a:pt x="1905" y="7493634"/>
                </a:moveTo>
                <a:lnTo>
                  <a:pt x="1905" y="6426835"/>
                </a:lnTo>
              </a:path>
              <a:path w="6076315" h="8209915">
                <a:moveTo>
                  <a:pt x="6075045" y="7366634"/>
                </a:moveTo>
                <a:lnTo>
                  <a:pt x="6075045" y="8209915"/>
                </a:lnTo>
              </a:path>
              <a:path w="6076315" h="8209915">
                <a:moveTo>
                  <a:pt x="6076315" y="8208645"/>
                </a:moveTo>
                <a:lnTo>
                  <a:pt x="0" y="8208645"/>
                </a:lnTo>
              </a:path>
              <a:path w="6076315" h="8209915">
                <a:moveTo>
                  <a:pt x="1905" y="8209915"/>
                </a:moveTo>
                <a:lnTo>
                  <a:pt x="1905" y="7366634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31809"/>
          </a:xfrm>
          <a:custGeom>
            <a:avLst/>
            <a:gdLst/>
            <a:ahLst/>
            <a:cxnLst/>
            <a:rect l="l" t="t" r="r" b="b"/>
            <a:pathLst>
              <a:path w="6076950" h="8131809">
                <a:moveTo>
                  <a:pt x="6076950" y="0"/>
                </a:moveTo>
                <a:lnTo>
                  <a:pt x="0" y="0"/>
                </a:lnTo>
                <a:lnTo>
                  <a:pt x="0" y="539750"/>
                </a:lnTo>
                <a:lnTo>
                  <a:pt x="0" y="1316990"/>
                </a:lnTo>
                <a:lnTo>
                  <a:pt x="0" y="8131810"/>
                </a:lnTo>
                <a:lnTo>
                  <a:pt x="6076950" y="8131810"/>
                </a:lnTo>
                <a:lnTo>
                  <a:pt x="6076950" y="53975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969" y="958215"/>
            <a:ext cx="3883660" cy="157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8615">
              <a:lnSpc>
                <a:spcPts val="13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errors=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"coerce"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>
              <a:latin typeface="Courier New"/>
              <a:cs typeface="Courier New"/>
            </a:endParaRPr>
          </a:p>
          <a:p>
            <a:pPr marL="348615" indent="-336550">
              <a:lnSpc>
                <a:spcPts val="1280"/>
              </a:lnSpc>
              <a:spcBef>
                <a:spcPts val="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pd.to_datetime( df_bookings[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9250">
              <a:lnSpc>
                <a:spcPts val="1225"/>
              </a:lnSpc>
            </a:pP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%d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-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%m-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%y"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].dtype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647950"/>
            <a:ext cx="13582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dtype('&lt;M8[ns]')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2914650"/>
            <a:ext cx="28867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].dtype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3227070"/>
            <a:ext cx="13582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dtype('&lt;M8[ns]')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3493770"/>
            <a:ext cx="18757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df_bookings_all.head()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3806190"/>
            <a:ext cx="49637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757555">
              <a:lnSpc>
                <a:spcPts val="1240"/>
              </a:lnSpc>
              <a:tabLst>
                <a:tab pos="1767205" algn="l"/>
              </a:tabLst>
            </a:pPr>
            <a:r>
              <a:rPr sz="1100" spc="-10" dirty="0">
                <a:latin typeface="Courier New"/>
                <a:cs typeface="Courier New"/>
              </a:rPr>
              <a:t>booking_id</a:t>
            </a:r>
            <a:r>
              <a:rPr sz="1100" dirty="0">
                <a:latin typeface="Courier New"/>
                <a:cs typeface="Courier New"/>
              </a:rPr>
              <a:t>	property_id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396875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1262380" algn="l"/>
              </a:tabLst>
            </a:pPr>
            <a:r>
              <a:rPr sz="1100" spc="-10" dirty="0">
                <a:latin typeface="Courier New"/>
                <a:cs typeface="Courier New"/>
              </a:rPr>
              <a:t>checkout_date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413130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4108450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429387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445642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5669" y="4433570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30-04-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461899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478155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5669" y="4758690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494410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4/5/2022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510667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5669" y="5083809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526922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543179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15669" y="5408929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May012216558RT15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5594350"/>
            <a:ext cx="6851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14400" y="5905499"/>
            <a:ext cx="4879975" cy="324485"/>
          </a:xfrm>
          <a:custGeom>
            <a:avLst/>
            <a:gdLst/>
            <a:ahLst/>
            <a:cxnLst/>
            <a:rect l="l" t="t" r="r" b="b"/>
            <a:pathLst>
              <a:path w="4879975" h="324485">
                <a:moveTo>
                  <a:pt x="143065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430655" y="324485"/>
                </a:lnTo>
                <a:lnTo>
                  <a:pt x="1430655" y="162560"/>
                </a:lnTo>
                <a:close/>
              </a:path>
              <a:path w="4879975" h="32448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2969" y="5882004"/>
            <a:ext cx="490347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indent="252095">
              <a:lnSpc>
                <a:spcPts val="1280"/>
              </a:lnSpc>
              <a:spcBef>
                <a:spcPts val="175"/>
              </a:spcBef>
              <a:tabLst>
                <a:tab pos="1357630" algn="l"/>
                <a:tab pos="3796665" algn="l"/>
              </a:tabLst>
            </a:pPr>
            <a:r>
              <a:rPr sz="1100" dirty="0">
                <a:latin typeface="Courier New"/>
                <a:cs typeface="Courier New"/>
              </a:rPr>
              <a:t>no_guests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ratings_given booking_status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623062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75765" y="6207125"/>
            <a:ext cx="29692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3810" algn="l"/>
                <a:tab pos="1862455" algn="l"/>
              </a:tabLst>
            </a:pP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3.0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28437" y="6207125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17133" y="6207125"/>
            <a:ext cx="614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6393179"/>
            <a:ext cx="4879975" cy="324485"/>
          </a:xfrm>
          <a:custGeom>
            <a:avLst/>
            <a:gdLst/>
            <a:ahLst/>
            <a:cxnLst/>
            <a:rect l="l" t="t" r="r" b="b"/>
            <a:pathLst>
              <a:path w="4879975" h="324484">
                <a:moveTo>
                  <a:pt x="252095" y="0"/>
                </a:moveTo>
                <a:lnTo>
                  <a:pt x="0" y="0"/>
                </a:lnTo>
                <a:lnTo>
                  <a:pt x="0" y="161925"/>
                </a:lnTo>
                <a:lnTo>
                  <a:pt x="252095" y="161925"/>
                </a:lnTo>
                <a:lnTo>
                  <a:pt x="252095" y="0"/>
                </a:lnTo>
                <a:close/>
              </a:path>
              <a:path w="4879975" h="324484">
                <a:moveTo>
                  <a:pt x="48799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4879975" y="324485"/>
                </a:lnTo>
                <a:lnTo>
                  <a:pt x="487997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2969" y="6207125"/>
            <a:ext cx="278130" cy="5181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0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spc="-25" dirty="0">
                <a:latin typeface="Courier New"/>
                <a:cs typeface="Courier New"/>
              </a:rPr>
              <a:t>Out </a:t>
            </a:r>
            <a:r>
              <a:rPr sz="1100" spc="-50" dirty="0">
                <a:latin typeface="Courier New"/>
                <a:cs typeface="Courier New"/>
              </a:rPr>
              <a:t>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59864" y="6532244"/>
            <a:ext cx="2884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9990" algn="l"/>
                <a:tab pos="2367280" algn="l"/>
              </a:tabLst>
            </a:pP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28437" y="6532244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14400" y="6718300"/>
            <a:ext cx="756285" cy="161925"/>
          </a:xfrm>
          <a:custGeom>
            <a:avLst/>
            <a:gdLst/>
            <a:ahLst/>
            <a:cxnLst/>
            <a:rect l="l" t="t" r="r" b="b"/>
            <a:pathLst>
              <a:path w="756285" h="161925">
                <a:moveTo>
                  <a:pt x="756285" y="0"/>
                </a:moveTo>
                <a:lnTo>
                  <a:pt x="0" y="0"/>
                </a:lnTo>
                <a:lnTo>
                  <a:pt x="0" y="161925"/>
                </a:lnTo>
                <a:lnTo>
                  <a:pt x="756285" y="161925"/>
                </a:lnTo>
                <a:lnTo>
                  <a:pt x="75628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02969" y="6694805"/>
            <a:ext cx="782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14400" y="6880859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528437" y="6857365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5.0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117133" y="6857365"/>
            <a:ext cx="614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4400" y="7043419"/>
            <a:ext cx="252095" cy="161925"/>
          </a:xfrm>
          <a:custGeom>
            <a:avLst/>
            <a:gdLst/>
            <a:ahLst/>
            <a:cxnLst/>
            <a:rect l="l" t="t" r="r" b="b"/>
            <a:pathLst>
              <a:path w="252094" h="161925">
                <a:moveTo>
                  <a:pt x="252094" y="0"/>
                </a:moveTo>
                <a:lnTo>
                  <a:pt x="0" y="0"/>
                </a:lnTo>
                <a:lnTo>
                  <a:pt x="0" y="161924"/>
                </a:lnTo>
                <a:lnTo>
                  <a:pt x="252094" y="161924"/>
                </a:lnTo>
                <a:lnTo>
                  <a:pt x="2520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02969" y="6857365"/>
            <a:ext cx="364172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  <a:tabLst>
                <a:tab pos="768985" algn="l"/>
                <a:tab pos="1946910" algn="l"/>
                <a:tab pos="303974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logtrip </a:t>
            </a: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4400" y="7205980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02969" y="7182484"/>
            <a:ext cx="36417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165" algn="l"/>
                <a:tab pos="1946910" algn="l"/>
                <a:tab pos="312420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28437" y="7182484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14400" y="7368540"/>
            <a:ext cx="756285" cy="161925"/>
          </a:xfrm>
          <a:custGeom>
            <a:avLst/>
            <a:gdLst/>
            <a:ahLst/>
            <a:cxnLst/>
            <a:rect l="l" t="t" r="r" b="b"/>
            <a:pathLst>
              <a:path w="756285" h="161925">
                <a:moveTo>
                  <a:pt x="756285" y="0"/>
                </a:moveTo>
                <a:lnTo>
                  <a:pt x="0" y="0"/>
                </a:lnTo>
                <a:lnTo>
                  <a:pt x="0" y="161924"/>
                </a:lnTo>
                <a:lnTo>
                  <a:pt x="756285" y="161924"/>
                </a:lnTo>
                <a:lnTo>
                  <a:pt x="75628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02969" y="7345044"/>
            <a:ext cx="782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14400" y="753110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659864" y="7507605"/>
            <a:ext cx="2884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9990" algn="l"/>
                <a:tab pos="1778635" algn="l"/>
              </a:tabLst>
            </a:pPr>
            <a:r>
              <a:rPr sz="1100" spc="-25" dirty="0">
                <a:latin typeface="Courier New"/>
                <a:cs typeface="Courier New"/>
              </a:rPr>
              <a:t>4.0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28437" y="7507605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5.0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17133" y="7507605"/>
            <a:ext cx="6146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14400" y="7693659"/>
            <a:ext cx="252095" cy="161925"/>
          </a:xfrm>
          <a:custGeom>
            <a:avLst/>
            <a:gdLst/>
            <a:ahLst/>
            <a:cxnLst/>
            <a:rect l="l" t="t" r="r" b="b"/>
            <a:pathLst>
              <a:path w="252094" h="161925">
                <a:moveTo>
                  <a:pt x="252094" y="0"/>
                </a:moveTo>
                <a:lnTo>
                  <a:pt x="0" y="0"/>
                </a:lnTo>
                <a:lnTo>
                  <a:pt x="0" y="161925"/>
                </a:lnTo>
                <a:lnTo>
                  <a:pt x="252094" y="161925"/>
                </a:lnTo>
                <a:lnTo>
                  <a:pt x="2520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02969" y="7507605"/>
            <a:ext cx="27813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spc="-50" dirty="0">
                <a:latin typeface="Courier New"/>
                <a:cs typeface="Courier New"/>
              </a:rPr>
              <a:t>4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14400" y="8003540"/>
            <a:ext cx="5720715" cy="9747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20"/>
              </a:lnSpc>
              <a:tabLst>
                <a:tab pos="1851025" algn="l"/>
                <a:tab pos="5383530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property_name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city</a:t>
            </a:r>
            <a:endParaRPr sz="1100">
              <a:latin typeface="Courier New"/>
              <a:cs typeface="Courier New"/>
            </a:endParaRPr>
          </a:p>
          <a:p>
            <a:pPr marL="1262380" indent="-1261745">
              <a:lnSpc>
                <a:spcPts val="1280"/>
              </a:lnSpc>
              <a:buAutoNum type="arabicPlain"/>
              <a:tabLst>
                <a:tab pos="1262380" algn="l"/>
                <a:tab pos="2776220" algn="l"/>
                <a:tab pos="3364865" algn="l"/>
                <a:tab pos="4626610" algn="l"/>
                <a:tab pos="5299075" algn="l"/>
              </a:tabLst>
            </a:pPr>
            <a:r>
              <a:rPr sz="1100" spc="-10" dirty="0">
                <a:latin typeface="Courier New"/>
                <a:cs typeface="Courier New"/>
              </a:rPr>
              <a:t>10010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10010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1346200" indent="-1345565">
              <a:lnSpc>
                <a:spcPts val="1280"/>
              </a:lnSpc>
              <a:buAutoNum type="arabicPlain"/>
              <a:tabLst>
                <a:tab pos="1346200" algn="l"/>
                <a:tab pos="2860040" algn="l"/>
                <a:tab pos="3364865" algn="l"/>
                <a:tab pos="4626610" algn="l"/>
                <a:tab pos="5299075" algn="l"/>
              </a:tabLst>
            </a:pP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1094105" indent="-1093470">
              <a:lnSpc>
                <a:spcPts val="1280"/>
              </a:lnSpc>
              <a:buAutoNum type="arabicPlain"/>
              <a:tabLst>
                <a:tab pos="1094105" algn="l"/>
                <a:tab pos="2860040" algn="l"/>
                <a:tab pos="3364865" algn="l"/>
                <a:tab pos="4626610" algn="l"/>
                <a:tab pos="5299075" algn="l"/>
              </a:tabLst>
            </a:pPr>
            <a:r>
              <a:rPr sz="1100" spc="-10" dirty="0">
                <a:latin typeface="Courier New"/>
                <a:cs typeface="Courier New"/>
              </a:rPr>
              <a:t>9100000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1346200" indent="-1345565">
              <a:lnSpc>
                <a:spcPts val="1280"/>
              </a:lnSpc>
              <a:buAutoNum type="arabicPlain"/>
              <a:tabLst>
                <a:tab pos="1346200" algn="l"/>
                <a:tab pos="2860040" algn="l"/>
                <a:tab pos="3364865" algn="l"/>
                <a:tab pos="4626610" algn="l"/>
                <a:tab pos="5299075" algn="l"/>
              </a:tabLst>
            </a:pPr>
            <a:r>
              <a:rPr sz="1100" spc="-20" dirty="0">
                <a:latin typeface="Courier New"/>
                <a:cs typeface="Courier New"/>
              </a:rPr>
              <a:t>9100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3640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  <a:p>
            <a:pPr marL="1262380" indent="-1261745">
              <a:lnSpc>
                <a:spcPts val="1300"/>
              </a:lnSpc>
              <a:buAutoNum type="arabicPlain"/>
              <a:tabLst>
                <a:tab pos="1262380" algn="l"/>
                <a:tab pos="2776220" algn="l"/>
                <a:tab pos="3364865" algn="l"/>
                <a:tab pos="4626610" algn="l"/>
                <a:tab pos="5299075" algn="l"/>
              </a:tabLst>
            </a:pPr>
            <a:r>
              <a:rPr sz="1100" spc="-10" dirty="0">
                <a:latin typeface="Courier New"/>
                <a:cs typeface="Courier New"/>
              </a:rPr>
              <a:t>10920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10920</a:t>
            </a:r>
            <a:r>
              <a:rPr sz="1100" dirty="0">
                <a:latin typeface="Courier New"/>
                <a:cs typeface="Courier New"/>
              </a:rPr>
              <a:t>	Atliq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Grands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Luxury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48360" y="914400"/>
            <a:ext cx="6076315" cy="8131175"/>
          </a:xfrm>
          <a:custGeom>
            <a:avLst/>
            <a:gdLst/>
            <a:ahLst/>
            <a:cxnLst/>
            <a:rect l="l" t="t" r="r" b="b"/>
            <a:pathLst>
              <a:path w="6076315" h="8131175">
                <a:moveTo>
                  <a:pt x="0" y="1904"/>
                </a:moveTo>
                <a:lnTo>
                  <a:pt x="6076315" y="1904"/>
                </a:lnTo>
              </a:path>
              <a:path w="6076315" h="8131175">
                <a:moveTo>
                  <a:pt x="6075045" y="0"/>
                </a:moveTo>
                <a:lnTo>
                  <a:pt x="6075045" y="666750"/>
                </a:lnTo>
              </a:path>
              <a:path w="6076315" h="8131175">
                <a:moveTo>
                  <a:pt x="1905" y="666750"/>
                </a:moveTo>
                <a:lnTo>
                  <a:pt x="1905" y="0"/>
                </a:lnTo>
              </a:path>
              <a:path w="6076315" h="8131175">
                <a:moveTo>
                  <a:pt x="6075045" y="539750"/>
                </a:moveTo>
                <a:lnTo>
                  <a:pt x="6075045" y="1443990"/>
                </a:lnTo>
              </a:path>
              <a:path w="6076315" h="8131175">
                <a:moveTo>
                  <a:pt x="1905" y="1443990"/>
                </a:moveTo>
                <a:lnTo>
                  <a:pt x="1905" y="539750"/>
                </a:lnTo>
              </a:path>
              <a:path w="6076315" h="8131175">
                <a:moveTo>
                  <a:pt x="6075045" y="1316990"/>
                </a:moveTo>
                <a:lnTo>
                  <a:pt x="6075045" y="1733550"/>
                </a:lnTo>
              </a:path>
              <a:path w="6076315" h="8131175">
                <a:moveTo>
                  <a:pt x="1905" y="1733550"/>
                </a:moveTo>
                <a:lnTo>
                  <a:pt x="1905" y="1316990"/>
                </a:lnTo>
              </a:path>
              <a:path w="6076315" h="8131175">
                <a:moveTo>
                  <a:pt x="6075045" y="1606550"/>
                </a:moveTo>
                <a:lnTo>
                  <a:pt x="6075045" y="2023109"/>
                </a:lnTo>
              </a:path>
              <a:path w="6076315" h="8131175">
                <a:moveTo>
                  <a:pt x="1905" y="2023109"/>
                </a:moveTo>
                <a:lnTo>
                  <a:pt x="1905" y="1606550"/>
                </a:lnTo>
              </a:path>
              <a:path w="6076315" h="8131175">
                <a:moveTo>
                  <a:pt x="6075045" y="1896109"/>
                </a:moveTo>
                <a:lnTo>
                  <a:pt x="6075045" y="2312670"/>
                </a:lnTo>
              </a:path>
              <a:path w="6076315" h="8131175">
                <a:moveTo>
                  <a:pt x="1905" y="2312670"/>
                </a:moveTo>
                <a:lnTo>
                  <a:pt x="1905" y="1896109"/>
                </a:lnTo>
              </a:path>
              <a:path w="6076315" h="8131175">
                <a:moveTo>
                  <a:pt x="6075045" y="2185670"/>
                </a:moveTo>
                <a:lnTo>
                  <a:pt x="6075045" y="2602229"/>
                </a:lnTo>
              </a:path>
              <a:path w="6076315" h="8131175">
                <a:moveTo>
                  <a:pt x="1905" y="2602229"/>
                </a:moveTo>
                <a:lnTo>
                  <a:pt x="1905" y="2185670"/>
                </a:lnTo>
              </a:path>
              <a:path w="6076315" h="8131175">
                <a:moveTo>
                  <a:pt x="6075045" y="2475229"/>
                </a:moveTo>
                <a:lnTo>
                  <a:pt x="6075045" y="2891790"/>
                </a:lnTo>
              </a:path>
              <a:path w="6076315" h="8131175">
                <a:moveTo>
                  <a:pt x="1905" y="2891790"/>
                </a:moveTo>
                <a:lnTo>
                  <a:pt x="1905" y="2475229"/>
                </a:lnTo>
              </a:path>
              <a:path w="6076315" h="8131175">
                <a:moveTo>
                  <a:pt x="6075045" y="2764790"/>
                </a:moveTo>
                <a:lnTo>
                  <a:pt x="6075045" y="8131175"/>
                </a:lnTo>
              </a:path>
              <a:path w="6076315" h="8131175">
                <a:moveTo>
                  <a:pt x="6076315" y="8129905"/>
                </a:moveTo>
                <a:lnTo>
                  <a:pt x="0" y="8129905"/>
                </a:lnTo>
              </a:path>
              <a:path w="6076315" h="8131175">
                <a:moveTo>
                  <a:pt x="1905" y="8131175"/>
                </a:moveTo>
                <a:lnTo>
                  <a:pt x="1905" y="2764790"/>
                </a:lnTo>
              </a:path>
              <a:path w="6076315" h="8131175">
                <a:moveTo>
                  <a:pt x="0" y="1904"/>
                </a:moveTo>
                <a:lnTo>
                  <a:pt x="6076315" y="1904"/>
                </a:lnTo>
              </a:path>
              <a:path w="6076315" h="8131175">
                <a:moveTo>
                  <a:pt x="6075045" y="0"/>
                </a:moveTo>
                <a:lnTo>
                  <a:pt x="6075045" y="666750"/>
                </a:lnTo>
              </a:path>
              <a:path w="6076315" h="8131175">
                <a:moveTo>
                  <a:pt x="1905" y="666750"/>
                </a:moveTo>
                <a:lnTo>
                  <a:pt x="1905" y="0"/>
                </a:lnTo>
              </a:path>
              <a:path w="6076315" h="8131175">
                <a:moveTo>
                  <a:pt x="6075045" y="539750"/>
                </a:moveTo>
                <a:lnTo>
                  <a:pt x="6075045" y="1443990"/>
                </a:lnTo>
              </a:path>
              <a:path w="6076315" h="8131175">
                <a:moveTo>
                  <a:pt x="1905" y="1443990"/>
                </a:moveTo>
                <a:lnTo>
                  <a:pt x="1905" y="539750"/>
                </a:lnTo>
              </a:path>
              <a:path w="6076315" h="8131175">
                <a:moveTo>
                  <a:pt x="6075045" y="1316990"/>
                </a:moveTo>
                <a:lnTo>
                  <a:pt x="6075045" y="1733550"/>
                </a:lnTo>
              </a:path>
              <a:path w="6076315" h="8131175">
                <a:moveTo>
                  <a:pt x="1905" y="1733550"/>
                </a:moveTo>
                <a:lnTo>
                  <a:pt x="1905" y="1316990"/>
                </a:lnTo>
              </a:path>
              <a:path w="6076315" h="8131175">
                <a:moveTo>
                  <a:pt x="6075045" y="1606550"/>
                </a:moveTo>
                <a:lnTo>
                  <a:pt x="6075045" y="2023109"/>
                </a:lnTo>
              </a:path>
              <a:path w="6076315" h="8131175">
                <a:moveTo>
                  <a:pt x="1905" y="2023109"/>
                </a:moveTo>
                <a:lnTo>
                  <a:pt x="1905" y="1606550"/>
                </a:lnTo>
              </a:path>
              <a:path w="6076315" h="8131175">
                <a:moveTo>
                  <a:pt x="6075045" y="1896109"/>
                </a:moveTo>
                <a:lnTo>
                  <a:pt x="6075045" y="2312670"/>
                </a:lnTo>
              </a:path>
              <a:path w="6076315" h="8131175">
                <a:moveTo>
                  <a:pt x="1905" y="2312670"/>
                </a:moveTo>
                <a:lnTo>
                  <a:pt x="1905" y="1896109"/>
                </a:lnTo>
              </a:path>
              <a:path w="6076315" h="8131175">
                <a:moveTo>
                  <a:pt x="6075045" y="2185670"/>
                </a:moveTo>
                <a:lnTo>
                  <a:pt x="6075045" y="2602229"/>
                </a:lnTo>
              </a:path>
              <a:path w="6076315" h="8131175">
                <a:moveTo>
                  <a:pt x="1905" y="2602229"/>
                </a:moveTo>
                <a:lnTo>
                  <a:pt x="1905" y="2185670"/>
                </a:lnTo>
              </a:path>
              <a:path w="6076315" h="8131175">
                <a:moveTo>
                  <a:pt x="6075045" y="2475229"/>
                </a:moveTo>
                <a:lnTo>
                  <a:pt x="6075045" y="2891790"/>
                </a:lnTo>
              </a:path>
              <a:path w="6076315" h="8131175">
                <a:moveTo>
                  <a:pt x="1905" y="2891790"/>
                </a:moveTo>
                <a:lnTo>
                  <a:pt x="1905" y="2475229"/>
                </a:lnTo>
              </a:path>
              <a:path w="6076315" h="8131175">
                <a:moveTo>
                  <a:pt x="6075045" y="2764790"/>
                </a:moveTo>
                <a:lnTo>
                  <a:pt x="6075045" y="8131175"/>
                </a:lnTo>
              </a:path>
              <a:path w="6076315" h="8131175">
                <a:moveTo>
                  <a:pt x="6076315" y="8129905"/>
                </a:moveTo>
                <a:lnTo>
                  <a:pt x="0" y="8129905"/>
                </a:lnTo>
              </a:path>
              <a:path w="6076315" h="8131175">
                <a:moveTo>
                  <a:pt x="1905" y="8131175"/>
                </a:moveTo>
                <a:lnTo>
                  <a:pt x="1905" y="276479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215630"/>
            <a:chOff x="847725" y="913764"/>
            <a:chExt cx="6076950" cy="821563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215630"/>
            </a:xfrm>
            <a:custGeom>
              <a:avLst/>
              <a:gdLst/>
              <a:ahLst/>
              <a:cxnLst/>
              <a:rect l="l" t="t" r="r" b="b"/>
              <a:pathLst>
                <a:path w="6076950" h="8215630">
                  <a:moveTo>
                    <a:pt x="6076950" y="0"/>
                  </a:moveTo>
                  <a:lnTo>
                    <a:pt x="0" y="0"/>
                  </a:lnTo>
                  <a:lnTo>
                    <a:pt x="0" y="229235"/>
                  </a:lnTo>
                  <a:lnTo>
                    <a:pt x="0" y="229870"/>
                  </a:lnTo>
                  <a:lnTo>
                    <a:pt x="0" y="8215630"/>
                  </a:lnTo>
                  <a:lnTo>
                    <a:pt x="6076950" y="8215630"/>
                  </a:lnTo>
                  <a:lnTo>
                    <a:pt x="6076950" y="2292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1271269"/>
              <a:ext cx="1261745" cy="161925"/>
            </a:xfrm>
            <a:custGeom>
              <a:avLst/>
              <a:gdLst/>
              <a:ahLst/>
              <a:cxnLst/>
              <a:rect l="l" t="t" r="r" b="b"/>
              <a:pathLst>
                <a:path w="1261745" h="161925">
                  <a:moveTo>
                    <a:pt x="126174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261745" y="161925"/>
                  </a:lnTo>
                  <a:lnTo>
                    <a:pt x="126174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47371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df_bookings_all[df_bookings_all[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].isna()]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Empty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DataFrame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433830"/>
            <a:ext cx="53003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Columns: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[booking_id,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property_id,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booking_date,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596389"/>
            <a:ext cx="48799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checkout_date,</a:t>
            </a:r>
            <a:r>
              <a:rPr sz="1100" spc="-1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no_guests,</a:t>
            </a:r>
            <a:r>
              <a:rPr sz="1100" spc="-1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room_category,</a:t>
            </a:r>
            <a:r>
              <a:rPr sz="1100" spc="-1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758950"/>
            <a:ext cx="5636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ratings_given,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booking_status,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revenue_generated,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revenue_realized,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921510"/>
            <a:ext cx="25368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property_name,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category,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city]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2084069"/>
            <a:ext cx="4963795" cy="1066165"/>
          </a:xfrm>
          <a:custGeom>
            <a:avLst/>
            <a:gdLst/>
            <a:ahLst/>
            <a:cxnLst/>
            <a:rect l="l" t="t" r="r" b="b"/>
            <a:pathLst>
              <a:path w="4963795" h="1066164">
                <a:moveTo>
                  <a:pt x="757555" y="0"/>
                </a:moveTo>
                <a:lnTo>
                  <a:pt x="0" y="0"/>
                </a:lnTo>
                <a:lnTo>
                  <a:pt x="0" y="161925"/>
                </a:lnTo>
                <a:lnTo>
                  <a:pt x="757555" y="161925"/>
                </a:lnTo>
                <a:lnTo>
                  <a:pt x="757555" y="0"/>
                </a:lnTo>
                <a:close/>
              </a:path>
              <a:path w="4963795" h="1066164">
                <a:moveTo>
                  <a:pt x="4963795" y="904240"/>
                </a:moveTo>
                <a:lnTo>
                  <a:pt x="0" y="904240"/>
                </a:lnTo>
                <a:lnTo>
                  <a:pt x="0" y="1066165"/>
                </a:lnTo>
                <a:lnTo>
                  <a:pt x="4963795" y="1066165"/>
                </a:lnTo>
                <a:lnTo>
                  <a:pt x="4963795" y="90424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969" y="2060575"/>
            <a:ext cx="4987290" cy="109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Index: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[]</a:t>
            </a:r>
            <a:endParaRPr sz="1100">
              <a:latin typeface="Courier New"/>
              <a:cs typeface="Courier New"/>
            </a:endParaRPr>
          </a:p>
          <a:p>
            <a:pPr marL="12700" marR="927735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=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pd.to_datetime(df_bookings_all[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]) df_bookings_all.head(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4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768985">
              <a:lnSpc>
                <a:spcPct val="100000"/>
              </a:lnSpc>
              <a:spcBef>
                <a:spcPts val="925"/>
              </a:spcBef>
              <a:tabLst>
                <a:tab pos="1778635" algn="l"/>
              </a:tabLst>
            </a:pPr>
            <a:r>
              <a:rPr sz="1100" spc="-10" dirty="0">
                <a:latin typeface="Courier New"/>
                <a:cs typeface="Courier New"/>
              </a:rPr>
              <a:t>booking_id</a:t>
            </a:r>
            <a:r>
              <a:rPr sz="1100" dirty="0">
                <a:latin typeface="Courier New"/>
                <a:cs typeface="Courier New"/>
              </a:rPr>
              <a:t>	property_id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315087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  <a:tabLst>
                <a:tab pos="1262380" algn="l"/>
              </a:tabLst>
            </a:pPr>
            <a:r>
              <a:rPr sz="1100" spc="-10" dirty="0">
                <a:latin typeface="Courier New"/>
                <a:cs typeface="Courier New"/>
              </a:rPr>
              <a:t>checkout_date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331342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5669" y="3289934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347599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363855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15669" y="3615054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30-04-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80110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396367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15669" y="3940175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412622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4/5/2022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4288789"/>
            <a:ext cx="4963795" cy="324485"/>
          </a:xfrm>
          <a:custGeom>
            <a:avLst/>
            <a:gdLst/>
            <a:ahLst/>
            <a:cxnLst/>
            <a:rect l="l" t="t" r="r" b="b"/>
            <a:pathLst>
              <a:path w="4963795" h="324485">
                <a:moveTo>
                  <a:pt x="6724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672465" y="324485"/>
                </a:lnTo>
                <a:lnTo>
                  <a:pt x="672465" y="162560"/>
                </a:lnTo>
                <a:close/>
              </a:path>
              <a:path w="4963795" h="32448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02969" y="4265295"/>
            <a:ext cx="4987290" cy="35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  <a:tabLst>
                <a:tab pos="264795" algn="l"/>
                <a:tab pos="2282825" algn="l"/>
                <a:tab pos="3124200" algn="l"/>
                <a:tab pos="4133215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14400" y="4761229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55268" y="4738370"/>
            <a:ext cx="338962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no_guests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87443" y="4738370"/>
            <a:ext cx="1118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ratings_given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4923790"/>
            <a:ext cx="1443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1346200" algn="l"/>
              </a:tabLst>
            </a:pPr>
            <a:r>
              <a:rPr sz="1100" spc="-10" dirty="0">
                <a:latin typeface="Courier New"/>
                <a:cs typeface="Courier New"/>
              </a:rPr>
              <a:t>booking_status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4400" y="508635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15669" y="5063490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72465" algn="l"/>
                <a:tab pos="1934210" algn="l"/>
                <a:tab pos="252285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3.0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41137" y="506349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29833" y="5063490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4400" y="5248909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14400" y="5411470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15669" y="5388609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11150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41137" y="5388609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5574029"/>
            <a:ext cx="768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14400" y="573659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15669" y="5713729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02704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logtrip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41137" y="5713729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5.0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29833" y="5713729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4400" y="5899150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914400" y="6061709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15669" y="6038850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72465" algn="l"/>
                <a:tab pos="1934210" algn="l"/>
                <a:tab pos="3111500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541137" y="603885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14400" y="6224270"/>
            <a:ext cx="756285" cy="161925"/>
          </a:xfrm>
          <a:custGeom>
            <a:avLst/>
            <a:gdLst/>
            <a:ahLst/>
            <a:cxnLst/>
            <a:rect l="l" t="t" r="r" b="b"/>
            <a:pathLst>
              <a:path w="756285" h="161925">
                <a:moveTo>
                  <a:pt x="756285" y="0"/>
                </a:moveTo>
                <a:lnTo>
                  <a:pt x="0" y="0"/>
                </a:lnTo>
                <a:lnTo>
                  <a:pt x="0" y="161925"/>
                </a:lnTo>
                <a:lnTo>
                  <a:pt x="756285" y="161925"/>
                </a:lnTo>
                <a:lnTo>
                  <a:pt x="75628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02969" y="6201409"/>
            <a:ext cx="782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4400" y="6535419"/>
            <a:ext cx="51314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35"/>
              </a:lnSpc>
              <a:tabLst>
                <a:tab pos="1851025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property_name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914400" y="6697980"/>
          <a:ext cx="5796915" cy="1252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505459" algn="l"/>
                        </a:tabLst>
                      </a:pPr>
                      <a:r>
                        <a:rPr sz="1100" spc="-15" dirty="0">
                          <a:latin typeface="Courier New"/>
                          <a:cs typeface="Courier New"/>
                        </a:rPr>
                        <a:t>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3640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9100000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3640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914400" y="8249919"/>
          <a:ext cx="3189605" cy="810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object 50"/>
          <p:cNvSpPr/>
          <p:nvPr/>
        </p:nvSpPr>
        <p:spPr>
          <a:xfrm>
            <a:off x="848360" y="914400"/>
            <a:ext cx="6076315" cy="8214995"/>
          </a:xfrm>
          <a:custGeom>
            <a:avLst/>
            <a:gdLst/>
            <a:ahLst/>
            <a:cxnLst/>
            <a:rect l="l" t="t" r="r" b="b"/>
            <a:pathLst>
              <a:path w="6076315" h="8214995">
                <a:moveTo>
                  <a:pt x="0" y="1904"/>
                </a:moveTo>
                <a:lnTo>
                  <a:pt x="6076315" y="1904"/>
                </a:lnTo>
              </a:path>
              <a:path w="6076315" h="8214995">
                <a:moveTo>
                  <a:pt x="6075045" y="0"/>
                </a:moveTo>
                <a:lnTo>
                  <a:pt x="6075045" y="356234"/>
                </a:lnTo>
              </a:path>
              <a:path w="6076315" h="8214995">
                <a:moveTo>
                  <a:pt x="1905" y="356234"/>
                </a:moveTo>
                <a:lnTo>
                  <a:pt x="1905" y="0"/>
                </a:lnTo>
              </a:path>
              <a:path w="6076315" h="8214995">
                <a:moveTo>
                  <a:pt x="6075045" y="229234"/>
                </a:moveTo>
                <a:lnTo>
                  <a:pt x="6075045" y="1458595"/>
                </a:lnTo>
              </a:path>
              <a:path w="6076315" h="8214995">
                <a:moveTo>
                  <a:pt x="1905" y="1458595"/>
                </a:moveTo>
                <a:lnTo>
                  <a:pt x="1905" y="229234"/>
                </a:lnTo>
              </a:path>
              <a:path w="6076315" h="8214995">
                <a:moveTo>
                  <a:pt x="6075045" y="1331595"/>
                </a:moveTo>
                <a:lnTo>
                  <a:pt x="6075045" y="2073275"/>
                </a:lnTo>
              </a:path>
              <a:path w="6076315" h="8214995">
                <a:moveTo>
                  <a:pt x="1905" y="2073275"/>
                </a:moveTo>
                <a:lnTo>
                  <a:pt x="1905" y="1331595"/>
                </a:lnTo>
              </a:path>
              <a:path w="6076315" h="8214995">
                <a:moveTo>
                  <a:pt x="6075045" y="1946275"/>
                </a:moveTo>
                <a:lnTo>
                  <a:pt x="6075045" y="8214995"/>
                </a:lnTo>
              </a:path>
              <a:path w="6076315" h="8214995">
                <a:moveTo>
                  <a:pt x="6076315" y="8213725"/>
                </a:moveTo>
                <a:lnTo>
                  <a:pt x="0" y="8213725"/>
                </a:lnTo>
              </a:path>
              <a:path w="6076315" h="8214995">
                <a:moveTo>
                  <a:pt x="1905" y="8214995"/>
                </a:moveTo>
                <a:lnTo>
                  <a:pt x="1905" y="1946275"/>
                </a:lnTo>
              </a:path>
              <a:path w="6076315" h="8214995">
                <a:moveTo>
                  <a:pt x="0" y="1904"/>
                </a:moveTo>
                <a:lnTo>
                  <a:pt x="6076315" y="1904"/>
                </a:lnTo>
              </a:path>
              <a:path w="6076315" h="8214995">
                <a:moveTo>
                  <a:pt x="6075045" y="0"/>
                </a:moveTo>
                <a:lnTo>
                  <a:pt x="6075045" y="356234"/>
                </a:lnTo>
              </a:path>
              <a:path w="6076315" h="8214995">
                <a:moveTo>
                  <a:pt x="1905" y="356234"/>
                </a:moveTo>
                <a:lnTo>
                  <a:pt x="1905" y="0"/>
                </a:lnTo>
              </a:path>
              <a:path w="6076315" h="8214995">
                <a:moveTo>
                  <a:pt x="6075045" y="229234"/>
                </a:moveTo>
                <a:lnTo>
                  <a:pt x="6075045" y="1458595"/>
                </a:lnTo>
              </a:path>
              <a:path w="6076315" h="8214995">
                <a:moveTo>
                  <a:pt x="1905" y="1458595"/>
                </a:moveTo>
                <a:lnTo>
                  <a:pt x="1905" y="229234"/>
                </a:lnTo>
              </a:path>
              <a:path w="6076315" h="8214995">
                <a:moveTo>
                  <a:pt x="6075045" y="1331595"/>
                </a:moveTo>
                <a:lnTo>
                  <a:pt x="6075045" y="2073275"/>
                </a:lnTo>
              </a:path>
              <a:path w="6076315" h="8214995">
                <a:moveTo>
                  <a:pt x="1905" y="2073275"/>
                </a:moveTo>
                <a:lnTo>
                  <a:pt x="1905" y="1331595"/>
                </a:lnTo>
              </a:path>
              <a:path w="6076315" h="8214995">
                <a:moveTo>
                  <a:pt x="6075045" y="1946275"/>
                </a:moveTo>
                <a:lnTo>
                  <a:pt x="6075045" y="8214995"/>
                </a:lnTo>
              </a:path>
              <a:path w="6076315" h="8214995">
                <a:moveTo>
                  <a:pt x="6076315" y="8213725"/>
                </a:moveTo>
                <a:lnTo>
                  <a:pt x="0" y="8213725"/>
                </a:lnTo>
              </a:path>
              <a:path w="6076315" h="8214995">
                <a:moveTo>
                  <a:pt x="1905" y="8214995"/>
                </a:moveTo>
                <a:lnTo>
                  <a:pt x="1905" y="194627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7995920"/>
            <a:chOff x="847725" y="913764"/>
            <a:chExt cx="6076950" cy="799592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7995920"/>
            </a:xfrm>
            <a:custGeom>
              <a:avLst/>
              <a:gdLst/>
              <a:ahLst/>
              <a:cxnLst/>
              <a:rect l="l" t="t" r="r" b="b"/>
              <a:pathLst>
                <a:path w="6076950" h="7995920">
                  <a:moveTo>
                    <a:pt x="6076950" y="0"/>
                  </a:moveTo>
                  <a:lnTo>
                    <a:pt x="0" y="0"/>
                  </a:lnTo>
                  <a:lnTo>
                    <a:pt x="0" y="554355"/>
                  </a:lnTo>
                  <a:lnTo>
                    <a:pt x="0" y="554990"/>
                  </a:lnTo>
                  <a:lnTo>
                    <a:pt x="0" y="7995920"/>
                  </a:lnTo>
                  <a:lnTo>
                    <a:pt x="6076950" y="7995920"/>
                  </a:lnTo>
                  <a:lnTo>
                    <a:pt x="6076950" y="55435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1596389"/>
              <a:ext cx="4963795" cy="161925"/>
            </a:xfrm>
            <a:custGeom>
              <a:avLst/>
              <a:gdLst/>
              <a:ahLst/>
              <a:cxnLst/>
              <a:rect l="l" t="t" r="r" b="b"/>
              <a:pathLst>
                <a:path w="4963795" h="161925">
                  <a:moveTo>
                    <a:pt x="496379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4963795" y="161925"/>
                  </a:lnTo>
                  <a:lnTo>
                    <a:pt x="496379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215"/>
            <a:ext cx="4987290" cy="8077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92455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df_bookings_all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pd.merge(df_bookings_all,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df_date, left_on=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"check_in_date"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right_on=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"date"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df_bookings_all.head(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3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768985">
              <a:lnSpc>
                <a:spcPct val="100000"/>
              </a:lnSpc>
              <a:spcBef>
                <a:spcPts val="925"/>
              </a:spcBef>
              <a:tabLst>
                <a:tab pos="1778635" algn="l"/>
              </a:tabLst>
            </a:pPr>
            <a:r>
              <a:rPr sz="1100" spc="-10" dirty="0">
                <a:latin typeface="Courier New"/>
                <a:cs typeface="Courier New"/>
              </a:rPr>
              <a:t>booking_id</a:t>
            </a:r>
            <a:r>
              <a:rPr sz="1100" dirty="0">
                <a:latin typeface="Courier New"/>
                <a:cs typeface="Courier New"/>
              </a:rPr>
              <a:t>	property_id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booking_date</a:t>
            </a:r>
            <a:r>
              <a:rPr sz="1100" spc="-1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check_in_date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758950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  <a:tabLst>
                <a:tab pos="1262380" algn="l"/>
              </a:tabLst>
            </a:pPr>
            <a:r>
              <a:rPr sz="1100" spc="-10" dirty="0">
                <a:latin typeface="Courier New"/>
                <a:cs typeface="Courier New"/>
              </a:rPr>
              <a:t>checkout_date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192151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5669" y="1898015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27-04-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084070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2246629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5669" y="2223134"/>
            <a:ext cx="49745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  <a:tab pos="3111500" algn="l"/>
                <a:tab pos="412051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30-04-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409189"/>
            <a:ext cx="685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2/5/2022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2571750"/>
            <a:ext cx="4963795" cy="161925"/>
          </a:xfrm>
          <a:custGeom>
            <a:avLst/>
            <a:gdLst/>
            <a:ahLst/>
            <a:cxnLst/>
            <a:rect l="l" t="t" r="r" b="b"/>
            <a:pathLst>
              <a:path w="4963795" h="161925">
                <a:moveTo>
                  <a:pt x="4963795" y="0"/>
                </a:moveTo>
                <a:lnTo>
                  <a:pt x="0" y="0"/>
                </a:lnTo>
                <a:lnTo>
                  <a:pt x="0" y="161925"/>
                </a:lnTo>
                <a:lnTo>
                  <a:pt x="4963795" y="161925"/>
                </a:lnTo>
                <a:lnTo>
                  <a:pt x="49637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5669" y="2548255"/>
            <a:ext cx="27044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52095" algn="l"/>
                <a:tab pos="227012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May012216558RT13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7347" y="2548255"/>
            <a:ext cx="186308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09015" algn="l"/>
              </a:tabLst>
            </a:pPr>
            <a:r>
              <a:rPr sz="1100" spc="-20" dirty="0">
                <a:latin typeface="Courier New"/>
                <a:cs typeface="Courier New"/>
              </a:rPr>
              <a:t>28-04-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2022-05-</a:t>
            </a:r>
            <a:r>
              <a:rPr sz="1100" spc="-25" dirty="0">
                <a:latin typeface="Courier New"/>
                <a:cs typeface="Courier New"/>
              </a:rPr>
              <a:t>01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4400" y="2734310"/>
            <a:ext cx="672465" cy="161925"/>
          </a:xfrm>
          <a:custGeom>
            <a:avLst/>
            <a:gdLst/>
            <a:ahLst/>
            <a:cxnLst/>
            <a:rect l="l" t="t" r="r" b="b"/>
            <a:pathLst>
              <a:path w="672465" h="161925">
                <a:moveTo>
                  <a:pt x="672465" y="0"/>
                </a:moveTo>
                <a:lnTo>
                  <a:pt x="0" y="0"/>
                </a:lnTo>
                <a:lnTo>
                  <a:pt x="0" y="161925"/>
                </a:lnTo>
                <a:lnTo>
                  <a:pt x="672465" y="161925"/>
                </a:lnTo>
                <a:lnTo>
                  <a:pt x="6724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02969" y="2710815"/>
            <a:ext cx="6985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4/5/2022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3044189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5268" y="3021330"/>
            <a:ext cx="338962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no_guests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room_category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booking_platform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87443" y="3021330"/>
            <a:ext cx="11188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ratings_given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3206750"/>
            <a:ext cx="1443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1346200" algn="l"/>
              </a:tabLst>
            </a:pPr>
            <a:r>
              <a:rPr sz="1100" spc="-10" dirty="0">
                <a:latin typeface="Courier New"/>
                <a:cs typeface="Courier New"/>
              </a:rPr>
              <a:t>booking_status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3369309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15669" y="3346450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72465" algn="l"/>
                <a:tab pos="1934210" algn="l"/>
                <a:tab pos="252285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spc="-25" dirty="0">
                <a:latin typeface="Courier New"/>
                <a:cs typeface="Courier New"/>
              </a:rPr>
              <a:t>3.0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direct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online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41137" y="334645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1.0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29833" y="3346450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3531870"/>
            <a:ext cx="2647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3694429"/>
            <a:ext cx="4879975" cy="161925"/>
          </a:xfrm>
          <a:custGeom>
            <a:avLst/>
            <a:gdLst/>
            <a:ahLst/>
            <a:cxnLst/>
            <a:rect l="l" t="t" r="r" b="b"/>
            <a:pathLst>
              <a:path w="4879975" h="161925">
                <a:moveTo>
                  <a:pt x="4879975" y="0"/>
                </a:moveTo>
                <a:lnTo>
                  <a:pt x="0" y="0"/>
                </a:lnTo>
                <a:lnTo>
                  <a:pt x="0" y="161925"/>
                </a:lnTo>
                <a:lnTo>
                  <a:pt x="4879975" y="161925"/>
                </a:lnTo>
                <a:lnTo>
                  <a:pt x="4879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15669" y="3671570"/>
            <a:ext cx="362902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  <a:tab pos="1934210" algn="l"/>
                <a:tab pos="311150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others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41137" y="367157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NaN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3856990"/>
            <a:ext cx="768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Cancelled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4019550"/>
            <a:ext cx="5804535" cy="161925"/>
          </a:xfrm>
          <a:custGeom>
            <a:avLst/>
            <a:gdLst/>
            <a:ahLst/>
            <a:cxnLst/>
            <a:rect l="l" t="t" r="r" b="b"/>
            <a:pathLst>
              <a:path w="5804534" h="161925">
                <a:moveTo>
                  <a:pt x="5804534" y="0"/>
                </a:moveTo>
                <a:lnTo>
                  <a:pt x="0" y="0"/>
                </a:lnTo>
                <a:lnTo>
                  <a:pt x="0" y="161925"/>
                </a:lnTo>
                <a:lnTo>
                  <a:pt x="5804534" y="161925"/>
                </a:lnTo>
                <a:lnTo>
                  <a:pt x="580453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15669" y="3996690"/>
            <a:ext cx="10223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5628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2.0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49956" y="3996690"/>
            <a:ext cx="169481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92835" algn="l"/>
              </a:tabLst>
            </a:pP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logtrip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41137" y="3996690"/>
            <a:ext cx="265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5.0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29833" y="3996690"/>
            <a:ext cx="6019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Checked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14400" y="4182109"/>
            <a:ext cx="252095" cy="161925"/>
          </a:xfrm>
          <a:custGeom>
            <a:avLst/>
            <a:gdLst/>
            <a:ahLst/>
            <a:cxnLst/>
            <a:rect l="l" t="t" r="r" b="b"/>
            <a:pathLst>
              <a:path w="252094" h="161925">
                <a:moveTo>
                  <a:pt x="252094" y="0"/>
                </a:moveTo>
                <a:lnTo>
                  <a:pt x="0" y="0"/>
                </a:lnTo>
                <a:lnTo>
                  <a:pt x="0" y="161925"/>
                </a:lnTo>
                <a:lnTo>
                  <a:pt x="252094" y="161925"/>
                </a:lnTo>
                <a:lnTo>
                  <a:pt x="25209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02969" y="4159250"/>
            <a:ext cx="278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Out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4400" y="4493259"/>
            <a:ext cx="51314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253365">
              <a:lnSpc>
                <a:spcPts val="1235"/>
              </a:lnSpc>
              <a:tabLst>
                <a:tab pos="1851025" algn="l"/>
              </a:tabLst>
            </a:pPr>
            <a:r>
              <a:rPr sz="1100" spc="-10" dirty="0">
                <a:latin typeface="Courier New"/>
                <a:cs typeface="Courier New"/>
              </a:rPr>
              <a:t>revenue_generated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property_name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category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914400" y="4655820"/>
          <a:ext cx="5796915" cy="943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5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5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  <a:tabLst>
                          <a:tab pos="505459" algn="l"/>
                        </a:tabLst>
                      </a:pPr>
                      <a:r>
                        <a:rPr sz="1100" spc="-15" dirty="0">
                          <a:latin typeface="Courier New"/>
                          <a:cs typeface="Courier New"/>
                        </a:rPr>
                        <a:t>city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10010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3640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538480"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9100000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9100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Atliq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Grands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Luxury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Delhi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914400" y="5897879"/>
          <a:ext cx="3189605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R="76200" algn="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Courier New"/>
                          <a:cs typeface="Courier New"/>
                        </a:rPr>
                        <a:t>date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week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day_type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R="76200" algn="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1100" spc="6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2022-05-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01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  <a:tabLst>
                          <a:tab pos="504190" algn="l"/>
                        </a:tabLst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W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19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weekend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902969" y="6651625"/>
            <a:ext cx="49898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"mmm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yy"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"revenue_realized"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914400" y="6964680"/>
          <a:ext cx="1684655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290">
                <a:tc>
                  <a:txBody>
                    <a:bodyPr/>
                    <a:lstStyle/>
                    <a:p>
                      <a:pPr marL="635" marR="3175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mmm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yy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635" marR="3175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Jul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572908208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Jun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553932355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22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581930666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3" name="object 43"/>
          <p:cNvSpPr txBox="1"/>
          <p:nvPr/>
        </p:nvSpPr>
        <p:spPr>
          <a:xfrm>
            <a:off x="914400" y="7614919"/>
            <a:ext cx="30410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ourier New"/>
                <a:cs typeface="Courier New"/>
              </a:rPr>
              <a:t>Name: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revenue_realized,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dtype: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int64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02969" y="7880984"/>
            <a:ext cx="440182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"room_category"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as_index=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"revenue_realized"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4400" y="8356600"/>
            <a:ext cx="2776855" cy="48704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1215"/>
              </a:lnSpc>
              <a:tabLst>
                <a:tab pos="1261110" algn="l"/>
              </a:tabLst>
            </a:pPr>
            <a:r>
              <a:rPr sz="1100" spc="-10" dirty="0">
                <a:latin typeface="Courier New"/>
                <a:cs typeface="Courier New"/>
              </a:rPr>
              <a:t>room_category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revenue_realized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280"/>
              </a:lnSpc>
              <a:tabLst>
                <a:tab pos="1009015" algn="l"/>
                <a:tab pos="2018030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309580895</a:t>
            </a:r>
            <a:endParaRPr sz="1100">
              <a:latin typeface="Courier New"/>
              <a:cs typeface="Courier New"/>
            </a:endParaRPr>
          </a:p>
          <a:p>
            <a:pPr algn="r">
              <a:lnSpc>
                <a:spcPts val="1300"/>
              </a:lnSpc>
              <a:tabLst>
                <a:tab pos="1009015" algn="l"/>
                <a:tab pos="2018030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RT2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560271204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48360" y="914400"/>
            <a:ext cx="6076315" cy="7995284"/>
          </a:xfrm>
          <a:custGeom>
            <a:avLst/>
            <a:gdLst/>
            <a:ahLst/>
            <a:cxnLst/>
            <a:rect l="l" t="t" r="r" b="b"/>
            <a:pathLst>
              <a:path w="6076315" h="7995284">
                <a:moveTo>
                  <a:pt x="0" y="1904"/>
                </a:moveTo>
                <a:lnTo>
                  <a:pt x="6076315" y="1904"/>
                </a:lnTo>
              </a:path>
              <a:path w="6076315" h="7995284">
                <a:moveTo>
                  <a:pt x="6075045" y="0"/>
                </a:moveTo>
                <a:lnTo>
                  <a:pt x="6075045" y="681354"/>
                </a:lnTo>
              </a:path>
              <a:path w="6076315" h="7995284">
                <a:moveTo>
                  <a:pt x="1905" y="681354"/>
                </a:moveTo>
                <a:lnTo>
                  <a:pt x="1905" y="0"/>
                </a:lnTo>
              </a:path>
              <a:path w="6076315" h="7995284">
                <a:moveTo>
                  <a:pt x="6075045" y="554354"/>
                </a:moveTo>
                <a:lnTo>
                  <a:pt x="6075045" y="5760085"/>
                </a:lnTo>
              </a:path>
              <a:path w="6076315" h="7995284">
                <a:moveTo>
                  <a:pt x="1905" y="5760085"/>
                </a:moveTo>
                <a:lnTo>
                  <a:pt x="1905" y="554354"/>
                </a:lnTo>
              </a:path>
              <a:path w="6076315" h="7995284">
                <a:moveTo>
                  <a:pt x="6075045" y="5633085"/>
                </a:moveTo>
                <a:lnTo>
                  <a:pt x="6075045" y="6049645"/>
                </a:lnTo>
              </a:path>
              <a:path w="6076315" h="7995284">
                <a:moveTo>
                  <a:pt x="1905" y="6049645"/>
                </a:moveTo>
                <a:lnTo>
                  <a:pt x="1905" y="5633085"/>
                </a:lnTo>
              </a:path>
              <a:path w="6076315" h="7995284">
                <a:moveTo>
                  <a:pt x="6075045" y="5922645"/>
                </a:moveTo>
                <a:lnTo>
                  <a:pt x="6075045" y="6989445"/>
                </a:lnTo>
              </a:path>
              <a:path w="6076315" h="7995284">
                <a:moveTo>
                  <a:pt x="1905" y="6989445"/>
                </a:moveTo>
                <a:lnTo>
                  <a:pt x="1905" y="5922645"/>
                </a:lnTo>
              </a:path>
              <a:path w="6076315" h="7995284">
                <a:moveTo>
                  <a:pt x="6075045" y="6862445"/>
                </a:moveTo>
                <a:lnTo>
                  <a:pt x="6075045" y="7441565"/>
                </a:lnTo>
              </a:path>
              <a:path w="6076315" h="7995284">
                <a:moveTo>
                  <a:pt x="1905" y="7441565"/>
                </a:moveTo>
                <a:lnTo>
                  <a:pt x="1905" y="6862445"/>
                </a:lnTo>
              </a:path>
              <a:path w="6076315" h="7995284">
                <a:moveTo>
                  <a:pt x="6075045" y="7314565"/>
                </a:moveTo>
                <a:lnTo>
                  <a:pt x="6075045" y="7995284"/>
                </a:lnTo>
              </a:path>
              <a:path w="6076315" h="7995284">
                <a:moveTo>
                  <a:pt x="6076315" y="7994015"/>
                </a:moveTo>
                <a:lnTo>
                  <a:pt x="0" y="7994015"/>
                </a:lnTo>
              </a:path>
              <a:path w="6076315" h="7995284">
                <a:moveTo>
                  <a:pt x="1905" y="7995284"/>
                </a:moveTo>
                <a:lnTo>
                  <a:pt x="1905" y="7314565"/>
                </a:lnTo>
              </a:path>
              <a:path w="6076315" h="7995284">
                <a:moveTo>
                  <a:pt x="0" y="1904"/>
                </a:moveTo>
                <a:lnTo>
                  <a:pt x="6076315" y="1904"/>
                </a:lnTo>
              </a:path>
              <a:path w="6076315" h="7995284">
                <a:moveTo>
                  <a:pt x="6075045" y="0"/>
                </a:moveTo>
                <a:lnTo>
                  <a:pt x="6075045" y="681354"/>
                </a:lnTo>
              </a:path>
              <a:path w="6076315" h="7995284">
                <a:moveTo>
                  <a:pt x="1905" y="681354"/>
                </a:moveTo>
                <a:lnTo>
                  <a:pt x="1905" y="0"/>
                </a:lnTo>
              </a:path>
              <a:path w="6076315" h="7995284">
                <a:moveTo>
                  <a:pt x="6075045" y="554354"/>
                </a:moveTo>
                <a:lnTo>
                  <a:pt x="6075045" y="5760085"/>
                </a:lnTo>
              </a:path>
              <a:path w="6076315" h="7995284">
                <a:moveTo>
                  <a:pt x="1905" y="5760085"/>
                </a:moveTo>
                <a:lnTo>
                  <a:pt x="1905" y="554354"/>
                </a:lnTo>
              </a:path>
              <a:path w="6076315" h="7995284">
                <a:moveTo>
                  <a:pt x="6075045" y="5633085"/>
                </a:moveTo>
                <a:lnTo>
                  <a:pt x="6075045" y="6049645"/>
                </a:lnTo>
              </a:path>
              <a:path w="6076315" h="7995284">
                <a:moveTo>
                  <a:pt x="1905" y="6049645"/>
                </a:moveTo>
                <a:lnTo>
                  <a:pt x="1905" y="5633085"/>
                </a:lnTo>
              </a:path>
              <a:path w="6076315" h="7995284">
                <a:moveTo>
                  <a:pt x="6075045" y="5922645"/>
                </a:moveTo>
                <a:lnTo>
                  <a:pt x="6075045" y="6989445"/>
                </a:lnTo>
              </a:path>
              <a:path w="6076315" h="7995284">
                <a:moveTo>
                  <a:pt x="1905" y="6989445"/>
                </a:moveTo>
                <a:lnTo>
                  <a:pt x="1905" y="5922645"/>
                </a:lnTo>
              </a:path>
              <a:path w="6076315" h="7995284">
                <a:moveTo>
                  <a:pt x="6075045" y="6862445"/>
                </a:moveTo>
                <a:lnTo>
                  <a:pt x="6075045" y="7441565"/>
                </a:lnTo>
              </a:path>
              <a:path w="6076315" h="7995284">
                <a:moveTo>
                  <a:pt x="1905" y="7441565"/>
                </a:moveTo>
                <a:lnTo>
                  <a:pt x="1905" y="6862445"/>
                </a:lnTo>
              </a:path>
              <a:path w="6076315" h="7995284">
                <a:moveTo>
                  <a:pt x="6075045" y="7314565"/>
                </a:moveTo>
                <a:lnTo>
                  <a:pt x="6075045" y="7995284"/>
                </a:lnTo>
              </a:path>
              <a:path w="6076315" h="7995284">
                <a:moveTo>
                  <a:pt x="6076315" y="7994015"/>
                </a:moveTo>
                <a:lnTo>
                  <a:pt x="0" y="7994015"/>
                </a:lnTo>
              </a:path>
              <a:path w="6076315" h="7995284">
                <a:moveTo>
                  <a:pt x="1905" y="7995284"/>
                </a:moveTo>
                <a:lnTo>
                  <a:pt x="1905" y="731456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047990"/>
          </a:xfrm>
          <a:custGeom>
            <a:avLst/>
            <a:gdLst/>
            <a:ahLst/>
            <a:cxnLst/>
            <a:rect l="l" t="t" r="r" b="b"/>
            <a:pathLst>
              <a:path w="6076950" h="8047990">
                <a:moveTo>
                  <a:pt x="6076950" y="0"/>
                </a:moveTo>
                <a:lnTo>
                  <a:pt x="0" y="0"/>
                </a:lnTo>
                <a:lnTo>
                  <a:pt x="0" y="391795"/>
                </a:lnTo>
                <a:lnTo>
                  <a:pt x="0" y="392430"/>
                </a:lnTo>
                <a:lnTo>
                  <a:pt x="0" y="8047990"/>
                </a:lnTo>
                <a:lnTo>
                  <a:pt x="6076950" y="8047990"/>
                </a:lnTo>
                <a:lnTo>
                  <a:pt x="6076950" y="39179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50265" y="916305"/>
          <a:ext cx="2917190" cy="388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6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70205" algn="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462166344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Courier New"/>
                          <a:cs typeface="Courier New"/>
                        </a:rPr>
                        <a:t>3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R="370205" algn="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Courier New"/>
                          <a:cs typeface="Courier New"/>
                        </a:rPr>
                        <a:t>RT4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Courier New"/>
                          <a:cs typeface="Courier New"/>
                        </a:rPr>
                        <a:t>376752786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969" y="1410334"/>
            <a:ext cx="457009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df_agg_bookings.groupby(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"property_id"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as_index=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"successful_bookings"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885950"/>
            <a:ext cx="3041015" cy="4225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ts val="1215"/>
              </a:lnSpc>
              <a:tabLst>
                <a:tab pos="1430655" algn="l"/>
              </a:tabLst>
            </a:pPr>
            <a:r>
              <a:rPr sz="1100" spc="-10" dirty="0">
                <a:latin typeface="Courier New"/>
                <a:cs typeface="Courier New"/>
              </a:rPr>
              <a:t>property_id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successful_bookings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3153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7338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4693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4418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4820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5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16563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7211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6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5053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6142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6013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50" dirty="0">
                <a:latin typeface="Courier New"/>
                <a:cs typeface="Courier New"/>
              </a:rPr>
              <a:t>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5183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3424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6337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17564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3982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4475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5256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15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6638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16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6458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17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7333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18563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4737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19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19558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4400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20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19559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4729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21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19560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6079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19561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5736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28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23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19562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5812</a:t>
            </a:r>
            <a:endParaRPr sz="1100">
              <a:latin typeface="Courier New"/>
              <a:cs typeface="Courier New"/>
            </a:endParaRPr>
          </a:p>
          <a:p>
            <a:pPr marL="635">
              <a:lnSpc>
                <a:spcPts val="1300"/>
              </a:lnSpc>
              <a:tabLst>
                <a:tab pos="842010" algn="l"/>
                <a:tab pos="2691765" algn="l"/>
              </a:tabLst>
            </a:pPr>
            <a:r>
              <a:rPr sz="1100" spc="-25" dirty="0">
                <a:latin typeface="Courier New"/>
                <a:cs typeface="Courier New"/>
              </a:rPr>
              <a:t>24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19563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5413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6216015"/>
            <a:ext cx="3980815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"city"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as_index=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"ratings_given"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].mean().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round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2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6691630"/>
            <a:ext cx="2284095" cy="81216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73735">
              <a:lnSpc>
                <a:spcPts val="1215"/>
              </a:lnSpc>
              <a:tabLst>
                <a:tab pos="1178560" algn="l"/>
              </a:tabLst>
            </a:pPr>
            <a:r>
              <a:rPr sz="1100" spc="-20" dirty="0">
                <a:latin typeface="Courier New"/>
                <a:cs typeface="Courier New"/>
              </a:rPr>
              <a:t>city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ratings_given</a:t>
            </a:r>
            <a:endParaRPr sz="1100">
              <a:latin typeface="Courier New"/>
              <a:cs typeface="Courier New"/>
            </a:endParaRPr>
          </a:p>
          <a:p>
            <a:pPr marL="253365" indent="-252729">
              <a:lnSpc>
                <a:spcPts val="1280"/>
              </a:lnSpc>
              <a:buAutoNum type="arabicPlain"/>
              <a:tabLst>
                <a:tab pos="253365" algn="l"/>
                <a:tab pos="1935480" algn="l"/>
              </a:tabLst>
            </a:pPr>
            <a:r>
              <a:rPr sz="1100" spc="-10" dirty="0">
                <a:latin typeface="Courier New"/>
                <a:cs typeface="Courier New"/>
              </a:rPr>
              <a:t>Bangalore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3.41</a:t>
            </a:r>
            <a:endParaRPr sz="1100">
              <a:latin typeface="Courier New"/>
              <a:cs typeface="Courier New"/>
            </a:endParaRPr>
          </a:p>
          <a:p>
            <a:pPr marL="589280" indent="-588645">
              <a:lnSpc>
                <a:spcPts val="1280"/>
              </a:lnSpc>
              <a:buAutoNum type="arabicPlain"/>
              <a:tabLst>
                <a:tab pos="589280" algn="l"/>
                <a:tab pos="1935480" algn="l"/>
              </a:tabLst>
            </a:pPr>
            <a:r>
              <a:rPr sz="1100" spc="-10" dirty="0">
                <a:latin typeface="Courier New"/>
                <a:cs typeface="Courier New"/>
              </a:rPr>
              <a:t>Delhi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3.78</a:t>
            </a:r>
            <a:endParaRPr sz="1100">
              <a:latin typeface="Courier New"/>
              <a:cs typeface="Courier New"/>
            </a:endParaRPr>
          </a:p>
          <a:p>
            <a:pPr marL="253365" indent="-252729">
              <a:lnSpc>
                <a:spcPts val="1280"/>
              </a:lnSpc>
              <a:buAutoNum type="arabicPlain"/>
              <a:tabLst>
                <a:tab pos="253365" algn="l"/>
                <a:tab pos="1935480" algn="l"/>
              </a:tabLst>
            </a:pPr>
            <a:r>
              <a:rPr sz="1100" spc="-10" dirty="0">
                <a:latin typeface="Courier New"/>
                <a:cs typeface="Courier New"/>
              </a:rPr>
              <a:t>Hyderabad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3.66</a:t>
            </a:r>
            <a:endParaRPr sz="1100">
              <a:latin typeface="Courier New"/>
              <a:cs typeface="Courier New"/>
            </a:endParaRPr>
          </a:p>
          <a:p>
            <a:pPr marL="505459" indent="-504825">
              <a:lnSpc>
                <a:spcPts val="1300"/>
              </a:lnSpc>
              <a:buAutoNum type="arabicPlain"/>
              <a:tabLst>
                <a:tab pos="505459" algn="l"/>
                <a:tab pos="1935480" algn="l"/>
              </a:tabLst>
            </a:pPr>
            <a:r>
              <a:rPr sz="1100" spc="-10" dirty="0">
                <a:latin typeface="Courier New"/>
                <a:cs typeface="Courier New"/>
              </a:rPr>
              <a:t>Mumbai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3.65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7607934"/>
            <a:ext cx="2548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(df_bookings_all.columns)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7920990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Index(['booking_id',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'property_id',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'booking_date',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'check_in_date',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8083550"/>
            <a:ext cx="44710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'checkout_date',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'no_guests',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'room_category',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8246109"/>
            <a:ext cx="16109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'booking_platform',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8408669"/>
            <a:ext cx="52165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'ratings_given',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'booking_status',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'revenue_generated',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8571230"/>
            <a:ext cx="53003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58991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'revenue_realized',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'property_name',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'category',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'city',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8733790"/>
            <a:ext cx="6013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spc="-10" dirty="0">
                <a:latin typeface="Courier New"/>
                <a:cs typeface="Courier New"/>
              </a:rPr>
              <a:t>'date',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48360" y="914400"/>
            <a:ext cx="6076315" cy="8047355"/>
          </a:xfrm>
          <a:custGeom>
            <a:avLst/>
            <a:gdLst/>
            <a:ahLst/>
            <a:cxnLst/>
            <a:rect l="l" t="t" r="r" b="b"/>
            <a:pathLst>
              <a:path w="6076315" h="8047355">
                <a:moveTo>
                  <a:pt x="0" y="1904"/>
                </a:moveTo>
                <a:lnTo>
                  <a:pt x="6076315" y="1904"/>
                </a:lnTo>
              </a:path>
              <a:path w="6076315" h="8047355">
                <a:moveTo>
                  <a:pt x="6075045" y="0"/>
                </a:moveTo>
                <a:lnTo>
                  <a:pt x="6075045" y="518795"/>
                </a:lnTo>
              </a:path>
              <a:path w="6076315" h="8047355">
                <a:moveTo>
                  <a:pt x="1905" y="518795"/>
                </a:moveTo>
                <a:lnTo>
                  <a:pt x="1905" y="0"/>
                </a:lnTo>
              </a:path>
              <a:path w="6076315" h="8047355">
                <a:moveTo>
                  <a:pt x="6075045" y="391795"/>
                </a:moveTo>
                <a:lnTo>
                  <a:pt x="6075045" y="970915"/>
                </a:lnTo>
              </a:path>
              <a:path w="6076315" h="8047355">
                <a:moveTo>
                  <a:pt x="1905" y="970915"/>
                </a:moveTo>
                <a:lnTo>
                  <a:pt x="1905" y="391795"/>
                </a:lnTo>
              </a:path>
              <a:path w="6076315" h="8047355">
                <a:moveTo>
                  <a:pt x="6075045" y="843915"/>
                </a:moveTo>
                <a:lnTo>
                  <a:pt x="6075045" y="5324475"/>
                </a:lnTo>
              </a:path>
              <a:path w="6076315" h="8047355">
                <a:moveTo>
                  <a:pt x="1905" y="5324475"/>
                </a:moveTo>
                <a:lnTo>
                  <a:pt x="1905" y="843915"/>
                </a:lnTo>
              </a:path>
              <a:path w="6076315" h="8047355">
                <a:moveTo>
                  <a:pt x="6075045" y="5197475"/>
                </a:moveTo>
                <a:lnTo>
                  <a:pt x="6075045" y="5776595"/>
                </a:lnTo>
              </a:path>
              <a:path w="6076315" h="8047355">
                <a:moveTo>
                  <a:pt x="1905" y="5776595"/>
                </a:moveTo>
                <a:lnTo>
                  <a:pt x="1905" y="5197475"/>
                </a:lnTo>
              </a:path>
              <a:path w="6076315" h="8047355">
                <a:moveTo>
                  <a:pt x="6075045" y="5649595"/>
                </a:moveTo>
                <a:lnTo>
                  <a:pt x="6075045" y="6716395"/>
                </a:lnTo>
              </a:path>
              <a:path w="6076315" h="8047355">
                <a:moveTo>
                  <a:pt x="1905" y="6716395"/>
                </a:moveTo>
                <a:lnTo>
                  <a:pt x="1905" y="5649595"/>
                </a:lnTo>
              </a:path>
              <a:path w="6076315" h="8047355">
                <a:moveTo>
                  <a:pt x="6075045" y="6589395"/>
                </a:moveTo>
                <a:lnTo>
                  <a:pt x="6075045" y="7005955"/>
                </a:lnTo>
              </a:path>
              <a:path w="6076315" h="8047355">
                <a:moveTo>
                  <a:pt x="1905" y="7005955"/>
                </a:moveTo>
                <a:lnTo>
                  <a:pt x="1905" y="6589395"/>
                </a:lnTo>
              </a:path>
              <a:path w="6076315" h="8047355">
                <a:moveTo>
                  <a:pt x="6075045" y="6878955"/>
                </a:moveTo>
                <a:lnTo>
                  <a:pt x="6075045" y="8047355"/>
                </a:lnTo>
              </a:path>
              <a:path w="6076315" h="8047355">
                <a:moveTo>
                  <a:pt x="6076315" y="8046084"/>
                </a:moveTo>
                <a:lnTo>
                  <a:pt x="0" y="8046084"/>
                </a:lnTo>
              </a:path>
              <a:path w="6076315" h="8047355">
                <a:moveTo>
                  <a:pt x="1905" y="8047355"/>
                </a:moveTo>
                <a:lnTo>
                  <a:pt x="1905" y="6878955"/>
                </a:lnTo>
              </a:path>
              <a:path w="6076315" h="8047355">
                <a:moveTo>
                  <a:pt x="0" y="1904"/>
                </a:moveTo>
                <a:lnTo>
                  <a:pt x="6076315" y="1904"/>
                </a:lnTo>
              </a:path>
              <a:path w="6076315" h="8047355">
                <a:moveTo>
                  <a:pt x="6075045" y="0"/>
                </a:moveTo>
                <a:lnTo>
                  <a:pt x="6075045" y="518795"/>
                </a:lnTo>
              </a:path>
              <a:path w="6076315" h="8047355">
                <a:moveTo>
                  <a:pt x="1905" y="518795"/>
                </a:moveTo>
                <a:lnTo>
                  <a:pt x="1905" y="0"/>
                </a:lnTo>
              </a:path>
              <a:path w="6076315" h="8047355">
                <a:moveTo>
                  <a:pt x="6075045" y="391795"/>
                </a:moveTo>
                <a:lnTo>
                  <a:pt x="6075045" y="970915"/>
                </a:lnTo>
              </a:path>
              <a:path w="6076315" h="8047355">
                <a:moveTo>
                  <a:pt x="1905" y="970915"/>
                </a:moveTo>
                <a:lnTo>
                  <a:pt x="1905" y="391795"/>
                </a:lnTo>
              </a:path>
              <a:path w="6076315" h="8047355">
                <a:moveTo>
                  <a:pt x="6075045" y="843915"/>
                </a:moveTo>
                <a:lnTo>
                  <a:pt x="6075045" y="5324475"/>
                </a:lnTo>
              </a:path>
              <a:path w="6076315" h="8047355">
                <a:moveTo>
                  <a:pt x="1905" y="5324475"/>
                </a:moveTo>
                <a:lnTo>
                  <a:pt x="1905" y="843915"/>
                </a:lnTo>
              </a:path>
              <a:path w="6076315" h="8047355">
                <a:moveTo>
                  <a:pt x="6075045" y="5197475"/>
                </a:moveTo>
                <a:lnTo>
                  <a:pt x="6075045" y="5776595"/>
                </a:lnTo>
              </a:path>
              <a:path w="6076315" h="8047355">
                <a:moveTo>
                  <a:pt x="1905" y="5776595"/>
                </a:moveTo>
                <a:lnTo>
                  <a:pt x="1905" y="5197475"/>
                </a:lnTo>
              </a:path>
              <a:path w="6076315" h="8047355">
                <a:moveTo>
                  <a:pt x="6075045" y="5649595"/>
                </a:moveTo>
                <a:lnTo>
                  <a:pt x="6075045" y="6716395"/>
                </a:lnTo>
              </a:path>
              <a:path w="6076315" h="8047355">
                <a:moveTo>
                  <a:pt x="1905" y="6716395"/>
                </a:moveTo>
                <a:lnTo>
                  <a:pt x="1905" y="5649595"/>
                </a:lnTo>
              </a:path>
              <a:path w="6076315" h="8047355">
                <a:moveTo>
                  <a:pt x="6075045" y="6589395"/>
                </a:moveTo>
                <a:lnTo>
                  <a:pt x="6075045" y="7005955"/>
                </a:lnTo>
              </a:path>
              <a:path w="6076315" h="8047355">
                <a:moveTo>
                  <a:pt x="1905" y="7005955"/>
                </a:moveTo>
                <a:lnTo>
                  <a:pt x="1905" y="6589395"/>
                </a:lnTo>
              </a:path>
              <a:path w="6076315" h="8047355">
                <a:moveTo>
                  <a:pt x="6075045" y="6878955"/>
                </a:moveTo>
                <a:lnTo>
                  <a:pt x="6075045" y="8047355"/>
                </a:lnTo>
              </a:path>
              <a:path w="6076315" h="8047355">
                <a:moveTo>
                  <a:pt x="6076315" y="8046084"/>
                </a:moveTo>
                <a:lnTo>
                  <a:pt x="0" y="8046084"/>
                </a:lnTo>
              </a:path>
              <a:path w="6076315" h="8047355">
                <a:moveTo>
                  <a:pt x="1905" y="8047355"/>
                </a:moveTo>
                <a:lnTo>
                  <a:pt x="1905" y="68789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3136900"/>
          </a:xfrm>
          <a:custGeom>
            <a:avLst/>
            <a:gdLst/>
            <a:ahLst/>
            <a:cxnLst/>
            <a:rect l="l" t="t" r="r" b="b"/>
            <a:pathLst>
              <a:path w="6076950" h="3136900">
                <a:moveTo>
                  <a:pt x="6076950" y="0"/>
                </a:moveTo>
                <a:lnTo>
                  <a:pt x="0" y="0"/>
                </a:lnTo>
                <a:lnTo>
                  <a:pt x="0" y="391795"/>
                </a:lnTo>
                <a:lnTo>
                  <a:pt x="0" y="392430"/>
                </a:lnTo>
                <a:lnTo>
                  <a:pt x="0" y="1331595"/>
                </a:lnTo>
                <a:lnTo>
                  <a:pt x="0" y="1332230"/>
                </a:lnTo>
                <a:lnTo>
                  <a:pt x="0" y="3136900"/>
                </a:lnTo>
                <a:lnTo>
                  <a:pt x="6076950" y="3136900"/>
                </a:lnTo>
                <a:lnTo>
                  <a:pt x="6076950" y="1332230"/>
                </a:lnTo>
                <a:lnTo>
                  <a:pt x="6076950" y="1331595"/>
                </a:lnTo>
                <a:lnTo>
                  <a:pt x="6076950" y="392430"/>
                </a:lnTo>
                <a:lnTo>
                  <a:pt x="6076950" y="39179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8087994"/>
            <a:ext cx="6076950" cy="280670"/>
          </a:xfrm>
          <a:custGeom>
            <a:avLst/>
            <a:gdLst/>
            <a:ahLst/>
            <a:cxnLst/>
            <a:rect l="l" t="t" r="r" b="b"/>
            <a:pathLst>
              <a:path w="6076950" h="280670">
                <a:moveTo>
                  <a:pt x="6076950" y="0"/>
                </a:moveTo>
                <a:lnTo>
                  <a:pt x="0" y="0"/>
                </a:lnTo>
                <a:lnTo>
                  <a:pt x="0" y="280669"/>
                </a:lnTo>
                <a:lnTo>
                  <a:pt x="6076950" y="28066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981709"/>
            <a:ext cx="3364865" cy="324485"/>
          </a:xfrm>
          <a:custGeom>
            <a:avLst/>
            <a:gdLst/>
            <a:ahLst/>
            <a:cxnLst/>
            <a:rect l="l" t="t" r="r" b="b"/>
            <a:pathLst>
              <a:path w="3364865" h="324484">
                <a:moveTo>
                  <a:pt x="176720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767205" y="324485"/>
                </a:lnTo>
                <a:lnTo>
                  <a:pt x="1767205" y="162560"/>
                </a:lnTo>
                <a:close/>
              </a:path>
              <a:path w="3364865" h="324484">
                <a:moveTo>
                  <a:pt x="3364865" y="0"/>
                </a:moveTo>
                <a:lnTo>
                  <a:pt x="0" y="0"/>
                </a:lnTo>
                <a:lnTo>
                  <a:pt x="0" y="161925"/>
                </a:lnTo>
                <a:lnTo>
                  <a:pt x="3364865" y="161925"/>
                </a:lnTo>
                <a:lnTo>
                  <a:pt x="33648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0264" y="916305"/>
            <a:ext cx="6073140" cy="313309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569595" marR="2635885" indent="83820">
              <a:lnSpc>
                <a:spcPts val="1280"/>
              </a:lnSpc>
              <a:spcBef>
                <a:spcPts val="505"/>
              </a:spcBef>
            </a:pPr>
            <a:r>
              <a:rPr sz="1100" dirty="0">
                <a:latin typeface="Courier New"/>
                <a:cs typeface="Courier New"/>
              </a:rPr>
              <a:t>'mmm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yy',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'week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'day_type'], dtype='object')</a:t>
            </a:r>
            <a:endParaRPr sz="1100">
              <a:latin typeface="Courier New"/>
              <a:cs typeface="Courier New"/>
            </a:endParaRPr>
          </a:p>
          <a:p>
            <a:pPr marL="401320" marR="4316730" indent="-336550">
              <a:lnSpc>
                <a:spcPts val="1280"/>
              </a:lnSpc>
              <a:spcBef>
                <a:spcPts val="10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revenue_platform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(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df_bookings_all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.groupby(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"booking_platform"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as_index=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False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"revenue_realized"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sum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()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3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matplotlib.pyplot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as</a:t>
            </a:r>
            <a:r>
              <a:rPr sz="1100" spc="-3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plt</a:t>
            </a:r>
            <a:endParaRPr sz="1100">
              <a:latin typeface="Courier New"/>
              <a:cs typeface="Courier New"/>
            </a:endParaRPr>
          </a:p>
          <a:p>
            <a:pPr marL="64769" marR="4990465">
              <a:lnSpc>
                <a:spcPts val="1280"/>
              </a:lnSpc>
              <a:spcBef>
                <a:spcPts val="12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plt.figure() plt.pie(</a:t>
            </a:r>
            <a:endParaRPr sz="1100">
              <a:latin typeface="Courier New"/>
              <a:cs typeface="Courier New"/>
            </a:endParaRPr>
          </a:p>
          <a:p>
            <a:pPr marL="401320" marR="1960880">
              <a:lnSpc>
                <a:spcPts val="128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revenue_platform[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"revenue_realized"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 labels=revenue_platform[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"booking_platform"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 autopct=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%1.1f%%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25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1877060">
              <a:lnSpc>
                <a:spcPts val="1280"/>
              </a:lnSpc>
              <a:spcBef>
                <a:spcPts val="5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plt.title(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"Revenue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Realized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by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Booking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Platform"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plt.show()</a:t>
            </a:r>
            <a:endParaRPr sz="11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3824" y="4252164"/>
            <a:ext cx="4505876" cy="347160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48360" y="8088630"/>
            <a:ext cx="6076315" cy="280035"/>
          </a:xfrm>
          <a:custGeom>
            <a:avLst/>
            <a:gdLst/>
            <a:ahLst/>
            <a:cxnLst/>
            <a:rect l="l" t="t" r="r" b="b"/>
            <a:pathLst>
              <a:path w="6076315" h="280034">
                <a:moveTo>
                  <a:pt x="0" y="1905"/>
                </a:moveTo>
                <a:lnTo>
                  <a:pt x="6076315" y="1905"/>
                </a:lnTo>
              </a:path>
              <a:path w="6076315" h="280034">
                <a:moveTo>
                  <a:pt x="6075045" y="0"/>
                </a:moveTo>
                <a:lnTo>
                  <a:pt x="6075045" y="280035"/>
                </a:lnTo>
              </a:path>
              <a:path w="6076315" h="280034">
                <a:moveTo>
                  <a:pt x="6076315" y="278765"/>
                </a:moveTo>
                <a:lnTo>
                  <a:pt x="0" y="278765"/>
                </a:lnTo>
              </a:path>
              <a:path w="6076315" h="280034">
                <a:moveTo>
                  <a:pt x="1905" y="280035"/>
                </a:moveTo>
                <a:lnTo>
                  <a:pt x="1905" y="0"/>
                </a:lnTo>
              </a:path>
              <a:path w="6076315" h="280034">
                <a:moveTo>
                  <a:pt x="0" y="1905"/>
                </a:moveTo>
                <a:lnTo>
                  <a:pt x="6076315" y="1905"/>
                </a:lnTo>
              </a:path>
              <a:path w="6076315" h="280034">
                <a:moveTo>
                  <a:pt x="6075045" y="0"/>
                </a:moveTo>
                <a:lnTo>
                  <a:pt x="6075045" y="280035"/>
                </a:lnTo>
              </a:path>
              <a:path w="6076315" h="280034">
                <a:moveTo>
                  <a:pt x="6076315" y="278765"/>
                </a:moveTo>
                <a:lnTo>
                  <a:pt x="0" y="278765"/>
                </a:lnTo>
              </a:path>
              <a:path w="6076315" h="280034">
                <a:moveTo>
                  <a:pt x="1905" y="28003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7114</Words>
  <Application>Microsoft Office PowerPoint</Application>
  <PresentationFormat>Custom</PresentationFormat>
  <Paragraphs>2323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Calibri</vt:lpstr>
      <vt:lpstr>Courier New</vt:lpstr>
      <vt:lpstr>Times New Roman</vt:lpstr>
      <vt:lpstr>Office Theme</vt:lpstr>
      <vt:lpstr>Hotels Data Analysis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Nandini</dc:creator>
  <cp:lastModifiedBy>Nandini Wadile</cp:lastModifiedBy>
  <cp:revision>1</cp:revision>
  <dcterms:created xsi:type="dcterms:W3CDTF">2026-02-04T09:18:41Z</dcterms:created>
  <dcterms:modified xsi:type="dcterms:W3CDTF">2026-02-04T11:19:28Z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Writer</vt:lpwstr>
  </property>
  <property fmtid="{D5CDD505-2E9C-101B-9397-08002B2CF9AE}" pid="4" name="Producer">
    <vt:lpwstr>LibreOffice 7.6</vt:lpwstr>
  </property>
  <property fmtid="{D5CDD505-2E9C-101B-9397-08002B2CF9AE}" pid="5" name="LastSaved">
    <vt:filetime>2026-02-04T00:00:00Z</vt:filetime>
  </property>
</Properties>
</file>