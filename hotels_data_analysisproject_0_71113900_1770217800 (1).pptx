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2928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00" y="1657351"/>
            <a:ext cx="5610225" cy="25400"/>
            <a:chOff x="1371600" y="1657351"/>
            <a:chExt cx="5610225" cy="25400"/>
          </a:xfrm>
        </p:grpSpPr>
        <p:sp>
          <p:nvSpPr>
            <p:cNvPr id="3" name="object 3"/>
            <p:cNvSpPr/>
            <p:nvPr/>
          </p:nvSpPr>
          <p:spPr>
            <a:xfrm>
              <a:off x="1371600" y="1657351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1600" y="1657351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600" y="1657351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71600" y="2258823"/>
            <a:ext cx="5610225" cy="25400"/>
            <a:chOff x="1371600" y="2258823"/>
            <a:chExt cx="5610225" cy="25400"/>
          </a:xfrm>
        </p:grpSpPr>
        <p:sp>
          <p:nvSpPr>
            <p:cNvPr id="7" name="object 7"/>
            <p:cNvSpPr/>
            <p:nvPr/>
          </p:nvSpPr>
          <p:spPr>
            <a:xfrm>
              <a:off x="1371600" y="225882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00" y="225882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1600" y="225882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38683" y="5421417"/>
          <a:ext cx="6534784" cy="1490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Out[83]: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4/5/2022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985181" y="689373"/>
            <a:ext cx="2380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Trebuchet MS"/>
                <a:cs typeface="Trebuchet MS"/>
              </a:rPr>
              <a:t>Hotels</a:t>
            </a:r>
            <a:r>
              <a:rPr sz="1800" spc="30" dirty="0">
                <a:latin typeface="Trebuchet MS"/>
                <a:cs typeface="Trebuchet MS"/>
              </a:rPr>
              <a:t> </a:t>
            </a:r>
            <a:r>
              <a:rPr sz="1800" spc="135" dirty="0">
                <a:latin typeface="Trebuchet MS"/>
                <a:cs typeface="Trebuchet MS"/>
              </a:rPr>
              <a:t>Data</a:t>
            </a:r>
            <a:r>
              <a:rPr sz="1800" spc="50" dirty="0">
                <a:latin typeface="Trebuchet MS"/>
                <a:cs typeface="Trebuchet MS"/>
              </a:rPr>
              <a:t> </a:t>
            </a:r>
            <a:r>
              <a:rPr sz="1800" spc="110" dirty="0">
                <a:latin typeface="Trebuchet MS"/>
                <a:cs typeface="Trebuchet MS"/>
              </a:rPr>
              <a:t>Analysis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8737" y="115760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import</a:t>
            </a:r>
            <a:r>
              <a:rPr sz="950" b="1" spc="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pandas</a:t>
            </a:r>
            <a:r>
              <a:rPr sz="950" spc="7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as</a:t>
            </a:r>
            <a:r>
              <a:rPr sz="950" b="1" spc="7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8900" y="1870944"/>
            <a:ext cx="4063365" cy="28200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465" dirty="0">
                <a:latin typeface="Trebuchet MS"/>
                <a:cs typeface="Trebuchet MS"/>
              </a:rPr>
              <a:t>==&gt;</a:t>
            </a:r>
            <a:r>
              <a:rPr sz="1500" spc="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1.</a:t>
            </a:r>
            <a:r>
              <a:rPr sz="1500" spc="45" dirty="0">
                <a:latin typeface="Trebuchet MS"/>
                <a:cs typeface="Trebuchet MS"/>
              </a:rPr>
              <a:t> </a:t>
            </a:r>
            <a:r>
              <a:rPr sz="1500" spc="120" dirty="0">
                <a:latin typeface="Trebuchet MS"/>
                <a:cs typeface="Trebuchet MS"/>
              </a:rPr>
              <a:t>Data</a:t>
            </a:r>
            <a:r>
              <a:rPr sz="1500" spc="55" dirty="0">
                <a:latin typeface="Trebuchet MS"/>
                <a:cs typeface="Trebuchet MS"/>
              </a:rPr>
              <a:t> </a:t>
            </a:r>
            <a:r>
              <a:rPr sz="1500" spc="75" dirty="0">
                <a:latin typeface="Trebuchet MS"/>
                <a:cs typeface="Trebuchet MS"/>
              </a:rPr>
              <a:t>Import</a:t>
            </a:r>
            <a:r>
              <a:rPr sz="1500" spc="50" dirty="0">
                <a:latin typeface="Trebuchet MS"/>
                <a:cs typeface="Trebuchet MS"/>
              </a:rPr>
              <a:t> </a:t>
            </a:r>
            <a:r>
              <a:rPr sz="1500" spc="125" dirty="0">
                <a:latin typeface="Trebuchet MS"/>
                <a:cs typeface="Trebuchet MS"/>
              </a:rPr>
              <a:t>and</a:t>
            </a:r>
            <a:r>
              <a:rPr sz="1500" spc="55" dirty="0">
                <a:latin typeface="Trebuchet MS"/>
                <a:cs typeface="Trebuchet MS"/>
              </a:rPr>
              <a:t> </a:t>
            </a:r>
            <a:r>
              <a:rPr sz="1500" spc="120" dirty="0">
                <a:latin typeface="Trebuchet MS"/>
                <a:cs typeface="Trebuchet MS"/>
              </a:rPr>
              <a:t>Data</a:t>
            </a:r>
            <a:r>
              <a:rPr sz="1500" spc="45" dirty="0">
                <a:latin typeface="Trebuchet MS"/>
                <a:cs typeface="Trebuchet MS"/>
              </a:rPr>
              <a:t> </a:t>
            </a:r>
            <a:r>
              <a:rPr sz="1500" spc="65" dirty="0">
                <a:latin typeface="Trebuchet MS"/>
                <a:cs typeface="Trebuchet MS"/>
              </a:rPr>
              <a:t>Exploration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95" dirty="0">
                <a:latin typeface="Trebuchet MS"/>
                <a:cs typeface="Trebuchet MS"/>
              </a:rPr>
              <a:t>Datasets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050" spc="65" dirty="0">
                <a:latin typeface="Trebuchet MS"/>
                <a:cs typeface="Trebuchet MS"/>
              </a:rPr>
              <a:t>We</a:t>
            </a:r>
            <a:r>
              <a:rPr sz="1050" spc="25" dirty="0">
                <a:latin typeface="Trebuchet MS"/>
                <a:cs typeface="Trebuchet MS"/>
              </a:rPr>
              <a:t> </a:t>
            </a:r>
            <a:r>
              <a:rPr sz="1050" spc="80" dirty="0">
                <a:latin typeface="Trebuchet MS"/>
                <a:cs typeface="Trebuchet MS"/>
              </a:rPr>
              <a:t>have</a:t>
            </a:r>
            <a:r>
              <a:rPr sz="1050" spc="25" dirty="0">
                <a:latin typeface="Trebuchet MS"/>
                <a:cs typeface="Trebuchet MS"/>
              </a:rPr>
              <a:t> </a:t>
            </a:r>
            <a:r>
              <a:rPr sz="1050" spc="114" dirty="0">
                <a:latin typeface="Trebuchet MS"/>
                <a:cs typeface="Trebuchet MS"/>
              </a:rPr>
              <a:t>5</a:t>
            </a:r>
            <a:r>
              <a:rPr sz="1050" spc="25" dirty="0">
                <a:latin typeface="Trebuchet MS"/>
                <a:cs typeface="Trebuchet MS"/>
              </a:rPr>
              <a:t> </a:t>
            </a:r>
            <a:r>
              <a:rPr sz="1050" spc="85" dirty="0">
                <a:latin typeface="Trebuchet MS"/>
                <a:cs typeface="Trebuchet MS"/>
              </a:rPr>
              <a:t>csv</a:t>
            </a:r>
            <a:r>
              <a:rPr sz="1050" spc="25" dirty="0">
                <a:latin typeface="Trebuchet MS"/>
                <a:cs typeface="Trebuchet MS"/>
              </a:rPr>
              <a:t> </a:t>
            </a:r>
            <a:r>
              <a:rPr sz="1050" spc="-20" dirty="0">
                <a:latin typeface="Trebuchet MS"/>
                <a:cs typeface="Trebuchet MS"/>
              </a:rPr>
              <a:t>file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050">
              <a:latin typeface="Trebuchet MS"/>
              <a:cs typeface="Trebuchet MS"/>
            </a:endParaRPr>
          </a:p>
          <a:p>
            <a:pPr marL="785495" indent="-178435">
              <a:lnSpc>
                <a:spcPct val="100000"/>
              </a:lnSpc>
              <a:buChar char="•"/>
              <a:tabLst>
                <a:tab pos="785495" algn="l"/>
              </a:tabLst>
            </a:pPr>
            <a:r>
              <a:rPr sz="1050" spc="-10" dirty="0">
                <a:latin typeface="Trebuchet MS"/>
                <a:cs typeface="Trebuchet MS"/>
              </a:rPr>
              <a:t>dim_date.csv</a:t>
            </a:r>
            <a:endParaRPr sz="1050">
              <a:latin typeface="Trebuchet MS"/>
              <a:cs typeface="Trebuchet MS"/>
            </a:endParaRPr>
          </a:p>
          <a:p>
            <a:pPr marL="785495" indent="-178435">
              <a:lnSpc>
                <a:spcPct val="100000"/>
              </a:lnSpc>
              <a:spcBef>
                <a:spcPts val="420"/>
              </a:spcBef>
              <a:buChar char="•"/>
              <a:tabLst>
                <a:tab pos="785495" algn="l"/>
              </a:tabLst>
            </a:pPr>
            <a:r>
              <a:rPr sz="1050" spc="-10" dirty="0">
                <a:latin typeface="Trebuchet MS"/>
                <a:cs typeface="Trebuchet MS"/>
              </a:rPr>
              <a:t>dim_hotels.csv</a:t>
            </a:r>
            <a:endParaRPr sz="1050">
              <a:latin typeface="Trebuchet MS"/>
              <a:cs typeface="Trebuchet MS"/>
            </a:endParaRPr>
          </a:p>
          <a:p>
            <a:pPr marL="785495" indent="-178435">
              <a:lnSpc>
                <a:spcPct val="100000"/>
              </a:lnSpc>
              <a:spcBef>
                <a:spcPts val="420"/>
              </a:spcBef>
              <a:buChar char="•"/>
              <a:tabLst>
                <a:tab pos="785495" algn="l"/>
              </a:tabLst>
            </a:pPr>
            <a:r>
              <a:rPr sz="1050" spc="45" dirty="0">
                <a:latin typeface="Trebuchet MS"/>
                <a:cs typeface="Trebuchet MS"/>
              </a:rPr>
              <a:t>dim_rooms.csv</a:t>
            </a:r>
            <a:endParaRPr sz="1050">
              <a:latin typeface="Trebuchet MS"/>
              <a:cs typeface="Trebuchet MS"/>
            </a:endParaRPr>
          </a:p>
          <a:p>
            <a:pPr marL="785495" indent="-178435">
              <a:lnSpc>
                <a:spcPct val="100000"/>
              </a:lnSpc>
              <a:spcBef>
                <a:spcPts val="420"/>
              </a:spcBef>
              <a:buChar char="•"/>
              <a:tabLst>
                <a:tab pos="785495" algn="l"/>
              </a:tabLst>
            </a:pPr>
            <a:r>
              <a:rPr sz="1050" spc="50" dirty="0">
                <a:latin typeface="Trebuchet MS"/>
                <a:cs typeface="Trebuchet MS"/>
              </a:rPr>
              <a:t>fact_aggregated_bookings</a:t>
            </a:r>
            <a:endParaRPr sz="1050">
              <a:latin typeface="Trebuchet MS"/>
              <a:cs typeface="Trebuchet MS"/>
            </a:endParaRPr>
          </a:p>
          <a:p>
            <a:pPr marL="785495" indent="-178435">
              <a:lnSpc>
                <a:spcPct val="100000"/>
              </a:lnSpc>
              <a:spcBef>
                <a:spcPts val="420"/>
              </a:spcBef>
              <a:buChar char="•"/>
              <a:tabLst>
                <a:tab pos="785495" algn="l"/>
              </a:tabLst>
            </a:pPr>
            <a:r>
              <a:rPr sz="1050" spc="-10" dirty="0">
                <a:latin typeface="Trebuchet MS"/>
                <a:cs typeface="Trebuchet MS"/>
              </a:rPr>
              <a:t>fact_bookings.csv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50" b="1" spc="135" dirty="0">
                <a:latin typeface="Trebuchet MS"/>
                <a:cs typeface="Trebuchet MS"/>
              </a:rPr>
              <a:t>Read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130" dirty="0">
                <a:latin typeface="Trebuchet MS"/>
                <a:cs typeface="Trebuchet MS"/>
              </a:rPr>
              <a:t>bookings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data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80" dirty="0">
                <a:latin typeface="Trebuchet MS"/>
                <a:cs typeface="Trebuchet MS"/>
              </a:rPr>
              <a:t>in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40" dirty="0">
                <a:latin typeface="Trebuchet MS"/>
                <a:cs typeface="Trebuchet MS"/>
              </a:rPr>
              <a:t>a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datagrame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8737" y="4878704"/>
            <a:ext cx="5838825" cy="429259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2545" marR="2359025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8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8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"fact_bookings.csv"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8900" y="7202689"/>
            <a:ext cx="17056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0" dirty="0">
                <a:latin typeface="Trebuchet MS"/>
                <a:cs typeface="Trebuchet MS"/>
              </a:rPr>
              <a:t>Explore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30" dirty="0">
                <a:latin typeface="Trebuchet MS"/>
                <a:cs typeface="Trebuchet MS"/>
              </a:rPr>
              <a:t>bookings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data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28737" y="757618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733" y="7939485"/>
            <a:ext cx="162115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Out[84]:</a:t>
            </a:r>
            <a:r>
              <a:rPr sz="950" spc="36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(134590,</a:t>
            </a:r>
            <a:r>
              <a:rPr sz="950" spc="90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12)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28737" y="8271230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room_category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unique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7733" y="8634812"/>
            <a:ext cx="437959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Out[85]:</a:t>
            </a:r>
            <a:r>
              <a:rPr sz="950" spc="37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array(['RT1',</a:t>
            </a:r>
            <a:r>
              <a:rPr sz="950" spc="1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'RT2',</a:t>
            </a:r>
            <a:r>
              <a:rPr sz="950" spc="1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'RT3',</a:t>
            </a:r>
            <a:r>
              <a:rPr sz="950" spc="1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'RT4'],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dtype=object)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28737" y="896683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booking_platform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unique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7733" y="119698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[82]: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7733" y="4918183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[83]: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7733" y="761563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[84]: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7733" y="831096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[85]: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7733" y="900628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[86]: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264400" y="19081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317500" y="0"/>
                </a:moveTo>
                <a:lnTo>
                  <a:pt x="38747" y="0"/>
                </a:lnTo>
                <a:lnTo>
                  <a:pt x="68386" y="23742"/>
                </a:lnTo>
                <a:lnTo>
                  <a:pt x="87822" y="53579"/>
                </a:lnTo>
                <a:lnTo>
                  <a:pt x="98456" y="85059"/>
                </a:lnTo>
                <a:lnTo>
                  <a:pt x="101689" y="113725"/>
                </a:lnTo>
                <a:lnTo>
                  <a:pt x="101689" y="124097"/>
                </a:lnTo>
                <a:lnTo>
                  <a:pt x="101069" y="130822"/>
                </a:lnTo>
                <a:lnTo>
                  <a:pt x="99257" y="137547"/>
                </a:lnTo>
                <a:lnTo>
                  <a:pt x="84703" y="143649"/>
                </a:lnTo>
                <a:lnTo>
                  <a:pt x="76119" y="100613"/>
                </a:lnTo>
                <a:lnTo>
                  <a:pt x="58381" y="69037"/>
                </a:lnTo>
                <a:lnTo>
                  <a:pt x="32628" y="48401"/>
                </a:lnTo>
                <a:lnTo>
                  <a:pt x="0" y="38186"/>
                </a:lnTo>
                <a:lnTo>
                  <a:pt x="0" y="176019"/>
                </a:lnTo>
                <a:lnTo>
                  <a:pt x="45863" y="176019"/>
                </a:lnTo>
                <a:lnTo>
                  <a:pt x="134667" y="175446"/>
                </a:lnTo>
                <a:lnTo>
                  <a:pt x="188828" y="174186"/>
                </a:lnTo>
                <a:lnTo>
                  <a:pt x="230305" y="172352"/>
                </a:lnTo>
                <a:lnTo>
                  <a:pt x="249116" y="105786"/>
                </a:lnTo>
                <a:lnTo>
                  <a:pt x="263064" y="111901"/>
                </a:lnTo>
                <a:lnTo>
                  <a:pt x="262969" y="134591"/>
                </a:lnTo>
                <a:lnTo>
                  <a:pt x="262553" y="179052"/>
                </a:lnTo>
                <a:lnTo>
                  <a:pt x="262458" y="201055"/>
                </a:lnTo>
                <a:lnTo>
                  <a:pt x="262553" y="218367"/>
                </a:lnTo>
                <a:lnTo>
                  <a:pt x="262969" y="252756"/>
                </a:lnTo>
                <a:lnTo>
                  <a:pt x="263064" y="270068"/>
                </a:lnTo>
                <a:lnTo>
                  <a:pt x="249722" y="266400"/>
                </a:lnTo>
                <a:lnTo>
                  <a:pt x="230912" y="223644"/>
                </a:lnTo>
                <a:lnTo>
                  <a:pt x="217222" y="222237"/>
                </a:lnTo>
                <a:lnTo>
                  <a:pt x="188746" y="221514"/>
                </a:lnTo>
                <a:lnTo>
                  <a:pt x="135698" y="221248"/>
                </a:lnTo>
                <a:lnTo>
                  <a:pt x="0" y="221210"/>
                </a:lnTo>
                <a:lnTo>
                  <a:pt x="0" y="317181"/>
                </a:lnTo>
                <a:lnTo>
                  <a:pt x="317500" y="317181"/>
                </a:lnTo>
                <a:lnTo>
                  <a:pt x="317500" y="0"/>
                </a:lnTo>
                <a:close/>
              </a:path>
            </a:pathLst>
          </a:custGeom>
          <a:solidFill>
            <a:srgbClr val="3B0C6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8900" y="692155"/>
            <a:ext cx="241109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&lt;bound</a:t>
            </a:r>
            <a:r>
              <a:rPr sz="950" spc="9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method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Series.unique</a:t>
            </a:r>
            <a:r>
              <a:rPr sz="950" spc="9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of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spc="-50" dirty="0">
                <a:latin typeface="Courier New"/>
                <a:cs typeface="Courier New"/>
              </a:rPr>
              <a:t>0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15148" y="692155"/>
            <a:ext cx="995044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direct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online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8900" y="840744"/>
            <a:ext cx="100330" cy="6731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50" dirty="0">
                <a:latin typeface="Courier New"/>
                <a:cs typeface="Courier New"/>
              </a:rPr>
              <a:t>1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2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3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8900" y="1650376"/>
            <a:ext cx="473075" cy="83502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134585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134586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134587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134588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134589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4326" y="840744"/>
            <a:ext cx="995044" cy="164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9740" marR="5080" indent="74295" algn="r">
              <a:lnSpc>
                <a:spcPct val="111800"/>
              </a:lnSpc>
              <a:spcBef>
                <a:spcPts val="95"/>
              </a:spcBef>
            </a:pPr>
            <a:r>
              <a:rPr sz="950" spc="-10" dirty="0">
                <a:latin typeface="Courier New"/>
                <a:cs typeface="Courier New"/>
              </a:rPr>
              <a:t>others logtrip others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direct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online</a:t>
            </a:r>
            <a:endParaRPr sz="950">
              <a:latin typeface="Courier New"/>
              <a:cs typeface="Courier New"/>
            </a:endParaRPr>
          </a:p>
          <a:p>
            <a:pPr marL="310515">
              <a:lnSpc>
                <a:spcPct val="100000"/>
              </a:lnSpc>
              <a:spcBef>
                <a:spcPts val="135"/>
              </a:spcBef>
            </a:pPr>
            <a:r>
              <a:rPr sz="950" spc="-25" dirty="0">
                <a:latin typeface="Courier New"/>
                <a:cs typeface="Courier New"/>
              </a:rPr>
              <a:t>...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makeyourtrip</a:t>
            </a:r>
            <a:endParaRPr sz="950">
              <a:latin typeface="Courier New"/>
              <a:cs typeface="Courier New"/>
            </a:endParaRPr>
          </a:p>
          <a:p>
            <a:pPr marL="86995" marR="5080" indent="372110" algn="r">
              <a:lnSpc>
                <a:spcPct val="111800"/>
              </a:lnSpc>
            </a:pPr>
            <a:r>
              <a:rPr sz="950" spc="-10" dirty="0">
                <a:latin typeface="Courier New"/>
                <a:cs typeface="Courier New"/>
              </a:rPr>
              <a:t>logtrip tripster logtrip makeyourtrip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8900" y="2473340"/>
            <a:ext cx="4051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11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booking_platform,</a:t>
            </a:r>
            <a:r>
              <a:rPr sz="950" spc="11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Length:</a:t>
            </a:r>
            <a:r>
              <a:rPr sz="950" spc="11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134590,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11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object&gt;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8737" y="2747968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booking_platform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value_counts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900" y="3098181"/>
            <a:ext cx="1218565" cy="1321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spc="-10" dirty="0">
                <a:latin typeface="Courier New"/>
                <a:cs typeface="Courier New"/>
              </a:rPr>
              <a:t>booking_platform others makeyourtrip logtrip</a:t>
            </a:r>
            <a:endParaRPr sz="950">
              <a:latin typeface="Courier New"/>
              <a:cs typeface="Courier New"/>
            </a:endParaRPr>
          </a:p>
          <a:p>
            <a:pPr marL="12700" marR="228600">
              <a:lnSpc>
                <a:spcPct val="111800"/>
              </a:lnSpc>
            </a:pPr>
            <a:r>
              <a:rPr sz="950" dirty="0">
                <a:latin typeface="Courier New"/>
                <a:cs typeface="Courier New"/>
              </a:rPr>
              <a:t>direct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online tripster journey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direct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offline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00667" y="3260109"/>
            <a:ext cx="398145" cy="115887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55066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26898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14756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13379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20" dirty="0">
                <a:latin typeface="Courier New"/>
                <a:cs typeface="Courier New"/>
              </a:rPr>
              <a:t>9630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20" dirty="0">
                <a:latin typeface="Courier New"/>
                <a:cs typeface="Courier New"/>
              </a:rPr>
              <a:t>8106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20" dirty="0">
                <a:latin typeface="Courier New"/>
                <a:cs typeface="Courier New"/>
              </a:rPr>
              <a:t>6755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00" y="4406925"/>
            <a:ext cx="1889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count,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int64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8737" y="468185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10" dirty="0">
                <a:solidFill>
                  <a:srgbClr val="202020"/>
                </a:solidFill>
                <a:latin typeface="Courier New"/>
                <a:cs typeface="Courier New"/>
              </a:rPr>
              <a:t>booking_platform</a:t>
            </a:r>
            <a:r>
              <a:rPr sz="950" b="1" spc="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10" dirty="0">
                <a:solidFill>
                  <a:srgbClr val="202020"/>
                </a:solidFill>
                <a:latin typeface="Courier New"/>
                <a:cs typeface="Courier New"/>
              </a:rPr>
              <a:t>value_counts</a:t>
            </a:r>
            <a:r>
              <a:rPr sz="950" spc="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10" dirty="0">
                <a:solidFill>
                  <a:srgbClr val="202020"/>
                </a:solidFill>
                <a:latin typeface="Courier New"/>
                <a:cs typeface="Courier New"/>
              </a:rPr>
              <a:t>plot</a:t>
            </a:r>
            <a:r>
              <a:rPr sz="950" spc="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10" dirty="0">
                <a:solidFill>
                  <a:srgbClr val="202020"/>
                </a:solidFill>
                <a:latin typeface="Courier New"/>
                <a:cs typeface="Courier New"/>
              </a:rPr>
              <a:t>kind</a:t>
            </a:r>
            <a:r>
              <a:rPr sz="950" spc="9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"barh"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8900" y="5045101"/>
            <a:ext cx="24853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&lt;Axes: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ylabel='booking_platform'&gt;</a:t>
            </a:r>
            <a:endParaRPr sz="950">
              <a:latin typeface="Courier New"/>
              <a:cs typeface="Courier New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133" y="5360985"/>
            <a:ext cx="5803770" cy="365422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57733" y="69215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Out[86]: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7733" y="278766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[87]: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733" y="311151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Out[87]: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7733" y="472125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[88]: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7733" y="504510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Out[88]: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38683" y="985837"/>
          <a:ext cx="6549388" cy="2353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8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Out[89]: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100" dirty="0">
                          <a:latin typeface="Trebuchet MS"/>
                          <a:cs typeface="Trebuchet MS"/>
                        </a:rPr>
                        <a:t>no_guests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ratings_given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revenue_generated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revenu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00" dirty="0">
                          <a:latin typeface="Trebuchet MS"/>
                          <a:cs typeface="Trebuchet MS"/>
                        </a:rPr>
                        <a:t>count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134590.000000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134587.000000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56683.000000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1.345900e+05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1345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20" dirty="0">
                          <a:latin typeface="Trebuchet MS"/>
                          <a:cs typeface="Trebuchet MS"/>
                        </a:rPr>
                        <a:t>mean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18061.113493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2.036170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3.619004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1.537805e+04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126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00" dirty="0">
                          <a:latin typeface="Trebuchet MS"/>
                          <a:cs typeface="Trebuchet MS"/>
                        </a:rPr>
                        <a:t>std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1093.055847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1.034885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1.235009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9.303604e+04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69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min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16558.000000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950" spc="75" dirty="0">
                          <a:latin typeface="Trebuchet MS"/>
                          <a:cs typeface="Trebuchet MS"/>
                        </a:rPr>
                        <a:t>17.000000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6.500000e+03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50" dirty="0">
                          <a:latin typeface="Trebuchet MS"/>
                          <a:cs typeface="Trebuchet MS"/>
                        </a:rPr>
                        <a:t>25%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17558.000000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9.900000e+03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76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50" dirty="0">
                          <a:latin typeface="Trebuchet MS"/>
                          <a:cs typeface="Trebuchet MS"/>
                        </a:rPr>
                        <a:t>50%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17564.000000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4.000000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1.350000e+04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117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50" dirty="0">
                          <a:latin typeface="Trebuchet MS"/>
                          <a:cs typeface="Trebuchet MS"/>
                        </a:rPr>
                        <a:t>75%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18563.000000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5.000000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1.800000e+04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153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25" dirty="0">
                          <a:latin typeface="Trebuchet MS"/>
                          <a:cs typeface="Trebuchet MS"/>
                        </a:rPr>
                        <a:t>max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19563.000000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6.000000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5.000000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2.856000e+07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452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323975" y="6779219"/>
            <a:ext cx="3672204" cy="9525"/>
          </a:xfrm>
          <a:custGeom>
            <a:avLst/>
            <a:gdLst/>
            <a:ahLst/>
            <a:cxnLst/>
            <a:rect l="l" t="t" r="r" b="b"/>
            <a:pathLst>
              <a:path w="3672204" h="9525">
                <a:moveTo>
                  <a:pt x="3672064" y="0"/>
                </a:moveTo>
                <a:lnTo>
                  <a:pt x="0" y="0"/>
                </a:lnTo>
                <a:lnTo>
                  <a:pt x="0" y="9524"/>
                </a:lnTo>
                <a:lnTo>
                  <a:pt x="3672064" y="9524"/>
                </a:lnTo>
                <a:lnTo>
                  <a:pt x="3672064" y="0"/>
                </a:lnTo>
                <a:close/>
              </a:path>
            </a:pathLst>
          </a:custGeom>
          <a:solidFill>
            <a:srgbClr val="BDBD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28737" y="60515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describe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737" y="3568700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min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(),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max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900" y="3932516"/>
            <a:ext cx="27095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(np.int64(6500),</a:t>
            </a:r>
            <a:r>
              <a:rPr sz="950" spc="19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np.int64(28560000))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8900" y="4266332"/>
            <a:ext cx="16014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35" dirty="0">
                <a:latin typeface="Trebuchet MS"/>
                <a:cs typeface="Trebuchet MS"/>
              </a:rPr>
              <a:t>Read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rest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of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the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65" dirty="0">
                <a:latin typeface="Trebuchet MS"/>
                <a:cs typeface="Trebuchet MS"/>
              </a:rPr>
              <a:t>files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8737" y="4639309"/>
            <a:ext cx="5838825" cy="75247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2731770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spc="6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6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"dim_date.csv"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spc="7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7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"dim_hotels.csv"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df_rooms</a:t>
            </a:r>
            <a:r>
              <a:rPr sz="950" spc="6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6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"dim_rooms.csv"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10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0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"fact_aggregated_bookings.csv"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737" y="549655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5860383"/>
            <a:ext cx="54737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(25,</a:t>
            </a:r>
            <a:r>
              <a:rPr sz="950" spc="60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4)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8737" y="619188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73187" y="6551579"/>
            <a:ext cx="3573779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25"/>
              </a:spcBef>
              <a:tabLst>
                <a:tab pos="3304540" algn="l"/>
              </a:tabLst>
            </a:pPr>
            <a:r>
              <a:rPr sz="950" b="1" spc="85" dirty="0">
                <a:latin typeface="Trebuchet MS"/>
                <a:cs typeface="Trebuchet MS"/>
              </a:rPr>
              <a:t>property_id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105" dirty="0">
                <a:latin typeface="Trebuchet MS"/>
                <a:cs typeface="Trebuchet MS"/>
              </a:rPr>
              <a:t>property_name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110" dirty="0">
                <a:latin typeface="Trebuchet MS"/>
                <a:cs typeface="Trebuchet MS"/>
              </a:rPr>
              <a:t>category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b="1" spc="60" dirty="0">
                <a:latin typeface="Trebuchet MS"/>
                <a:cs typeface="Trebuchet MS"/>
              </a:rPr>
              <a:t>city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629920" algn="l"/>
                <a:tab pos="1440180" algn="l"/>
                <a:tab pos="2520950" algn="l"/>
                <a:tab pos="3241675" algn="l"/>
              </a:tabLst>
            </a:pPr>
            <a:r>
              <a:rPr sz="950" b="1" spc="60" dirty="0">
                <a:latin typeface="Trebuchet MS"/>
                <a:cs typeface="Trebuchet MS"/>
              </a:rPr>
              <a:t>0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16558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Grands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65" dirty="0">
                <a:latin typeface="Trebuchet MS"/>
                <a:cs typeface="Trebuchet MS"/>
              </a:rPr>
              <a:t>Luxury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3975" y="7056710"/>
            <a:ext cx="3672204" cy="267970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5588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440"/>
              </a:spcBef>
              <a:tabLst>
                <a:tab pos="678815" algn="l"/>
                <a:tab pos="1483360" algn="l"/>
                <a:tab pos="2569845" algn="l"/>
              </a:tabLst>
            </a:pPr>
            <a:r>
              <a:rPr sz="950" b="1" spc="60" dirty="0">
                <a:latin typeface="Trebuchet MS"/>
                <a:cs typeface="Trebuchet MS"/>
              </a:rPr>
              <a:t>1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16559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Exotica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75" dirty="0">
                <a:latin typeface="Trebuchet MS"/>
                <a:cs typeface="Trebuchet MS"/>
              </a:rPr>
              <a:t>Luxury</a:t>
            </a:r>
            <a:r>
              <a:rPr sz="950" spc="200" dirty="0">
                <a:latin typeface="Trebuchet MS"/>
                <a:cs typeface="Trebuchet MS"/>
              </a:rPr>
              <a:t>  </a:t>
            </a:r>
            <a:r>
              <a:rPr sz="950" spc="80" dirty="0">
                <a:latin typeface="Trebuchet MS"/>
                <a:cs typeface="Trebuchet MS"/>
              </a:rPr>
              <a:t>Mumbai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3187" y="7364999"/>
            <a:ext cx="35731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29920" algn="l"/>
                <a:tab pos="1642110" algn="l"/>
                <a:tab pos="2395855" algn="l"/>
                <a:tab pos="3241675" algn="l"/>
              </a:tabLst>
            </a:pPr>
            <a:r>
              <a:rPr sz="950" b="1" spc="60" dirty="0">
                <a:latin typeface="Trebuchet MS"/>
                <a:cs typeface="Trebuchet MS"/>
              </a:rPr>
              <a:t>2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16560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City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75" dirty="0">
                <a:latin typeface="Trebuchet MS"/>
                <a:cs typeface="Trebuchet MS"/>
              </a:rPr>
              <a:t>Business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3975" y="7592640"/>
            <a:ext cx="3672204" cy="267970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5588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440"/>
              </a:spcBef>
              <a:tabLst>
                <a:tab pos="678815" algn="l"/>
                <a:tab pos="1736089" algn="l"/>
                <a:tab pos="2569845" algn="l"/>
                <a:tab pos="3291204" algn="l"/>
              </a:tabLst>
            </a:pPr>
            <a:r>
              <a:rPr sz="950" b="1" spc="60" dirty="0">
                <a:latin typeface="Trebuchet MS"/>
                <a:cs typeface="Trebuchet MS"/>
              </a:rPr>
              <a:t>3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16561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Blu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65" dirty="0">
                <a:latin typeface="Trebuchet MS"/>
                <a:cs typeface="Trebuchet MS"/>
              </a:rPr>
              <a:t>Luxury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73187" y="7900930"/>
            <a:ext cx="35731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29920" algn="l"/>
                <a:tab pos="1650364" algn="l"/>
                <a:tab pos="2520950" algn="l"/>
                <a:tab pos="3241675" algn="l"/>
              </a:tabLst>
            </a:pPr>
            <a:r>
              <a:rPr sz="950" b="1" spc="60" dirty="0">
                <a:latin typeface="Trebuchet MS"/>
                <a:cs typeface="Trebuchet MS"/>
              </a:rPr>
              <a:t>4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16562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80" dirty="0">
                <a:latin typeface="Trebuchet MS"/>
                <a:cs typeface="Trebuchet MS"/>
              </a:rPr>
              <a:t>Bay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65" dirty="0">
                <a:latin typeface="Trebuchet MS"/>
                <a:cs typeface="Trebuchet MS"/>
              </a:rPr>
              <a:t>Luxury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28737" y="835215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category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value_counts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8900" y="8702616"/>
            <a:ext cx="622300" cy="51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spc="-10" dirty="0">
                <a:latin typeface="Courier New"/>
                <a:cs typeface="Courier New"/>
              </a:rPr>
              <a:t>category Luxury Business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3411" y="8864540"/>
            <a:ext cx="174625" cy="3492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29"/>
              </a:spcBef>
            </a:pPr>
            <a:r>
              <a:rPr sz="950" spc="-25" dirty="0">
                <a:latin typeface="Courier New"/>
                <a:cs typeface="Courier New"/>
              </a:rPr>
              <a:t>16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9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8900" y="9201729"/>
            <a:ext cx="1889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count,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int64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7733" y="6445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[89]: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7733" y="360866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[90]: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7733" y="393251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Out[90]: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7733" y="467927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[91]: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7733" y="553653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[92]: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7733" y="5860383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Out[92]: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7733" y="623185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[93]: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7733" y="655570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Out[93]: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7733" y="839210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[94]: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7733" y="871595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Out[94]: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00" y="7620636"/>
            <a:ext cx="5610225" cy="25400"/>
            <a:chOff x="1371600" y="7620636"/>
            <a:chExt cx="5610225" cy="25400"/>
          </a:xfrm>
        </p:grpSpPr>
        <p:sp>
          <p:nvSpPr>
            <p:cNvPr id="3" name="object 3"/>
            <p:cNvSpPr/>
            <p:nvPr/>
          </p:nvSpPr>
          <p:spPr>
            <a:xfrm>
              <a:off x="1371600" y="762063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1600" y="762063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600" y="762063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71600" y="8126096"/>
            <a:ext cx="5610225" cy="25400"/>
            <a:chOff x="1371600" y="8126096"/>
            <a:chExt cx="5610225" cy="25400"/>
          </a:xfrm>
        </p:grpSpPr>
        <p:sp>
          <p:nvSpPr>
            <p:cNvPr id="7" name="object 7"/>
            <p:cNvSpPr/>
            <p:nvPr/>
          </p:nvSpPr>
          <p:spPr>
            <a:xfrm>
              <a:off x="1371600" y="812609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00" y="812609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1600" y="812609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28737" y="60515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city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value_counts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sort_values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38683" y="989969"/>
          <a:ext cx="2628264" cy="95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3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095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Out[95]: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095"/>
                        </a:lnSpc>
                      </a:pPr>
                      <a:r>
                        <a:rPr sz="950" spc="-20" dirty="0">
                          <a:latin typeface="Courier New"/>
                          <a:cs typeface="Courier New"/>
                        </a:rPr>
                        <a:t>city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Hyderabad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6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Bangalore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6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Mumbai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8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Name:</a:t>
                      </a:r>
                      <a:r>
                        <a:rPr sz="950" spc="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count,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dtype:</a:t>
                      </a:r>
                      <a:r>
                        <a:rPr sz="950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int64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328737" y="205295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city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value_counts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sort_values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plot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kind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"bar"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8900" y="2416187"/>
            <a:ext cx="159131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&lt;Axes: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xlabel='city'&gt;</a:t>
            </a:r>
            <a:endParaRPr sz="950">
              <a:latin typeface="Courier New"/>
              <a:cs typeface="Courier New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450" y="2724158"/>
            <a:ext cx="4914900" cy="455294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358900" y="7786180"/>
            <a:ext cx="21437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0" dirty="0">
                <a:latin typeface="Trebuchet MS"/>
                <a:cs typeface="Trebuchet MS"/>
              </a:rPr>
              <a:t>Explore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40" dirty="0">
                <a:latin typeface="Trebuchet MS"/>
                <a:cs typeface="Trebuchet MS"/>
              </a:rPr>
              <a:t>aggregate</a:t>
            </a:r>
            <a:r>
              <a:rPr sz="1050" b="1" spc="70" dirty="0">
                <a:latin typeface="Trebuchet MS"/>
                <a:cs typeface="Trebuchet MS"/>
              </a:rPr>
              <a:t> </a:t>
            </a:r>
            <a:r>
              <a:rPr sz="1050" b="1" spc="114" dirty="0">
                <a:latin typeface="Trebuchet MS"/>
                <a:cs typeface="Trebuchet MS"/>
              </a:rPr>
              <a:t>bookings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28737" y="8318182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733" y="6445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[95]: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7733" y="209233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[96]: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7733" y="241618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Out[96]: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7733" y="835787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[97]: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38683" y="709612"/>
          <a:ext cx="6329042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4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Out[97]: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1323975" y="5812790"/>
            <a:ext cx="5848350" cy="276860"/>
            <a:chOff x="1323975" y="5812790"/>
            <a:chExt cx="5848350" cy="276860"/>
          </a:xfrm>
        </p:grpSpPr>
        <p:sp>
          <p:nvSpPr>
            <p:cNvPr id="4" name="object 4"/>
            <p:cNvSpPr/>
            <p:nvPr/>
          </p:nvSpPr>
          <p:spPr>
            <a:xfrm>
              <a:off x="1323975" y="5813418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3975" y="5812789"/>
              <a:ext cx="5848350" cy="276860"/>
            </a:xfrm>
            <a:custGeom>
              <a:avLst/>
              <a:gdLst/>
              <a:ahLst/>
              <a:cxnLst/>
              <a:rect l="l" t="t" r="r" b="b"/>
              <a:pathLst>
                <a:path w="5848350" h="276860">
                  <a:moveTo>
                    <a:pt x="584835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10160"/>
                  </a:lnTo>
                  <a:lnTo>
                    <a:pt x="5838825" y="10160"/>
                  </a:lnTo>
                  <a:lnTo>
                    <a:pt x="5838825" y="267335"/>
                  </a:lnTo>
                  <a:lnTo>
                    <a:pt x="0" y="267335"/>
                  </a:lnTo>
                  <a:lnTo>
                    <a:pt x="0" y="276860"/>
                  </a:lnTo>
                  <a:lnTo>
                    <a:pt x="5848350" y="276860"/>
                  </a:lnTo>
                  <a:lnTo>
                    <a:pt x="5848350" y="267335"/>
                  </a:lnTo>
                  <a:lnTo>
                    <a:pt x="5848350" y="1016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58900" y="1954954"/>
            <a:ext cx="22002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Find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out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unique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property</a:t>
            </a:r>
            <a:r>
              <a:rPr sz="1050" b="1" spc="80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IDs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8737" y="2327910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property_id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nunique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900" y="2691751"/>
            <a:ext cx="390207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15995" algn="l"/>
              </a:tabLst>
            </a:pPr>
            <a:r>
              <a:rPr sz="950" dirty="0">
                <a:latin typeface="Courier New"/>
                <a:cs typeface="Courier New"/>
              </a:rPr>
              <a:t>&lt;bound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method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IndexOpsMixin.nunique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of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spc="-50" dirty="0">
                <a:latin typeface="Courier New"/>
                <a:cs typeface="Courier New"/>
              </a:rPr>
              <a:t>0</a:t>
            </a:r>
            <a:r>
              <a:rPr sz="950" dirty="0">
                <a:latin typeface="Courier New"/>
                <a:cs typeface="Courier New"/>
              </a:rPr>
              <a:t>	</a:t>
            </a:r>
            <a:r>
              <a:rPr sz="950" spc="-10" dirty="0">
                <a:latin typeface="Courier New"/>
                <a:cs typeface="Courier New"/>
              </a:rPr>
              <a:t>16559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900" y="2840340"/>
            <a:ext cx="100330" cy="6731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50" dirty="0">
                <a:latin typeface="Courier New"/>
                <a:cs typeface="Courier New"/>
              </a:rPr>
              <a:t>1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2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3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3649972"/>
            <a:ext cx="323850" cy="83502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20" dirty="0">
                <a:latin typeface="Courier New"/>
                <a:cs typeface="Courier New"/>
              </a:rPr>
              <a:t>9195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20" dirty="0">
                <a:latin typeface="Courier New"/>
                <a:cs typeface="Courier New"/>
              </a:rPr>
              <a:t>9196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20" dirty="0">
                <a:latin typeface="Courier New"/>
                <a:cs typeface="Courier New"/>
              </a:rPr>
              <a:t>9197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20" dirty="0">
                <a:latin typeface="Courier New"/>
                <a:cs typeface="Courier New"/>
              </a:rPr>
              <a:t>9198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20" dirty="0">
                <a:latin typeface="Courier New"/>
                <a:cs typeface="Courier New"/>
              </a:rPr>
              <a:t>9199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5241" y="2840340"/>
            <a:ext cx="398145" cy="164528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19562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19563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17558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16558</a:t>
            </a:r>
            <a:endParaRPr sz="950">
              <a:latin typeface="Courier New"/>
              <a:cs typeface="Courier New"/>
            </a:endParaRPr>
          </a:p>
          <a:p>
            <a:pPr marL="12700" marR="5080">
              <a:lnSpc>
                <a:spcPct val="111800"/>
              </a:lnSpc>
            </a:pPr>
            <a:r>
              <a:rPr sz="950" spc="-25" dirty="0">
                <a:latin typeface="Courier New"/>
                <a:cs typeface="Courier New"/>
              </a:rPr>
              <a:t>... </a:t>
            </a:r>
            <a:r>
              <a:rPr sz="950" spc="-10" dirty="0">
                <a:latin typeface="Courier New"/>
                <a:cs typeface="Courier New"/>
              </a:rPr>
              <a:t>16563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16559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17558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19563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17561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8900" y="4472936"/>
            <a:ext cx="34544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property_id,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Length: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9200,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int64&gt;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8737" y="474725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'property_id'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nunique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7733" y="5111113"/>
            <a:ext cx="3687445" cy="519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Out[99]:</a:t>
            </a:r>
            <a:r>
              <a:rPr sz="950" spc="34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35" dirty="0">
                <a:latin typeface="Courier New"/>
                <a:cs typeface="Courier New"/>
              </a:rPr>
              <a:t>25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950">
              <a:latin typeface="Courier New"/>
              <a:cs typeface="Courier New"/>
            </a:endParaRPr>
          </a:p>
          <a:p>
            <a:pPr marL="713740">
              <a:lnSpc>
                <a:spcPct val="100000"/>
              </a:lnSpc>
            </a:pPr>
            <a:r>
              <a:rPr sz="1050" b="1" spc="95" dirty="0">
                <a:latin typeface="Trebuchet MS"/>
                <a:cs typeface="Trebuchet MS"/>
              </a:rPr>
              <a:t>Find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out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total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30" dirty="0">
                <a:latin typeface="Trebuchet MS"/>
                <a:cs typeface="Trebuchet MS"/>
              </a:rPr>
              <a:t>bookings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per</a:t>
            </a:r>
            <a:r>
              <a:rPr sz="1050" b="1" spc="70" dirty="0">
                <a:latin typeface="Trebuchet MS"/>
                <a:cs typeface="Trebuchet MS"/>
              </a:rPr>
              <a:t> </a:t>
            </a:r>
            <a:r>
              <a:rPr sz="1050" b="1" spc="65" dirty="0">
                <a:latin typeface="Trebuchet MS"/>
                <a:cs typeface="Trebuchet MS"/>
              </a:rPr>
              <a:t>property_id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8900" y="5857875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'property_id'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'successful_bookings'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sum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reset_inde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7733" y="236789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[98]: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733" y="269175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Out[98]: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7733" y="478726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[99]: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585787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[100…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3463923" cy="6837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Out[100…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3153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7338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4693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4418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4820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7211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5053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6142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6013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5183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3424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6337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3982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4475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5256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6638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6458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7333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4737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4400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4729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6079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5736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5812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5413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358900" y="7850185"/>
            <a:ext cx="44557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Find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out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30" dirty="0">
                <a:latin typeface="Trebuchet MS"/>
                <a:cs typeface="Trebuchet MS"/>
              </a:rPr>
              <a:t>days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on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which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30" dirty="0">
                <a:latin typeface="Trebuchet MS"/>
                <a:cs typeface="Trebuchet MS"/>
              </a:rPr>
              <a:t>bookings</a:t>
            </a:r>
            <a:r>
              <a:rPr sz="1050" b="1" spc="7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are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greater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than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capacity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8737" y="8223185"/>
            <a:ext cx="5838825" cy="59118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endParaRPr sz="9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'successful_bookings'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3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&gt;</a:t>
            </a:r>
            <a:r>
              <a:rPr sz="950" b="1" spc="24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525" y="82631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[101…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6549388" cy="1819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Out[101…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0294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12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41.0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4136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Jun-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50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6209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8522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24.0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9194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18563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18.0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5475" y="3836956"/>
          <a:ext cx="6549388" cy="3094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Out[102…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70294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27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89305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89305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229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89305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328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4-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89305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428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948055" algn="l"/>
                        </a:tabLst>
                      </a:pPr>
                      <a:r>
                        <a:rPr sz="950" b="1" spc="-25" dirty="0">
                          <a:latin typeface="Trebuchet MS"/>
                          <a:cs typeface="Trebuchet MS"/>
                        </a:rPr>
                        <a:t>...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8728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27-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8828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8928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29-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9028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371600" y="7699283"/>
            <a:ext cx="5610225" cy="25400"/>
            <a:chOff x="1371600" y="7699283"/>
            <a:chExt cx="5610225" cy="25400"/>
          </a:xfrm>
        </p:grpSpPr>
        <p:sp>
          <p:nvSpPr>
            <p:cNvPr id="5" name="object 5"/>
            <p:cNvSpPr/>
            <p:nvPr/>
          </p:nvSpPr>
          <p:spPr>
            <a:xfrm>
              <a:off x="1371600" y="769928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1600" y="769928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71600" y="769928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371600" y="8300755"/>
            <a:ext cx="5610225" cy="25400"/>
            <a:chOff x="1371600" y="8300755"/>
            <a:chExt cx="5610225" cy="25400"/>
          </a:xfrm>
        </p:grpSpPr>
        <p:sp>
          <p:nvSpPr>
            <p:cNvPr id="9" name="object 9"/>
            <p:cNvSpPr/>
            <p:nvPr/>
          </p:nvSpPr>
          <p:spPr>
            <a:xfrm>
              <a:off x="1371600" y="8300755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71600" y="8300755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71600" y="8300755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58900" y="2758850"/>
            <a:ext cx="35344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Find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out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properties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that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have</a:t>
            </a:r>
            <a:r>
              <a:rPr sz="1050" b="1" spc="75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highest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capacity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8737" y="3131820"/>
            <a:ext cx="5838825" cy="59118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max_capacity</a:t>
            </a:r>
            <a:r>
              <a:rPr sz="950" spc="8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9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max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7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==</a:t>
            </a:r>
            <a:r>
              <a:rPr sz="950" b="1" spc="27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max_capacity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1275" y="7130767"/>
            <a:ext cx="14319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110" dirty="0">
                <a:latin typeface="Trebuchet MS"/>
                <a:cs typeface="Trebuchet MS"/>
              </a:rPr>
              <a:t>92</a:t>
            </a:r>
            <a:r>
              <a:rPr sz="1050" spc="15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rows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320" dirty="0">
                <a:latin typeface="Trebuchet MS"/>
                <a:cs typeface="Trebuchet MS"/>
              </a:rPr>
              <a:t>×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114" dirty="0">
                <a:latin typeface="Trebuchet MS"/>
                <a:cs typeface="Trebuchet MS"/>
              </a:rPr>
              <a:t>5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columns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8900" y="7912877"/>
            <a:ext cx="217360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465" dirty="0">
                <a:latin typeface="Trebuchet MS"/>
                <a:cs typeface="Trebuchet MS"/>
              </a:rPr>
              <a:t>==&gt;</a:t>
            </a:r>
            <a:r>
              <a:rPr sz="1500" spc="5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2.</a:t>
            </a:r>
            <a:r>
              <a:rPr sz="1500" spc="60" dirty="0">
                <a:latin typeface="Trebuchet MS"/>
                <a:cs typeface="Trebuchet MS"/>
              </a:rPr>
              <a:t> </a:t>
            </a:r>
            <a:r>
              <a:rPr sz="1500" spc="120" dirty="0">
                <a:latin typeface="Trebuchet MS"/>
                <a:cs typeface="Trebuchet MS"/>
              </a:rPr>
              <a:t>Data</a:t>
            </a:r>
            <a:r>
              <a:rPr sz="1500" spc="70" dirty="0">
                <a:latin typeface="Trebuchet MS"/>
                <a:cs typeface="Trebuchet MS"/>
              </a:rPr>
              <a:t> </a:t>
            </a:r>
            <a:r>
              <a:rPr sz="1500" spc="90" dirty="0">
                <a:latin typeface="Trebuchet MS"/>
                <a:cs typeface="Trebuchet MS"/>
              </a:rPr>
              <a:t>Cleaning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28737" y="849312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describe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317179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853253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[103…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6562723" cy="2353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8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Out[103…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100" dirty="0">
                          <a:latin typeface="Trebuchet MS"/>
                          <a:cs typeface="Trebuchet MS"/>
                        </a:rPr>
                        <a:t>no_guests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ratings_given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revenue_generated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revenu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00" dirty="0">
                          <a:latin typeface="Trebuchet MS"/>
                          <a:cs typeface="Trebuchet MS"/>
                        </a:rPr>
                        <a:t>count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134590.000000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134587.000000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56683.000000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1.345900e+05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1345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20" dirty="0">
                          <a:latin typeface="Trebuchet MS"/>
                          <a:cs typeface="Trebuchet MS"/>
                        </a:rPr>
                        <a:t>mean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18061.113493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2.036170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3.619004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1.537805e+04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126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00" dirty="0">
                          <a:latin typeface="Trebuchet MS"/>
                          <a:cs typeface="Trebuchet MS"/>
                        </a:rPr>
                        <a:t>std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1093.055847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1.034885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1.235009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9.303604e+04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69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min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16558.000000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950" spc="75" dirty="0">
                          <a:latin typeface="Trebuchet MS"/>
                          <a:cs typeface="Trebuchet MS"/>
                        </a:rPr>
                        <a:t>17.000000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6.500000e+03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50" dirty="0">
                          <a:latin typeface="Trebuchet MS"/>
                          <a:cs typeface="Trebuchet MS"/>
                        </a:rPr>
                        <a:t>25%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17558.000000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9.900000e+03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76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50" dirty="0">
                          <a:latin typeface="Trebuchet MS"/>
                          <a:cs typeface="Trebuchet MS"/>
                        </a:rPr>
                        <a:t>50%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17564.000000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4.000000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1.350000e+04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117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50" dirty="0">
                          <a:latin typeface="Trebuchet MS"/>
                          <a:cs typeface="Trebuchet MS"/>
                        </a:rPr>
                        <a:t>75%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18563.000000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5.000000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1.800000e+04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153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25" dirty="0">
                          <a:latin typeface="Trebuchet MS"/>
                          <a:cs typeface="Trebuchet MS"/>
                        </a:rPr>
                        <a:t>max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19563.000000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6.000000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5.000000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2.856000e+07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452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5475" y="4049033"/>
          <a:ext cx="6566534" cy="2559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7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Out[104…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marR="12065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checkou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28829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2/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28829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2/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33095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17924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May122218559RT44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12/5/2022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12/5/2022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33095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18020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May122218561RT22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8/5/2022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12/5/2022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18119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May122218562RT311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5/5/2022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12/5/2022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18121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May122218562RT313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10/5/2022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12/5/2022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95325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56715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Jun082218562RT12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5/6/2022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8/6/2022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4676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119765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Jul202219560RT220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19-07-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20-07-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82550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134586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Jul312217564RT47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1/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58900" y="3294780"/>
            <a:ext cx="180593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(1)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Clean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invalid</a:t>
            </a:r>
            <a:r>
              <a:rPr sz="1050" b="1" spc="70" dirty="0">
                <a:latin typeface="Trebuchet MS"/>
                <a:cs typeface="Trebuchet MS"/>
              </a:rPr>
              <a:t> </a:t>
            </a:r>
            <a:r>
              <a:rPr sz="1050" b="1" spc="130" dirty="0">
                <a:latin typeface="Trebuchet MS"/>
                <a:cs typeface="Trebuchet MS"/>
              </a:rPr>
              <a:t>guests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737" y="366775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no_guests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&lt;=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0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737" y="689990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8900" y="7263677"/>
            <a:ext cx="92011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(134590,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12)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900" y="7597492"/>
            <a:ext cx="31318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(2)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80" dirty="0">
                <a:latin typeface="Trebuchet MS"/>
                <a:cs typeface="Trebuchet MS"/>
              </a:rPr>
              <a:t>Outlier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removal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80" dirty="0">
                <a:latin typeface="Trebuchet MS"/>
                <a:cs typeface="Trebuchet MS"/>
              </a:rPr>
              <a:t>in</a:t>
            </a:r>
            <a:r>
              <a:rPr sz="1050" b="1" spc="7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revenue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generated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737" y="797051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min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(),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max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8334289"/>
            <a:ext cx="27095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(np.int64(6500),</a:t>
            </a:r>
            <a:r>
              <a:rPr sz="950" spc="19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np.int64(28560000))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8737" y="866584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(),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median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8900" y="9029616"/>
            <a:ext cx="390207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(np.float64(15378.05412734973),</a:t>
            </a:r>
            <a:r>
              <a:rPr sz="950" spc="37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np.float64(13500.0))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525" y="370772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[104…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4525" y="693982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[105…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525" y="726367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Out[105…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525" y="801043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833428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Out[106…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870576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902961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Out[107…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23975" y="600075"/>
            <a:ext cx="5848350" cy="276225"/>
            <a:chOff x="1323975" y="600075"/>
            <a:chExt cx="5848350" cy="276225"/>
          </a:xfrm>
        </p:grpSpPr>
        <p:sp>
          <p:nvSpPr>
            <p:cNvPr id="3" name="object 3"/>
            <p:cNvSpPr/>
            <p:nvPr/>
          </p:nvSpPr>
          <p:spPr>
            <a:xfrm>
              <a:off x="1323975" y="600075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23975" y="600709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9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848350" y="275590"/>
                  </a:lnTo>
                  <a:lnTo>
                    <a:pt x="5848350" y="266700"/>
                  </a:lnTo>
                  <a:lnTo>
                    <a:pt x="9525" y="266700"/>
                  </a:lnTo>
                  <a:lnTo>
                    <a:pt x="9525" y="8890"/>
                  </a:lnTo>
                  <a:lnTo>
                    <a:pt x="5838825" y="8890"/>
                  </a:lnTo>
                  <a:lnTo>
                    <a:pt x="5838825" y="266077"/>
                  </a:lnTo>
                  <a:lnTo>
                    <a:pt x="5848350" y="266077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323975" y="3973200"/>
            <a:ext cx="5848350" cy="9525"/>
          </a:xfrm>
          <a:custGeom>
            <a:avLst/>
            <a:gdLst/>
            <a:ahLst/>
            <a:cxnLst/>
            <a:rect l="l" t="t" r="r" b="b"/>
            <a:pathLst>
              <a:path w="5848350" h="9525">
                <a:moveTo>
                  <a:pt x="5848350" y="0"/>
                </a:moveTo>
                <a:lnTo>
                  <a:pt x="0" y="0"/>
                </a:lnTo>
                <a:lnTo>
                  <a:pt x="0" y="9525"/>
                </a:lnTo>
                <a:lnTo>
                  <a:pt x="5848350" y="9525"/>
                </a:lnTo>
                <a:lnTo>
                  <a:pt x="5848350" y="0"/>
                </a:lnTo>
                <a:close/>
              </a:path>
            </a:pathLst>
          </a:custGeom>
          <a:solidFill>
            <a:srgbClr val="BDBDB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5475" y="4587563"/>
          <a:ext cx="6567168" cy="1490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8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Out[113…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marR="12065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checkou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28829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4/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461009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111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May012216559RT32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29-04-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2/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461009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315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May012216562RT22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4/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562</a:t>
                      </a:r>
                      <a:r>
                        <a:rPr sz="950" b="1" spc="204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May012217559RT118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26-04-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2/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82550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129176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Jul282216562RT26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1323975" y="9152876"/>
            <a:ext cx="5848350" cy="276225"/>
            <a:chOff x="1323975" y="9152876"/>
            <a:chExt cx="5848350" cy="276225"/>
          </a:xfrm>
        </p:grpSpPr>
        <p:sp>
          <p:nvSpPr>
            <p:cNvPr id="8" name="object 8"/>
            <p:cNvSpPr/>
            <p:nvPr/>
          </p:nvSpPr>
          <p:spPr>
            <a:xfrm>
              <a:off x="1323975" y="9152876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23975" y="9152889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9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75590"/>
                  </a:lnTo>
                  <a:lnTo>
                    <a:pt x="9525" y="275590"/>
                  </a:lnTo>
                  <a:lnTo>
                    <a:pt x="9525" y="8890"/>
                  </a:lnTo>
                  <a:lnTo>
                    <a:pt x="5838825" y="8890"/>
                  </a:lnTo>
                  <a:lnTo>
                    <a:pt x="5838825" y="275590"/>
                  </a:lnTo>
                  <a:lnTo>
                    <a:pt x="5848350" y="2755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58900" y="644530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avg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4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std</a:t>
            </a:r>
            <a:r>
              <a:rPr sz="950" spc="14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4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(),</a:t>
            </a:r>
            <a:r>
              <a:rPr sz="950" spc="14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8737" y="976313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avg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std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8900" y="1339857"/>
            <a:ext cx="464756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(np.float64(15378.05412734973),</a:t>
            </a:r>
            <a:r>
              <a:rPr sz="950" spc="37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np.float64(93036.03867095453))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8737" y="1671954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2545" marR="3850004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higher_limit</a:t>
            </a:r>
            <a:r>
              <a:rPr sz="950" spc="6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6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avg</a:t>
            </a:r>
            <a:r>
              <a:rPr sz="950" spc="6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+</a:t>
            </a:r>
            <a:r>
              <a:rPr sz="950" b="1" spc="6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*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std higher_limit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8900" y="2197110"/>
            <a:ext cx="226187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ourier New"/>
                <a:cs typeface="Courier New"/>
              </a:rPr>
              <a:t>np.float64(294486.17014021333)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8737" y="2529204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2545" marR="3924300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lower_limit</a:t>
            </a:r>
            <a:r>
              <a:rPr sz="950" spc="6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6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avg</a:t>
            </a:r>
            <a:r>
              <a:rPr sz="950" spc="6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+</a:t>
            </a:r>
            <a:r>
              <a:rPr sz="950" b="1" spc="6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b="1" spc="-20" dirty="0">
                <a:solidFill>
                  <a:srgbClr val="AA22FF"/>
                </a:solidFill>
                <a:latin typeface="Courier New"/>
                <a:cs typeface="Courier New"/>
              </a:rPr>
              <a:t>*</a:t>
            </a:r>
            <a:r>
              <a:rPr sz="950" spc="-20" dirty="0">
                <a:solidFill>
                  <a:srgbClr val="202020"/>
                </a:solidFill>
                <a:latin typeface="Courier New"/>
                <a:cs typeface="Courier New"/>
              </a:rPr>
              <a:t>std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lower_limit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8900" y="3054362"/>
            <a:ext cx="226187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ourier New"/>
                <a:cs typeface="Courier New"/>
              </a:rPr>
              <a:t>np.float64(294486.17014021333)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28737" y="338645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&lt;=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0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97012" y="3745558"/>
            <a:ext cx="568515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95" dirty="0">
                <a:latin typeface="Trebuchet MS"/>
                <a:cs typeface="Trebuchet MS"/>
              </a:rPr>
              <a:t>booking_id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85" dirty="0">
                <a:latin typeface="Trebuchet MS"/>
                <a:cs typeface="Trebuchet MS"/>
              </a:rPr>
              <a:t>property_id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105" dirty="0">
                <a:latin typeface="Trebuchet MS"/>
                <a:cs typeface="Trebuchet MS"/>
              </a:rPr>
              <a:t>booking_date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75" dirty="0">
                <a:latin typeface="Trebuchet MS"/>
                <a:cs typeface="Trebuchet MS"/>
              </a:rPr>
              <a:t>check_in_date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90" dirty="0">
                <a:latin typeface="Trebuchet MS"/>
                <a:cs typeface="Trebuchet MS"/>
              </a:rPr>
              <a:t>checkout_date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100" dirty="0">
                <a:latin typeface="Trebuchet MS"/>
                <a:cs typeface="Trebuchet MS"/>
              </a:rPr>
              <a:t>no_gues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28737" y="420687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&gt;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higher_limit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28737" y="6366509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569595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8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8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&lt;=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higher_limit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58900" y="6892272"/>
            <a:ext cx="92011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(134585,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12)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28737" y="722375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revenue_realized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describe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9783" y="7574264"/>
            <a:ext cx="995044" cy="13214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134585.000000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12696.095025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6928.058192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2600.000000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7600.000000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11700.000000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15300.000000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45220.000000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8900" y="8883007"/>
            <a:ext cx="285813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revenue_realized,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12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float64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4525" y="7574264"/>
            <a:ext cx="1112520" cy="13214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Out[115…</a:t>
            </a:r>
            <a:r>
              <a:rPr sz="950" spc="45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count</a:t>
            </a:r>
            <a:endParaRPr sz="950">
              <a:latin typeface="Courier New"/>
              <a:cs typeface="Courier New"/>
            </a:endParaRPr>
          </a:p>
          <a:p>
            <a:pPr marL="727075" marR="79375">
              <a:lnSpc>
                <a:spcPct val="111800"/>
              </a:lnSpc>
            </a:pPr>
            <a:r>
              <a:rPr sz="950" spc="-20" dirty="0">
                <a:latin typeface="Courier New"/>
                <a:cs typeface="Courier New"/>
              </a:rPr>
              <a:t>mean </a:t>
            </a:r>
            <a:r>
              <a:rPr sz="950" spc="-25" dirty="0">
                <a:latin typeface="Courier New"/>
                <a:cs typeface="Courier New"/>
              </a:rPr>
              <a:t>std min 25%</a:t>
            </a:r>
            <a:endParaRPr sz="950">
              <a:latin typeface="Courier New"/>
              <a:cs typeface="Courier New"/>
            </a:endParaRPr>
          </a:p>
          <a:p>
            <a:pPr marL="727075">
              <a:lnSpc>
                <a:spcPct val="100000"/>
              </a:lnSpc>
              <a:spcBef>
                <a:spcPts val="135"/>
              </a:spcBef>
            </a:pPr>
            <a:r>
              <a:rPr sz="950" spc="-25" dirty="0">
                <a:latin typeface="Courier New"/>
                <a:cs typeface="Courier New"/>
              </a:rPr>
              <a:t>50%</a:t>
            </a:r>
            <a:endParaRPr sz="950">
              <a:latin typeface="Courier New"/>
              <a:cs typeface="Courier New"/>
            </a:endParaRPr>
          </a:p>
          <a:p>
            <a:pPr marL="727075">
              <a:lnSpc>
                <a:spcPct val="100000"/>
              </a:lnSpc>
              <a:spcBef>
                <a:spcPts val="135"/>
              </a:spcBef>
            </a:pPr>
            <a:r>
              <a:rPr sz="950" spc="-25" dirty="0">
                <a:latin typeface="Courier New"/>
                <a:cs typeface="Courier New"/>
              </a:rPr>
              <a:t>75%</a:t>
            </a:r>
            <a:endParaRPr sz="950">
              <a:latin typeface="Courier New"/>
              <a:cs typeface="Courier New"/>
            </a:endParaRPr>
          </a:p>
          <a:p>
            <a:pPr marL="727075">
              <a:lnSpc>
                <a:spcPct val="100000"/>
              </a:lnSpc>
              <a:spcBef>
                <a:spcPts val="135"/>
              </a:spcBef>
            </a:pPr>
            <a:r>
              <a:rPr sz="950" spc="-25" dirty="0">
                <a:latin typeface="Courier New"/>
                <a:cs typeface="Courier New"/>
              </a:rPr>
              <a:t>max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58900" y="9197333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higher_limit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29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revenue_realized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+</a:t>
            </a:r>
            <a:r>
              <a:rPr sz="950" b="1" spc="29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*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revenue_reali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4525" y="6445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4525" y="101600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4525" y="133985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Out[109…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4525" y="171133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[110…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4525" y="219711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Out[110…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4525" y="256858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4525" y="305436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Out[111…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4525" y="342583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4525" y="374969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Out[112…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4525" y="424625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4525" y="640649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[114…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4525" y="689227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Out[114…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4525" y="726374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[115…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4525" y="9197333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[116…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23975" y="600075"/>
            <a:ext cx="5848350" cy="276225"/>
            <a:chOff x="1323975" y="600075"/>
            <a:chExt cx="5848350" cy="276225"/>
          </a:xfrm>
        </p:grpSpPr>
        <p:sp>
          <p:nvSpPr>
            <p:cNvPr id="3" name="object 3"/>
            <p:cNvSpPr/>
            <p:nvPr/>
          </p:nvSpPr>
          <p:spPr>
            <a:xfrm>
              <a:off x="1323975" y="600075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23975" y="600709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90">
                  <a:moveTo>
                    <a:pt x="5848350" y="0"/>
                  </a:moveTo>
                  <a:lnTo>
                    <a:pt x="5838825" y="0"/>
                  </a:lnTo>
                  <a:lnTo>
                    <a:pt x="5838825" y="266700"/>
                  </a:lnTo>
                  <a:lnTo>
                    <a:pt x="9525" y="266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848350" y="275590"/>
                  </a:lnTo>
                  <a:lnTo>
                    <a:pt x="5848350" y="26670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5475" y="1681165"/>
          <a:ext cx="6548119" cy="3094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Out[117…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checkou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461009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137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May012216559RT41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7/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461009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139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May012216559RT43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2/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461009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143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May012216559RT47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3/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149</a:t>
                      </a:r>
                      <a:r>
                        <a:rPr sz="950" b="1" spc="204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May012216559RT413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24-04-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7/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461009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222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May012216560RT45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3/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1500505" algn="l"/>
                        </a:tabLst>
                      </a:pPr>
                      <a:r>
                        <a:rPr sz="950" b="1" spc="-25" dirty="0">
                          <a:latin typeface="Trebuchet MS"/>
                          <a:cs typeface="Trebuchet MS"/>
                        </a:rPr>
                        <a:t>...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4676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134331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Jul312219560RT412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1/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2550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134467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Jul312219562RT45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1/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4676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134474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Jul312219562RT412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25-07-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6/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2550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134581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Jul312217564RT42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1/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82550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134586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Jul312217564RT47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1/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5475" y="6167383"/>
          <a:ext cx="2478403" cy="128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Out[119…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room_id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room_class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Standard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Elite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Premium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Presidential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333500" y="644530"/>
            <a:ext cx="5829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higher_limit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900" y="968381"/>
            <a:ext cx="218757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ourier New"/>
                <a:cs typeface="Courier New"/>
              </a:rPr>
              <a:t>np.float64(33480.26960155918)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737" y="1300163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revenue_realized</a:t>
            </a:r>
            <a:r>
              <a:rPr sz="950" spc="25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&gt;</a:t>
            </a:r>
            <a:r>
              <a:rPr sz="950" b="1" spc="25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higher_limit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1275" y="4974977"/>
            <a:ext cx="16865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110" dirty="0">
                <a:latin typeface="Trebuchet MS"/>
                <a:cs typeface="Trebuchet MS"/>
              </a:rPr>
              <a:t>1300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rows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320" dirty="0">
                <a:latin typeface="Trebuchet MS"/>
                <a:cs typeface="Trebuchet MS"/>
              </a:rPr>
              <a:t>×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110" dirty="0">
                <a:latin typeface="Trebuchet MS"/>
                <a:cs typeface="Trebuchet MS"/>
              </a:rPr>
              <a:t>12</a:t>
            </a:r>
            <a:r>
              <a:rPr sz="1050" spc="25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columns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8737" y="541464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df_rooms</a:t>
            </a:r>
            <a:r>
              <a:rPr sz="950" spc="6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6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"dim_rooms.csv"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8737" y="5786120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df_rooms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8737" y="767841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room_category</a:t>
            </a:r>
            <a:r>
              <a:rPr sz="950" spc="44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"RT4"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revenue_realized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describe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4525" y="96838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Out[116…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525" y="133985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525" y="545459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5826074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771834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[120…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13742"/>
          <a:ext cx="6633209" cy="65474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R="35560" algn="ctr">
                        <a:lnSpc>
                          <a:spcPts val="1095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Out[120…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095"/>
                        </a:lnSpc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count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0350" marR="3175">
                        <a:lnSpc>
                          <a:spcPts val="1095"/>
                        </a:lnSpc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16073.000000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0" dirty="0">
                          <a:latin typeface="Courier New"/>
                          <a:cs typeface="Courier New"/>
                        </a:rPr>
                        <a:t>mean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260350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23440.103652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std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335280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9048.865206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min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335280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7600.000000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25%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260350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19000.000000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50%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260350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26600.000000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75%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260350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32300.000000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max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Name: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260350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45220.000000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36830" marR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revenue_realized,</a:t>
                      </a:r>
                      <a:r>
                        <a:rPr sz="950" spc="1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dtype:</a:t>
                      </a:r>
                      <a:r>
                        <a:rPr sz="950" spc="1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float64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sz="950" spc="35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2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[121…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R w="9525">
                      <a:solidFill>
                        <a:srgbClr val="DFDFD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solidFill>
                            <a:srgbClr val="008800"/>
                          </a:solidFill>
                          <a:latin typeface="Courier New"/>
                          <a:cs typeface="Courier New"/>
                        </a:rPr>
                        <a:t>2439</a:t>
                      </a:r>
                      <a:r>
                        <a:rPr sz="950" spc="40" dirty="0">
                          <a:solidFill>
                            <a:srgbClr val="0088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b="1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950" b="1" spc="45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solidFill>
                            <a:srgbClr val="008800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950" b="1" spc="-10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950" spc="-10" dirty="0">
                          <a:solidFill>
                            <a:srgbClr val="008800"/>
                          </a:solidFill>
                          <a:latin typeface="Courier New"/>
                          <a:cs typeface="Courier New"/>
                        </a:rPr>
                        <a:t>9048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FDFDF"/>
                      </a:solidFill>
                      <a:prstDash val="solid"/>
                    </a:lnL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Out[121…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12395" marB="0"/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29583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123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sz="950" spc="35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2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[122…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R w="9525">
                      <a:solidFill>
                        <a:srgbClr val="DFDFD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df_bookings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df_bookings</a:t>
                      </a:r>
                      <a:r>
                        <a:rPr sz="950" b="1" spc="-10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booking_id</a:t>
                      </a:r>
                      <a:r>
                        <a:rPr sz="950" b="1" spc="-10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950" spc="-10" dirty="0">
                          <a:solidFill>
                            <a:srgbClr val="BA2121"/>
                          </a:solidFill>
                          <a:latin typeface="Courier New"/>
                          <a:cs typeface="Courier New"/>
                        </a:rPr>
                        <a:t>"May012216558RT213"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FDFDF"/>
                      </a:solidFill>
                      <a:prstDash val="solid"/>
                    </a:lnL>
                    <a:lnT w="9525">
                      <a:solidFill>
                        <a:srgbClr val="DFDFDF"/>
                      </a:solidFill>
                      <a:prstDash val="solid"/>
                    </a:lnT>
                    <a:lnB w="12700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12700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Out[122…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12395" marB="0"/>
                </a:tc>
                <a:tc gridSpan="2">
                  <a:txBody>
                    <a:bodyPr/>
                    <a:lstStyle/>
                    <a:p>
                      <a:pPr marL="953769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booking_id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b="1" spc="85" dirty="0">
                          <a:latin typeface="Trebuchet MS"/>
                          <a:cs typeface="Trebuchet MS"/>
                        </a:rPr>
                        <a:t>property_id</a:t>
                      </a:r>
                      <a:r>
                        <a:rPr sz="950" b="1" spc="215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b="1" spc="105" dirty="0">
                          <a:latin typeface="Trebuchet MS"/>
                          <a:cs typeface="Trebuchet MS"/>
                        </a:rPr>
                        <a:t>booking_date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07950" marB="0">
                    <a:lnT w="12700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07950" marB="0">
                    <a:lnT w="12700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959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2238375" algn="l"/>
                          <a:tab pos="3131820" algn="l"/>
                          <a:tab pos="4232275" algn="l"/>
                        </a:tabLst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30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5" dirty="0">
                          <a:latin typeface="Trebuchet MS"/>
                          <a:cs typeface="Trebuchet MS"/>
                        </a:rPr>
                        <a:t>May012216558RT213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29-04-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sz="950" spc="35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2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[123…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R w="9525">
                      <a:solidFill>
                        <a:srgbClr val="DFDFD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df_bookings</a:t>
                      </a:r>
                      <a:r>
                        <a:rPr sz="950" b="1" spc="-10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isnull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r>
                        <a:rPr sz="950" b="1" spc="-10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sum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FDFDF"/>
                      </a:solidFill>
                      <a:prstDash val="solid"/>
                    </a:lnL>
                    <a:lnT w="9525">
                      <a:solidFill>
                        <a:srgbClr val="DFDFDF"/>
                      </a:solidFill>
                      <a:prstDash val="solid"/>
                    </a:lnT>
                    <a:lnB w="12700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12700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14575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Out[123…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12395" marB="0"/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8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booking_id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property_id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booking_date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check_in_date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checkout_date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no_guests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room_category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booking_platform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60782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ratings_given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77905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booking_status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revenue_generated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 marR="2861945">
                        <a:lnSpc>
                          <a:spcPct val="111800"/>
                        </a:lnSpc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revenue_realized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dtype:</a:t>
                      </a:r>
                      <a:r>
                        <a:rPr sz="950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int64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12395" marB="0">
                    <a:lnT w="12700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sz="950" spc="35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2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[124…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R w="9525">
                      <a:solidFill>
                        <a:srgbClr val="DFDFD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df_agg_bookings</a:t>
                      </a:r>
                      <a:r>
                        <a:rPr sz="950" spc="105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b="1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950" b="1" spc="105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pd</a:t>
                      </a:r>
                      <a:r>
                        <a:rPr sz="950" b="1" spc="-10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read_csv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950" spc="-10" dirty="0">
                          <a:solidFill>
                            <a:srgbClr val="BA2121"/>
                          </a:solidFill>
                          <a:latin typeface="Courier New"/>
                          <a:cs typeface="Courier New"/>
                        </a:rPr>
                        <a:t>"fact_aggregated_bookings.csv"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FDFDF"/>
                      </a:solidFill>
                      <a:prstDash val="solid"/>
                    </a:lnL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4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sz="950" spc="35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2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[125…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R w="9525">
                      <a:solidFill>
                        <a:srgbClr val="DFDFD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df_agg_bookings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FDFDF"/>
                      </a:solidFill>
                      <a:prstDash val="solid"/>
                    </a:lnL>
                    <a:lnT w="9525">
                      <a:solidFill>
                        <a:srgbClr val="DFDFDF"/>
                      </a:solidFill>
                      <a:prstDash val="solid"/>
                    </a:lnT>
                    <a:lnB w="12700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12700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6623050" cy="3094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Out[125…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948055" algn="l"/>
                        </a:tabLst>
                      </a:pPr>
                      <a:r>
                        <a:rPr sz="950" b="1" spc="-25" dirty="0">
                          <a:latin typeface="Trebuchet MS"/>
                          <a:cs typeface="Trebuchet MS"/>
                        </a:rPr>
                        <a:t>...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9195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18.0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9196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18.0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9197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9199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4.0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311275" y="4003424"/>
            <a:ext cx="16014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110" dirty="0">
                <a:latin typeface="Trebuchet MS"/>
                <a:cs typeface="Trebuchet MS"/>
              </a:rPr>
              <a:t>9200</a:t>
            </a:r>
            <a:r>
              <a:rPr sz="1050" spc="15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rows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320" dirty="0">
                <a:latin typeface="Trebuchet MS"/>
                <a:cs typeface="Trebuchet MS"/>
              </a:rPr>
              <a:t>×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114" dirty="0">
                <a:latin typeface="Trebuchet MS"/>
                <a:cs typeface="Trebuchet MS"/>
              </a:rPr>
              <a:t>5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columns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8737" y="444309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isnull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sum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525" y="4793560"/>
            <a:ext cx="2156460" cy="99758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Out[126…</a:t>
            </a:r>
            <a:r>
              <a:rPr sz="950" spc="45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property_id</a:t>
            </a:r>
            <a:endParaRPr sz="950">
              <a:latin typeface="Courier New"/>
              <a:cs typeface="Courier New"/>
            </a:endParaRPr>
          </a:p>
          <a:p>
            <a:pPr marL="727075" marR="5080">
              <a:lnSpc>
                <a:spcPct val="111800"/>
              </a:lnSpc>
            </a:pPr>
            <a:r>
              <a:rPr sz="950" spc="-10" dirty="0">
                <a:latin typeface="Courier New"/>
                <a:cs typeface="Courier New"/>
              </a:rPr>
              <a:t>check_in_date room_category successful_bookings capacity</a:t>
            </a:r>
            <a:endParaRPr sz="950">
              <a:latin typeface="Courier New"/>
              <a:cs typeface="Courier New"/>
            </a:endParaRPr>
          </a:p>
          <a:p>
            <a:pPr marL="727075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int64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381" y="4793560"/>
            <a:ext cx="100330" cy="83502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50" dirty="0">
                <a:latin typeface="Courier New"/>
                <a:cs typeface="Courier New"/>
              </a:rPr>
              <a:t>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2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8737" y="589089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525" y="448304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[126…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525" y="593085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[127…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6623050" cy="3094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Out[127…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948055" algn="l"/>
                        </a:tabLst>
                      </a:pPr>
                      <a:r>
                        <a:rPr sz="950" b="1" spc="-25" dirty="0">
                          <a:latin typeface="Trebuchet MS"/>
                          <a:cs typeface="Trebuchet MS"/>
                        </a:rPr>
                        <a:t>...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9195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18.0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9196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18.0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9197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9199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4.0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5475" y="7403733"/>
          <a:ext cx="6623050" cy="1819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Out[129…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0294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12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41.0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4136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Jun-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50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6209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8522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24.0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9194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18563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18.0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11275" y="4003424"/>
            <a:ext cx="3202305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110" dirty="0">
                <a:latin typeface="Trebuchet MS"/>
                <a:cs typeface="Trebuchet MS"/>
              </a:rPr>
              <a:t>9200</a:t>
            </a:r>
            <a:r>
              <a:rPr sz="1050" spc="15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rows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320" dirty="0">
                <a:latin typeface="Trebuchet MS"/>
                <a:cs typeface="Trebuchet MS"/>
              </a:rPr>
              <a:t>×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114" dirty="0">
                <a:latin typeface="Trebuchet MS"/>
                <a:cs typeface="Trebuchet MS"/>
              </a:rPr>
              <a:t>5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columns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50">
              <a:latin typeface="Trebuchet MS"/>
              <a:cs typeface="Trebuchet MS"/>
            </a:endParaRPr>
          </a:p>
          <a:p>
            <a:pPr marL="60325">
              <a:lnSpc>
                <a:spcPct val="100000"/>
              </a:lnSpc>
            </a:pPr>
            <a:r>
              <a:rPr sz="1050" b="1" spc="114" dirty="0">
                <a:latin typeface="Trebuchet MS"/>
                <a:cs typeface="Trebuchet MS"/>
              </a:rPr>
              <a:t>Handle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80" dirty="0">
                <a:latin typeface="Trebuchet MS"/>
                <a:cs typeface="Trebuchet MS"/>
              </a:rPr>
              <a:t>null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values</a:t>
            </a:r>
            <a:r>
              <a:rPr sz="1050" b="1" spc="75" dirty="0">
                <a:latin typeface="Trebuchet MS"/>
                <a:cs typeface="Trebuchet MS"/>
              </a:rPr>
              <a:t> </a:t>
            </a:r>
            <a:r>
              <a:rPr sz="1050" b="1" spc="80" dirty="0">
                <a:latin typeface="Trebuchet MS"/>
                <a:cs typeface="Trebuchet MS"/>
              </a:rPr>
              <a:t>in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40" dirty="0">
                <a:latin typeface="Trebuchet MS"/>
                <a:cs typeface="Trebuchet MS"/>
              </a:rPr>
              <a:t>aggregate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14" dirty="0">
                <a:latin typeface="Trebuchet MS"/>
                <a:cs typeface="Trebuchet MS"/>
              </a:rPr>
              <a:t>bookings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737" y="4818379"/>
            <a:ext cx="5876925" cy="10763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66065" marR="970280" indent="-224154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17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7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fillna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median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  <a:p>
            <a:pPr marL="42545" marR="2159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  <a:p>
            <a:pPr marL="340995" indent="-298450">
              <a:lnSpc>
                <a:spcPct val="111800"/>
              </a:lnSpc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'successful_bookings'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3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24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'successful_bookings'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'successful_bookings'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median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  <a:p>
            <a:pPr marL="42545" marR="2159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900" y="6001776"/>
            <a:ext cx="3041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Find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records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where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30" dirty="0">
                <a:latin typeface="Trebuchet MS"/>
                <a:cs typeface="Trebuchet MS"/>
              </a:rPr>
              <a:t>bookings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260" dirty="0">
                <a:latin typeface="Trebuchet MS"/>
                <a:cs typeface="Trebuchet MS"/>
              </a:rPr>
              <a:t>&gt;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capacity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8737" y="6374765"/>
            <a:ext cx="5838825" cy="9144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340995" marR="420370" indent="-298450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df_invalid_bookings</a:t>
            </a:r>
            <a:r>
              <a:rPr sz="950" spc="12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3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'successful_bookings'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3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&gt;</a:t>
            </a:r>
            <a:r>
              <a:rPr sz="950" b="1" spc="24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df_invalid_bookings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525" y="48583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[128…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525" y="641472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[129…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00" y="1804037"/>
            <a:ext cx="5610225" cy="25400"/>
            <a:chOff x="1371600" y="1804037"/>
            <a:chExt cx="5610225" cy="25400"/>
          </a:xfrm>
        </p:grpSpPr>
        <p:sp>
          <p:nvSpPr>
            <p:cNvPr id="3" name="object 3"/>
            <p:cNvSpPr/>
            <p:nvPr/>
          </p:nvSpPr>
          <p:spPr>
            <a:xfrm>
              <a:off x="1371600" y="1804037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1600" y="1804037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600" y="1804037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71600" y="2405509"/>
            <a:ext cx="5610225" cy="25400"/>
            <a:chOff x="1371600" y="2405509"/>
            <a:chExt cx="5610225" cy="25400"/>
          </a:xfrm>
        </p:grpSpPr>
        <p:sp>
          <p:nvSpPr>
            <p:cNvPr id="7" name="object 7"/>
            <p:cNvSpPr/>
            <p:nvPr/>
          </p:nvSpPr>
          <p:spPr>
            <a:xfrm>
              <a:off x="1371600" y="2405509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00" y="2405509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1600" y="2405509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25475" y="3353883"/>
          <a:ext cx="664400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Out[131…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1323975" y="4592320"/>
            <a:ext cx="5848350" cy="276860"/>
            <a:chOff x="1323975" y="4592320"/>
            <a:chExt cx="5848350" cy="276860"/>
          </a:xfrm>
        </p:grpSpPr>
        <p:sp>
          <p:nvSpPr>
            <p:cNvPr id="12" name="object 12"/>
            <p:cNvSpPr/>
            <p:nvPr/>
          </p:nvSpPr>
          <p:spPr>
            <a:xfrm>
              <a:off x="1323975" y="4592430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23975" y="4592319"/>
              <a:ext cx="5848350" cy="276860"/>
            </a:xfrm>
            <a:custGeom>
              <a:avLst/>
              <a:gdLst/>
              <a:ahLst/>
              <a:cxnLst/>
              <a:rect l="l" t="t" r="r" b="b"/>
              <a:pathLst>
                <a:path w="5848350" h="276860">
                  <a:moveTo>
                    <a:pt x="9525" y="10160"/>
                  </a:moveTo>
                  <a:lnTo>
                    <a:pt x="0" y="1016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10160"/>
                  </a:lnTo>
                  <a:close/>
                </a:path>
                <a:path w="5848350" h="276860">
                  <a:moveTo>
                    <a:pt x="5848350" y="0"/>
                  </a:moveTo>
                  <a:lnTo>
                    <a:pt x="0" y="0"/>
                  </a:lnTo>
                  <a:lnTo>
                    <a:pt x="0" y="9639"/>
                  </a:lnTo>
                  <a:lnTo>
                    <a:pt x="5838825" y="9639"/>
                  </a:lnTo>
                  <a:lnTo>
                    <a:pt x="5838825" y="266814"/>
                  </a:lnTo>
                  <a:lnTo>
                    <a:pt x="0" y="266814"/>
                  </a:lnTo>
                  <a:lnTo>
                    <a:pt x="0" y="276860"/>
                  </a:lnTo>
                  <a:lnTo>
                    <a:pt x="5848350" y="276860"/>
                  </a:lnTo>
                  <a:lnTo>
                    <a:pt x="5848350" y="266814"/>
                  </a:lnTo>
                  <a:lnTo>
                    <a:pt x="5848350" y="9639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323975" y="4963906"/>
            <a:ext cx="5848350" cy="600075"/>
            <a:chOff x="1323975" y="4963906"/>
            <a:chExt cx="5848350" cy="600075"/>
          </a:xfrm>
        </p:grpSpPr>
        <p:sp>
          <p:nvSpPr>
            <p:cNvPr id="15" name="object 15"/>
            <p:cNvSpPr/>
            <p:nvPr/>
          </p:nvSpPr>
          <p:spPr>
            <a:xfrm>
              <a:off x="1323975" y="4963906"/>
              <a:ext cx="5848350" cy="600075"/>
            </a:xfrm>
            <a:custGeom>
              <a:avLst/>
              <a:gdLst/>
              <a:ahLst/>
              <a:cxnLst/>
              <a:rect l="l" t="t" r="r" b="b"/>
              <a:pathLst>
                <a:path w="5848350" h="600075">
                  <a:moveTo>
                    <a:pt x="5848350" y="0"/>
                  </a:moveTo>
                  <a:lnTo>
                    <a:pt x="0" y="0"/>
                  </a:lnTo>
                  <a:lnTo>
                    <a:pt x="0" y="600077"/>
                  </a:lnTo>
                  <a:lnTo>
                    <a:pt x="5848350" y="600077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23975" y="4964429"/>
              <a:ext cx="5848350" cy="599440"/>
            </a:xfrm>
            <a:custGeom>
              <a:avLst/>
              <a:gdLst/>
              <a:ahLst/>
              <a:cxnLst/>
              <a:rect l="l" t="t" r="r" b="b"/>
              <a:pathLst>
                <a:path w="5848350" h="599439">
                  <a:moveTo>
                    <a:pt x="5848350" y="9004"/>
                  </a:moveTo>
                  <a:lnTo>
                    <a:pt x="5838825" y="9004"/>
                  </a:lnTo>
                  <a:lnTo>
                    <a:pt x="5838825" y="590029"/>
                  </a:lnTo>
                  <a:lnTo>
                    <a:pt x="5848350" y="590029"/>
                  </a:lnTo>
                  <a:lnTo>
                    <a:pt x="5848350" y="9004"/>
                  </a:lnTo>
                  <a:close/>
                </a:path>
                <a:path w="5848350" h="599439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590550"/>
                  </a:lnTo>
                  <a:lnTo>
                    <a:pt x="0" y="599440"/>
                  </a:lnTo>
                  <a:lnTo>
                    <a:pt x="5848350" y="599440"/>
                  </a:lnTo>
                  <a:lnTo>
                    <a:pt x="5848350" y="590550"/>
                  </a:lnTo>
                  <a:lnTo>
                    <a:pt x="9525" y="59055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25475" y="5673522"/>
          <a:ext cx="664400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Out[133…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ts val="1095"/>
                        </a:lnSpc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capacity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b="1" spc="7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 marR="1206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88265" marR="1206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L="102870" marR="12065" algn="ct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1323975" y="6912068"/>
            <a:ext cx="5848350" cy="438784"/>
            <a:chOff x="1323975" y="6912068"/>
            <a:chExt cx="5848350" cy="438784"/>
          </a:xfrm>
        </p:grpSpPr>
        <p:sp>
          <p:nvSpPr>
            <p:cNvPr id="19" name="object 19"/>
            <p:cNvSpPr/>
            <p:nvPr/>
          </p:nvSpPr>
          <p:spPr>
            <a:xfrm>
              <a:off x="1323975" y="6912068"/>
              <a:ext cx="5848350" cy="438150"/>
            </a:xfrm>
            <a:custGeom>
              <a:avLst/>
              <a:gdLst/>
              <a:ahLst/>
              <a:cxnLst/>
              <a:rect l="l" t="t" r="r" b="b"/>
              <a:pathLst>
                <a:path w="5848350" h="438150">
                  <a:moveTo>
                    <a:pt x="5848350" y="0"/>
                  </a:moveTo>
                  <a:lnTo>
                    <a:pt x="0" y="0"/>
                  </a:lnTo>
                  <a:lnTo>
                    <a:pt x="0" y="438152"/>
                  </a:lnTo>
                  <a:lnTo>
                    <a:pt x="5848350" y="438152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3975" y="6912609"/>
              <a:ext cx="5848350" cy="438150"/>
            </a:xfrm>
            <a:custGeom>
              <a:avLst/>
              <a:gdLst/>
              <a:ahLst/>
              <a:cxnLst/>
              <a:rect l="l" t="t" r="r" b="b"/>
              <a:pathLst>
                <a:path w="5848350" h="43815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427990"/>
                  </a:lnTo>
                  <a:lnTo>
                    <a:pt x="0" y="438150"/>
                  </a:lnTo>
                  <a:lnTo>
                    <a:pt x="5848350" y="438150"/>
                  </a:lnTo>
                  <a:lnTo>
                    <a:pt x="5848350" y="428091"/>
                  </a:lnTo>
                  <a:lnTo>
                    <a:pt x="5848350" y="8991"/>
                  </a:lnTo>
                  <a:lnTo>
                    <a:pt x="5838825" y="8991"/>
                  </a:lnTo>
                  <a:lnTo>
                    <a:pt x="5838825" y="427990"/>
                  </a:lnTo>
                  <a:lnTo>
                    <a:pt x="9525" y="42799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625475" y="7459759"/>
          <a:ext cx="664400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Out[134…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ts val="1095"/>
                        </a:lnSpc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capacity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b="1" spc="7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 marR="1206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88265" marR="1206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L="102870" marR="12065" algn="ct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1358900" y="606869"/>
            <a:ext cx="28549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00" dirty="0">
                <a:latin typeface="Trebuchet MS"/>
                <a:cs typeface="Trebuchet MS"/>
              </a:rPr>
              <a:t>Create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occupancy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percentage</a:t>
            </a:r>
            <a:r>
              <a:rPr sz="1050" b="1" spc="75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column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28737" y="980122"/>
            <a:ext cx="5838825" cy="59118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40995" marR="420370" indent="-298450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'occupancy_pct'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0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204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(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'successful_bookings'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3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/</a:t>
            </a:r>
            <a:r>
              <a:rPr sz="950" b="1" spc="24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r>
              <a:rPr sz="950" spc="2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*</a:t>
            </a:r>
            <a:r>
              <a:rPr sz="950" b="1" spc="2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008800"/>
                </a:solidFill>
                <a:latin typeface="Courier New"/>
                <a:cs typeface="Courier New"/>
              </a:rPr>
              <a:t>100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8900" y="2017631"/>
            <a:ext cx="2854960" cy="7677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465" dirty="0">
                <a:latin typeface="Trebuchet MS"/>
                <a:cs typeface="Trebuchet MS"/>
              </a:rPr>
              <a:t>==&gt;</a:t>
            </a:r>
            <a:r>
              <a:rPr sz="1500" spc="5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3.</a:t>
            </a:r>
            <a:r>
              <a:rPr sz="1500" spc="60" dirty="0">
                <a:latin typeface="Trebuchet MS"/>
                <a:cs typeface="Trebuchet MS"/>
              </a:rPr>
              <a:t> </a:t>
            </a:r>
            <a:r>
              <a:rPr sz="1500" spc="120" dirty="0">
                <a:latin typeface="Trebuchet MS"/>
                <a:cs typeface="Trebuchet MS"/>
              </a:rPr>
              <a:t>Data</a:t>
            </a:r>
            <a:r>
              <a:rPr sz="1500" spc="70" dirty="0">
                <a:latin typeface="Trebuchet MS"/>
                <a:cs typeface="Trebuchet MS"/>
              </a:rPr>
              <a:t> </a:t>
            </a:r>
            <a:r>
              <a:rPr sz="1500" spc="50" dirty="0">
                <a:latin typeface="Trebuchet MS"/>
                <a:cs typeface="Trebuchet MS"/>
              </a:rPr>
              <a:t>Transformation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50" b="1" spc="100" dirty="0">
                <a:latin typeface="Trebuchet MS"/>
                <a:cs typeface="Trebuchet MS"/>
              </a:rPr>
              <a:t>Create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occupancy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percentage</a:t>
            </a:r>
            <a:r>
              <a:rPr sz="1050" b="1" spc="75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column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28737" y="2972817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58900" y="4636885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'occ_pct'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18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8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apply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lambda</a:t>
            </a:r>
            <a:r>
              <a:rPr sz="950" b="1" spc="18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row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:</a:t>
            </a:r>
            <a:r>
              <a:rPr sz="950" spc="18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row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'successful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58900" y="5008361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new_col</a:t>
            </a:r>
            <a:r>
              <a:rPr sz="950" spc="12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3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apply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lambda</a:t>
            </a:r>
            <a:r>
              <a:rPr sz="950" b="1" spc="1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row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:</a:t>
            </a:r>
            <a:r>
              <a:rPr sz="950" spc="13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row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'successful_bookings'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/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row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58900" y="5156952"/>
            <a:ext cx="4796790" cy="349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10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0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assign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occ_pct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new_col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values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58900" y="6956525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'occ_pct'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1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21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'occ_pct'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apply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lambda</a:t>
            </a:r>
            <a:r>
              <a:rPr sz="950" b="1" spc="2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x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:</a:t>
            </a:r>
            <a:r>
              <a:rPr sz="950" spc="21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round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58900" y="7118451"/>
            <a:ext cx="174053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28737" y="8703030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info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4525" y="101981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[130…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4525" y="3012574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4525" y="463688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4525" y="500836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4525" y="695652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[134…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4525" y="874276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[135…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00" y="3143263"/>
            <a:ext cx="5610225" cy="25400"/>
            <a:chOff x="1371600" y="3143263"/>
            <a:chExt cx="5610225" cy="25400"/>
          </a:xfrm>
        </p:grpSpPr>
        <p:sp>
          <p:nvSpPr>
            <p:cNvPr id="3" name="object 3"/>
            <p:cNvSpPr/>
            <p:nvPr/>
          </p:nvSpPr>
          <p:spPr>
            <a:xfrm>
              <a:off x="1371600" y="314326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1600" y="314326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600" y="314326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71600" y="3744736"/>
            <a:ext cx="5610225" cy="25400"/>
            <a:chOff x="1371600" y="3744736"/>
            <a:chExt cx="5610225" cy="25400"/>
          </a:xfrm>
        </p:grpSpPr>
        <p:sp>
          <p:nvSpPr>
            <p:cNvPr id="7" name="object 7"/>
            <p:cNvSpPr/>
            <p:nvPr/>
          </p:nvSpPr>
          <p:spPr>
            <a:xfrm>
              <a:off x="1371600" y="374473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00" y="374473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1600" y="374473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25475" y="4693108"/>
          <a:ext cx="664400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Out[136…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1323975" y="7379461"/>
            <a:ext cx="5848350" cy="438784"/>
            <a:chOff x="1323975" y="7379461"/>
            <a:chExt cx="5848350" cy="438784"/>
          </a:xfrm>
        </p:grpSpPr>
        <p:sp>
          <p:nvSpPr>
            <p:cNvPr id="12" name="object 12"/>
            <p:cNvSpPr/>
            <p:nvPr/>
          </p:nvSpPr>
          <p:spPr>
            <a:xfrm>
              <a:off x="1323975" y="7379461"/>
              <a:ext cx="5848350" cy="438150"/>
            </a:xfrm>
            <a:custGeom>
              <a:avLst/>
              <a:gdLst/>
              <a:ahLst/>
              <a:cxnLst/>
              <a:rect l="l" t="t" r="r" b="b"/>
              <a:pathLst>
                <a:path w="5848350" h="438150">
                  <a:moveTo>
                    <a:pt x="5848350" y="0"/>
                  </a:moveTo>
                  <a:lnTo>
                    <a:pt x="0" y="0"/>
                  </a:lnTo>
                  <a:lnTo>
                    <a:pt x="0" y="438152"/>
                  </a:lnTo>
                  <a:lnTo>
                    <a:pt x="5848350" y="438152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23975" y="7379969"/>
              <a:ext cx="5848350" cy="438150"/>
            </a:xfrm>
            <a:custGeom>
              <a:avLst/>
              <a:gdLst/>
              <a:ahLst/>
              <a:cxnLst/>
              <a:rect l="l" t="t" r="r" b="b"/>
              <a:pathLst>
                <a:path w="5848350" h="438150">
                  <a:moveTo>
                    <a:pt x="5848350" y="9017"/>
                  </a:moveTo>
                  <a:lnTo>
                    <a:pt x="5838825" y="9017"/>
                  </a:lnTo>
                  <a:lnTo>
                    <a:pt x="5838825" y="428129"/>
                  </a:lnTo>
                  <a:lnTo>
                    <a:pt x="0" y="428129"/>
                  </a:lnTo>
                  <a:lnTo>
                    <a:pt x="0" y="438150"/>
                  </a:lnTo>
                  <a:lnTo>
                    <a:pt x="5848350" y="438150"/>
                  </a:lnTo>
                  <a:lnTo>
                    <a:pt x="5848350" y="428129"/>
                  </a:lnTo>
                  <a:lnTo>
                    <a:pt x="5848350" y="9017"/>
                  </a:lnTo>
                  <a:close/>
                </a:path>
                <a:path w="5848350" h="43815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427990"/>
                  </a:lnTo>
                  <a:lnTo>
                    <a:pt x="9525" y="42799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25475" y="7927152"/>
          <a:ext cx="6642099" cy="128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Out[138…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ts val="1095"/>
                        </a:lnSpc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capacity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b="1" spc="7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4775" marR="1206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88265" marR="1206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L="104775" marR="1206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05410" marR="1206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1244600" y="621669"/>
            <a:ext cx="3007360" cy="67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860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&lt;class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'pandas.core.frame.DataFrame'&gt; </a:t>
            </a:r>
            <a:r>
              <a:rPr sz="950" dirty="0">
                <a:latin typeface="Courier New"/>
                <a:cs typeface="Courier New"/>
              </a:rPr>
              <a:t>RangeIndex: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entries,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0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to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spc="-20" dirty="0">
                <a:latin typeface="Courier New"/>
                <a:cs typeface="Courier New"/>
              </a:rPr>
              <a:t>9199 </a:t>
            </a:r>
            <a:r>
              <a:rPr sz="950" dirty="0">
                <a:latin typeface="Courier New"/>
                <a:cs typeface="Courier New"/>
              </a:rPr>
              <a:t>Data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columns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(total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7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columns):</a:t>
            </a:r>
            <a:endParaRPr sz="950">
              <a:latin typeface="Courier New"/>
              <a:cs typeface="Courier New"/>
            </a:endParaRPr>
          </a:p>
          <a:p>
            <a:pPr marL="86995">
              <a:lnSpc>
                <a:spcPct val="100000"/>
              </a:lnSpc>
              <a:spcBef>
                <a:spcPts val="135"/>
              </a:spcBef>
              <a:tabLst>
                <a:tab pos="384810" algn="l"/>
                <a:tab pos="1950720" algn="l"/>
              </a:tabLst>
            </a:pPr>
            <a:r>
              <a:rPr sz="950" spc="-50" dirty="0">
                <a:latin typeface="Courier New"/>
                <a:cs typeface="Courier New"/>
              </a:rPr>
              <a:t>#</a:t>
            </a:r>
            <a:r>
              <a:rPr sz="950" dirty="0">
                <a:latin typeface="Courier New"/>
                <a:cs typeface="Courier New"/>
              </a:rPr>
              <a:t>	</a:t>
            </a:r>
            <a:r>
              <a:rPr sz="950" spc="-10" dirty="0">
                <a:latin typeface="Courier New"/>
                <a:cs typeface="Courier New"/>
              </a:rPr>
              <a:t>Column</a:t>
            </a:r>
            <a:r>
              <a:rPr sz="950" dirty="0">
                <a:latin typeface="Courier New"/>
                <a:cs typeface="Courier New"/>
              </a:rPr>
              <a:t>	Non-Null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Count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5397" y="1120782"/>
            <a:ext cx="3981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ourier New"/>
                <a:cs typeface="Courier New"/>
              </a:rPr>
              <a:t>Dtype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57300" y="1385305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5">
                <a:moveTo>
                  <a:pt x="0" y="0"/>
                </a:moveTo>
                <a:lnTo>
                  <a:pt x="223627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30013" y="1385305"/>
            <a:ext cx="447675" cy="0"/>
          </a:xfrm>
          <a:custGeom>
            <a:avLst/>
            <a:gdLst/>
            <a:ahLst/>
            <a:cxnLst/>
            <a:rect l="l" t="t" r="r" b="b"/>
            <a:pathLst>
              <a:path w="447675">
                <a:moveTo>
                  <a:pt x="0" y="0"/>
                </a:moveTo>
                <a:lnTo>
                  <a:pt x="447255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95409" y="1385305"/>
            <a:ext cx="1043940" cy="0"/>
          </a:xfrm>
          <a:custGeom>
            <a:avLst/>
            <a:gdLst/>
            <a:ahLst/>
            <a:cxnLst/>
            <a:rect l="l" t="t" r="r" b="b"/>
            <a:pathLst>
              <a:path w="1043939">
                <a:moveTo>
                  <a:pt x="0" y="0"/>
                </a:moveTo>
                <a:lnTo>
                  <a:pt x="1043597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388091" y="1385305"/>
            <a:ext cx="372745" cy="0"/>
          </a:xfrm>
          <a:custGeom>
            <a:avLst/>
            <a:gdLst/>
            <a:ahLst/>
            <a:cxnLst/>
            <a:rect l="l" t="t" r="r" b="b"/>
            <a:pathLst>
              <a:path w="372745">
                <a:moveTo>
                  <a:pt x="0" y="0"/>
                </a:moveTo>
                <a:lnTo>
                  <a:pt x="372713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19149" y="1431298"/>
            <a:ext cx="1739900" cy="11595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10515" indent="-297815">
              <a:lnSpc>
                <a:spcPct val="100000"/>
              </a:lnSpc>
              <a:spcBef>
                <a:spcPts val="229"/>
              </a:spcBef>
              <a:buAutoNum type="arabicPlain"/>
              <a:tabLst>
                <a:tab pos="310515" algn="l"/>
              </a:tabLst>
            </a:pPr>
            <a:r>
              <a:rPr sz="950" spc="-10" dirty="0">
                <a:latin typeface="Courier New"/>
                <a:cs typeface="Courier New"/>
              </a:rPr>
              <a:t>property_id</a:t>
            </a:r>
            <a:endParaRPr sz="950">
              <a:latin typeface="Courier New"/>
              <a:cs typeface="Courier New"/>
            </a:endParaRPr>
          </a:p>
          <a:p>
            <a:pPr marL="310515" indent="-297815">
              <a:lnSpc>
                <a:spcPct val="100000"/>
              </a:lnSpc>
              <a:spcBef>
                <a:spcPts val="135"/>
              </a:spcBef>
              <a:buAutoNum type="arabicPlain"/>
              <a:tabLst>
                <a:tab pos="310515" algn="l"/>
              </a:tabLst>
            </a:pPr>
            <a:r>
              <a:rPr sz="950" spc="-10" dirty="0">
                <a:latin typeface="Courier New"/>
                <a:cs typeface="Courier New"/>
              </a:rPr>
              <a:t>check_in_date</a:t>
            </a:r>
            <a:endParaRPr sz="950">
              <a:latin typeface="Courier New"/>
              <a:cs typeface="Courier New"/>
            </a:endParaRPr>
          </a:p>
          <a:p>
            <a:pPr marL="310515" indent="-297815">
              <a:lnSpc>
                <a:spcPct val="100000"/>
              </a:lnSpc>
              <a:spcBef>
                <a:spcPts val="135"/>
              </a:spcBef>
              <a:buAutoNum type="arabicPlain"/>
              <a:tabLst>
                <a:tab pos="310515" algn="l"/>
              </a:tabLst>
            </a:pPr>
            <a:r>
              <a:rPr sz="950" spc="-10" dirty="0">
                <a:latin typeface="Courier New"/>
                <a:cs typeface="Courier New"/>
              </a:rPr>
              <a:t>room_category</a:t>
            </a:r>
            <a:endParaRPr sz="950">
              <a:latin typeface="Courier New"/>
              <a:cs typeface="Courier New"/>
            </a:endParaRPr>
          </a:p>
          <a:p>
            <a:pPr marL="310515" indent="-297815">
              <a:lnSpc>
                <a:spcPct val="100000"/>
              </a:lnSpc>
              <a:spcBef>
                <a:spcPts val="135"/>
              </a:spcBef>
              <a:buAutoNum type="arabicPlain"/>
              <a:tabLst>
                <a:tab pos="310515" algn="l"/>
              </a:tabLst>
            </a:pPr>
            <a:r>
              <a:rPr sz="950" spc="-10" dirty="0">
                <a:latin typeface="Courier New"/>
                <a:cs typeface="Courier New"/>
              </a:rPr>
              <a:t>successful_bookings</a:t>
            </a:r>
            <a:endParaRPr sz="950">
              <a:latin typeface="Courier New"/>
              <a:cs typeface="Courier New"/>
            </a:endParaRPr>
          </a:p>
          <a:p>
            <a:pPr marL="310515" indent="-297815">
              <a:lnSpc>
                <a:spcPct val="100000"/>
              </a:lnSpc>
              <a:spcBef>
                <a:spcPts val="135"/>
              </a:spcBef>
              <a:buAutoNum type="arabicPlain"/>
              <a:tabLst>
                <a:tab pos="310515" algn="l"/>
              </a:tabLst>
            </a:pPr>
            <a:r>
              <a:rPr sz="950" spc="-10" dirty="0">
                <a:latin typeface="Courier New"/>
                <a:cs typeface="Courier New"/>
              </a:rPr>
              <a:t>capacity</a:t>
            </a:r>
            <a:endParaRPr sz="950">
              <a:latin typeface="Courier New"/>
              <a:cs typeface="Courier New"/>
            </a:endParaRPr>
          </a:p>
          <a:p>
            <a:pPr marL="310515" indent="-297815">
              <a:lnSpc>
                <a:spcPct val="100000"/>
              </a:lnSpc>
              <a:spcBef>
                <a:spcPts val="135"/>
              </a:spcBef>
              <a:buAutoNum type="arabicPlain"/>
              <a:tabLst>
                <a:tab pos="310515" algn="l"/>
              </a:tabLst>
            </a:pPr>
            <a:r>
              <a:rPr sz="950" spc="-10" dirty="0">
                <a:latin typeface="Courier New"/>
                <a:cs typeface="Courier New"/>
              </a:rPr>
              <a:t>occupancy_pct</a:t>
            </a:r>
            <a:endParaRPr sz="950">
              <a:latin typeface="Courier New"/>
              <a:cs typeface="Courier New"/>
            </a:endParaRPr>
          </a:p>
          <a:p>
            <a:pPr marL="310515" indent="-297815">
              <a:lnSpc>
                <a:spcPct val="100000"/>
              </a:lnSpc>
              <a:spcBef>
                <a:spcPts val="135"/>
              </a:spcBef>
              <a:buAutoNum type="arabicPlain"/>
              <a:tabLst>
                <a:tab pos="310515" algn="l"/>
              </a:tabLst>
            </a:pPr>
            <a:r>
              <a:rPr sz="950" spc="-10" dirty="0">
                <a:latin typeface="Courier New"/>
                <a:cs typeface="Courier New"/>
              </a:rPr>
              <a:t>occ_pct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82715" y="1431298"/>
            <a:ext cx="995044" cy="11595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non-</a:t>
            </a:r>
            <a:r>
              <a:rPr sz="950" spc="-20" dirty="0">
                <a:latin typeface="Courier New"/>
                <a:cs typeface="Courier New"/>
              </a:rPr>
              <a:t>null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non-</a:t>
            </a:r>
            <a:r>
              <a:rPr sz="950" spc="-20" dirty="0">
                <a:latin typeface="Courier New"/>
                <a:cs typeface="Courier New"/>
              </a:rPr>
              <a:t>null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non-</a:t>
            </a:r>
            <a:r>
              <a:rPr sz="950" spc="-20" dirty="0">
                <a:latin typeface="Courier New"/>
                <a:cs typeface="Courier New"/>
              </a:rPr>
              <a:t>null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non-</a:t>
            </a:r>
            <a:r>
              <a:rPr sz="950" spc="-20" dirty="0">
                <a:latin typeface="Courier New"/>
                <a:cs typeface="Courier New"/>
              </a:rPr>
              <a:t>null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non-</a:t>
            </a:r>
            <a:r>
              <a:rPr sz="950" spc="-20" dirty="0">
                <a:latin typeface="Courier New"/>
                <a:cs typeface="Courier New"/>
              </a:rPr>
              <a:t>null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non-</a:t>
            </a:r>
            <a:r>
              <a:rPr sz="950" spc="-20" dirty="0">
                <a:latin typeface="Courier New"/>
                <a:cs typeface="Courier New"/>
              </a:rPr>
              <a:t>null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non-</a:t>
            </a:r>
            <a:r>
              <a:rPr sz="950" spc="-20" dirty="0">
                <a:latin typeface="Courier New"/>
                <a:cs typeface="Courier New"/>
              </a:rPr>
              <a:t>null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75397" y="1431298"/>
            <a:ext cx="547370" cy="115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spc="-10" dirty="0">
                <a:latin typeface="Courier New"/>
                <a:cs typeface="Courier New"/>
              </a:rPr>
              <a:t>int64 object object int64 float64 float64 float64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4600" y="2564779"/>
            <a:ext cx="2933065" cy="349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dtypes: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float64(3),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int64(2),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object(2) </a:t>
            </a:r>
            <a:r>
              <a:rPr sz="950" dirty="0">
                <a:latin typeface="Courier New"/>
                <a:cs typeface="Courier New"/>
              </a:rPr>
              <a:t>memory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usage: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503.2+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KB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58900" y="3356857"/>
            <a:ext cx="5291455" cy="7677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465" dirty="0">
                <a:latin typeface="Trebuchet MS"/>
                <a:cs typeface="Trebuchet MS"/>
              </a:rPr>
              <a:t>==&gt;</a:t>
            </a:r>
            <a:r>
              <a:rPr sz="1500" spc="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4.</a:t>
            </a:r>
            <a:r>
              <a:rPr sz="1500" spc="65" dirty="0">
                <a:latin typeface="Trebuchet MS"/>
                <a:cs typeface="Trebuchet MS"/>
              </a:rPr>
              <a:t> </a:t>
            </a:r>
            <a:r>
              <a:rPr sz="1500" spc="95" dirty="0">
                <a:latin typeface="Trebuchet MS"/>
                <a:cs typeface="Trebuchet MS"/>
              </a:rPr>
              <a:t>Insights</a:t>
            </a:r>
            <a:r>
              <a:rPr sz="1500" spc="80" dirty="0">
                <a:latin typeface="Trebuchet MS"/>
                <a:cs typeface="Trebuchet MS"/>
              </a:rPr>
              <a:t> </a:t>
            </a:r>
            <a:r>
              <a:rPr sz="1500" spc="70" dirty="0">
                <a:latin typeface="Trebuchet MS"/>
                <a:cs typeface="Trebuchet MS"/>
              </a:rPr>
              <a:t>Generation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50" b="1" spc="55" dirty="0">
                <a:latin typeface="Trebuchet MS"/>
                <a:cs typeface="Trebuchet MS"/>
              </a:rPr>
              <a:t>1.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45" dirty="0">
                <a:latin typeface="Trebuchet MS"/>
                <a:cs typeface="Trebuchet MS"/>
              </a:rPr>
              <a:t>What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is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an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average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occupancy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rate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80" dirty="0">
                <a:latin typeface="Trebuchet MS"/>
                <a:cs typeface="Trebuchet MS"/>
              </a:rPr>
              <a:t>in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each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of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the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14" dirty="0">
                <a:latin typeface="Trebuchet MS"/>
                <a:cs typeface="Trebuchet MS"/>
              </a:rPr>
              <a:t>room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categories?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28737" y="431228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28737" y="593661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"room_category"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"occ_pct"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4525" y="6299961"/>
            <a:ext cx="170942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Out[137…</a:t>
            </a:r>
            <a:r>
              <a:rPr sz="950" spc="45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room_category</a:t>
            </a:r>
            <a:endParaRPr sz="950">
              <a:latin typeface="Courier New"/>
              <a:cs typeface="Courier New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1339850" y="6483475"/>
          <a:ext cx="2301875" cy="79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095"/>
                        </a:lnSpc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095"/>
                        </a:lnSpc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58.232748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58.040278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RT3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58.028213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59.300461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Name: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occ_pct,</a:t>
                      </a:r>
                      <a:r>
                        <a:rPr sz="950" spc="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dtype:</a:t>
                      </a:r>
                      <a:r>
                        <a:rPr sz="950" spc="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float64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1358900" y="7423918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spc="15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5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merge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5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df_rooms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5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left_on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"room_category"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5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right_on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"ro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58900" y="7585844"/>
            <a:ext cx="7708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4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4525" y="435180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4525" y="597611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4525" y="742391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[138…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1147764"/>
          <a:ext cx="6642099" cy="128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35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Out[139…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323975" y="6135987"/>
            <a:ext cx="3672204" cy="9525"/>
          </a:xfrm>
          <a:custGeom>
            <a:avLst/>
            <a:gdLst/>
            <a:ahLst/>
            <a:cxnLst/>
            <a:rect l="l" t="t" r="r" b="b"/>
            <a:pathLst>
              <a:path w="3672204" h="9525">
                <a:moveTo>
                  <a:pt x="3672064" y="0"/>
                </a:moveTo>
                <a:lnTo>
                  <a:pt x="0" y="0"/>
                </a:lnTo>
                <a:lnTo>
                  <a:pt x="0" y="9525"/>
                </a:lnTo>
                <a:lnTo>
                  <a:pt x="3672064" y="9525"/>
                </a:lnTo>
                <a:lnTo>
                  <a:pt x="3672064" y="0"/>
                </a:lnTo>
                <a:close/>
              </a:path>
            </a:pathLst>
          </a:custGeom>
          <a:solidFill>
            <a:srgbClr val="BDBDB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5475" y="7716172"/>
          <a:ext cx="664400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Out[144…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28737" y="605155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2545" marR="2880360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drop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"room_id"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axis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dirty="0">
                <a:solidFill>
                  <a:srgbClr val="008800"/>
                </a:solidFill>
                <a:latin typeface="Courier New"/>
                <a:cs typeface="Courier New"/>
              </a:rPr>
              <a:t>1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30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inplace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True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4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737" y="265874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"room_class"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"occ_pct"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25475" y="3044171"/>
          <a:ext cx="3016250" cy="95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095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Out[140…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095"/>
                        </a:lnSpc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room_class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Elite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58.040278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Premium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58.028213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Presidential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59.300461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58.232748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Name:</a:t>
                      </a:r>
                      <a:r>
                        <a:rPr sz="950" spc="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occ_pct,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dtype:</a:t>
                      </a:r>
                      <a:r>
                        <a:rPr sz="950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float64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328737" y="410654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room_class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"Standard"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occ_pct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900" y="4470389"/>
            <a:ext cx="218757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ourier New"/>
                <a:cs typeface="Courier New"/>
              </a:rPr>
              <a:t>np.float64(58.23274782608696)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4804205"/>
            <a:ext cx="30524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55" dirty="0">
                <a:latin typeface="Trebuchet MS"/>
                <a:cs typeface="Trebuchet MS"/>
              </a:rPr>
              <a:t>2.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Print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average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occupancy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rate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per</a:t>
            </a:r>
            <a:r>
              <a:rPr sz="1050" b="1" spc="55" dirty="0">
                <a:latin typeface="Trebuchet MS"/>
                <a:cs typeface="Trebuchet MS"/>
              </a:rPr>
              <a:t> city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8737" y="517715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spc="7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7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"dim_hotels.csv"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8737" y="554862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3187" y="5908347"/>
            <a:ext cx="3573779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25"/>
              </a:spcBef>
              <a:tabLst>
                <a:tab pos="3304540" algn="l"/>
              </a:tabLst>
            </a:pPr>
            <a:r>
              <a:rPr sz="950" b="1" spc="85" dirty="0">
                <a:latin typeface="Trebuchet MS"/>
                <a:cs typeface="Trebuchet MS"/>
              </a:rPr>
              <a:t>property_id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105" dirty="0">
                <a:latin typeface="Trebuchet MS"/>
                <a:cs typeface="Trebuchet MS"/>
              </a:rPr>
              <a:t>property_name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110" dirty="0">
                <a:latin typeface="Trebuchet MS"/>
                <a:cs typeface="Trebuchet MS"/>
              </a:rPr>
              <a:t>category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b="1" spc="60" dirty="0">
                <a:latin typeface="Trebuchet MS"/>
                <a:cs typeface="Trebuchet MS"/>
              </a:rPr>
              <a:t>city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629920" algn="l"/>
                <a:tab pos="1440180" algn="l"/>
                <a:tab pos="2520950" algn="l"/>
                <a:tab pos="3241675" algn="l"/>
              </a:tabLst>
            </a:pPr>
            <a:r>
              <a:rPr sz="950" b="1" spc="60" dirty="0">
                <a:latin typeface="Trebuchet MS"/>
                <a:cs typeface="Trebuchet MS"/>
              </a:rPr>
              <a:t>0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16558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Grands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65" dirty="0">
                <a:latin typeface="Trebuchet MS"/>
                <a:cs typeface="Trebuchet MS"/>
              </a:rPr>
              <a:t>Luxury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3975" y="6413478"/>
            <a:ext cx="3672204" cy="267970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5588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440"/>
              </a:spcBef>
              <a:tabLst>
                <a:tab pos="678815" algn="l"/>
                <a:tab pos="1483360" algn="l"/>
                <a:tab pos="2569845" algn="l"/>
              </a:tabLst>
            </a:pPr>
            <a:r>
              <a:rPr sz="950" b="1" spc="60" dirty="0">
                <a:latin typeface="Trebuchet MS"/>
                <a:cs typeface="Trebuchet MS"/>
              </a:rPr>
              <a:t>1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16559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Exotica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75" dirty="0">
                <a:latin typeface="Trebuchet MS"/>
                <a:cs typeface="Trebuchet MS"/>
              </a:rPr>
              <a:t>Luxury</a:t>
            </a:r>
            <a:r>
              <a:rPr sz="950" spc="200" dirty="0">
                <a:latin typeface="Trebuchet MS"/>
                <a:cs typeface="Trebuchet MS"/>
              </a:rPr>
              <a:t>  </a:t>
            </a:r>
            <a:r>
              <a:rPr sz="950" spc="80" dirty="0">
                <a:latin typeface="Trebuchet MS"/>
                <a:cs typeface="Trebuchet MS"/>
              </a:rPr>
              <a:t>Mumbai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3187" y="6721767"/>
            <a:ext cx="35731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29920" algn="l"/>
                <a:tab pos="1642110" algn="l"/>
                <a:tab pos="2395855" algn="l"/>
                <a:tab pos="3241675" algn="l"/>
              </a:tabLst>
            </a:pPr>
            <a:r>
              <a:rPr sz="950" b="1" spc="60" dirty="0">
                <a:latin typeface="Trebuchet MS"/>
                <a:cs typeface="Trebuchet MS"/>
              </a:rPr>
              <a:t>2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16560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City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75" dirty="0">
                <a:latin typeface="Trebuchet MS"/>
                <a:cs typeface="Trebuchet MS"/>
              </a:rPr>
              <a:t>Business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28737" y="7172959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2359025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spc="8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8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merge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9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8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on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"property_id"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28737" y="895921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"city"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"occ_pct"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6445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269873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[140…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25" y="414653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4525" y="447038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Out[141…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4525" y="521715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4525" y="558862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4525" y="591247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Out[143…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4525" y="721293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[144…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4525" y="899917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[145…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2904180"/>
          <a:ext cx="393636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Out[147…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195" dirty="0">
                          <a:latin typeface="Trebuchet MS"/>
                          <a:cs typeface="Trebuchet MS"/>
                        </a:rPr>
                        <a:t>mmm</a:t>
                      </a:r>
                      <a:r>
                        <a:rPr sz="950" b="1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1" spc="80" dirty="0">
                          <a:latin typeface="Trebuchet MS"/>
                          <a:cs typeface="Trebuchet MS"/>
                        </a:rPr>
                        <a:t>yy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114" dirty="0">
                          <a:latin typeface="Trebuchet MS"/>
                          <a:cs typeface="Trebuchet MS"/>
                        </a:rPr>
                        <a:t>week</a:t>
                      </a:r>
                      <a:r>
                        <a:rPr sz="950" b="1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1" spc="100" dirty="0">
                          <a:latin typeface="Trebuchet MS"/>
                          <a:cs typeface="Trebuchet MS"/>
                        </a:rPr>
                        <a:t>no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day_type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01-May-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weekend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02-May-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weekeday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03-May-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weekeday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23975" y="4762487"/>
          <a:ext cx="5945505" cy="13881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5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9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18560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101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101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101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101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101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58900" y="678819"/>
            <a:ext cx="696595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spc="-20" dirty="0">
                <a:latin typeface="Courier New"/>
                <a:cs typeface="Courier New"/>
              </a:rPr>
              <a:t>city </a:t>
            </a:r>
            <a:r>
              <a:rPr sz="950" spc="-10" dirty="0">
                <a:latin typeface="Courier New"/>
                <a:cs typeface="Courier New"/>
              </a:rPr>
              <a:t>Bangalore Delhi Hyderabad Mumbai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7954" y="840744"/>
            <a:ext cx="696595" cy="6731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56.594207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61.606467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58.144651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57.943142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900" y="1501785"/>
            <a:ext cx="4451350" cy="46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occ_pct,</a:t>
            </a:r>
            <a:r>
              <a:rPr sz="950" spc="9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float64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050" b="1" spc="55" dirty="0">
                <a:latin typeface="Trebuchet MS"/>
                <a:cs typeface="Trebuchet MS"/>
              </a:rPr>
              <a:t>3.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40" dirty="0">
                <a:latin typeface="Trebuchet MS"/>
                <a:cs typeface="Trebuchet MS"/>
              </a:rPr>
              <a:t>When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45" dirty="0">
                <a:latin typeface="Trebuchet MS"/>
                <a:cs typeface="Trebuchet MS"/>
              </a:rPr>
              <a:t>was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the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occupancy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better?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Weekday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or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Weekend?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8737" y="215201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spc="6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6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"dim_date.csv"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8737" y="2523175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737" y="4147184"/>
            <a:ext cx="5838825" cy="429259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718820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spc="12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2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merge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2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2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left_on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2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right_on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8737" y="651001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"day_type"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"occ_pct"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round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2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00" y="6860494"/>
            <a:ext cx="622300" cy="51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1800"/>
              </a:lnSpc>
              <a:spcBef>
                <a:spcPts val="95"/>
              </a:spcBef>
            </a:pPr>
            <a:r>
              <a:rPr sz="950" spc="-10" dirty="0">
                <a:latin typeface="Courier New"/>
                <a:cs typeface="Courier New"/>
              </a:rPr>
              <a:t>day_type weekeday weekend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53411" y="7022420"/>
            <a:ext cx="398145" cy="3492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50.90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72.39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8900" y="7359609"/>
            <a:ext cx="4947285" cy="46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occ_pct,</a:t>
            </a:r>
            <a:r>
              <a:rPr sz="950" spc="9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float64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050" b="1" spc="70" dirty="0">
                <a:latin typeface="Trebuchet MS"/>
                <a:cs typeface="Trebuchet MS"/>
              </a:rPr>
              <a:t>4: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In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the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month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of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dirty="0">
                <a:latin typeface="Trebuchet MS"/>
                <a:cs typeface="Trebuchet MS"/>
              </a:rPr>
              <a:t>June,</a:t>
            </a:r>
            <a:r>
              <a:rPr sz="1050" b="1" spc="80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what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is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the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occupancy</a:t>
            </a:r>
            <a:r>
              <a:rPr sz="1050" b="1" spc="85" dirty="0">
                <a:latin typeface="Trebuchet MS"/>
                <a:cs typeface="Trebuchet MS"/>
              </a:rPr>
              <a:t> </a:t>
            </a:r>
            <a:r>
              <a:rPr sz="1050" b="1" spc="75" dirty="0">
                <a:latin typeface="Trebuchet MS"/>
                <a:cs typeface="Trebuchet MS"/>
              </a:rPr>
              <a:t>for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80" dirty="0">
                <a:latin typeface="Trebuchet MS"/>
                <a:cs typeface="Trebuchet MS"/>
              </a:rPr>
              <a:t>different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75" dirty="0">
                <a:latin typeface="Trebuchet MS"/>
                <a:cs typeface="Trebuchet MS"/>
              </a:rPr>
              <a:t>cities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8737" y="8009255"/>
            <a:ext cx="5838825" cy="429259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2880360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df_june_22</a:t>
            </a:r>
            <a:r>
              <a:rPr sz="950" spc="10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0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"mmm</a:t>
            </a:r>
            <a:r>
              <a:rPr sz="950" spc="10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yy"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==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"Jun</a:t>
            </a:r>
            <a:r>
              <a:rPr sz="950" spc="10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BA2121"/>
                </a:solidFill>
                <a:latin typeface="Courier New"/>
                <a:cs typeface="Courier New"/>
              </a:rPr>
              <a:t>22"</a:t>
            </a:r>
            <a:r>
              <a:rPr sz="950" spc="-20" dirty="0">
                <a:solidFill>
                  <a:srgbClr val="0055AA"/>
                </a:solidFill>
                <a:latin typeface="Courier New"/>
                <a:cs typeface="Courier New"/>
              </a:rPr>
              <a:t>]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df_june_22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4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525" y="69215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Out[145…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525" y="219139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256287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418718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467295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Out[148…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25" y="654998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4525" y="68738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Out[149…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4525" y="804921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[150…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23975" y="781682"/>
          <a:ext cx="5924550" cy="1933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2200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Jun-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2201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Jun-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2202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Jun-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2203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Jun-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1323975" y="2936239"/>
            <a:ext cx="5848350" cy="276860"/>
            <a:chOff x="1323975" y="2936239"/>
            <a:chExt cx="5848350" cy="276860"/>
          </a:xfrm>
        </p:grpSpPr>
        <p:sp>
          <p:nvSpPr>
            <p:cNvPr id="4" name="object 4"/>
            <p:cNvSpPr/>
            <p:nvPr/>
          </p:nvSpPr>
          <p:spPr>
            <a:xfrm>
              <a:off x="1323975" y="2936825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3975" y="2936239"/>
              <a:ext cx="5848350" cy="276860"/>
            </a:xfrm>
            <a:custGeom>
              <a:avLst/>
              <a:gdLst/>
              <a:ahLst/>
              <a:cxnLst/>
              <a:rect l="l" t="t" r="r" b="b"/>
              <a:pathLst>
                <a:path w="5848350" h="276860">
                  <a:moveTo>
                    <a:pt x="584835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10160"/>
                  </a:lnTo>
                  <a:lnTo>
                    <a:pt x="5838825" y="10160"/>
                  </a:lnTo>
                  <a:lnTo>
                    <a:pt x="5838825" y="267296"/>
                  </a:lnTo>
                  <a:lnTo>
                    <a:pt x="0" y="267296"/>
                  </a:lnTo>
                  <a:lnTo>
                    <a:pt x="0" y="276860"/>
                  </a:lnTo>
                  <a:lnTo>
                    <a:pt x="5848350" y="276860"/>
                  </a:lnTo>
                  <a:lnTo>
                    <a:pt x="5848350" y="267296"/>
                  </a:lnTo>
                  <a:lnTo>
                    <a:pt x="5848350" y="1016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23975" y="4384040"/>
            <a:ext cx="5848350" cy="276860"/>
            <a:chOff x="1323975" y="4384040"/>
            <a:chExt cx="5848350" cy="276860"/>
          </a:xfrm>
        </p:grpSpPr>
        <p:sp>
          <p:nvSpPr>
            <p:cNvPr id="7" name="object 7"/>
            <p:cNvSpPr/>
            <p:nvPr/>
          </p:nvSpPr>
          <p:spPr>
            <a:xfrm>
              <a:off x="1323975" y="4384631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23975" y="4384039"/>
              <a:ext cx="5848350" cy="276860"/>
            </a:xfrm>
            <a:custGeom>
              <a:avLst/>
              <a:gdLst/>
              <a:ahLst/>
              <a:cxnLst/>
              <a:rect l="l" t="t" r="r" b="b"/>
              <a:pathLst>
                <a:path w="5848350" h="276860">
                  <a:moveTo>
                    <a:pt x="584835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10160"/>
                  </a:lnTo>
                  <a:lnTo>
                    <a:pt x="5838825" y="10160"/>
                  </a:lnTo>
                  <a:lnTo>
                    <a:pt x="5838825" y="267296"/>
                  </a:lnTo>
                  <a:lnTo>
                    <a:pt x="0" y="267296"/>
                  </a:lnTo>
                  <a:lnTo>
                    <a:pt x="0" y="276860"/>
                  </a:lnTo>
                  <a:lnTo>
                    <a:pt x="5848350" y="276860"/>
                  </a:lnTo>
                  <a:lnTo>
                    <a:pt x="5848350" y="267296"/>
                  </a:lnTo>
                  <a:lnTo>
                    <a:pt x="5848350" y="1016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58900" y="2981280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df_june_22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'occ_pct'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round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2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sort_values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ascending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Fa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3291796"/>
            <a:ext cx="696595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spc="-20" dirty="0">
                <a:latin typeface="Courier New"/>
                <a:cs typeface="Courier New"/>
              </a:rPr>
              <a:t>city </a:t>
            </a:r>
            <a:r>
              <a:rPr sz="950" spc="-10" dirty="0">
                <a:latin typeface="Courier New"/>
                <a:cs typeface="Courier New"/>
              </a:rPr>
              <a:t>Delhi Hyderabad Mumbai Bangalore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27954" y="3453720"/>
            <a:ext cx="398145" cy="6731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62.47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58.46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58.38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56.58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8900" y="4114760"/>
            <a:ext cx="218757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occ_pct,</a:t>
            </a:r>
            <a:r>
              <a:rPr sz="950" spc="9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float64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8900" y="4429087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df_june_22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'occ_pct'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round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2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sort_values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ascending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Fa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8900" y="4752938"/>
            <a:ext cx="159131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&lt;Axes: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xlabel='city'&gt;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525" y="69215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Out[150…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525" y="298128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330513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442908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475293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Out[152…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23975" y="6482072"/>
          <a:ext cx="5924550" cy="1028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5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0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property_name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ts val="1095"/>
                        </a:lnSpc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room_class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dirty="0">
                          <a:latin typeface="Trebuchet MS"/>
                          <a:cs typeface="Trebuchet MS"/>
                        </a:rPr>
                        <a:t>Atliq</a:t>
                      </a:r>
                      <a:r>
                        <a:rPr sz="950" spc="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40" dirty="0">
                          <a:latin typeface="Trebuchet MS"/>
                          <a:cs typeface="Trebuchet MS"/>
                        </a:rPr>
                        <a:t>Exotica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Luxury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Mumbai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Standard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dirty="0">
                          <a:latin typeface="Trebuchet MS"/>
                          <a:cs typeface="Trebuchet MS"/>
                        </a:rPr>
                        <a:t>Atliq</a:t>
                      </a:r>
                      <a:r>
                        <a:rPr sz="950" spc="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Bay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Luxury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Bangalore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Standard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dirty="0">
                          <a:latin typeface="Trebuchet MS"/>
                          <a:cs typeface="Trebuchet MS"/>
                        </a:rPr>
                        <a:t>Atliq</a:t>
                      </a:r>
                      <a:r>
                        <a:rPr sz="950" spc="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40" dirty="0">
                          <a:latin typeface="Trebuchet MS"/>
                          <a:cs typeface="Trebuchet MS"/>
                        </a:rPr>
                        <a:t>Palace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75" dirty="0">
                          <a:latin typeface="Trebuchet MS"/>
                          <a:cs typeface="Trebuchet MS"/>
                        </a:rPr>
                        <a:t>Business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Bangalore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Standard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1323975" y="8916644"/>
            <a:ext cx="5848350" cy="276225"/>
            <a:chOff x="1323975" y="8916644"/>
            <a:chExt cx="5848350" cy="276225"/>
          </a:xfrm>
        </p:grpSpPr>
        <p:sp>
          <p:nvSpPr>
            <p:cNvPr id="4" name="object 4"/>
            <p:cNvSpPr/>
            <p:nvPr/>
          </p:nvSpPr>
          <p:spPr>
            <a:xfrm>
              <a:off x="1323975" y="8916644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3975" y="8916670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90">
                  <a:moveTo>
                    <a:pt x="5848350" y="9499"/>
                  </a:moveTo>
                  <a:lnTo>
                    <a:pt x="5838825" y="9499"/>
                  </a:lnTo>
                  <a:lnTo>
                    <a:pt x="5838825" y="266687"/>
                  </a:lnTo>
                  <a:lnTo>
                    <a:pt x="5848350" y="266687"/>
                  </a:lnTo>
                  <a:lnTo>
                    <a:pt x="5848350" y="9499"/>
                  </a:lnTo>
                  <a:close/>
                </a:path>
                <a:path w="5848350" h="27559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848350" y="275590"/>
                  </a:lnTo>
                  <a:lnTo>
                    <a:pt x="5848350" y="266700"/>
                  </a:lnTo>
                  <a:lnTo>
                    <a:pt x="9525" y="26670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450" y="723900"/>
            <a:ext cx="4991100" cy="45529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58900" y="5493822"/>
            <a:ext cx="56019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70" dirty="0">
                <a:latin typeface="Trebuchet MS"/>
                <a:cs typeface="Trebuchet MS"/>
              </a:rPr>
              <a:t>5: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45" dirty="0">
                <a:latin typeface="Trebuchet MS"/>
                <a:cs typeface="Trebuchet MS"/>
              </a:rPr>
              <a:t>We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40" dirty="0">
                <a:latin typeface="Trebuchet MS"/>
                <a:cs typeface="Trebuchet MS"/>
              </a:rPr>
              <a:t>got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14" dirty="0">
                <a:latin typeface="Trebuchet MS"/>
                <a:cs typeface="Trebuchet MS"/>
              </a:rPr>
              <a:t>new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data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75" dirty="0">
                <a:latin typeface="Trebuchet MS"/>
                <a:cs typeface="Trebuchet MS"/>
              </a:rPr>
              <a:t>for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the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month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of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14" dirty="0">
                <a:latin typeface="Trebuchet MS"/>
                <a:cs typeface="Trebuchet MS"/>
              </a:rPr>
              <a:t>august.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Append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that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to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existing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data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8737" y="5866765"/>
            <a:ext cx="5838825" cy="429259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2359025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df_august</a:t>
            </a:r>
            <a:r>
              <a:rPr sz="950" spc="7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7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"new_data_august.csv"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df_august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737" y="779716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df_august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columns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525" y="8147659"/>
            <a:ext cx="6330950" cy="987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48410" marR="5080" indent="-1236345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Out[154…</a:t>
            </a:r>
            <a:r>
              <a:rPr sz="950" spc="-5" dirty="0">
                <a:solidFill>
                  <a:srgbClr val="616161"/>
                </a:solidFill>
                <a:latin typeface="Courier New"/>
                <a:cs typeface="Courier New"/>
              </a:rPr>
              <a:t>  </a:t>
            </a:r>
            <a:r>
              <a:rPr sz="950" dirty="0">
                <a:latin typeface="Courier New"/>
                <a:cs typeface="Courier New"/>
              </a:rPr>
              <a:t>Index(['property_id',</a:t>
            </a:r>
            <a:r>
              <a:rPr sz="950" spc="14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'property_name',</a:t>
            </a:r>
            <a:r>
              <a:rPr sz="950" spc="14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'category',</a:t>
            </a:r>
            <a:r>
              <a:rPr sz="950" spc="14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'city',</a:t>
            </a:r>
            <a:r>
              <a:rPr sz="950" spc="14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'room_category', </a:t>
            </a:r>
            <a:r>
              <a:rPr sz="950" dirty="0">
                <a:latin typeface="Courier New"/>
                <a:cs typeface="Courier New"/>
              </a:rPr>
              <a:t>'room_class',</a:t>
            </a:r>
            <a:r>
              <a:rPr sz="950" spc="1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'check_in_date',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'mmm</a:t>
            </a:r>
            <a:r>
              <a:rPr sz="950" spc="1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yy',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'week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no',</a:t>
            </a:r>
            <a:r>
              <a:rPr sz="950" spc="10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'day_type', </a:t>
            </a:r>
            <a:r>
              <a:rPr sz="950" dirty="0">
                <a:latin typeface="Courier New"/>
                <a:cs typeface="Courier New"/>
              </a:rPr>
              <a:t>'successful_bookings',</a:t>
            </a:r>
            <a:r>
              <a:rPr sz="950" spc="2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'capacity',</a:t>
            </a:r>
            <a:r>
              <a:rPr sz="950" spc="204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'occ%'],</a:t>
            </a:r>
            <a:endParaRPr sz="950">
              <a:latin typeface="Courier New"/>
              <a:cs typeface="Courier New"/>
            </a:endParaRPr>
          </a:p>
          <a:p>
            <a:pPr marL="1174115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dtype='object')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4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[155…</a:t>
            </a:r>
            <a:r>
              <a:rPr sz="950" spc="409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columns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4525" y="590676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4525" y="639254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525" y="7837144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[154…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23975" y="3620142"/>
          <a:ext cx="5924550" cy="296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6497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6498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6499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4.0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6500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01-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Aug-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6501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01-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Aug-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6502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01-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Aug-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6503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01-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Aug-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40.0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6504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01-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Aug-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6505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01-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Aug-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6506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01-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Aug-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358900" y="678819"/>
            <a:ext cx="576580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5367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Index(['property_id',</a:t>
            </a:r>
            <a:r>
              <a:rPr sz="950" spc="21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'check_in_date',</a:t>
            </a:r>
            <a:r>
              <a:rPr sz="950" spc="2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'room_category',</a:t>
            </a:r>
            <a:r>
              <a:rPr sz="950" spc="21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'successful_booking </a:t>
            </a:r>
            <a:r>
              <a:rPr sz="950" spc="-25" dirty="0">
                <a:latin typeface="Courier New"/>
                <a:cs typeface="Courier New"/>
              </a:rPr>
              <a:t>s',</a:t>
            </a:r>
            <a:endParaRPr sz="950">
              <a:latin typeface="Courier New"/>
              <a:cs typeface="Courier New"/>
            </a:endParaRPr>
          </a:p>
          <a:p>
            <a:pPr marL="534035" marR="5080">
              <a:lnSpc>
                <a:spcPct val="111800"/>
              </a:lnSpc>
            </a:pPr>
            <a:r>
              <a:rPr sz="950" dirty="0">
                <a:latin typeface="Courier New"/>
                <a:cs typeface="Courier New"/>
              </a:rPr>
              <a:t>'capacity',</a:t>
            </a:r>
            <a:r>
              <a:rPr sz="950" spc="14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'occupancy_pct',</a:t>
            </a:r>
            <a:r>
              <a:rPr sz="950" spc="16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'occ_pct',</a:t>
            </a:r>
            <a:r>
              <a:rPr sz="950" spc="16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'room_class',</a:t>
            </a:r>
            <a:r>
              <a:rPr sz="950" spc="16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'property_name', </a:t>
            </a:r>
            <a:r>
              <a:rPr sz="950" dirty="0">
                <a:latin typeface="Courier New"/>
                <a:cs typeface="Courier New"/>
              </a:rPr>
              <a:t>'category',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'city',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'date',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'mmm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yy',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'week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no',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'day_type'],</a:t>
            </a:r>
            <a:endParaRPr sz="950">
              <a:latin typeface="Courier New"/>
              <a:cs typeface="Courier New"/>
            </a:endParaRPr>
          </a:p>
          <a:p>
            <a:pPr marL="45974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dtype='object')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8737" y="161480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df_august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8900" y="1978036"/>
            <a:ext cx="54737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(7,</a:t>
            </a:r>
            <a:r>
              <a:rPr sz="950" spc="45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13)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737" y="2309815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8900" y="2673362"/>
            <a:ext cx="7708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(6500,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15)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8737" y="3005454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2545" marR="643890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latest_df</a:t>
            </a:r>
            <a:r>
              <a:rPr sz="950" spc="8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9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concat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([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9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df_august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],</a:t>
            </a:r>
            <a:r>
              <a:rPr sz="950" spc="9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ignore_index</a:t>
            </a:r>
            <a:r>
              <a:rPr sz="950" spc="9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8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True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9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axis</a:t>
            </a:r>
            <a:r>
              <a:rPr sz="950" spc="9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9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008800"/>
                </a:solidFill>
                <a:latin typeface="Courier New"/>
                <a:cs typeface="Courier New"/>
              </a:rPr>
              <a:t>0</a:t>
            </a:r>
            <a:r>
              <a:rPr sz="950" spc="-25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latest_df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tail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10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737" y="681100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latest_df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7174821"/>
            <a:ext cx="7708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(6507,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16)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00" y="7508637"/>
            <a:ext cx="2510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55" dirty="0">
                <a:latin typeface="Trebuchet MS"/>
                <a:cs typeface="Trebuchet MS"/>
              </a:rPr>
              <a:t>6.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Print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revenue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realized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per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55" dirty="0">
                <a:latin typeface="Trebuchet MS"/>
                <a:cs typeface="Trebuchet MS"/>
              </a:rPr>
              <a:t>city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8737" y="788161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525" y="69215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Out[155…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4525" y="165418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525" y="197803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525" y="234951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267336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304483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353061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25" y="685097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4525" y="717482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4525" y="7921583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[160…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6623050" cy="1490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Out[160…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3/5/2022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323975" y="3075905"/>
            <a:ext cx="3672204" cy="9525"/>
          </a:xfrm>
          <a:custGeom>
            <a:avLst/>
            <a:gdLst/>
            <a:ahLst/>
            <a:cxnLst/>
            <a:rect l="l" t="t" r="r" b="b"/>
            <a:pathLst>
              <a:path w="3672204" h="9525">
                <a:moveTo>
                  <a:pt x="3672064" y="0"/>
                </a:moveTo>
                <a:lnTo>
                  <a:pt x="0" y="0"/>
                </a:lnTo>
                <a:lnTo>
                  <a:pt x="0" y="9525"/>
                </a:lnTo>
                <a:lnTo>
                  <a:pt x="3672064" y="9525"/>
                </a:lnTo>
                <a:lnTo>
                  <a:pt x="3672064" y="0"/>
                </a:lnTo>
                <a:close/>
              </a:path>
            </a:pathLst>
          </a:custGeom>
          <a:solidFill>
            <a:srgbClr val="BDBDB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5475" y="4656090"/>
          <a:ext cx="6623050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Out[162…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5475" y="8103492"/>
          <a:ext cx="393636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Out[164…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195" dirty="0">
                          <a:latin typeface="Trebuchet MS"/>
                          <a:cs typeface="Trebuchet MS"/>
                        </a:rPr>
                        <a:t>mmm</a:t>
                      </a:r>
                      <a:r>
                        <a:rPr sz="950" b="1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1" spc="80" dirty="0">
                          <a:latin typeface="Trebuchet MS"/>
                          <a:cs typeface="Trebuchet MS"/>
                        </a:rPr>
                        <a:t>yy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114" dirty="0">
                          <a:latin typeface="Trebuchet MS"/>
                          <a:cs typeface="Trebuchet MS"/>
                        </a:rPr>
                        <a:t>week</a:t>
                      </a:r>
                      <a:r>
                        <a:rPr sz="950" b="1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1" spc="100" dirty="0">
                          <a:latin typeface="Trebuchet MS"/>
                          <a:cs typeface="Trebuchet MS"/>
                        </a:rPr>
                        <a:t>no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day_type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01-May-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weekend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02-May-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weekeday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03-May-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weekeday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328737" y="248856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3187" y="2848265"/>
            <a:ext cx="3573779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25"/>
              </a:spcBef>
              <a:tabLst>
                <a:tab pos="3304540" algn="l"/>
              </a:tabLst>
            </a:pPr>
            <a:r>
              <a:rPr sz="950" b="1" spc="85" dirty="0">
                <a:latin typeface="Trebuchet MS"/>
                <a:cs typeface="Trebuchet MS"/>
              </a:rPr>
              <a:t>property_id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105" dirty="0">
                <a:latin typeface="Trebuchet MS"/>
                <a:cs typeface="Trebuchet MS"/>
              </a:rPr>
              <a:t>property_name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110" dirty="0">
                <a:latin typeface="Trebuchet MS"/>
                <a:cs typeface="Trebuchet MS"/>
              </a:rPr>
              <a:t>category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b="1" spc="60" dirty="0">
                <a:latin typeface="Trebuchet MS"/>
                <a:cs typeface="Trebuchet MS"/>
              </a:rPr>
              <a:t>city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629920" algn="l"/>
                <a:tab pos="1440180" algn="l"/>
                <a:tab pos="2520950" algn="l"/>
                <a:tab pos="3241675" algn="l"/>
              </a:tabLst>
            </a:pPr>
            <a:r>
              <a:rPr sz="950" b="1" spc="60" dirty="0">
                <a:latin typeface="Trebuchet MS"/>
                <a:cs typeface="Trebuchet MS"/>
              </a:rPr>
              <a:t>0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16558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Grands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65" dirty="0">
                <a:latin typeface="Trebuchet MS"/>
                <a:cs typeface="Trebuchet MS"/>
              </a:rPr>
              <a:t>Luxury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3975" y="3353396"/>
            <a:ext cx="3672204" cy="267970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5588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440"/>
              </a:spcBef>
              <a:tabLst>
                <a:tab pos="678815" algn="l"/>
                <a:tab pos="1483360" algn="l"/>
                <a:tab pos="2569845" algn="l"/>
              </a:tabLst>
            </a:pPr>
            <a:r>
              <a:rPr sz="950" b="1" spc="60" dirty="0">
                <a:latin typeface="Trebuchet MS"/>
                <a:cs typeface="Trebuchet MS"/>
              </a:rPr>
              <a:t>1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16559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Exotica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75" dirty="0">
                <a:latin typeface="Trebuchet MS"/>
                <a:cs typeface="Trebuchet MS"/>
              </a:rPr>
              <a:t>Luxury</a:t>
            </a:r>
            <a:r>
              <a:rPr sz="950" spc="200" dirty="0">
                <a:latin typeface="Trebuchet MS"/>
                <a:cs typeface="Trebuchet MS"/>
              </a:rPr>
              <a:t>  </a:t>
            </a:r>
            <a:r>
              <a:rPr sz="950" spc="80" dirty="0">
                <a:latin typeface="Trebuchet MS"/>
                <a:cs typeface="Trebuchet MS"/>
              </a:rPr>
              <a:t>Mumbai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3187" y="3661685"/>
            <a:ext cx="35731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29920" algn="l"/>
                <a:tab pos="1642110" algn="l"/>
                <a:tab pos="2395855" algn="l"/>
                <a:tab pos="3241675" algn="l"/>
              </a:tabLst>
            </a:pPr>
            <a:r>
              <a:rPr sz="950" b="1" spc="60" dirty="0">
                <a:latin typeface="Trebuchet MS"/>
                <a:cs typeface="Trebuchet MS"/>
              </a:rPr>
              <a:t>2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16560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City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75" dirty="0">
                <a:latin typeface="Trebuchet MS"/>
                <a:cs typeface="Trebuchet MS"/>
              </a:rPr>
              <a:t>Business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8737" y="4112895"/>
            <a:ext cx="5838825" cy="429259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718820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spc="15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5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merge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5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5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on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"property_id"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8737" y="5899150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"city"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"revenue_realized"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sum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8900" y="6249608"/>
            <a:ext cx="696595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spc="-20" dirty="0">
                <a:latin typeface="Courier New"/>
                <a:cs typeface="Courier New"/>
              </a:rPr>
              <a:t>city </a:t>
            </a:r>
            <a:r>
              <a:rPr sz="950" spc="-10" dirty="0">
                <a:latin typeface="Courier New"/>
                <a:cs typeface="Courier New"/>
              </a:rPr>
              <a:t>Bangalore Delhi Hyderabad Mumbai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27954" y="6411534"/>
            <a:ext cx="696595" cy="6731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420397050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294466018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325232870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668608011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8900" y="7072574"/>
            <a:ext cx="2709545" cy="46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revenue_realized,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12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int64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050" b="1" spc="55" dirty="0">
                <a:latin typeface="Trebuchet MS"/>
                <a:cs typeface="Trebuchet MS"/>
              </a:rPr>
              <a:t>7.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Print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month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by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month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revenue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8737" y="772223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525" y="252854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285239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Out[161…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415285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5939094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25" y="6262944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Out[163…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4525" y="776218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[164…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1681165"/>
          <a:ext cx="6623050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Out[166…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5475" y="6524944"/>
          <a:ext cx="399732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Out[168…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195" dirty="0">
                          <a:latin typeface="Trebuchet MS"/>
                          <a:cs typeface="Trebuchet MS"/>
                        </a:rPr>
                        <a:t>mmm</a:t>
                      </a:r>
                      <a:r>
                        <a:rPr sz="950" b="1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1" spc="80" dirty="0">
                          <a:latin typeface="Trebuchet MS"/>
                          <a:cs typeface="Trebuchet MS"/>
                        </a:rPr>
                        <a:t>yy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114" dirty="0">
                          <a:latin typeface="Trebuchet MS"/>
                          <a:cs typeface="Trebuchet MS"/>
                        </a:rPr>
                        <a:t>week</a:t>
                      </a:r>
                      <a:r>
                        <a:rPr sz="950" b="1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1" spc="100" dirty="0">
                          <a:latin typeface="Trebuchet MS"/>
                          <a:cs typeface="Trebuchet MS"/>
                        </a:rPr>
                        <a:t>no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day_type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85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weekend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weekeday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weekeday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28737" y="60515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"mmm</a:t>
            </a:r>
            <a:r>
              <a:rPr sz="950" spc="15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yy"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unique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525" y="968381"/>
            <a:ext cx="454152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Out[165…</a:t>
            </a:r>
            <a:r>
              <a:rPr sz="950" spc="45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array(['May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22',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'Jun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22',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'Jul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22'],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dtype=object)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737" y="1300163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8737" y="292417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info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4600" y="3217532"/>
            <a:ext cx="2783840" cy="67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&lt;class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'pandas.core.frame.DataFrame'&gt; </a:t>
            </a:r>
            <a:r>
              <a:rPr sz="950" dirty="0">
                <a:latin typeface="Courier New"/>
                <a:cs typeface="Courier New"/>
              </a:rPr>
              <a:t>RangeIndex: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92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entries,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0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to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91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Data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columns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(total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4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columns):</a:t>
            </a:r>
            <a:endParaRPr sz="950">
              <a:latin typeface="Courier New"/>
              <a:cs typeface="Courier New"/>
            </a:endParaRPr>
          </a:p>
          <a:p>
            <a:pPr marL="86995">
              <a:lnSpc>
                <a:spcPct val="100000"/>
              </a:lnSpc>
              <a:spcBef>
                <a:spcPts val="135"/>
              </a:spcBef>
              <a:tabLst>
                <a:tab pos="384810" algn="l"/>
                <a:tab pos="1130300" algn="l"/>
                <a:tab pos="2323465" algn="l"/>
              </a:tabLst>
            </a:pPr>
            <a:r>
              <a:rPr sz="950" spc="-50" dirty="0">
                <a:latin typeface="Courier New"/>
                <a:cs typeface="Courier New"/>
              </a:rPr>
              <a:t>#</a:t>
            </a:r>
            <a:r>
              <a:rPr sz="950" dirty="0">
                <a:latin typeface="Courier New"/>
                <a:cs typeface="Courier New"/>
              </a:rPr>
              <a:t>	</a:t>
            </a:r>
            <a:r>
              <a:rPr sz="950" spc="-10" dirty="0">
                <a:latin typeface="Courier New"/>
                <a:cs typeface="Courier New"/>
              </a:rPr>
              <a:t>Column</a:t>
            </a:r>
            <a:r>
              <a:rPr sz="950" dirty="0">
                <a:latin typeface="Courier New"/>
                <a:cs typeface="Courier New"/>
              </a:rPr>
              <a:t>	Non-Null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Count</a:t>
            </a:r>
            <a:r>
              <a:rPr sz="950" dirty="0">
                <a:latin typeface="Courier New"/>
                <a:cs typeface="Courier New"/>
              </a:rPr>
              <a:t>	</a:t>
            </a:r>
            <a:r>
              <a:rPr sz="950" spc="-10" dirty="0">
                <a:latin typeface="Courier New"/>
                <a:cs typeface="Courier New"/>
              </a:rPr>
              <a:t>Dtype</a:t>
            </a:r>
            <a:endParaRPr sz="95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257300" y="3981169"/>
          <a:ext cx="2866390" cy="709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3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spc="-20" dirty="0">
                          <a:latin typeface="Courier New"/>
                          <a:cs typeface="Courier New"/>
                        </a:rPr>
                        <a:t>date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92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mmm</a:t>
                      </a:r>
                      <a:r>
                        <a:rPr sz="950" spc="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35" dirty="0">
                          <a:latin typeface="Courier New"/>
                          <a:cs typeface="Courier New"/>
                        </a:rPr>
                        <a:t>yy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92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week</a:t>
                      </a:r>
                      <a:r>
                        <a:rPr sz="950" spc="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25" dirty="0">
                          <a:latin typeface="Courier New"/>
                          <a:cs typeface="Courier New"/>
                        </a:rPr>
                        <a:t>no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92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day_type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92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1630013" y="3981169"/>
            <a:ext cx="447675" cy="0"/>
          </a:xfrm>
          <a:custGeom>
            <a:avLst/>
            <a:gdLst/>
            <a:ahLst/>
            <a:cxnLst/>
            <a:rect l="l" t="t" r="r" b="b"/>
            <a:pathLst>
              <a:path w="447675">
                <a:moveTo>
                  <a:pt x="0" y="0"/>
                </a:moveTo>
                <a:lnTo>
                  <a:pt x="447255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68122" y="3981169"/>
            <a:ext cx="372745" cy="0"/>
          </a:xfrm>
          <a:custGeom>
            <a:avLst/>
            <a:gdLst/>
            <a:ahLst/>
            <a:cxnLst/>
            <a:rect l="l" t="t" r="r" b="b"/>
            <a:pathLst>
              <a:path w="372745">
                <a:moveTo>
                  <a:pt x="0" y="0"/>
                </a:moveTo>
                <a:lnTo>
                  <a:pt x="372713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44600" y="4674866"/>
            <a:ext cx="1591310" cy="349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dtypes: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object(4) </a:t>
            </a:r>
            <a:r>
              <a:rPr sz="950" dirty="0">
                <a:latin typeface="Courier New"/>
                <a:cs typeface="Courier New"/>
              </a:rPr>
              <a:t>memory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usage: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3.0+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KB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8737" y="5124450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2134870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"date"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10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0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to_datetime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09675" y="5605776"/>
            <a:ext cx="5962650" cy="857250"/>
          </a:xfrm>
          <a:prstGeom prst="rect">
            <a:avLst/>
          </a:prstGeom>
          <a:solidFill>
            <a:srgbClr val="FFDDDD"/>
          </a:solidFill>
        </p:spPr>
        <p:txBody>
          <a:bodyPr vert="horz" wrap="square" lIns="0" tIns="33655" rIns="0" bIns="0" rtlCol="0">
            <a:spAutoFit/>
          </a:bodyPr>
          <a:lstStyle/>
          <a:p>
            <a:pPr marL="47625" marR="18415">
              <a:lnSpc>
                <a:spcPct val="111800"/>
              </a:lnSpc>
              <a:spcBef>
                <a:spcPts val="265"/>
              </a:spcBef>
            </a:pPr>
            <a:r>
              <a:rPr sz="950" spc="10" dirty="0">
                <a:latin typeface="Courier New"/>
                <a:cs typeface="Courier New"/>
              </a:rPr>
              <a:t>C:\Users\Nandini\AppData\Local\Temp\ipykernel_15812\173964601.py:1: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UserWarnin </a:t>
            </a:r>
            <a:r>
              <a:rPr sz="950" dirty="0">
                <a:latin typeface="Courier New"/>
                <a:cs typeface="Courier New"/>
              </a:rPr>
              <a:t>g: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Could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not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infer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format,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so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each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element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will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be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parsed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individually,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falling </a:t>
            </a:r>
            <a:r>
              <a:rPr sz="950" dirty="0">
                <a:latin typeface="Courier New"/>
                <a:cs typeface="Courier New"/>
              </a:rPr>
              <a:t>back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to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`dateutil`.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To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ensure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parsing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is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consistent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and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as-expected,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please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spe </a:t>
            </a:r>
            <a:r>
              <a:rPr sz="950" dirty="0">
                <a:latin typeface="Courier New"/>
                <a:cs typeface="Courier New"/>
              </a:rPr>
              <a:t>cify</a:t>
            </a:r>
            <a:r>
              <a:rPr sz="950" spc="4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a</a:t>
            </a:r>
            <a:r>
              <a:rPr sz="950" spc="4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format.</a:t>
            </a:r>
            <a:endParaRPr sz="950">
              <a:latin typeface="Courier New"/>
              <a:cs typeface="Courier New"/>
            </a:endParaRPr>
          </a:p>
          <a:p>
            <a:pPr marL="196215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df_date["date"]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=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pd.to_datetime(df_date["date"])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8737" y="776795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info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525" y="6445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[165…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133985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296416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5164454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25" y="780794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[169…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0" y="621669"/>
            <a:ext cx="2933065" cy="67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&lt;class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'pandas.core.frame.DataFrame'&gt; </a:t>
            </a:r>
            <a:r>
              <a:rPr sz="950" dirty="0">
                <a:latin typeface="Courier New"/>
                <a:cs typeface="Courier New"/>
              </a:rPr>
              <a:t>RangeIndex: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134585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entries,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0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to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134584 </a:t>
            </a:r>
            <a:r>
              <a:rPr sz="950" dirty="0">
                <a:latin typeface="Courier New"/>
                <a:cs typeface="Courier New"/>
              </a:rPr>
              <a:t>Data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columns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(total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15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columns):</a:t>
            </a:r>
            <a:endParaRPr sz="950">
              <a:latin typeface="Courier New"/>
              <a:cs typeface="Courier New"/>
            </a:endParaRPr>
          </a:p>
          <a:p>
            <a:pPr marL="86995">
              <a:lnSpc>
                <a:spcPct val="100000"/>
              </a:lnSpc>
              <a:spcBef>
                <a:spcPts val="135"/>
              </a:spcBef>
              <a:tabLst>
                <a:tab pos="384810" algn="l"/>
                <a:tab pos="1801495" algn="l"/>
              </a:tabLst>
            </a:pPr>
            <a:r>
              <a:rPr sz="950" spc="-50" dirty="0">
                <a:latin typeface="Courier New"/>
                <a:cs typeface="Courier New"/>
              </a:rPr>
              <a:t>#</a:t>
            </a:r>
            <a:r>
              <a:rPr sz="950" dirty="0">
                <a:latin typeface="Courier New"/>
                <a:cs typeface="Courier New"/>
              </a:rPr>
              <a:t>	</a:t>
            </a:r>
            <a:r>
              <a:rPr sz="950" spc="-10" dirty="0">
                <a:latin typeface="Courier New"/>
                <a:cs typeface="Courier New"/>
              </a:rPr>
              <a:t>Column</a:t>
            </a:r>
            <a:r>
              <a:rPr sz="950" dirty="0">
                <a:latin typeface="Courier New"/>
                <a:cs typeface="Courier New"/>
              </a:rPr>
              <a:t>	Non-Null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Count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00855" y="1120782"/>
            <a:ext cx="3981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ourier New"/>
                <a:cs typeface="Courier New"/>
              </a:rPr>
              <a:t>Dtype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57300" y="1385305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5">
                <a:moveTo>
                  <a:pt x="0" y="0"/>
                </a:moveTo>
                <a:lnTo>
                  <a:pt x="223627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30013" y="1385305"/>
            <a:ext cx="447675" cy="0"/>
          </a:xfrm>
          <a:custGeom>
            <a:avLst/>
            <a:gdLst/>
            <a:ahLst/>
            <a:cxnLst/>
            <a:rect l="l" t="t" r="r" b="b"/>
            <a:pathLst>
              <a:path w="447675">
                <a:moveTo>
                  <a:pt x="0" y="0"/>
                </a:moveTo>
                <a:lnTo>
                  <a:pt x="447255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57300" y="1385305"/>
          <a:ext cx="3686175" cy="2490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8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3679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90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booking_id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property_id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int64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booking_date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check_in_date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checkout_date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5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no_guests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float64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6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room_category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74295">
                        <a:lnSpc>
                          <a:spcPts val="108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7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booking_platform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ts val="1080"/>
                        </a:lnSpc>
                        <a:spcBef>
                          <a:spcPts val="9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8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ratings_given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206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spcBef>
                          <a:spcPts val="9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56680</a:t>
                      </a:r>
                      <a:r>
                        <a:rPr sz="950" spc="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spcBef>
                          <a:spcPts val="9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float64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206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9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booking_status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206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10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revenue_generated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int64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11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revenue_realized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int64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12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property_name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13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category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74295">
                        <a:lnSpc>
                          <a:spcPts val="108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14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city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313548" y="1385305"/>
            <a:ext cx="372745" cy="0"/>
          </a:xfrm>
          <a:custGeom>
            <a:avLst/>
            <a:gdLst/>
            <a:ahLst/>
            <a:cxnLst/>
            <a:rect l="l" t="t" r="r" b="b"/>
            <a:pathLst>
              <a:path w="372745">
                <a:moveTo>
                  <a:pt x="0" y="0"/>
                </a:moveTo>
                <a:lnTo>
                  <a:pt x="372713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44600" y="3860187"/>
            <a:ext cx="3007360" cy="349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dtypes: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float64(2),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int64(3),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object(10) </a:t>
            </a:r>
            <a:r>
              <a:rPr sz="950" dirty="0">
                <a:latin typeface="Courier New"/>
                <a:cs typeface="Courier New"/>
              </a:rPr>
              <a:t>memory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usage: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15.4+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MB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737" y="4310072"/>
            <a:ext cx="5838825" cy="9150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40995" marR="2359025" indent="-298450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18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8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to_datetime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],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format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"mixed"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endParaRPr sz="9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dayfirst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True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8737" y="5329554"/>
            <a:ext cx="5838825" cy="10763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40995" marR="2060575" indent="-298450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0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204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to_datetime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],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format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"mixed"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endParaRPr sz="950">
              <a:latin typeface="Courier New"/>
              <a:cs typeface="Courier New"/>
            </a:endParaRPr>
          </a:p>
          <a:p>
            <a:pPr marL="340995" marR="4371340">
              <a:lnSpc>
                <a:spcPct val="111800"/>
              </a:lnSpc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dayfirst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True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,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errors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"coerce"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8737" y="6510655"/>
            <a:ext cx="5838825" cy="75247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40995" marR="2359025" indent="-298450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18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8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to_datetime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],</a:t>
            </a:r>
            <a:endParaRPr sz="9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format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"%d-%m-</a:t>
            </a:r>
            <a:r>
              <a:rPr sz="950" spc="-25" dirty="0">
                <a:solidFill>
                  <a:srgbClr val="BA2121"/>
                </a:solidFill>
                <a:latin typeface="Courier New"/>
                <a:cs typeface="Courier New"/>
              </a:rPr>
              <a:t>%y"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8737" y="736790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dtype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525" y="7731166"/>
            <a:ext cx="193293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Out[173…</a:t>
            </a:r>
            <a:r>
              <a:rPr sz="950" spc="45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dtype('&lt;M8[ns]')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8737" y="8062931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dtype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525" y="8426493"/>
            <a:ext cx="193293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Out[174…</a:t>
            </a:r>
            <a:r>
              <a:rPr sz="950" spc="45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dtype('&lt;M8[ns]')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28737" y="875855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434977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[170…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536895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655006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25" y="740731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4525" y="810264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[174…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4525" y="879796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[175…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6623050" cy="1490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Out[175…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3/5/2022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323975" y="3075905"/>
            <a:ext cx="5848350" cy="9525"/>
          </a:xfrm>
          <a:custGeom>
            <a:avLst/>
            <a:gdLst/>
            <a:ahLst/>
            <a:cxnLst/>
            <a:rect l="l" t="t" r="r" b="b"/>
            <a:pathLst>
              <a:path w="5848350" h="9525">
                <a:moveTo>
                  <a:pt x="5848350" y="0"/>
                </a:moveTo>
                <a:lnTo>
                  <a:pt x="0" y="0"/>
                </a:lnTo>
                <a:lnTo>
                  <a:pt x="0" y="9525"/>
                </a:lnTo>
                <a:lnTo>
                  <a:pt x="5848350" y="9525"/>
                </a:lnTo>
                <a:lnTo>
                  <a:pt x="5848350" y="0"/>
                </a:lnTo>
                <a:close/>
              </a:path>
            </a:pathLst>
          </a:custGeom>
          <a:solidFill>
            <a:srgbClr val="BDBDB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323975" y="3304505"/>
            <a:ext cx="5848350" cy="438784"/>
            <a:chOff x="1323975" y="3304505"/>
            <a:chExt cx="5848350" cy="438784"/>
          </a:xfrm>
        </p:grpSpPr>
        <p:sp>
          <p:nvSpPr>
            <p:cNvPr id="5" name="object 5"/>
            <p:cNvSpPr/>
            <p:nvPr/>
          </p:nvSpPr>
          <p:spPr>
            <a:xfrm>
              <a:off x="1323975" y="3304505"/>
              <a:ext cx="5848350" cy="438150"/>
            </a:xfrm>
            <a:custGeom>
              <a:avLst/>
              <a:gdLst/>
              <a:ahLst/>
              <a:cxnLst/>
              <a:rect l="l" t="t" r="r" b="b"/>
              <a:pathLst>
                <a:path w="5848350" h="438150">
                  <a:moveTo>
                    <a:pt x="5848350" y="0"/>
                  </a:moveTo>
                  <a:lnTo>
                    <a:pt x="0" y="0"/>
                  </a:lnTo>
                  <a:lnTo>
                    <a:pt x="0" y="438152"/>
                  </a:lnTo>
                  <a:lnTo>
                    <a:pt x="5848350" y="438152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23975" y="3304539"/>
              <a:ext cx="5848350" cy="438150"/>
            </a:xfrm>
            <a:custGeom>
              <a:avLst/>
              <a:gdLst/>
              <a:ahLst/>
              <a:cxnLst/>
              <a:rect l="l" t="t" r="r" b="b"/>
              <a:pathLst>
                <a:path w="5848350" h="438150">
                  <a:moveTo>
                    <a:pt x="5848350" y="9499"/>
                  </a:moveTo>
                  <a:lnTo>
                    <a:pt x="5838825" y="9499"/>
                  </a:lnTo>
                  <a:lnTo>
                    <a:pt x="5838825" y="428599"/>
                  </a:lnTo>
                  <a:lnTo>
                    <a:pt x="0" y="428599"/>
                  </a:lnTo>
                  <a:lnTo>
                    <a:pt x="0" y="438150"/>
                  </a:lnTo>
                  <a:lnTo>
                    <a:pt x="5848350" y="438150"/>
                  </a:lnTo>
                  <a:lnTo>
                    <a:pt x="5848350" y="428599"/>
                  </a:lnTo>
                  <a:lnTo>
                    <a:pt x="5848350" y="9499"/>
                  </a:lnTo>
                  <a:close/>
                </a:path>
                <a:path w="5848350" h="43815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427990"/>
                  </a:lnTo>
                  <a:lnTo>
                    <a:pt x="9525" y="42799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25475" y="3852196"/>
          <a:ext cx="6623050" cy="128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Out[177…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319212" y="5978468"/>
          <a:ext cx="5934075" cy="201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635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 gridSpan="5"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95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df_bookings_all</a:t>
                      </a:r>
                      <a:r>
                        <a:rPr sz="950" b="1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95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groupby</a:t>
                      </a:r>
                      <a:r>
                        <a:rPr sz="95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950" dirty="0">
                          <a:solidFill>
                            <a:srgbClr val="BA2121"/>
                          </a:solidFill>
                          <a:latin typeface="Courier New"/>
                          <a:cs typeface="Courier New"/>
                        </a:rPr>
                        <a:t>"mmm</a:t>
                      </a:r>
                      <a:r>
                        <a:rPr sz="950" spc="335" dirty="0">
                          <a:solidFill>
                            <a:srgbClr val="BA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solidFill>
                            <a:srgbClr val="BA2121"/>
                          </a:solidFill>
                          <a:latin typeface="Courier New"/>
                          <a:cs typeface="Courier New"/>
                        </a:rPr>
                        <a:t>yy"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)[</a:t>
                      </a:r>
                      <a:r>
                        <a:rPr sz="950" spc="-10" dirty="0">
                          <a:solidFill>
                            <a:srgbClr val="BA2121"/>
                          </a:solidFill>
                          <a:latin typeface="Courier New"/>
                          <a:cs typeface="Courier New"/>
                        </a:rPr>
                        <a:t>"revenue_realized"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r>
                        <a:rPr sz="950" b="1" spc="-10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sum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879" marB="0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328737" y="248856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isna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7012" y="2848265"/>
            <a:ext cx="568515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95" dirty="0">
                <a:latin typeface="Trebuchet MS"/>
                <a:cs typeface="Trebuchet MS"/>
              </a:rPr>
              <a:t>booking_id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85" dirty="0">
                <a:latin typeface="Trebuchet MS"/>
                <a:cs typeface="Trebuchet MS"/>
              </a:rPr>
              <a:t>property_id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105" dirty="0">
                <a:latin typeface="Trebuchet MS"/>
                <a:cs typeface="Trebuchet MS"/>
              </a:rPr>
              <a:t>booking_date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75" dirty="0">
                <a:latin typeface="Trebuchet MS"/>
                <a:cs typeface="Trebuchet MS"/>
              </a:rPr>
              <a:t>check_in_date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90" dirty="0">
                <a:latin typeface="Trebuchet MS"/>
                <a:cs typeface="Trebuchet MS"/>
              </a:rPr>
              <a:t>checkout_date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100" dirty="0">
                <a:latin typeface="Trebuchet MS"/>
                <a:cs typeface="Trebuchet MS"/>
              </a:rPr>
              <a:t>no_gues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00" y="3348960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0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204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to_datetime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8900" y="3510887"/>
            <a:ext cx="174053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4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8737" y="5363209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47625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spc="15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5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merge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5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5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left_on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,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8900" y="8076474"/>
            <a:ext cx="473075" cy="67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mmm</a:t>
            </a:r>
            <a:r>
              <a:rPr sz="950" spc="45" dirty="0">
                <a:latin typeface="Courier New"/>
                <a:cs typeface="Courier New"/>
              </a:rPr>
              <a:t> </a:t>
            </a:r>
            <a:r>
              <a:rPr sz="950" spc="-35" dirty="0">
                <a:latin typeface="Courier New"/>
                <a:cs typeface="Courier New"/>
              </a:rPr>
              <a:t>yy </a:t>
            </a:r>
            <a:r>
              <a:rPr sz="950" dirty="0">
                <a:latin typeface="Courier New"/>
                <a:cs typeface="Courier New"/>
              </a:rPr>
              <a:t>Jul</a:t>
            </a:r>
            <a:r>
              <a:rPr sz="950" spc="45" dirty="0">
                <a:latin typeface="Courier New"/>
                <a:cs typeface="Courier New"/>
              </a:rPr>
              <a:t> </a:t>
            </a:r>
            <a:r>
              <a:rPr sz="950" spc="-35" dirty="0">
                <a:latin typeface="Courier New"/>
                <a:cs typeface="Courier New"/>
              </a:rPr>
              <a:t>22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Jun</a:t>
            </a:r>
            <a:r>
              <a:rPr sz="950" spc="45" dirty="0">
                <a:latin typeface="Courier New"/>
                <a:cs typeface="Courier New"/>
              </a:rPr>
              <a:t> </a:t>
            </a:r>
            <a:r>
              <a:rPr sz="950" spc="-35" dirty="0">
                <a:latin typeface="Courier New"/>
                <a:cs typeface="Courier New"/>
              </a:rPr>
              <a:t>22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May</a:t>
            </a:r>
            <a:r>
              <a:rPr sz="950" spc="45" dirty="0">
                <a:latin typeface="Courier New"/>
                <a:cs typeface="Courier New"/>
              </a:rPr>
              <a:t> </a:t>
            </a:r>
            <a:r>
              <a:rPr sz="950" spc="-35" dirty="0">
                <a:latin typeface="Courier New"/>
                <a:cs typeface="Courier New"/>
              </a:rPr>
              <a:t>22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04326" y="8238401"/>
            <a:ext cx="696595" cy="51117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572895608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553932355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581875986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8900" y="8737514"/>
            <a:ext cx="2814955" cy="46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revenue_realized,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12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int64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050" b="1" spc="95" dirty="0">
                <a:latin typeface="Trebuchet MS"/>
                <a:cs typeface="Trebuchet MS"/>
              </a:rPr>
              <a:t>Print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revenue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realized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per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hotel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type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252854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285239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Out[176…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334896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25" y="540316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4525" y="588894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Out[178…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4525" y="776596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4525" y="808981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Out[179…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23975" y="600075"/>
            <a:ext cx="5848350" cy="276225"/>
            <a:chOff x="1323975" y="600075"/>
            <a:chExt cx="5848350" cy="276225"/>
          </a:xfrm>
        </p:grpSpPr>
        <p:sp>
          <p:nvSpPr>
            <p:cNvPr id="3" name="object 3"/>
            <p:cNvSpPr/>
            <p:nvPr/>
          </p:nvSpPr>
          <p:spPr>
            <a:xfrm>
              <a:off x="1323975" y="600075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23975" y="600709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9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848350" y="275590"/>
                  </a:lnTo>
                  <a:lnTo>
                    <a:pt x="5848350" y="266700"/>
                  </a:lnTo>
                  <a:lnTo>
                    <a:pt x="9525" y="266700"/>
                  </a:lnTo>
                  <a:lnTo>
                    <a:pt x="9525" y="8890"/>
                  </a:lnTo>
                  <a:lnTo>
                    <a:pt x="5838825" y="8890"/>
                  </a:lnTo>
                  <a:lnTo>
                    <a:pt x="5838825" y="266077"/>
                  </a:lnTo>
                  <a:lnTo>
                    <a:pt x="5848350" y="266077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5475" y="985837"/>
          <a:ext cx="3460750" cy="128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Out[180…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revenue_realized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309567375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560246004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462137784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376752786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1323975" y="2867635"/>
            <a:ext cx="5848350" cy="276225"/>
            <a:chOff x="1323975" y="2867635"/>
            <a:chExt cx="5848350" cy="276225"/>
          </a:xfrm>
        </p:grpSpPr>
        <p:sp>
          <p:nvSpPr>
            <p:cNvPr id="7" name="object 7"/>
            <p:cNvSpPr/>
            <p:nvPr/>
          </p:nvSpPr>
          <p:spPr>
            <a:xfrm>
              <a:off x="1323975" y="2867635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23975" y="2867659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89">
                  <a:moveTo>
                    <a:pt x="5848350" y="9512"/>
                  </a:moveTo>
                  <a:lnTo>
                    <a:pt x="5838825" y="9512"/>
                  </a:lnTo>
                  <a:lnTo>
                    <a:pt x="5838825" y="266687"/>
                  </a:lnTo>
                  <a:lnTo>
                    <a:pt x="5848350" y="266687"/>
                  </a:lnTo>
                  <a:lnTo>
                    <a:pt x="5848350" y="9512"/>
                  </a:lnTo>
                  <a:close/>
                </a:path>
                <a:path w="5848350" h="275589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848350" y="275590"/>
                  </a:lnTo>
                  <a:lnTo>
                    <a:pt x="5848350" y="266700"/>
                  </a:lnTo>
                  <a:lnTo>
                    <a:pt x="9525" y="26670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58900" y="644530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"room_category"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42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as_index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False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"revenue_realized"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sum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2499145"/>
            <a:ext cx="21710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Print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average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rating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per</a:t>
            </a:r>
            <a:r>
              <a:rPr sz="1050" b="1" spc="55" dirty="0">
                <a:latin typeface="Trebuchet MS"/>
                <a:cs typeface="Trebuchet MS"/>
              </a:rPr>
              <a:t> city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00" y="2912091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"property_id"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45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as_index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False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"successful_bookings"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4525" y="6445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[180…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525" y="291209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[181…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3540760" cy="6837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Out[181…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3153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7338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4693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4418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4820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7211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5053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6142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6013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5183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3424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6337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3982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4475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5256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6638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6458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7333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4737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4400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4729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6079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5736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5812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5413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1323975" y="7843390"/>
            <a:ext cx="5848350" cy="276225"/>
            <a:chOff x="1323975" y="7843390"/>
            <a:chExt cx="5848350" cy="276225"/>
          </a:xfrm>
        </p:grpSpPr>
        <p:sp>
          <p:nvSpPr>
            <p:cNvPr id="4" name="object 4"/>
            <p:cNvSpPr/>
            <p:nvPr/>
          </p:nvSpPr>
          <p:spPr>
            <a:xfrm>
              <a:off x="1323975" y="7843390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3975" y="7843519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90">
                  <a:moveTo>
                    <a:pt x="5848350" y="9398"/>
                  </a:moveTo>
                  <a:lnTo>
                    <a:pt x="5838825" y="9398"/>
                  </a:lnTo>
                  <a:lnTo>
                    <a:pt x="5838825" y="266573"/>
                  </a:lnTo>
                  <a:lnTo>
                    <a:pt x="5848350" y="266573"/>
                  </a:lnTo>
                  <a:lnTo>
                    <a:pt x="5848350" y="9398"/>
                  </a:lnTo>
                  <a:close/>
                </a:path>
                <a:path w="5848350" h="27559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848350" y="275590"/>
                  </a:lnTo>
                  <a:lnTo>
                    <a:pt x="5848350" y="266700"/>
                  </a:lnTo>
                  <a:lnTo>
                    <a:pt x="9525" y="26670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58900" y="7887845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"city"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39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as_index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False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"ratings_given"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round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525" y="788784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[182…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2856230" cy="128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5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Out[182…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ratings_given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Bangalore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3.41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Delhi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3.78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Hyderabad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3.66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Mumbai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3.65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1323975" y="5001247"/>
            <a:ext cx="5848350" cy="1734185"/>
            <a:chOff x="1323975" y="5001247"/>
            <a:chExt cx="5848350" cy="1734185"/>
          </a:xfrm>
        </p:grpSpPr>
        <p:sp>
          <p:nvSpPr>
            <p:cNvPr id="4" name="object 4"/>
            <p:cNvSpPr/>
            <p:nvPr/>
          </p:nvSpPr>
          <p:spPr>
            <a:xfrm>
              <a:off x="1323975" y="5001247"/>
              <a:ext cx="5848350" cy="1734185"/>
            </a:xfrm>
            <a:custGeom>
              <a:avLst/>
              <a:gdLst/>
              <a:ahLst/>
              <a:cxnLst/>
              <a:rect l="l" t="t" r="r" b="b"/>
              <a:pathLst>
                <a:path w="5848350" h="1734184">
                  <a:moveTo>
                    <a:pt x="5848350" y="0"/>
                  </a:moveTo>
                  <a:lnTo>
                    <a:pt x="0" y="0"/>
                  </a:lnTo>
                  <a:lnTo>
                    <a:pt x="0" y="1733558"/>
                  </a:lnTo>
                  <a:lnTo>
                    <a:pt x="5848350" y="1733558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3975" y="5001259"/>
              <a:ext cx="5848350" cy="1733550"/>
            </a:xfrm>
            <a:custGeom>
              <a:avLst/>
              <a:gdLst/>
              <a:ahLst/>
              <a:cxnLst/>
              <a:rect l="l" t="t" r="r" b="b"/>
              <a:pathLst>
                <a:path w="5848350" h="1733550">
                  <a:moveTo>
                    <a:pt x="5848350" y="9512"/>
                  </a:moveTo>
                  <a:lnTo>
                    <a:pt x="5838825" y="9512"/>
                  </a:lnTo>
                  <a:lnTo>
                    <a:pt x="5838825" y="1724025"/>
                  </a:lnTo>
                  <a:lnTo>
                    <a:pt x="0" y="1724025"/>
                  </a:lnTo>
                  <a:lnTo>
                    <a:pt x="0" y="1733550"/>
                  </a:lnTo>
                  <a:lnTo>
                    <a:pt x="5848350" y="1733550"/>
                  </a:lnTo>
                  <a:lnTo>
                    <a:pt x="5848350" y="1724025"/>
                  </a:lnTo>
                  <a:lnTo>
                    <a:pt x="5848350" y="9512"/>
                  </a:lnTo>
                  <a:close/>
                </a:path>
                <a:path w="5848350" h="173355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723390"/>
                  </a:lnTo>
                  <a:lnTo>
                    <a:pt x="9525" y="172339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28737" y="222059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print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columns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4600" y="2513944"/>
            <a:ext cx="5467350" cy="1285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4035" marR="5080" indent="-52197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Index(['booking_id',</a:t>
            </a:r>
            <a:r>
              <a:rPr sz="950" spc="2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'property_id',</a:t>
            </a:r>
            <a:r>
              <a:rPr sz="950" spc="204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'booking_date',</a:t>
            </a:r>
            <a:r>
              <a:rPr sz="950" spc="20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'check_in_date', </a:t>
            </a:r>
            <a:r>
              <a:rPr sz="950" dirty="0">
                <a:latin typeface="Courier New"/>
                <a:cs typeface="Courier New"/>
              </a:rPr>
              <a:t>'checkout_date',</a:t>
            </a:r>
            <a:r>
              <a:rPr sz="950" spc="1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'no_guests',</a:t>
            </a:r>
            <a:r>
              <a:rPr sz="950" spc="1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'room_category',</a:t>
            </a:r>
            <a:r>
              <a:rPr sz="950" spc="18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'booking_platform', </a:t>
            </a:r>
            <a:r>
              <a:rPr sz="950" dirty="0">
                <a:latin typeface="Courier New"/>
                <a:cs typeface="Courier New"/>
              </a:rPr>
              <a:t>'ratings_given',</a:t>
            </a:r>
            <a:r>
              <a:rPr sz="950" spc="2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'booking_status',</a:t>
            </a:r>
            <a:r>
              <a:rPr sz="950" spc="204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'revenue_generated', </a:t>
            </a:r>
            <a:r>
              <a:rPr sz="950" dirty="0">
                <a:latin typeface="Courier New"/>
                <a:cs typeface="Courier New"/>
              </a:rPr>
              <a:t>'revenue_realized',</a:t>
            </a:r>
            <a:r>
              <a:rPr sz="950" spc="1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'property_name',</a:t>
            </a:r>
            <a:r>
              <a:rPr sz="950" spc="1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'category',</a:t>
            </a:r>
            <a:r>
              <a:rPr sz="950" spc="1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'city',</a:t>
            </a:r>
            <a:r>
              <a:rPr sz="950" spc="16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'date', </a:t>
            </a:r>
            <a:r>
              <a:rPr sz="950" dirty="0">
                <a:latin typeface="Courier New"/>
                <a:cs typeface="Courier New"/>
              </a:rPr>
              <a:t>'mmm</a:t>
            </a:r>
            <a:r>
              <a:rPr sz="950" spc="6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yy',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'week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no',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'day_type'],</a:t>
            </a:r>
            <a:endParaRPr sz="950">
              <a:latin typeface="Courier New"/>
              <a:cs typeface="Courier New"/>
            </a:endParaRPr>
          </a:p>
          <a:p>
            <a:pPr marL="45974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dtype='object')</a:t>
            </a:r>
            <a:endParaRPr sz="9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1010"/>
              </a:spcBef>
            </a:pPr>
            <a:r>
              <a:rPr sz="1050" b="1" spc="95" dirty="0">
                <a:latin typeface="Trebuchet MS"/>
                <a:cs typeface="Trebuchet MS"/>
              </a:rPr>
              <a:t>Pie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chart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of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revenue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realized</a:t>
            </a:r>
            <a:r>
              <a:rPr sz="1050" b="1" spc="7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per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booking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platform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8737" y="3986529"/>
            <a:ext cx="5838825" cy="9150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340995" marR="4297045" indent="-298450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revenue_platform</a:t>
            </a:r>
            <a:r>
              <a:rPr sz="950" spc="11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14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(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endParaRPr sz="9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135"/>
              </a:spcBef>
            </a:pP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"booking_platform"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33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as_index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False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"revenue_realized"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135"/>
              </a:spcBef>
            </a:pP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sum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900" y="5045702"/>
            <a:ext cx="23368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import</a:t>
            </a:r>
            <a:r>
              <a:rPr sz="950" b="1" spc="1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matplotlib.pyplot</a:t>
            </a:r>
            <a:r>
              <a:rPr sz="950" spc="11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as</a:t>
            </a:r>
            <a:r>
              <a:rPr sz="950" b="1" spc="1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202020"/>
                </a:solidFill>
                <a:latin typeface="Courier New"/>
                <a:cs typeface="Courier New"/>
              </a:rPr>
              <a:t>plt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1600" y="5356217"/>
            <a:ext cx="3653154" cy="1321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750185">
              <a:lnSpc>
                <a:spcPct val="111800"/>
              </a:lnSpc>
              <a:spcBef>
                <a:spcPts val="9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plt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figure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plt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pie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endParaRPr sz="950">
              <a:latin typeface="Courier New"/>
              <a:cs typeface="Courier New"/>
            </a:endParaRPr>
          </a:p>
          <a:p>
            <a:pPr marL="297815" marR="66675">
              <a:lnSpc>
                <a:spcPct val="111800"/>
              </a:lnSpc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revenue_platform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"revenue_realized"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],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labels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revenue_platform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"booking_platform"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],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autopct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"%1.1f%%"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11800"/>
              </a:lnSpc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plt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title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"Revenue</a:t>
            </a:r>
            <a:r>
              <a:rPr sz="950" spc="114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Realized</a:t>
            </a:r>
            <a:r>
              <a:rPr sz="950" spc="114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by</a:t>
            </a:r>
            <a:r>
              <a:rPr sz="950" spc="114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Booking</a:t>
            </a:r>
            <a:r>
              <a:rPr sz="950" spc="114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Platform"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plt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show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4525" y="226058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[183…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4525" y="402652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[184…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525" y="504570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[185…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23975" y="4686300"/>
            <a:ext cx="5848350" cy="276860"/>
            <a:chOff x="1323975" y="4686300"/>
            <a:chExt cx="5848350" cy="276860"/>
          </a:xfrm>
        </p:grpSpPr>
        <p:sp>
          <p:nvSpPr>
            <p:cNvPr id="3" name="object 3"/>
            <p:cNvSpPr/>
            <p:nvPr/>
          </p:nvSpPr>
          <p:spPr>
            <a:xfrm>
              <a:off x="1323975" y="4686927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23975" y="4686299"/>
              <a:ext cx="5848350" cy="276860"/>
            </a:xfrm>
            <a:custGeom>
              <a:avLst/>
              <a:gdLst/>
              <a:ahLst/>
              <a:cxnLst/>
              <a:rect l="l" t="t" r="r" b="b"/>
              <a:pathLst>
                <a:path w="5848350" h="276860">
                  <a:moveTo>
                    <a:pt x="584835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10160"/>
                  </a:lnTo>
                  <a:lnTo>
                    <a:pt x="5838825" y="10160"/>
                  </a:lnTo>
                  <a:lnTo>
                    <a:pt x="5838825" y="267335"/>
                  </a:lnTo>
                  <a:lnTo>
                    <a:pt x="0" y="267335"/>
                  </a:lnTo>
                  <a:lnTo>
                    <a:pt x="0" y="276860"/>
                  </a:lnTo>
                  <a:lnTo>
                    <a:pt x="5848350" y="276860"/>
                  </a:lnTo>
                  <a:lnTo>
                    <a:pt x="5848350" y="267335"/>
                  </a:lnTo>
                  <a:lnTo>
                    <a:pt x="5848350" y="1016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323975" y="5058403"/>
            <a:ext cx="5848350" cy="276225"/>
            <a:chOff x="1323975" y="5058403"/>
            <a:chExt cx="5848350" cy="276225"/>
          </a:xfrm>
        </p:grpSpPr>
        <p:sp>
          <p:nvSpPr>
            <p:cNvPr id="6" name="object 6"/>
            <p:cNvSpPr/>
            <p:nvPr/>
          </p:nvSpPr>
          <p:spPr>
            <a:xfrm>
              <a:off x="1323975" y="5058403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23975" y="5058409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89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848350" y="275590"/>
                  </a:lnTo>
                  <a:lnTo>
                    <a:pt x="5848350" y="266700"/>
                  </a:lnTo>
                  <a:lnTo>
                    <a:pt x="5848350" y="9525"/>
                  </a:lnTo>
                  <a:lnTo>
                    <a:pt x="5838825" y="9525"/>
                  </a:lnTo>
                  <a:lnTo>
                    <a:pt x="5838825" y="266700"/>
                  </a:lnTo>
                  <a:lnTo>
                    <a:pt x="9525" y="26670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323975" y="5429250"/>
            <a:ext cx="5848350" cy="276860"/>
            <a:chOff x="1323975" y="5429250"/>
            <a:chExt cx="5848350" cy="276860"/>
          </a:xfrm>
        </p:grpSpPr>
        <p:sp>
          <p:nvSpPr>
            <p:cNvPr id="9" name="object 9"/>
            <p:cNvSpPr/>
            <p:nvPr/>
          </p:nvSpPr>
          <p:spPr>
            <a:xfrm>
              <a:off x="1323975" y="5429879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23975" y="5429249"/>
              <a:ext cx="5848350" cy="276860"/>
            </a:xfrm>
            <a:custGeom>
              <a:avLst/>
              <a:gdLst/>
              <a:ahLst/>
              <a:cxnLst/>
              <a:rect l="l" t="t" r="r" b="b"/>
              <a:pathLst>
                <a:path w="5848350" h="276860">
                  <a:moveTo>
                    <a:pt x="584835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10160"/>
                  </a:lnTo>
                  <a:lnTo>
                    <a:pt x="5838825" y="10160"/>
                  </a:lnTo>
                  <a:lnTo>
                    <a:pt x="5838825" y="267335"/>
                  </a:lnTo>
                  <a:lnTo>
                    <a:pt x="0" y="267335"/>
                  </a:lnTo>
                  <a:lnTo>
                    <a:pt x="0" y="276860"/>
                  </a:lnTo>
                  <a:lnTo>
                    <a:pt x="5848350" y="276860"/>
                  </a:lnTo>
                  <a:lnTo>
                    <a:pt x="5848350" y="267335"/>
                  </a:lnTo>
                  <a:lnTo>
                    <a:pt x="5848350" y="1016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450" y="742950"/>
            <a:ext cx="4600575" cy="35337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32281" y="4731382"/>
            <a:ext cx="547370" cy="916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[</a:t>
            </a:r>
            <a:r>
              <a:rPr sz="950" spc="3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616161"/>
                </a:solidFill>
                <a:latin typeface="Courier New"/>
                <a:cs typeface="Courier New"/>
              </a:rPr>
              <a:t>]: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[</a:t>
            </a:r>
            <a:r>
              <a:rPr sz="950" spc="3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616161"/>
                </a:solidFill>
                <a:latin typeface="Courier New"/>
                <a:cs typeface="Courier New"/>
              </a:rPr>
              <a:t>]: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[</a:t>
            </a:r>
            <a:r>
              <a:rPr sz="950" spc="3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616161"/>
                </a:solidFill>
                <a:latin typeface="Courier New"/>
                <a:cs typeface="Courier New"/>
              </a:rPr>
              <a:t>]: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6153</Words>
  <Application>Microsoft Office PowerPoint</Application>
  <PresentationFormat>Custom</PresentationFormat>
  <Paragraphs>1917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Calibri</vt:lpstr>
      <vt:lpstr>Courier New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hotels_data_analysisproject_0_71113900_1770217800</dc:title>
  <cp:lastModifiedBy>Nandini Wadile</cp:lastModifiedBy>
  <cp:revision>1</cp:revision>
  <dcterms:created xsi:type="dcterms:W3CDTF">2026-02-04T15:13:06Z</dcterms:created>
  <dcterms:modified xsi:type="dcterms:W3CDTF">2026-02-04T15:15:44Z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Producer">
    <vt:lpwstr>Prince 15 (www.princexml.com)</vt:lpwstr>
  </property>
  <property fmtid="{D5CDD505-2E9C-101B-9397-08002B2CF9AE}" pid="4" name="LastSaved">
    <vt:filetime>2026-02-04T00:00:00Z</vt:filetime>
  </property>
</Properties>
</file>