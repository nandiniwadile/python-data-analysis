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77724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3" d="100"/>
          <a:sy n="73" d="100"/>
        </p:scale>
        <p:origin x="2928" y="9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82930" y="3118104"/>
            <a:ext cx="6606540" cy="21122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65860" y="5632704"/>
            <a:ext cx="5440680" cy="2514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88620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002786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2/5/2026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2/5/2026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2/5/2026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8620" y="402336"/>
            <a:ext cx="6995160" cy="16093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88620" y="2313432"/>
            <a:ext cx="6995160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642616" y="9354312"/>
            <a:ext cx="2487168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88620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596128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371600" y="1657351"/>
            <a:ext cx="5610225" cy="25400"/>
            <a:chOff x="1371600" y="1657351"/>
            <a:chExt cx="5610225" cy="25400"/>
          </a:xfrm>
        </p:grpSpPr>
        <p:sp>
          <p:nvSpPr>
            <p:cNvPr id="3" name="object 3"/>
            <p:cNvSpPr/>
            <p:nvPr/>
          </p:nvSpPr>
          <p:spPr>
            <a:xfrm>
              <a:off x="1371600" y="1657351"/>
              <a:ext cx="5610225" cy="25400"/>
            </a:xfrm>
            <a:custGeom>
              <a:avLst/>
              <a:gdLst/>
              <a:ahLst/>
              <a:cxnLst/>
              <a:rect l="l" t="t" r="r" b="b"/>
              <a:pathLst>
                <a:path w="5610225" h="25400">
                  <a:moveTo>
                    <a:pt x="5610225" y="0"/>
                  </a:moveTo>
                  <a:lnTo>
                    <a:pt x="0" y="0"/>
                  </a:lnTo>
                  <a:lnTo>
                    <a:pt x="0" y="25400"/>
                  </a:lnTo>
                  <a:lnTo>
                    <a:pt x="5610225" y="25400"/>
                  </a:lnTo>
                  <a:lnTo>
                    <a:pt x="5610225" y="0"/>
                  </a:lnTo>
                  <a:close/>
                </a:path>
              </a:pathLst>
            </a:custGeom>
            <a:solidFill>
              <a:srgbClr val="BDBD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371600" y="1657351"/>
              <a:ext cx="5610225" cy="25400"/>
            </a:xfrm>
            <a:custGeom>
              <a:avLst/>
              <a:gdLst/>
              <a:ahLst/>
              <a:cxnLst/>
              <a:rect l="l" t="t" r="r" b="b"/>
              <a:pathLst>
                <a:path w="5610225" h="25400">
                  <a:moveTo>
                    <a:pt x="5610225" y="0"/>
                  </a:moveTo>
                  <a:lnTo>
                    <a:pt x="0" y="0"/>
                  </a:lnTo>
                  <a:lnTo>
                    <a:pt x="0" y="25400"/>
                  </a:lnTo>
                  <a:lnTo>
                    <a:pt x="12700" y="12700"/>
                  </a:lnTo>
                  <a:lnTo>
                    <a:pt x="5597525" y="12700"/>
                  </a:lnTo>
                  <a:lnTo>
                    <a:pt x="561022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371600" y="1657351"/>
              <a:ext cx="5610225" cy="25400"/>
            </a:xfrm>
            <a:custGeom>
              <a:avLst/>
              <a:gdLst/>
              <a:ahLst/>
              <a:cxnLst/>
              <a:rect l="l" t="t" r="r" b="b"/>
              <a:pathLst>
                <a:path w="5610225" h="25400">
                  <a:moveTo>
                    <a:pt x="5610225" y="0"/>
                  </a:moveTo>
                  <a:lnTo>
                    <a:pt x="5597525" y="12700"/>
                  </a:lnTo>
                  <a:lnTo>
                    <a:pt x="12700" y="12700"/>
                  </a:lnTo>
                  <a:lnTo>
                    <a:pt x="0" y="25400"/>
                  </a:lnTo>
                  <a:lnTo>
                    <a:pt x="5610225" y="25400"/>
                  </a:lnTo>
                  <a:lnTo>
                    <a:pt x="5610225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371600" y="2258823"/>
            <a:ext cx="5610225" cy="25400"/>
            <a:chOff x="1371600" y="2258823"/>
            <a:chExt cx="5610225" cy="25400"/>
          </a:xfrm>
        </p:grpSpPr>
        <p:sp>
          <p:nvSpPr>
            <p:cNvPr id="7" name="object 7"/>
            <p:cNvSpPr/>
            <p:nvPr/>
          </p:nvSpPr>
          <p:spPr>
            <a:xfrm>
              <a:off x="1371600" y="2258823"/>
              <a:ext cx="5610225" cy="25400"/>
            </a:xfrm>
            <a:custGeom>
              <a:avLst/>
              <a:gdLst/>
              <a:ahLst/>
              <a:cxnLst/>
              <a:rect l="l" t="t" r="r" b="b"/>
              <a:pathLst>
                <a:path w="5610225" h="25400">
                  <a:moveTo>
                    <a:pt x="5610225" y="0"/>
                  </a:moveTo>
                  <a:lnTo>
                    <a:pt x="0" y="0"/>
                  </a:lnTo>
                  <a:lnTo>
                    <a:pt x="0" y="25400"/>
                  </a:lnTo>
                  <a:lnTo>
                    <a:pt x="5610225" y="25400"/>
                  </a:lnTo>
                  <a:lnTo>
                    <a:pt x="5610225" y="0"/>
                  </a:lnTo>
                  <a:close/>
                </a:path>
              </a:pathLst>
            </a:custGeom>
            <a:solidFill>
              <a:srgbClr val="BDBD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371600" y="2258823"/>
              <a:ext cx="5610225" cy="25400"/>
            </a:xfrm>
            <a:custGeom>
              <a:avLst/>
              <a:gdLst/>
              <a:ahLst/>
              <a:cxnLst/>
              <a:rect l="l" t="t" r="r" b="b"/>
              <a:pathLst>
                <a:path w="5610225" h="25400">
                  <a:moveTo>
                    <a:pt x="5610225" y="0"/>
                  </a:moveTo>
                  <a:lnTo>
                    <a:pt x="0" y="0"/>
                  </a:lnTo>
                  <a:lnTo>
                    <a:pt x="0" y="25400"/>
                  </a:lnTo>
                  <a:lnTo>
                    <a:pt x="12700" y="12700"/>
                  </a:lnTo>
                  <a:lnTo>
                    <a:pt x="5597525" y="12700"/>
                  </a:lnTo>
                  <a:lnTo>
                    <a:pt x="561022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371600" y="2258823"/>
              <a:ext cx="5610225" cy="25400"/>
            </a:xfrm>
            <a:custGeom>
              <a:avLst/>
              <a:gdLst/>
              <a:ahLst/>
              <a:cxnLst/>
              <a:rect l="l" t="t" r="r" b="b"/>
              <a:pathLst>
                <a:path w="5610225" h="25400">
                  <a:moveTo>
                    <a:pt x="5610225" y="0"/>
                  </a:moveTo>
                  <a:lnTo>
                    <a:pt x="5597525" y="12700"/>
                  </a:lnTo>
                  <a:lnTo>
                    <a:pt x="12700" y="12700"/>
                  </a:lnTo>
                  <a:lnTo>
                    <a:pt x="0" y="25400"/>
                  </a:lnTo>
                  <a:lnTo>
                    <a:pt x="5610225" y="25400"/>
                  </a:lnTo>
                  <a:lnTo>
                    <a:pt x="5610225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10" name="object 10"/>
          <p:cNvGraphicFramePr>
            <a:graphicFrameLocks noGrp="1"/>
          </p:cNvGraphicFramePr>
          <p:nvPr/>
        </p:nvGraphicFramePr>
        <p:xfrm>
          <a:off x="638683" y="5421417"/>
          <a:ext cx="6534784" cy="14903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51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90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51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58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Out[83]: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booking_id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booking_date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65" dirty="0">
                          <a:latin typeface="Trebuchet MS"/>
                          <a:cs typeface="Trebuchet MS"/>
                        </a:rPr>
                        <a:t>check_in_date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ts val="1095"/>
                        </a:lnSpc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checkout_date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0</a:t>
                      </a:r>
                      <a:r>
                        <a:rPr sz="950" b="1" spc="20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27-04-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2/5/2022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950" b="1" spc="20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30-04-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2/5/2022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2</a:t>
                      </a:r>
                      <a:r>
                        <a:rPr sz="950" b="1" spc="20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28-04-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4/5/2022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3</a:t>
                      </a:r>
                      <a:r>
                        <a:rPr sz="950" b="1" spc="20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28-04-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2/5/2022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4</a:t>
                      </a:r>
                      <a:r>
                        <a:rPr sz="950" b="1" spc="20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27-04-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2/5/2022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object 11"/>
          <p:cNvSpPr txBox="1"/>
          <p:nvPr/>
        </p:nvSpPr>
        <p:spPr>
          <a:xfrm>
            <a:off x="2985181" y="689373"/>
            <a:ext cx="23806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95" dirty="0">
                <a:latin typeface="Trebuchet MS"/>
                <a:cs typeface="Trebuchet MS"/>
              </a:rPr>
              <a:t>Hotels</a:t>
            </a:r>
            <a:r>
              <a:rPr sz="1800" spc="30" dirty="0">
                <a:latin typeface="Trebuchet MS"/>
                <a:cs typeface="Trebuchet MS"/>
              </a:rPr>
              <a:t> </a:t>
            </a:r>
            <a:r>
              <a:rPr sz="1800" spc="135" dirty="0">
                <a:latin typeface="Trebuchet MS"/>
                <a:cs typeface="Trebuchet MS"/>
              </a:rPr>
              <a:t>Data</a:t>
            </a:r>
            <a:r>
              <a:rPr sz="1800" spc="50" dirty="0">
                <a:latin typeface="Trebuchet MS"/>
                <a:cs typeface="Trebuchet MS"/>
              </a:rPr>
              <a:t> </a:t>
            </a:r>
            <a:r>
              <a:rPr sz="1800" spc="110" dirty="0">
                <a:latin typeface="Trebuchet MS"/>
                <a:cs typeface="Trebuchet MS"/>
              </a:rPr>
              <a:t>Analysis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328737" y="1157605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244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4"/>
              </a:spcBef>
            </a:pPr>
            <a:r>
              <a:rPr sz="950" b="1" dirty="0">
                <a:solidFill>
                  <a:srgbClr val="008000"/>
                </a:solidFill>
                <a:latin typeface="Courier New"/>
                <a:cs typeface="Courier New"/>
              </a:rPr>
              <a:t>import</a:t>
            </a:r>
            <a:r>
              <a:rPr sz="950" b="1" spc="65" dirty="0">
                <a:solidFill>
                  <a:srgbClr val="008000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pandas</a:t>
            </a:r>
            <a:r>
              <a:rPr sz="950" spc="70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008000"/>
                </a:solidFill>
                <a:latin typeface="Courier New"/>
                <a:cs typeface="Courier New"/>
              </a:rPr>
              <a:t>as</a:t>
            </a:r>
            <a:r>
              <a:rPr sz="950" b="1" spc="70" dirty="0">
                <a:solidFill>
                  <a:srgbClr val="008000"/>
                </a:solidFill>
                <a:latin typeface="Courier New"/>
                <a:cs typeface="Courier New"/>
              </a:rPr>
              <a:t> </a:t>
            </a:r>
            <a:r>
              <a:rPr sz="950" spc="-25" dirty="0">
                <a:solidFill>
                  <a:srgbClr val="202020"/>
                </a:solidFill>
                <a:latin typeface="Courier New"/>
                <a:cs typeface="Courier New"/>
              </a:rPr>
              <a:t>pd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358900" y="1870944"/>
            <a:ext cx="4063365" cy="282003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500" spc="465" dirty="0">
                <a:latin typeface="Trebuchet MS"/>
                <a:cs typeface="Trebuchet MS"/>
              </a:rPr>
              <a:t>==&gt;</a:t>
            </a:r>
            <a:r>
              <a:rPr sz="1500" spc="45" dirty="0">
                <a:latin typeface="Trebuchet MS"/>
                <a:cs typeface="Trebuchet MS"/>
              </a:rPr>
              <a:t> </a:t>
            </a:r>
            <a:r>
              <a:rPr sz="1500" dirty="0">
                <a:latin typeface="Trebuchet MS"/>
                <a:cs typeface="Trebuchet MS"/>
              </a:rPr>
              <a:t>1.</a:t>
            </a:r>
            <a:r>
              <a:rPr sz="1500" spc="45" dirty="0">
                <a:latin typeface="Trebuchet MS"/>
                <a:cs typeface="Trebuchet MS"/>
              </a:rPr>
              <a:t> </a:t>
            </a:r>
            <a:r>
              <a:rPr sz="1500" spc="120" dirty="0">
                <a:latin typeface="Trebuchet MS"/>
                <a:cs typeface="Trebuchet MS"/>
              </a:rPr>
              <a:t>Data</a:t>
            </a:r>
            <a:r>
              <a:rPr sz="1500" spc="55" dirty="0">
                <a:latin typeface="Trebuchet MS"/>
                <a:cs typeface="Trebuchet MS"/>
              </a:rPr>
              <a:t> </a:t>
            </a:r>
            <a:r>
              <a:rPr sz="1500" spc="75" dirty="0">
                <a:latin typeface="Trebuchet MS"/>
                <a:cs typeface="Trebuchet MS"/>
              </a:rPr>
              <a:t>Import</a:t>
            </a:r>
            <a:r>
              <a:rPr sz="1500" spc="50" dirty="0">
                <a:latin typeface="Trebuchet MS"/>
                <a:cs typeface="Trebuchet MS"/>
              </a:rPr>
              <a:t> </a:t>
            </a:r>
            <a:r>
              <a:rPr sz="1500" spc="125" dirty="0">
                <a:latin typeface="Trebuchet MS"/>
                <a:cs typeface="Trebuchet MS"/>
              </a:rPr>
              <a:t>and</a:t>
            </a:r>
            <a:r>
              <a:rPr sz="1500" spc="55" dirty="0">
                <a:latin typeface="Trebuchet MS"/>
                <a:cs typeface="Trebuchet MS"/>
              </a:rPr>
              <a:t> </a:t>
            </a:r>
            <a:r>
              <a:rPr sz="1500" spc="120" dirty="0">
                <a:latin typeface="Trebuchet MS"/>
                <a:cs typeface="Trebuchet MS"/>
              </a:rPr>
              <a:t>Data</a:t>
            </a:r>
            <a:r>
              <a:rPr sz="1500" spc="45" dirty="0">
                <a:latin typeface="Trebuchet MS"/>
                <a:cs typeface="Trebuchet MS"/>
              </a:rPr>
              <a:t> </a:t>
            </a:r>
            <a:r>
              <a:rPr sz="1500" spc="65" dirty="0">
                <a:latin typeface="Trebuchet MS"/>
                <a:cs typeface="Trebuchet MS"/>
              </a:rPr>
              <a:t>Exploration</a:t>
            </a:r>
            <a:endParaRPr sz="15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560"/>
              </a:spcBef>
            </a:pPr>
            <a:endParaRPr sz="15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500" spc="95" dirty="0">
                <a:latin typeface="Trebuchet MS"/>
                <a:cs typeface="Trebuchet MS"/>
              </a:rPr>
              <a:t>Datasets</a:t>
            </a:r>
            <a:endParaRPr sz="15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1295"/>
              </a:spcBef>
            </a:pPr>
            <a:r>
              <a:rPr sz="1050" spc="65" dirty="0">
                <a:latin typeface="Trebuchet MS"/>
                <a:cs typeface="Trebuchet MS"/>
              </a:rPr>
              <a:t>We</a:t>
            </a:r>
            <a:r>
              <a:rPr sz="1050" spc="25" dirty="0">
                <a:latin typeface="Trebuchet MS"/>
                <a:cs typeface="Trebuchet MS"/>
              </a:rPr>
              <a:t> </a:t>
            </a:r>
            <a:r>
              <a:rPr sz="1050" spc="80" dirty="0">
                <a:latin typeface="Trebuchet MS"/>
                <a:cs typeface="Trebuchet MS"/>
              </a:rPr>
              <a:t>have</a:t>
            </a:r>
            <a:r>
              <a:rPr sz="1050" spc="25" dirty="0">
                <a:latin typeface="Trebuchet MS"/>
                <a:cs typeface="Trebuchet MS"/>
              </a:rPr>
              <a:t> </a:t>
            </a:r>
            <a:r>
              <a:rPr sz="1050" spc="114" dirty="0">
                <a:latin typeface="Trebuchet MS"/>
                <a:cs typeface="Trebuchet MS"/>
              </a:rPr>
              <a:t>5</a:t>
            </a:r>
            <a:r>
              <a:rPr sz="1050" spc="25" dirty="0">
                <a:latin typeface="Trebuchet MS"/>
                <a:cs typeface="Trebuchet MS"/>
              </a:rPr>
              <a:t> </a:t>
            </a:r>
            <a:r>
              <a:rPr sz="1050" spc="85" dirty="0">
                <a:latin typeface="Trebuchet MS"/>
                <a:cs typeface="Trebuchet MS"/>
              </a:rPr>
              <a:t>csv</a:t>
            </a:r>
            <a:r>
              <a:rPr sz="1050" spc="25" dirty="0">
                <a:latin typeface="Trebuchet MS"/>
                <a:cs typeface="Trebuchet MS"/>
              </a:rPr>
              <a:t> </a:t>
            </a:r>
            <a:r>
              <a:rPr sz="1050" spc="-20" dirty="0">
                <a:latin typeface="Trebuchet MS"/>
                <a:cs typeface="Trebuchet MS"/>
              </a:rPr>
              <a:t>file</a:t>
            </a:r>
            <a:endParaRPr sz="105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375"/>
              </a:spcBef>
            </a:pPr>
            <a:endParaRPr sz="1050">
              <a:latin typeface="Trebuchet MS"/>
              <a:cs typeface="Trebuchet MS"/>
            </a:endParaRPr>
          </a:p>
          <a:p>
            <a:pPr marL="785495" indent="-178435">
              <a:lnSpc>
                <a:spcPct val="100000"/>
              </a:lnSpc>
              <a:buChar char="•"/>
              <a:tabLst>
                <a:tab pos="785495" algn="l"/>
              </a:tabLst>
            </a:pPr>
            <a:r>
              <a:rPr sz="1050" spc="-10" dirty="0">
                <a:latin typeface="Trebuchet MS"/>
                <a:cs typeface="Trebuchet MS"/>
              </a:rPr>
              <a:t>dim_date.csv</a:t>
            </a:r>
            <a:endParaRPr sz="1050">
              <a:latin typeface="Trebuchet MS"/>
              <a:cs typeface="Trebuchet MS"/>
            </a:endParaRPr>
          </a:p>
          <a:p>
            <a:pPr marL="785495" indent="-178435">
              <a:lnSpc>
                <a:spcPct val="100000"/>
              </a:lnSpc>
              <a:spcBef>
                <a:spcPts val="420"/>
              </a:spcBef>
              <a:buChar char="•"/>
              <a:tabLst>
                <a:tab pos="785495" algn="l"/>
              </a:tabLst>
            </a:pPr>
            <a:r>
              <a:rPr sz="1050" spc="-10" dirty="0">
                <a:latin typeface="Trebuchet MS"/>
                <a:cs typeface="Trebuchet MS"/>
              </a:rPr>
              <a:t>dim_hotels.csv</a:t>
            </a:r>
            <a:endParaRPr sz="1050">
              <a:latin typeface="Trebuchet MS"/>
              <a:cs typeface="Trebuchet MS"/>
            </a:endParaRPr>
          </a:p>
          <a:p>
            <a:pPr marL="785495" indent="-178435">
              <a:lnSpc>
                <a:spcPct val="100000"/>
              </a:lnSpc>
              <a:spcBef>
                <a:spcPts val="420"/>
              </a:spcBef>
              <a:buChar char="•"/>
              <a:tabLst>
                <a:tab pos="785495" algn="l"/>
              </a:tabLst>
            </a:pPr>
            <a:r>
              <a:rPr sz="1050" spc="45" dirty="0">
                <a:latin typeface="Trebuchet MS"/>
                <a:cs typeface="Trebuchet MS"/>
              </a:rPr>
              <a:t>dim_rooms.csv</a:t>
            </a:r>
            <a:endParaRPr sz="1050">
              <a:latin typeface="Trebuchet MS"/>
              <a:cs typeface="Trebuchet MS"/>
            </a:endParaRPr>
          </a:p>
          <a:p>
            <a:pPr marL="785495" indent="-178435">
              <a:lnSpc>
                <a:spcPct val="100000"/>
              </a:lnSpc>
              <a:spcBef>
                <a:spcPts val="420"/>
              </a:spcBef>
              <a:buChar char="•"/>
              <a:tabLst>
                <a:tab pos="785495" algn="l"/>
              </a:tabLst>
            </a:pPr>
            <a:r>
              <a:rPr sz="1050" spc="50" dirty="0">
                <a:latin typeface="Trebuchet MS"/>
                <a:cs typeface="Trebuchet MS"/>
              </a:rPr>
              <a:t>fact_aggregated_bookings</a:t>
            </a:r>
            <a:endParaRPr sz="1050">
              <a:latin typeface="Trebuchet MS"/>
              <a:cs typeface="Trebuchet MS"/>
            </a:endParaRPr>
          </a:p>
          <a:p>
            <a:pPr marL="785495" indent="-178435">
              <a:lnSpc>
                <a:spcPct val="100000"/>
              </a:lnSpc>
              <a:spcBef>
                <a:spcPts val="420"/>
              </a:spcBef>
              <a:buChar char="•"/>
              <a:tabLst>
                <a:tab pos="785495" algn="l"/>
              </a:tabLst>
            </a:pPr>
            <a:r>
              <a:rPr sz="1050" spc="-10" dirty="0">
                <a:latin typeface="Trebuchet MS"/>
                <a:cs typeface="Trebuchet MS"/>
              </a:rPr>
              <a:t>fact_bookings.csv</a:t>
            </a:r>
            <a:endParaRPr sz="105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475"/>
              </a:spcBef>
            </a:pPr>
            <a:endParaRPr sz="105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1050" b="1" spc="135" dirty="0">
                <a:latin typeface="Trebuchet MS"/>
                <a:cs typeface="Trebuchet MS"/>
              </a:rPr>
              <a:t>Read</a:t>
            </a:r>
            <a:r>
              <a:rPr sz="1050" b="1" spc="45" dirty="0">
                <a:latin typeface="Trebuchet MS"/>
                <a:cs typeface="Trebuchet MS"/>
              </a:rPr>
              <a:t> </a:t>
            </a:r>
            <a:r>
              <a:rPr sz="1050" b="1" spc="130" dirty="0">
                <a:latin typeface="Trebuchet MS"/>
                <a:cs typeface="Trebuchet MS"/>
              </a:rPr>
              <a:t>bookings</a:t>
            </a:r>
            <a:r>
              <a:rPr sz="1050" b="1" spc="45" dirty="0">
                <a:latin typeface="Trebuchet MS"/>
                <a:cs typeface="Trebuchet MS"/>
              </a:rPr>
              <a:t> </a:t>
            </a:r>
            <a:r>
              <a:rPr sz="1050" b="1" spc="125" dirty="0">
                <a:latin typeface="Trebuchet MS"/>
                <a:cs typeface="Trebuchet MS"/>
              </a:rPr>
              <a:t>data</a:t>
            </a:r>
            <a:r>
              <a:rPr sz="1050" b="1" spc="45" dirty="0">
                <a:latin typeface="Trebuchet MS"/>
                <a:cs typeface="Trebuchet MS"/>
              </a:rPr>
              <a:t> </a:t>
            </a:r>
            <a:r>
              <a:rPr sz="1050" b="1" spc="80" dirty="0">
                <a:latin typeface="Trebuchet MS"/>
                <a:cs typeface="Trebuchet MS"/>
              </a:rPr>
              <a:t>in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140" dirty="0">
                <a:latin typeface="Trebuchet MS"/>
                <a:cs typeface="Trebuchet MS"/>
              </a:rPr>
              <a:t>a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120" dirty="0">
                <a:latin typeface="Trebuchet MS"/>
                <a:cs typeface="Trebuchet MS"/>
              </a:rPr>
              <a:t>datagrame</a:t>
            </a:r>
            <a:endParaRPr sz="1050">
              <a:latin typeface="Trebuchet MS"/>
              <a:cs typeface="Trebuchet MS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328737" y="4878704"/>
            <a:ext cx="5838825" cy="429259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42545" marR="2359025">
              <a:lnSpc>
                <a:spcPct val="111800"/>
              </a:lnSpc>
              <a:spcBef>
                <a:spcPts val="300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spc="80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85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pd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read_csv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"fact_bookings.csv"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head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358900" y="7202689"/>
            <a:ext cx="170561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b="1" spc="90" dirty="0">
                <a:latin typeface="Trebuchet MS"/>
                <a:cs typeface="Trebuchet MS"/>
              </a:rPr>
              <a:t>Explore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130" dirty="0">
                <a:latin typeface="Trebuchet MS"/>
                <a:cs typeface="Trebuchet MS"/>
              </a:rPr>
              <a:t>bookings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100" dirty="0">
                <a:latin typeface="Trebuchet MS"/>
                <a:cs typeface="Trebuchet MS"/>
              </a:rPr>
              <a:t>data</a:t>
            </a:r>
            <a:endParaRPr sz="1050">
              <a:latin typeface="Trebuchet MS"/>
              <a:cs typeface="Trebuchet MS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328737" y="7576184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244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4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shape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57733" y="7939485"/>
            <a:ext cx="162115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Out[84]:</a:t>
            </a:r>
            <a:r>
              <a:rPr sz="950" spc="360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(134590,</a:t>
            </a:r>
            <a:r>
              <a:rPr sz="950" spc="90" dirty="0">
                <a:latin typeface="Courier New"/>
                <a:cs typeface="Courier New"/>
              </a:rPr>
              <a:t> </a:t>
            </a:r>
            <a:r>
              <a:rPr sz="950" spc="-25" dirty="0">
                <a:latin typeface="Courier New"/>
                <a:cs typeface="Courier New"/>
              </a:rPr>
              <a:t>12)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328737" y="8271230"/>
            <a:ext cx="5838825" cy="26733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244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4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room_category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unique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57733" y="8634812"/>
            <a:ext cx="437959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Out[85]:</a:t>
            </a:r>
            <a:r>
              <a:rPr sz="950" spc="370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array(['RT1',</a:t>
            </a:r>
            <a:r>
              <a:rPr sz="950" spc="10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'RT2',</a:t>
            </a:r>
            <a:r>
              <a:rPr sz="950" spc="10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'RT3',</a:t>
            </a:r>
            <a:r>
              <a:rPr sz="950" spc="10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'RT4'],</a:t>
            </a:r>
            <a:r>
              <a:rPr sz="950" spc="105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dtype=object)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328737" y="8966834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244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4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booking_platform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unique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57733" y="1196980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[82]: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57733" y="4918183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[83]: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57733" y="7615635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[84]: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657733" y="8310960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[85]: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657733" y="9006289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[86]:</a:t>
            </a:r>
            <a:endParaRPr sz="9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58900" y="692155"/>
            <a:ext cx="241109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latin typeface="Courier New"/>
                <a:cs typeface="Courier New"/>
              </a:rPr>
              <a:t>&lt;bound</a:t>
            </a:r>
            <a:r>
              <a:rPr sz="950" spc="9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method</a:t>
            </a:r>
            <a:r>
              <a:rPr sz="950" spc="9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Series.unique</a:t>
            </a:r>
            <a:r>
              <a:rPr sz="950" spc="9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of</a:t>
            </a:r>
            <a:r>
              <a:rPr sz="950" spc="95" dirty="0">
                <a:latin typeface="Courier New"/>
                <a:cs typeface="Courier New"/>
              </a:rPr>
              <a:t> </a:t>
            </a:r>
            <a:r>
              <a:rPr sz="950" spc="-50" dirty="0">
                <a:latin typeface="Courier New"/>
                <a:cs typeface="Courier New"/>
              </a:rPr>
              <a:t>0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415148" y="692155"/>
            <a:ext cx="995044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latin typeface="Courier New"/>
                <a:cs typeface="Courier New"/>
              </a:rPr>
              <a:t>direct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online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358900" y="840744"/>
            <a:ext cx="100330" cy="67310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950" spc="-50" dirty="0">
                <a:latin typeface="Courier New"/>
                <a:cs typeface="Courier New"/>
              </a:rPr>
              <a:t>1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50" dirty="0">
                <a:latin typeface="Courier New"/>
                <a:cs typeface="Courier New"/>
              </a:rPr>
              <a:t>2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50" dirty="0">
                <a:latin typeface="Courier New"/>
                <a:cs typeface="Courier New"/>
              </a:rPr>
              <a:t>3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50" dirty="0">
                <a:latin typeface="Courier New"/>
                <a:cs typeface="Courier New"/>
              </a:rPr>
              <a:t>4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358900" y="1650376"/>
            <a:ext cx="473075" cy="835025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950" spc="-10" dirty="0">
                <a:latin typeface="Courier New"/>
                <a:cs typeface="Courier New"/>
              </a:rPr>
              <a:t>134585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134586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134587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134588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134589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104326" y="840744"/>
            <a:ext cx="995044" cy="16452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59740" marR="5080" indent="74295" algn="r">
              <a:lnSpc>
                <a:spcPct val="111800"/>
              </a:lnSpc>
              <a:spcBef>
                <a:spcPts val="95"/>
              </a:spcBef>
            </a:pPr>
            <a:r>
              <a:rPr sz="950" spc="-10" dirty="0">
                <a:latin typeface="Courier New"/>
                <a:cs typeface="Courier New"/>
              </a:rPr>
              <a:t>others logtrip others</a:t>
            </a:r>
            <a:endParaRPr sz="950">
              <a:latin typeface="Courier New"/>
              <a:cs typeface="Courier New"/>
            </a:endParaRPr>
          </a:p>
          <a:p>
            <a:pPr marR="5080" algn="r">
              <a:lnSpc>
                <a:spcPct val="100000"/>
              </a:lnSpc>
              <a:spcBef>
                <a:spcPts val="135"/>
              </a:spcBef>
            </a:pPr>
            <a:r>
              <a:rPr sz="950" dirty="0">
                <a:latin typeface="Courier New"/>
                <a:cs typeface="Courier New"/>
              </a:rPr>
              <a:t>direct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online</a:t>
            </a:r>
            <a:endParaRPr sz="950">
              <a:latin typeface="Courier New"/>
              <a:cs typeface="Courier New"/>
            </a:endParaRPr>
          </a:p>
          <a:p>
            <a:pPr marL="310515">
              <a:lnSpc>
                <a:spcPct val="100000"/>
              </a:lnSpc>
              <a:spcBef>
                <a:spcPts val="135"/>
              </a:spcBef>
            </a:pPr>
            <a:r>
              <a:rPr sz="950" spc="-25" dirty="0">
                <a:latin typeface="Courier New"/>
                <a:cs typeface="Courier New"/>
              </a:rPr>
              <a:t>...</a:t>
            </a:r>
            <a:endParaRPr sz="950">
              <a:latin typeface="Courier New"/>
              <a:cs typeface="Courier New"/>
            </a:endParaRPr>
          </a:p>
          <a:p>
            <a:pPr marR="5080" algn="r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makeyourtrip</a:t>
            </a:r>
            <a:endParaRPr sz="950">
              <a:latin typeface="Courier New"/>
              <a:cs typeface="Courier New"/>
            </a:endParaRPr>
          </a:p>
          <a:p>
            <a:pPr marL="86995" marR="5080" indent="372110" algn="r">
              <a:lnSpc>
                <a:spcPct val="111800"/>
              </a:lnSpc>
            </a:pPr>
            <a:r>
              <a:rPr sz="950" spc="-10" dirty="0">
                <a:latin typeface="Courier New"/>
                <a:cs typeface="Courier New"/>
              </a:rPr>
              <a:t>logtrip tripster logtrip makeyourtrip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358900" y="2473340"/>
            <a:ext cx="4051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latin typeface="Courier New"/>
                <a:cs typeface="Courier New"/>
              </a:rPr>
              <a:t>Name:</a:t>
            </a:r>
            <a:r>
              <a:rPr sz="950" spc="11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booking_platform,</a:t>
            </a:r>
            <a:r>
              <a:rPr sz="950" spc="11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Length:</a:t>
            </a:r>
            <a:r>
              <a:rPr sz="950" spc="11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134590,</a:t>
            </a:r>
            <a:r>
              <a:rPr sz="950" spc="114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dtype:</a:t>
            </a:r>
            <a:r>
              <a:rPr sz="950" spc="110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object&gt;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328737" y="2747968"/>
            <a:ext cx="5838825" cy="26733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244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4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booking_platform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value_counts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358900" y="3098181"/>
            <a:ext cx="1218565" cy="13214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800"/>
              </a:lnSpc>
              <a:spcBef>
                <a:spcPts val="95"/>
              </a:spcBef>
            </a:pPr>
            <a:r>
              <a:rPr sz="950" spc="-10" dirty="0">
                <a:latin typeface="Courier New"/>
                <a:cs typeface="Courier New"/>
              </a:rPr>
              <a:t>booking_platform others makeyourtrip logtrip</a:t>
            </a:r>
            <a:endParaRPr sz="950">
              <a:latin typeface="Courier New"/>
              <a:cs typeface="Courier New"/>
            </a:endParaRPr>
          </a:p>
          <a:p>
            <a:pPr marL="12700" marR="228600">
              <a:lnSpc>
                <a:spcPct val="111800"/>
              </a:lnSpc>
            </a:pPr>
            <a:r>
              <a:rPr sz="950" dirty="0">
                <a:latin typeface="Courier New"/>
                <a:cs typeface="Courier New"/>
              </a:rPr>
              <a:t>direct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online tripster journey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dirty="0">
                <a:latin typeface="Courier New"/>
                <a:cs typeface="Courier New"/>
              </a:rPr>
              <a:t>direct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offline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700667" y="3260109"/>
            <a:ext cx="398145" cy="1158875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R="5080" algn="r">
              <a:lnSpc>
                <a:spcPct val="100000"/>
              </a:lnSpc>
              <a:spcBef>
                <a:spcPts val="229"/>
              </a:spcBef>
            </a:pPr>
            <a:r>
              <a:rPr sz="950" spc="-10" dirty="0">
                <a:latin typeface="Courier New"/>
                <a:cs typeface="Courier New"/>
              </a:rPr>
              <a:t>55066</a:t>
            </a:r>
            <a:endParaRPr sz="950">
              <a:latin typeface="Courier New"/>
              <a:cs typeface="Courier New"/>
            </a:endParaRPr>
          </a:p>
          <a:p>
            <a:pPr marR="5080" algn="r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26898</a:t>
            </a:r>
            <a:endParaRPr sz="950">
              <a:latin typeface="Courier New"/>
              <a:cs typeface="Courier New"/>
            </a:endParaRPr>
          </a:p>
          <a:p>
            <a:pPr marR="5080" algn="r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14756</a:t>
            </a:r>
            <a:endParaRPr sz="950">
              <a:latin typeface="Courier New"/>
              <a:cs typeface="Courier New"/>
            </a:endParaRPr>
          </a:p>
          <a:p>
            <a:pPr marR="5080" algn="r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13379</a:t>
            </a:r>
            <a:endParaRPr sz="950">
              <a:latin typeface="Courier New"/>
              <a:cs typeface="Courier New"/>
            </a:endParaRPr>
          </a:p>
          <a:p>
            <a:pPr marR="5080" algn="r">
              <a:lnSpc>
                <a:spcPct val="100000"/>
              </a:lnSpc>
              <a:spcBef>
                <a:spcPts val="135"/>
              </a:spcBef>
            </a:pPr>
            <a:r>
              <a:rPr sz="950" spc="-20" dirty="0">
                <a:latin typeface="Courier New"/>
                <a:cs typeface="Courier New"/>
              </a:rPr>
              <a:t>9630</a:t>
            </a:r>
            <a:endParaRPr sz="950">
              <a:latin typeface="Courier New"/>
              <a:cs typeface="Courier New"/>
            </a:endParaRPr>
          </a:p>
          <a:p>
            <a:pPr marR="5080" algn="r">
              <a:lnSpc>
                <a:spcPct val="100000"/>
              </a:lnSpc>
              <a:spcBef>
                <a:spcPts val="135"/>
              </a:spcBef>
            </a:pPr>
            <a:r>
              <a:rPr sz="950" spc="-20" dirty="0">
                <a:latin typeface="Courier New"/>
                <a:cs typeface="Courier New"/>
              </a:rPr>
              <a:t>8106</a:t>
            </a:r>
            <a:endParaRPr sz="950">
              <a:latin typeface="Courier New"/>
              <a:cs typeface="Courier New"/>
            </a:endParaRPr>
          </a:p>
          <a:p>
            <a:pPr marR="5080" algn="r">
              <a:lnSpc>
                <a:spcPct val="100000"/>
              </a:lnSpc>
              <a:spcBef>
                <a:spcPts val="135"/>
              </a:spcBef>
            </a:pPr>
            <a:r>
              <a:rPr sz="950" spc="-20" dirty="0">
                <a:latin typeface="Courier New"/>
                <a:cs typeface="Courier New"/>
              </a:rPr>
              <a:t>6755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358900" y="4406925"/>
            <a:ext cx="188912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latin typeface="Courier New"/>
                <a:cs typeface="Courier New"/>
              </a:rPr>
              <a:t>Name: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count,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dtype: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int64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328737" y="4681854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244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4"/>
              </a:spcBef>
            </a:pPr>
            <a:r>
              <a:rPr sz="950" spc="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b="1" spc="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10" dirty="0">
                <a:solidFill>
                  <a:srgbClr val="202020"/>
                </a:solidFill>
                <a:latin typeface="Courier New"/>
                <a:cs typeface="Courier New"/>
              </a:rPr>
              <a:t>booking_platform</a:t>
            </a:r>
            <a:r>
              <a:rPr sz="950" b="1" spc="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10" dirty="0">
                <a:solidFill>
                  <a:srgbClr val="202020"/>
                </a:solidFill>
                <a:latin typeface="Courier New"/>
                <a:cs typeface="Courier New"/>
              </a:rPr>
              <a:t>value_counts</a:t>
            </a:r>
            <a:r>
              <a:rPr sz="950" spc="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r>
              <a:rPr sz="950" b="1" spc="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10" dirty="0">
                <a:solidFill>
                  <a:srgbClr val="202020"/>
                </a:solidFill>
                <a:latin typeface="Courier New"/>
                <a:cs typeface="Courier New"/>
              </a:rPr>
              <a:t>plot</a:t>
            </a:r>
            <a:r>
              <a:rPr sz="950" spc="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10" dirty="0">
                <a:solidFill>
                  <a:srgbClr val="202020"/>
                </a:solidFill>
                <a:latin typeface="Courier New"/>
                <a:cs typeface="Courier New"/>
              </a:rPr>
              <a:t>kind</a:t>
            </a:r>
            <a:r>
              <a:rPr sz="950" spc="90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"barh"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358900" y="5045101"/>
            <a:ext cx="248539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latin typeface="Courier New"/>
                <a:cs typeface="Courier New"/>
              </a:rPr>
              <a:t>&lt;Axes: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ylabel='booking_platform'&gt;</a:t>
            </a:r>
            <a:endParaRPr sz="950">
              <a:latin typeface="Courier New"/>
              <a:cs typeface="Courier New"/>
            </a:endParaRPr>
          </a:p>
        </p:txBody>
      </p:sp>
      <p:pic>
        <p:nvPicPr>
          <p:cNvPr id="14" name="object 1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03133" y="5360985"/>
            <a:ext cx="5803770" cy="3654226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657733" y="692155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Out[86]: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57733" y="2787666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[87]: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57733" y="3111517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Out[87]: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57733" y="4721251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[88]: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57733" y="5045101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Out[88]:</a:t>
            </a:r>
            <a:endParaRPr sz="9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638683" y="985837"/>
          <a:ext cx="6549388" cy="23539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51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7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80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8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61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763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8801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Out[89]: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100" dirty="0">
                          <a:latin typeface="Trebuchet MS"/>
                          <a:cs typeface="Trebuchet MS"/>
                        </a:rPr>
                        <a:t>no_guests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90" dirty="0">
                          <a:latin typeface="Trebuchet MS"/>
                          <a:cs typeface="Trebuchet MS"/>
                        </a:rPr>
                        <a:t>ratings_given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90" dirty="0">
                          <a:latin typeface="Trebuchet MS"/>
                          <a:cs typeface="Trebuchet MS"/>
                        </a:rPr>
                        <a:t>revenue_generated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3020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revenu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b="1" spc="100" dirty="0">
                          <a:latin typeface="Trebuchet MS"/>
                          <a:cs typeface="Trebuchet MS"/>
                        </a:rPr>
                        <a:t>count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134590.000000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134587.000000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85" dirty="0">
                          <a:latin typeface="Trebuchet MS"/>
                          <a:cs typeface="Trebuchet MS"/>
                        </a:rPr>
                        <a:t>56683.000000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100" dirty="0">
                          <a:latin typeface="Trebuchet MS"/>
                          <a:cs typeface="Trebuchet MS"/>
                        </a:rPr>
                        <a:t>1.345900e+05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1345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20" dirty="0">
                          <a:latin typeface="Trebuchet MS"/>
                          <a:cs typeface="Trebuchet MS"/>
                        </a:rPr>
                        <a:t>mean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5" dirty="0">
                          <a:latin typeface="Trebuchet MS"/>
                          <a:cs typeface="Trebuchet MS"/>
                        </a:rPr>
                        <a:t>18061.113493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2.036170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3.619004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0" dirty="0">
                          <a:latin typeface="Trebuchet MS"/>
                          <a:cs typeface="Trebuchet MS"/>
                        </a:rPr>
                        <a:t>1.537805e+04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126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00" dirty="0">
                          <a:latin typeface="Trebuchet MS"/>
                          <a:cs typeface="Trebuchet MS"/>
                        </a:rPr>
                        <a:t>std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5" dirty="0">
                          <a:latin typeface="Trebuchet MS"/>
                          <a:cs typeface="Trebuchet MS"/>
                        </a:rPr>
                        <a:t>1093.055847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1.034885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1.235009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0" dirty="0">
                          <a:latin typeface="Trebuchet MS"/>
                          <a:cs typeface="Trebuchet MS"/>
                        </a:rPr>
                        <a:t>9.303604e+04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69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90" dirty="0">
                          <a:latin typeface="Trebuchet MS"/>
                          <a:cs typeface="Trebuchet MS"/>
                        </a:rPr>
                        <a:t>min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5" dirty="0">
                          <a:latin typeface="Trebuchet MS"/>
                          <a:cs typeface="Trebuchet MS"/>
                        </a:rPr>
                        <a:t>16558.000000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60" dirty="0">
                          <a:latin typeface="Trebuchet MS"/>
                          <a:cs typeface="Trebuchet MS"/>
                        </a:rPr>
                        <a:t>-</a:t>
                      </a:r>
                      <a:r>
                        <a:rPr sz="950" spc="75" dirty="0">
                          <a:latin typeface="Trebuchet MS"/>
                          <a:cs typeface="Trebuchet MS"/>
                        </a:rPr>
                        <a:t>17.000000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1.000000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0" dirty="0">
                          <a:latin typeface="Trebuchet MS"/>
                          <a:cs typeface="Trebuchet MS"/>
                        </a:rPr>
                        <a:t>6.500000e+03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26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50" dirty="0">
                          <a:latin typeface="Trebuchet MS"/>
                          <a:cs typeface="Trebuchet MS"/>
                        </a:rPr>
                        <a:t>25%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5" dirty="0">
                          <a:latin typeface="Trebuchet MS"/>
                          <a:cs typeface="Trebuchet MS"/>
                        </a:rPr>
                        <a:t>17558.000000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1.000000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3.000000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0" dirty="0">
                          <a:latin typeface="Trebuchet MS"/>
                          <a:cs typeface="Trebuchet MS"/>
                        </a:rPr>
                        <a:t>9.900000e+03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76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50" dirty="0">
                          <a:latin typeface="Trebuchet MS"/>
                          <a:cs typeface="Trebuchet MS"/>
                        </a:rPr>
                        <a:t>50%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5" dirty="0">
                          <a:latin typeface="Trebuchet MS"/>
                          <a:cs typeface="Trebuchet MS"/>
                        </a:rPr>
                        <a:t>17564.000000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4.000000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0" dirty="0">
                          <a:latin typeface="Trebuchet MS"/>
                          <a:cs typeface="Trebuchet MS"/>
                        </a:rPr>
                        <a:t>1.350000e+04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117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50" dirty="0">
                          <a:latin typeface="Trebuchet MS"/>
                          <a:cs typeface="Trebuchet MS"/>
                        </a:rPr>
                        <a:t>75%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5" dirty="0">
                          <a:latin typeface="Trebuchet MS"/>
                          <a:cs typeface="Trebuchet MS"/>
                        </a:rPr>
                        <a:t>18563.000000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5.000000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0" dirty="0">
                          <a:latin typeface="Trebuchet MS"/>
                          <a:cs typeface="Trebuchet MS"/>
                        </a:rPr>
                        <a:t>1.800000e+04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153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25" dirty="0">
                          <a:latin typeface="Trebuchet MS"/>
                          <a:cs typeface="Trebuchet MS"/>
                        </a:rPr>
                        <a:t>max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5" dirty="0">
                          <a:latin typeface="Trebuchet MS"/>
                          <a:cs typeface="Trebuchet MS"/>
                        </a:rPr>
                        <a:t>19563.000000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6.000000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5.000000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0" dirty="0">
                          <a:latin typeface="Trebuchet MS"/>
                          <a:cs typeface="Trebuchet MS"/>
                        </a:rPr>
                        <a:t>2.856000e+07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452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object 3"/>
          <p:cNvSpPr/>
          <p:nvPr/>
        </p:nvSpPr>
        <p:spPr>
          <a:xfrm>
            <a:off x="1323975" y="6779219"/>
            <a:ext cx="3672204" cy="9525"/>
          </a:xfrm>
          <a:custGeom>
            <a:avLst/>
            <a:gdLst/>
            <a:ahLst/>
            <a:cxnLst/>
            <a:rect l="l" t="t" r="r" b="b"/>
            <a:pathLst>
              <a:path w="3672204" h="9525">
                <a:moveTo>
                  <a:pt x="3672064" y="0"/>
                </a:moveTo>
                <a:lnTo>
                  <a:pt x="0" y="0"/>
                </a:lnTo>
                <a:lnTo>
                  <a:pt x="0" y="9524"/>
                </a:lnTo>
                <a:lnTo>
                  <a:pt x="3672064" y="9524"/>
                </a:lnTo>
                <a:lnTo>
                  <a:pt x="3672064" y="0"/>
                </a:lnTo>
                <a:close/>
              </a:path>
            </a:pathLst>
          </a:custGeom>
          <a:solidFill>
            <a:srgbClr val="BDBDB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328737" y="605155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244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4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describe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328737" y="3568700"/>
            <a:ext cx="5838825" cy="26733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revenue_generated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min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(),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revenue_generated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max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358900" y="3932516"/>
            <a:ext cx="270954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latin typeface="Courier New"/>
                <a:cs typeface="Courier New"/>
              </a:rPr>
              <a:t>(np.int64(6500),</a:t>
            </a:r>
            <a:r>
              <a:rPr sz="950" spc="195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np.int64(28560000))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358900" y="4266332"/>
            <a:ext cx="160147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b="1" spc="135" dirty="0">
                <a:latin typeface="Trebuchet MS"/>
                <a:cs typeface="Trebuchet MS"/>
              </a:rPr>
              <a:t>Read</a:t>
            </a:r>
            <a:r>
              <a:rPr sz="1050" b="1" spc="45" dirty="0">
                <a:latin typeface="Trebuchet MS"/>
                <a:cs typeface="Trebuchet MS"/>
              </a:rPr>
              <a:t> </a:t>
            </a:r>
            <a:r>
              <a:rPr sz="1050" b="1" spc="110" dirty="0">
                <a:latin typeface="Trebuchet MS"/>
                <a:cs typeface="Trebuchet MS"/>
              </a:rPr>
              <a:t>rest</a:t>
            </a:r>
            <a:r>
              <a:rPr sz="1050" b="1" spc="45" dirty="0">
                <a:latin typeface="Trebuchet MS"/>
                <a:cs typeface="Trebuchet MS"/>
              </a:rPr>
              <a:t> </a:t>
            </a:r>
            <a:r>
              <a:rPr sz="1050" b="1" spc="90" dirty="0">
                <a:latin typeface="Trebuchet MS"/>
                <a:cs typeface="Trebuchet MS"/>
              </a:rPr>
              <a:t>of</a:t>
            </a:r>
            <a:r>
              <a:rPr sz="1050" b="1" spc="45" dirty="0">
                <a:latin typeface="Trebuchet MS"/>
                <a:cs typeface="Trebuchet MS"/>
              </a:rPr>
              <a:t> </a:t>
            </a:r>
            <a:r>
              <a:rPr sz="1050" b="1" spc="100" dirty="0">
                <a:latin typeface="Trebuchet MS"/>
                <a:cs typeface="Trebuchet MS"/>
              </a:rPr>
              <a:t>the</a:t>
            </a:r>
            <a:r>
              <a:rPr sz="1050" b="1" spc="45" dirty="0">
                <a:latin typeface="Trebuchet MS"/>
                <a:cs typeface="Trebuchet MS"/>
              </a:rPr>
              <a:t> </a:t>
            </a:r>
            <a:r>
              <a:rPr sz="1050" b="1" spc="65" dirty="0">
                <a:latin typeface="Trebuchet MS"/>
                <a:cs typeface="Trebuchet MS"/>
              </a:rPr>
              <a:t>files</a:t>
            </a:r>
            <a:endParaRPr sz="1050">
              <a:latin typeface="Trebuchet MS"/>
              <a:cs typeface="Trebuchet M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328737" y="4639309"/>
            <a:ext cx="5838825" cy="75247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38735" rIns="0" bIns="0" rtlCol="0">
            <a:spAutoFit/>
          </a:bodyPr>
          <a:lstStyle/>
          <a:p>
            <a:pPr marL="42545" marR="2731770">
              <a:lnSpc>
                <a:spcPct val="111800"/>
              </a:lnSpc>
              <a:spcBef>
                <a:spcPts val="305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df_date</a:t>
            </a:r>
            <a:r>
              <a:rPr sz="950" spc="60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60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pd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read_csv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"dim_date.csv"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df_hotels</a:t>
            </a:r>
            <a:r>
              <a:rPr sz="950" spc="70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75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pd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read_csv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"dim_hotels.csv"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df_rooms</a:t>
            </a:r>
            <a:r>
              <a:rPr sz="950" spc="65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65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pd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read_csv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"dim_rooms.csv"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  <a:p>
            <a:pPr marL="42545">
              <a:lnSpc>
                <a:spcPct val="100000"/>
              </a:lnSpc>
              <a:spcBef>
                <a:spcPts val="135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spc="105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105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pd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read_csv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"fact_aggregated_bookings.csv"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328737" y="5496559"/>
            <a:ext cx="5838825" cy="26733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df_hotels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shape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358900" y="5860383"/>
            <a:ext cx="54737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latin typeface="Courier New"/>
                <a:cs typeface="Courier New"/>
              </a:rPr>
              <a:t>(25,</a:t>
            </a:r>
            <a:r>
              <a:rPr sz="950" spc="60" dirty="0">
                <a:latin typeface="Courier New"/>
                <a:cs typeface="Courier New"/>
              </a:rPr>
              <a:t> </a:t>
            </a:r>
            <a:r>
              <a:rPr sz="950" spc="-25" dirty="0">
                <a:latin typeface="Courier New"/>
                <a:cs typeface="Courier New"/>
              </a:rPr>
              <a:t>4)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328737" y="6191884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df_hotels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head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373187" y="6551579"/>
            <a:ext cx="3573779" cy="45148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222250">
              <a:lnSpc>
                <a:spcPct val="100000"/>
              </a:lnSpc>
              <a:spcBef>
                <a:spcPts val="125"/>
              </a:spcBef>
              <a:tabLst>
                <a:tab pos="3304540" algn="l"/>
              </a:tabLst>
            </a:pPr>
            <a:r>
              <a:rPr sz="950" b="1" spc="85" dirty="0">
                <a:latin typeface="Trebuchet MS"/>
                <a:cs typeface="Trebuchet MS"/>
              </a:rPr>
              <a:t>property_id</a:t>
            </a:r>
            <a:r>
              <a:rPr sz="950" b="1" spc="210" dirty="0">
                <a:latin typeface="Trebuchet MS"/>
                <a:cs typeface="Trebuchet MS"/>
              </a:rPr>
              <a:t>  </a:t>
            </a:r>
            <a:r>
              <a:rPr sz="950" b="1" spc="105" dirty="0">
                <a:latin typeface="Trebuchet MS"/>
                <a:cs typeface="Trebuchet MS"/>
              </a:rPr>
              <a:t>property_name</a:t>
            </a:r>
            <a:r>
              <a:rPr sz="950" b="1" spc="210" dirty="0">
                <a:latin typeface="Trebuchet MS"/>
                <a:cs typeface="Trebuchet MS"/>
              </a:rPr>
              <a:t>  </a:t>
            </a:r>
            <a:r>
              <a:rPr sz="950" b="1" spc="110" dirty="0">
                <a:latin typeface="Trebuchet MS"/>
                <a:cs typeface="Trebuchet MS"/>
              </a:rPr>
              <a:t>category</a:t>
            </a:r>
            <a:r>
              <a:rPr sz="950" b="1" dirty="0">
                <a:latin typeface="Trebuchet MS"/>
                <a:cs typeface="Trebuchet MS"/>
              </a:rPr>
              <a:t>	</a:t>
            </a:r>
            <a:r>
              <a:rPr sz="950" b="1" spc="60" dirty="0">
                <a:latin typeface="Trebuchet MS"/>
                <a:cs typeface="Trebuchet MS"/>
              </a:rPr>
              <a:t>city</a:t>
            </a:r>
            <a:endParaRPr sz="95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1045"/>
              </a:spcBef>
              <a:tabLst>
                <a:tab pos="629920" algn="l"/>
                <a:tab pos="1440180" algn="l"/>
                <a:tab pos="2520950" algn="l"/>
                <a:tab pos="3241675" algn="l"/>
              </a:tabLst>
            </a:pPr>
            <a:r>
              <a:rPr sz="950" b="1" spc="60" dirty="0">
                <a:latin typeface="Trebuchet MS"/>
                <a:cs typeface="Trebuchet MS"/>
              </a:rPr>
              <a:t>0</a:t>
            </a:r>
            <a:r>
              <a:rPr sz="950" b="1" dirty="0">
                <a:latin typeface="Trebuchet MS"/>
                <a:cs typeface="Trebuchet MS"/>
              </a:rPr>
              <a:t>	</a:t>
            </a:r>
            <a:r>
              <a:rPr sz="950" spc="105" dirty="0">
                <a:latin typeface="Trebuchet MS"/>
                <a:cs typeface="Trebuchet MS"/>
              </a:rPr>
              <a:t>16558</a:t>
            </a:r>
            <a:r>
              <a:rPr sz="950" dirty="0">
                <a:latin typeface="Trebuchet MS"/>
                <a:cs typeface="Trebuchet MS"/>
              </a:rPr>
              <a:t>	Atliq</a:t>
            </a:r>
            <a:r>
              <a:rPr sz="950" spc="170" dirty="0">
                <a:latin typeface="Trebuchet MS"/>
                <a:cs typeface="Trebuchet MS"/>
              </a:rPr>
              <a:t> </a:t>
            </a:r>
            <a:r>
              <a:rPr sz="950" spc="70" dirty="0">
                <a:latin typeface="Trebuchet MS"/>
                <a:cs typeface="Trebuchet MS"/>
              </a:rPr>
              <a:t>Grands</a:t>
            </a:r>
            <a:r>
              <a:rPr sz="950" dirty="0">
                <a:latin typeface="Trebuchet MS"/>
                <a:cs typeface="Trebuchet MS"/>
              </a:rPr>
              <a:t>	</a:t>
            </a:r>
            <a:r>
              <a:rPr sz="950" spc="65" dirty="0">
                <a:latin typeface="Trebuchet MS"/>
                <a:cs typeface="Trebuchet MS"/>
              </a:rPr>
              <a:t>Luxury</a:t>
            </a:r>
            <a:r>
              <a:rPr sz="950" dirty="0">
                <a:latin typeface="Trebuchet MS"/>
                <a:cs typeface="Trebuchet MS"/>
              </a:rPr>
              <a:t>	</a:t>
            </a:r>
            <a:r>
              <a:rPr sz="950" spc="50" dirty="0">
                <a:latin typeface="Trebuchet MS"/>
                <a:cs typeface="Trebuchet MS"/>
              </a:rPr>
              <a:t>Delhi</a:t>
            </a:r>
            <a:endParaRPr sz="950">
              <a:latin typeface="Trebuchet MS"/>
              <a:cs typeface="Trebuchet MS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323975" y="7056710"/>
            <a:ext cx="3672204" cy="267970"/>
          </a:xfrm>
          <a:prstGeom prst="rect">
            <a:avLst/>
          </a:prstGeom>
          <a:solidFill>
            <a:srgbClr val="F5F5F5"/>
          </a:solidFill>
        </p:spPr>
        <p:txBody>
          <a:bodyPr vert="horz" wrap="square" lIns="0" tIns="55880" rIns="0" bIns="0" rtlCol="0">
            <a:spAutoFit/>
          </a:bodyPr>
          <a:lstStyle/>
          <a:p>
            <a:pPr marL="61594">
              <a:lnSpc>
                <a:spcPct val="100000"/>
              </a:lnSpc>
              <a:spcBef>
                <a:spcPts val="440"/>
              </a:spcBef>
              <a:tabLst>
                <a:tab pos="678815" algn="l"/>
                <a:tab pos="1483360" algn="l"/>
                <a:tab pos="2569845" algn="l"/>
              </a:tabLst>
            </a:pPr>
            <a:r>
              <a:rPr sz="950" b="1" spc="60" dirty="0">
                <a:latin typeface="Trebuchet MS"/>
                <a:cs typeface="Trebuchet MS"/>
              </a:rPr>
              <a:t>1</a:t>
            </a:r>
            <a:r>
              <a:rPr sz="950" b="1" dirty="0">
                <a:latin typeface="Trebuchet MS"/>
                <a:cs typeface="Trebuchet MS"/>
              </a:rPr>
              <a:t>	</a:t>
            </a:r>
            <a:r>
              <a:rPr sz="950" spc="105" dirty="0">
                <a:latin typeface="Trebuchet MS"/>
                <a:cs typeface="Trebuchet MS"/>
              </a:rPr>
              <a:t>16559</a:t>
            </a:r>
            <a:r>
              <a:rPr sz="950" dirty="0">
                <a:latin typeface="Trebuchet MS"/>
                <a:cs typeface="Trebuchet MS"/>
              </a:rPr>
              <a:t>	Atliq</a:t>
            </a:r>
            <a:r>
              <a:rPr sz="950" spc="170" dirty="0">
                <a:latin typeface="Trebuchet MS"/>
                <a:cs typeface="Trebuchet MS"/>
              </a:rPr>
              <a:t> </a:t>
            </a:r>
            <a:r>
              <a:rPr sz="950" spc="40" dirty="0">
                <a:latin typeface="Trebuchet MS"/>
                <a:cs typeface="Trebuchet MS"/>
              </a:rPr>
              <a:t>Exotica</a:t>
            </a:r>
            <a:r>
              <a:rPr sz="950" dirty="0">
                <a:latin typeface="Trebuchet MS"/>
                <a:cs typeface="Trebuchet MS"/>
              </a:rPr>
              <a:t>	</a:t>
            </a:r>
            <a:r>
              <a:rPr sz="950" spc="75" dirty="0">
                <a:latin typeface="Trebuchet MS"/>
                <a:cs typeface="Trebuchet MS"/>
              </a:rPr>
              <a:t>Luxury</a:t>
            </a:r>
            <a:r>
              <a:rPr sz="950" spc="200" dirty="0">
                <a:latin typeface="Trebuchet MS"/>
                <a:cs typeface="Trebuchet MS"/>
              </a:rPr>
              <a:t>  </a:t>
            </a:r>
            <a:r>
              <a:rPr sz="950" spc="80" dirty="0">
                <a:latin typeface="Trebuchet MS"/>
                <a:cs typeface="Trebuchet MS"/>
              </a:rPr>
              <a:t>Mumbai</a:t>
            </a:r>
            <a:endParaRPr sz="950">
              <a:latin typeface="Trebuchet MS"/>
              <a:cs typeface="Trebuchet MS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373187" y="7364999"/>
            <a:ext cx="357314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  <a:tabLst>
                <a:tab pos="629920" algn="l"/>
                <a:tab pos="1642110" algn="l"/>
                <a:tab pos="2395855" algn="l"/>
                <a:tab pos="3241675" algn="l"/>
              </a:tabLst>
            </a:pPr>
            <a:r>
              <a:rPr sz="950" b="1" spc="60" dirty="0">
                <a:latin typeface="Trebuchet MS"/>
                <a:cs typeface="Trebuchet MS"/>
              </a:rPr>
              <a:t>2</a:t>
            </a:r>
            <a:r>
              <a:rPr sz="950" b="1" dirty="0">
                <a:latin typeface="Trebuchet MS"/>
                <a:cs typeface="Trebuchet MS"/>
              </a:rPr>
              <a:t>	</a:t>
            </a:r>
            <a:r>
              <a:rPr sz="950" spc="105" dirty="0">
                <a:latin typeface="Trebuchet MS"/>
                <a:cs typeface="Trebuchet MS"/>
              </a:rPr>
              <a:t>16560</a:t>
            </a:r>
            <a:r>
              <a:rPr sz="950" dirty="0">
                <a:latin typeface="Trebuchet MS"/>
                <a:cs typeface="Trebuchet MS"/>
              </a:rPr>
              <a:t>	Atliq</a:t>
            </a:r>
            <a:r>
              <a:rPr sz="950" spc="170" dirty="0">
                <a:latin typeface="Trebuchet MS"/>
                <a:cs typeface="Trebuchet MS"/>
              </a:rPr>
              <a:t> </a:t>
            </a:r>
            <a:r>
              <a:rPr sz="950" spc="30" dirty="0">
                <a:latin typeface="Trebuchet MS"/>
                <a:cs typeface="Trebuchet MS"/>
              </a:rPr>
              <a:t>City</a:t>
            </a:r>
            <a:r>
              <a:rPr sz="950" dirty="0">
                <a:latin typeface="Trebuchet MS"/>
                <a:cs typeface="Trebuchet MS"/>
              </a:rPr>
              <a:t>	</a:t>
            </a:r>
            <a:r>
              <a:rPr sz="950" spc="75" dirty="0">
                <a:latin typeface="Trebuchet MS"/>
                <a:cs typeface="Trebuchet MS"/>
              </a:rPr>
              <a:t>Business</a:t>
            </a:r>
            <a:r>
              <a:rPr sz="950" dirty="0">
                <a:latin typeface="Trebuchet MS"/>
                <a:cs typeface="Trebuchet MS"/>
              </a:rPr>
              <a:t>	</a:t>
            </a:r>
            <a:r>
              <a:rPr sz="950" spc="50" dirty="0">
                <a:latin typeface="Trebuchet MS"/>
                <a:cs typeface="Trebuchet MS"/>
              </a:rPr>
              <a:t>Delhi</a:t>
            </a:r>
            <a:endParaRPr sz="950">
              <a:latin typeface="Trebuchet MS"/>
              <a:cs typeface="Trebuchet MS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323975" y="7592640"/>
            <a:ext cx="3672204" cy="267970"/>
          </a:xfrm>
          <a:prstGeom prst="rect">
            <a:avLst/>
          </a:prstGeom>
          <a:solidFill>
            <a:srgbClr val="F5F5F5"/>
          </a:solidFill>
        </p:spPr>
        <p:txBody>
          <a:bodyPr vert="horz" wrap="square" lIns="0" tIns="55880" rIns="0" bIns="0" rtlCol="0">
            <a:spAutoFit/>
          </a:bodyPr>
          <a:lstStyle/>
          <a:p>
            <a:pPr marL="61594">
              <a:lnSpc>
                <a:spcPct val="100000"/>
              </a:lnSpc>
              <a:spcBef>
                <a:spcPts val="440"/>
              </a:spcBef>
              <a:tabLst>
                <a:tab pos="678815" algn="l"/>
                <a:tab pos="1736089" algn="l"/>
                <a:tab pos="2569845" algn="l"/>
                <a:tab pos="3291204" algn="l"/>
              </a:tabLst>
            </a:pPr>
            <a:r>
              <a:rPr sz="950" b="1" spc="60" dirty="0">
                <a:latin typeface="Trebuchet MS"/>
                <a:cs typeface="Trebuchet MS"/>
              </a:rPr>
              <a:t>3</a:t>
            </a:r>
            <a:r>
              <a:rPr sz="950" b="1" dirty="0">
                <a:latin typeface="Trebuchet MS"/>
                <a:cs typeface="Trebuchet MS"/>
              </a:rPr>
              <a:t>	</a:t>
            </a:r>
            <a:r>
              <a:rPr sz="950" spc="105" dirty="0">
                <a:latin typeface="Trebuchet MS"/>
                <a:cs typeface="Trebuchet MS"/>
              </a:rPr>
              <a:t>16561</a:t>
            </a:r>
            <a:r>
              <a:rPr sz="950" dirty="0">
                <a:latin typeface="Trebuchet MS"/>
                <a:cs typeface="Trebuchet MS"/>
              </a:rPr>
              <a:t>	Atliq</a:t>
            </a:r>
            <a:r>
              <a:rPr sz="950" spc="170" dirty="0">
                <a:latin typeface="Trebuchet MS"/>
                <a:cs typeface="Trebuchet MS"/>
              </a:rPr>
              <a:t> </a:t>
            </a:r>
            <a:r>
              <a:rPr sz="950" spc="40" dirty="0">
                <a:latin typeface="Trebuchet MS"/>
                <a:cs typeface="Trebuchet MS"/>
              </a:rPr>
              <a:t>Blu</a:t>
            </a:r>
            <a:r>
              <a:rPr sz="950" dirty="0">
                <a:latin typeface="Trebuchet MS"/>
                <a:cs typeface="Trebuchet MS"/>
              </a:rPr>
              <a:t>	</a:t>
            </a:r>
            <a:r>
              <a:rPr sz="950" spc="65" dirty="0">
                <a:latin typeface="Trebuchet MS"/>
                <a:cs typeface="Trebuchet MS"/>
              </a:rPr>
              <a:t>Luxury</a:t>
            </a:r>
            <a:r>
              <a:rPr sz="950" dirty="0">
                <a:latin typeface="Trebuchet MS"/>
                <a:cs typeface="Trebuchet MS"/>
              </a:rPr>
              <a:t>	</a:t>
            </a:r>
            <a:r>
              <a:rPr sz="950" spc="50" dirty="0">
                <a:latin typeface="Trebuchet MS"/>
                <a:cs typeface="Trebuchet MS"/>
              </a:rPr>
              <a:t>Delhi</a:t>
            </a:r>
            <a:endParaRPr sz="950">
              <a:latin typeface="Trebuchet MS"/>
              <a:cs typeface="Trebuchet MS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373187" y="7900930"/>
            <a:ext cx="357314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  <a:tabLst>
                <a:tab pos="629920" algn="l"/>
                <a:tab pos="1650364" algn="l"/>
                <a:tab pos="2520950" algn="l"/>
                <a:tab pos="3241675" algn="l"/>
              </a:tabLst>
            </a:pPr>
            <a:r>
              <a:rPr sz="950" b="1" spc="60" dirty="0">
                <a:latin typeface="Trebuchet MS"/>
                <a:cs typeface="Trebuchet MS"/>
              </a:rPr>
              <a:t>4</a:t>
            </a:r>
            <a:r>
              <a:rPr sz="950" b="1" dirty="0">
                <a:latin typeface="Trebuchet MS"/>
                <a:cs typeface="Trebuchet MS"/>
              </a:rPr>
              <a:t>	</a:t>
            </a:r>
            <a:r>
              <a:rPr sz="950" spc="105" dirty="0">
                <a:latin typeface="Trebuchet MS"/>
                <a:cs typeface="Trebuchet MS"/>
              </a:rPr>
              <a:t>16562</a:t>
            </a:r>
            <a:r>
              <a:rPr sz="950" dirty="0">
                <a:latin typeface="Trebuchet MS"/>
                <a:cs typeface="Trebuchet MS"/>
              </a:rPr>
              <a:t>	Atliq</a:t>
            </a:r>
            <a:r>
              <a:rPr sz="950" spc="170" dirty="0">
                <a:latin typeface="Trebuchet MS"/>
                <a:cs typeface="Trebuchet MS"/>
              </a:rPr>
              <a:t> </a:t>
            </a:r>
            <a:r>
              <a:rPr sz="950" spc="80" dirty="0">
                <a:latin typeface="Trebuchet MS"/>
                <a:cs typeface="Trebuchet MS"/>
              </a:rPr>
              <a:t>Bay</a:t>
            </a:r>
            <a:r>
              <a:rPr sz="950" dirty="0">
                <a:latin typeface="Trebuchet MS"/>
                <a:cs typeface="Trebuchet MS"/>
              </a:rPr>
              <a:t>	</a:t>
            </a:r>
            <a:r>
              <a:rPr sz="950" spc="65" dirty="0">
                <a:latin typeface="Trebuchet MS"/>
                <a:cs typeface="Trebuchet MS"/>
              </a:rPr>
              <a:t>Luxury</a:t>
            </a:r>
            <a:r>
              <a:rPr sz="950" dirty="0">
                <a:latin typeface="Trebuchet MS"/>
                <a:cs typeface="Trebuchet MS"/>
              </a:rPr>
              <a:t>	</a:t>
            </a:r>
            <a:r>
              <a:rPr sz="950" spc="50" dirty="0">
                <a:latin typeface="Trebuchet MS"/>
                <a:cs typeface="Trebuchet MS"/>
              </a:rPr>
              <a:t>Delhi</a:t>
            </a:r>
            <a:endParaRPr sz="950">
              <a:latin typeface="Trebuchet MS"/>
              <a:cs typeface="Trebuchet MS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28737" y="8352155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df_hotels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category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value_counts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358900" y="8702616"/>
            <a:ext cx="622300" cy="5111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800"/>
              </a:lnSpc>
              <a:spcBef>
                <a:spcPts val="95"/>
              </a:spcBef>
            </a:pPr>
            <a:r>
              <a:rPr sz="950" spc="-10" dirty="0">
                <a:latin typeface="Courier New"/>
                <a:cs typeface="Courier New"/>
              </a:rPr>
              <a:t>category Luxury Business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253411" y="8864540"/>
            <a:ext cx="174625" cy="34925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R="5080" algn="r">
              <a:lnSpc>
                <a:spcPct val="100000"/>
              </a:lnSpc>
              <a:spcBef>
                <a:spcPts val="229"/>
              </a:spcBef>
            </a:pPr>
            <a:r>
              <a:rPr sz="950" spc="-25" dirty="0">
                <a:latin typeface="Courier New"/>
                <a:cs typeface="Courier New"/>
              </a:rPr>
              <a:t>16</a:t>
            </a:r>
            <a:endParaRPr sz="950">
              <a:latin typeface="Courier New"/>
              <a:cs typeface="Courier New"/>
            </a:endParaRPr>
          </a:p>
          <a:p>
            <a:pPr marR="5080" algn="r">
              <a:lnSpc>
                <a:spcPct val="100000"/>
              </a:lnSpc>
              <a:spcBef>
                <a:spcPts val="135"/>
              </a:spcBef>
            </a:pPr>
            <a:r>
              <a:rPr sz="950" spc="-50" dirty="0">
                <a:latin typeface="Courier New"/>
                <a:cs typeface="Courier New"/>
              </a:rPr>
              <a:t>9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358900" y="9201729"/>
            <a:ext cx="188912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latin typeface="Courier New"/>
                <a:cs typeface="Courier New"/>
              </a:rPr>
              <a:t>Name: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count,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dtype: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int64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57733" y="644530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[89]: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57733" y="3608666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[90]: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57733" y="3932516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Out[90]: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657733" y="4679278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[91]: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657733" y="5536531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[92]: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657733" y="5860383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Out[92]: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57733" y="6231859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[93]: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657733" y="6555709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Out[93]: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657733" y="8392100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[94]: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57733" y="8715951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Out[94]:</a:t>
            </a:r>
            <a:endParaRPr sz="9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371600" y="7620636"/>
            <a:ext cx="5610225" cy="25400"/>
            <a:chOff x="1371600" y="7620636"/>
            <a:chExt cx="5610225" cy="25400"/>
          </a:xfrm>
        </p:grpSpPr>
        <p:sp>
          <p:nvSpPr>
            <p:cNvPr id="3" name="object 3"/>
            <p:cNvSpPr/>
            <p:nvPr/>
          </p:nvSpPr>
          <p:spPr>
            <a:xfrm>
              <a:off x="1371600" y="7620636"/>
              <a:ext cx="5610225" cy="25400"/>
            </a:xfrm>
            <a:custGeom>
              <a:avLst/>
              <a:gdLst/>
              <a:ahLst/>
              <a:cxnLst/>
              <a:rect l="l" t="t" r="r" b="b"/>
              <a:pathLst>
                <a:path w="5610225" h="25400">
                  <a:moveTo>
                    <a:pt x="5610225" y="0"/>
                  </a:moveTo>
                  <a:lnTo>
                    <a:pt x="0" y="0"/>
                  </a:lnTo>
                  <a:lnTo>
                    <a:pt x="0" y="25400"/>
                  </a:lnTo>
                  <a:lnTo>
                    <a:pt x="5610225" y="25400"/>
                  </a:lnTo>
                  <a:lnTo>
                    <a:pt x="5610225" y="0"/>
                  </a:lnTo>
                  <a:close/>
                </a:path>
              </a:pathLst>
            </a:custGeom>
            <a:solidFill>
              <a:srgbClr val="BDBD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371600" y="7620636"/>
              <a:ext cx="5610225" cy="25400"/>
            </a:xfrm>
            <a:custGeom>
              <a:avLst/>
              <a:gdLst/>
              <a:ahLst/>
              <a:cxnLst/>
              <a:rect l="l" t="t" r="r" b="b"/>
              <a:pathLst>
                <a:path w="5610225" h="25400">
                  <a:moveTo>
                    <a:pt x="5610225" y="0"/>
                  </a:moveTo>
                  <a:lnTo>
                    <a:pt x="0" y="0"/>
                  </a:lnTo>
                  <a:lnTo>
                    <a:pt x="0" y="25400"/>
                  </a:lnTo>
                  <a:lnTo>
                    <a:pt x="12700" y="12700"/>
                  </a:lnTo>
                  <a:lnTo>
                    <a:pt x="5597525" y="12700"/>
                  </a:lnTo>
                  <a:lnTo>
                    <a:pt x="561022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371600" y="7620636"/>
              <a:ext cx="5610225" cy="25400"/>
            </a:xfrm>
            <a:custGeom>
              <a:avLst/>
              <a:gdLst/>
              <a:ahLst/>
              <a:cxnLst/>
              <a:rect l="l" t="t" r="r" b="b"/>
              <a:pathLst>
                <a:path w="5610225" h="25400">
                  <a:moveTo>
                    <a:pt x="5610225" y="0"/>
                  </a:moveTo>
                  <a:lnTo>
                    <a:pt x="5597525" y="12700"/>
                  </a:lnTo>
                  <a:lnTo>
                    <a:pt x="12700" y="12700"/>
                  </a:lnTo>
                  <a:lnTo>
                    <a:pt x="0" y="25400"/>
                  </a:lnTo>
                  <a:lnTo>
                    <a:pt x="5610225" y="25400"/>
                  </a:lnTo>
                  <a:lnTo>
                    <a:pt x="5610225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371600" y="8126096"/>
            <a:ext cx="5610225" cy="25400"/>
            <a:chOff x="1371600" y="8126096"/>
            <a:chExt cx="5610225" cy="25400"/>
          </a:xfrm>
        </p:grpSpPr>
        <p:sp>
          <p:nvSpPr>
            <p:cNvPr id="7" name="object 7"/>
            <p:cNvSpPr/>
            <p:nvPr/>
          </p:nvSpPr>
          <p:spPr>
            <a:xfrm>
              <a:off x="1371600" y="8126096"/>
              <a:ext cx="5610225" cy="25400"/>
            </a:xfrm>
            <a:custGeom>
              <a:avLst/>
              <a:gdLst/>
              <a:ahLst/>
              <a:cxnLst/>
              <a:rect l="l" t="t" r="r" b="b"/>
              <a:pathLst>
                <a:path w="5610225" h="25400">
                  <a:moveTo>
                    <a:pt x="5610225" y="0"/>
                  </a:moveTo>
                  <a:lnTo>
                    <a:pt x="0" y="0"/>
                  </a:lnTo>
                  <a:lnTo>
                    <a:pt x="0" y="25400"/>
                  </a:lnTo>
                  <a:lnTo>
                    <a:pt x="5610225" y="25400"/>
                  </a:lnTo>
                  <a:lnTo>
                    <a:pt x="5610225" y="0"/>
                  </a:lnTo>
                  <a:close/>
                </a:path>
              </a:pathLst>
            </a:custGeom>
            <a:solidFill>
              <a:srgbClr val="BDBD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371600" y="8126096"/>
              <a:ext cx="5610225" cy="25400"/>
            </a:xfrm>
            <a:custGeom>
              <a:avLst/>
              <a:gdLst/>
              <a:ahLst/>
              <a:cxnLst/>
              <a:rect l="l" t="t" r="r" b="b"/>
              <a:pathLst>
                <a:path w="5610225" h="25400">
                  <a:moveTo>
                    <a:pt x="5610225" y="0"/>
                  </a:moveTo>
                  <a:lnTo>
                    <a:pt x="0" y="0"/>
                  </a:lnTo>
                  <a:lnTo>
                    <a:pt x="0" y="25400"/>
                  </a:lnTo>
                  <a:lnTo>
                    <a:pt x="12700" y="12700"/>
                  </a:lnTo>
                  <a:lnTo>
                    <a:pt x="5597525" y="12700"/>
                  </a:lnTo>
                  <a:lnTo>
                    <a:pt x="561022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371600" y="8126096"/>
              <a:ext cx="5610225" cy="25400"/>
            </a:xfrm>
            <a:custGeom>
              <a:avLst/>
              <a:gdLst/>
              <a:ahLst/>
              <a:cxnLst/>
              <a:rect l="l" t="t" r="r" b="b"/>
              <a:pathLst>
                <a:path w="5610225" h="25400">
                  <a:moveTo>
                    <a:pt x="5610225" y="0"/>
                  </a:moveTo>
                  <a:lnTo>
                    <a:pt x="5597525" y="12700"/>
                  </a:lnTo>
                  <a:lnTo>
                    <a:pt x="12700" y="12700"/>
                  </a:lnTo>
                  <a:lnTo>
                    <a:pt x="0" y="25400"/>
                  </a:lnTo>
                  <a:lnTo>
                    <a:pt x="5610225" y="25400"/>
                  </a:lnTo>
                  <a:lnTo>
                    <a:pt x="5610225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1328737" y="605155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244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4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df_hotels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city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value_counts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sort_values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</p:txBody>
      </p:sp>
      <p:graphicFrame>
        <p:nvGraphicFramePr>
          <p:cNvPr id="11" name="object 11"/>
          <p:cNvGraphicFramePr>
            <a:graphicFrameLocks noGrp="1"/>
          </p:cNvGraphicFramePr>
          <p:nvPr/>
        </p:nvGraphicFramePr>
        <p:xfrm>
          <a:off x="638683" y="989969"/>
          <a:ext cx="2628264" cy="9525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32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marL="31750">
                        <a:lnSpc>
                          <a:spcPts val="1095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Out[95]: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ts val="1095"/>
                        </a:lnSpc>
                      </a:pPr>
                      <a:r>
                        <a:rPr sz="950" spc="-20" dirty="0">
                          <a:latin typeface="Courier New"/>
                          <a:cs typeface="Courier New"/>
                        </a:rPr>
                        <a:t>city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Delhi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50" dirty="0">
                          <a:latin typeface="Courier New"/>
                          <a:cs typeface="Courier New"/>
                        </a:rPr>
                        <a:t>5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Hyderabad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50" dirty="0">
                          <a:latin typeface="Courier New"/>
                          <a:cs typeface="Courier New"/>
                        </a:rPr>
                        <a:t>6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Bangalore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50" dirty="0">
                          <a:latin typeface="Courier New"/>
                          <a:cs typeface="Courier New"/>
                        </a:rPr>
                        <a:t>6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Mumbai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50" dirty="0">
                          <a:latin typeface="Courier New"/>
                          <a:cs typeface="Courier New"/>
                        </a:rPr>
                        <a:t>8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2069">
                        <a:lnSpc>
                          <a:spcPts val="1080"/>
                        </a:lnSpc>
                        <a:spcBef>
                          <a:spcPts val="25"/>
                        </a:spcBef>
                      </a:pPr>
                      <a:r>
                        <a:rPr sz="950" dirty="0">
                          <a:latin typeface="Courier New"/>
                          <a:cs typeface="Courier New"/>
                        </a:rPr>
                        <a:t>Name:</a:t>
                      </a:r>
                      <a:r>
                        <a:rPr sz="950" spc="70" dirty="0"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950" spc="-10" dirty="0">
                          <a:latin typeface="Courier New"/>
                          <a:cs typeface="Courier New"/>
                        </a:rPr>
                        <a:t>count,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ts val="1080"/>
                        </a:lnSpc>
                        <a:spcBef>
                          <a:spcPts val="25"/>
                        </a:spcBef>
                      </a:pPr>
                      <a:r>
                        <a:rPr sz="950" dirty="0">
                          <a:latin typeface="Courier New"/>
                          <a:cs typeface="Courier New"/>
                        </a:rPr>
                        <a:t>dtype:</a:t>
                      </a:r>
                      <a:r>
                        <a:rPr sz="950" spc="80" dirty="0"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950" spc="-10" dirty="0">
                          <a:latin typeface="Courier New"/>
                          <a:cs typeface="Courier New"/>
                        </a:rPr>
                        <a:t>int64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object 12"/>
          <p:cNvSpPr txBox="1"/>
          <p:nvPr/>
        </p:nvSpPr>
        <p:spPr>
          <a:xfrm>
            <a:off x="1328737" y="2052954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244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4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df_hotels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city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value_counts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sort_values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plot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kind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"bar"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358900" y="2416187"/>
            <a:ext cx="159131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latin typeface="Courier New"/>
                <a:cs typeface="Courier New"/>
              </a:rPr>
              <a:t>&lt;Axes: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xlabel='city'&gt;</a:t>
            </a:r>
            <a:endParaRPr sz="950">
              <a:latin typeface="Courier New"/>
              <a:cs typeface="Courier New"/>
            </a:endParaRPr>
          </a:p>
        </p:txBody>
      </p:sp>
      <p:pic>
        <p:nvPicPr>
          <p:cNvPr id="14" name="object 1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14450" y="2724158"/>
            <a:ext cx="4914900" cy="4552949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1358900" y="7786180"/>
            <a:ext cx="214376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b="1" spc="90" dirty="0">
                <a:latin typeface="Trebuchet MS"/>
                <a:cs typeface="Trebuchet MS"/>
              </a:rPr>
              <a:t>Explore</a:t>
            </a:r>
            <a:r>
              <a:rPr sz="1050" b="1" spc="65" dirty="0">
                <a:latin typeface="Trebuchet MS"/>
                <a:cs typeface="Trebuchet MS"/>
              </a:rPr>
              <a:t> </a:t>
            </a:r>
            <a:r>
              <a:rPr sz="1050" b="1" spc="140" dirty="0">
                <a:latin typeface="Trebuchet MS"/>
                <a:cs typeface="Trebuchet MS"/>
              </a:rPr>
              <a:t>aggregate</a:t>
            </a:r>
            <a:r>
              <a:rPr sz="1050" b="1" spc="70" dirty="0">
                <a:latin typeface="Trebuchet MS"/>
                <a:cs typeface="Trebuchet MS"/>
              </a:rPr>
              <a:t> </a:t>
            </a:r>
            <a:r>
              <a:rPr sz="1050" b="1" spc="114" dirty="0">
                <a:latin typeface="Trebuchet MS"/>
                <a:cs typeface="Trebuchet MS"/>
              </a:rPr>
              <a:t>bookings</a:t>
            </a:r>
            <a:endParaRPr sz="1050">
              <a:latin typeface="Trebuchet MS"/>
              <a:cs typeface="Trebuchet MS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328737" y="8318182"/>
            <a:ext cx="5838825" cy="26733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244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4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head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008800"/>
                </a:solidFill>
                <a:latin typeface="Courier New"/>
                <a:cs typeface="Courier New"/>
              </a:rPr>
              <a:t>3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57733" y="644530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[95]: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57733" y="2092336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[96]: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57733" y="2416187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Out[96]: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57733" y="8357876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[97]:</a:t>
            </a:r>
            <a:endParaRPr sz="9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638683" y="709612"/>
          <a:ext cx="6329042" cy="955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51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4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47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4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443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086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Out[97]: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65" dirty="0">
                          <a:latin typeface="Trebuchet MS"/>
                          <a:cs typeface="Trebuchet MS"/>
                        </a:rPr>
                        <a:t>check_in_date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room_category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successful_bookings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capacity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0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16559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19562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2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3" name="object 3"/>
          <p:cNvGrpSpPr/>
          <p:nvPr/>
        </p:nvGrpSpPr>
        <p:grpSpPr>
          <a:xfrm>
            <a:off x="1323975" y="5812790"/>
            <a:ext cx="5848350" cy="276860"/>
            <a:chOff x="1323975" y="5812790"/>
            <a:chExt cx="5848350" cy="276860"/>
          </a:xfrm>
        </p:grpSpPr>
        <p:sp>
          <p:nvSpPr>
            <p:cNvPr id="4" name="object 4"/>
            <p:cNvSpPr/>
            <p:nvPr/>
          </p:nvSpPr>
          <p:spPr>
            <a:xfrm>
              <a:off x="1323975" y="5813418"/>
              <a:ext cx="5848350" cy="276225"/>
            </a:xfrm>
            <a:custGeom>
              <a:avLst/>
              <a:gdLst/>
              <a:ahLst/>
              <a:cxnLst/>
              <a:rect l="l" t="t" r="r" b="b"/>
              <a:pathLst>
                <a:path w="5848350" h="276225">
                  <a:moveTo>
                    <a:pt x="5848350" y="0"/>
                  </a:moveTo>
                  <a:lnTo>
                    <a:pt x="0" y="0"/>
                  </a:lnTo>
                  <a:lnTo>
                    <a:pt x="0" y="276226"/>
                  </a:lnTo>
                  <a:lnTo>
                    <a:pt x="5848350" y="276226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F5F5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323975" y="5812789"/>
              <a:ext cx="5848350" cy="276860"/>
            </a:xfrm>
            <a:custGeom>
              <a:avLst/>
              <a:gdLst/>
              <a:ahLst/>
              <a:cxnLst/>
              <a:rect l="l" t="t" r="r" b="b"/>
              <a:pathLst>
                <a:path w="5848350" h="276860">
                  <a:moveTo>
                    <a:pt x="5848350" y="0"/>
                  </a:moveTo>
                  <a:lnTo>
                    <a:pt x="0" y="0"/>
                  </a:lnTo>
                  <a:lnTo>
                    <a:pt x="0" y="10160"/>
                  </a:lnTo>
                  <a:lnTo>
                    <a:pt x="0" y="266700"/>
                  </a:lnTo>
                  <a:lnTo>
                    <a:pt x="9525" y="266700"/>
                  </a:lnTo>
                  <a:lnTo>
                    <a:pt x="9525" y="10160"/>
                  </a:lnTo>
                  <a:lnTo>
                    <a:pt x="5838825" y="10160"/>
                  </a:lnTo>
                  <a:lnTo>
                    <a:pt x="5838825" y="267335"/>
                  </a:lnTo>
                  <a:lnTo>
                    <a:pt x="0" y="267335"/>
                  </a:lnTo>
                  <a:lnTo>
                    <a:pt x="0" y="276860"/>
                  </a:lnTo>
                  <a:lnTo>
                    <a:pt x="5848350" y="276860"/>
                  </a:lnTo>
                  <a:lnTo>
                    <a:pt x="5848350" y="267335"/>
                  </a:lnTo>
                  <a:lnTo>
                    <a:pt x="5848350" y="10160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358900" y="1954954"/>
            <a:ext cx="2200275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b="1" spc="95" dirty="0">
                <a:latin typeface="Trebuchet MS"/>
                <a:cs typeface="Trebuchet MS"/>
              </a:rPr>
              <a:t>Find</a:t>
            </a:r>
            <a:r>
              <a:rPr sz="1050" b="1" spc="60" dirty="0">
                <a:latin typeface="Trebuchet MS"/>
                <a:cs typeface="Trebuchet MS"/>
              </a:rPr>
              <a:t> </a:t>
            </a:r>
            <a:r>
              <a:rPr sz="1050" b="1" spc="105" dirty="0">
                <a:latin typeface="Trebuchet MS"/>
                <a:cs typeface="Trebuchet MS"/>
              </a:rPr>
              <a:t>out</a:t>
            </a:r>
            <a:r>
              <a:rPr sz="1050" b="1" spc="65" dirty="0">
                <a:latin typeface="Trebuchet MS"/>
                <a:cs typeface="Trebuchet MS"/>
              </a:rPr>
              <a:t> </a:t>
            </a:r>
            <a:r>
              <a:rPr sz="1050" b="1" spc="100" dirty="0">
                <a:latin typeface="Trebuchet MS"/>
                <a:cs typeface="Trebuchet MS"/>
              </a:rPr>
              <a:t>unique</a:t>
            </a:r>
            <a:r>
              <a:rPr sz="1050" b="1" spc="60" dirty="0">
                <a:latin typeface="Trebuchet MS"/>
                <a:cs typeface="Trebuchet MS"/>
              </a:rPr>
              <a:t> </a:t>
            </a:r>
            <a:r>
              <a:rPr sz="1050" b="1" spc="95" dirty="0">
                <a:latin typeface="Trebuchet MS"/>
                <a:cs typeface="Trebuchet MS"/>
              </a:rPr>
              <a:t>property</a:t>
            </a:r>
            <a:r>
              <a:rPr sz="1050" b="1" spc="80" dirty="0">
                <a:latin typeface="Trebuchet MS"/>
                <a:cs typeface="Trebuchet MS"/>
              </a:rPr>
              <a:t> </a:t>
            </a:r>
            <a:r>
              <a:rPr sz="1050" b="1" spc="125" dirty="0">
                <a:latin typeface="Trebuchet MS"/>
                <a:cs typeface="Trebuchet MS"/>
              </a:rPr>
              <a:t>IDs</a:t>
            </a:r>
            <a:endParaRPr sz="1050">
              <a:latin typeface="Trebuchet MS"/>
              <a:cs typeface="Trebuchet M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328737" y="2327910"/>
            <a:ext cx="5838825" cy="26733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property_id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nunique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358900" y="2691751"/>
            <a:ext cx="390207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  <a:tabLst>
                <a:tab pos="3515995" algn="l"/>
              </a:tabLst>
            </a:pPr>
            <a:r>
              <a:rPr sz="950" dirty="0">
                <a:latin typeface="Courier New"/>
                <a:cs typeface="Courier New"/>
              </a:rPr>
              <a:t>&lt;bound</a:t>
            </a:r>
            <a:r>
              <a:rPr sz="950" spc="114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method</a:t>
            </a:r>
            <a:r>
              <a:rPr sz="950" spc="114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IndexOpsMixin.nunique</a:t>
            </a:r>
            <a:r>
              <a:rPr sz="950" spc="114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of</a:t>
            </a:r>
            <a:r>
              <a:rPr sz="950" spc="114" dirty="0">
                <a:latin typeface="Courier New"/>
                <a:cs typeface="Courier New"/>
              </a:rPr>
              <a:t> </a:t>
            </a:r>
            <a:r>
              <a:rPr sz="950" spc="-50" dirty="0">
                <a:latin typeface="Courier New"/>
                <a:cs typeface="Courier New"/>
              </a:rPr>
              <a:t>0</a:t>
            </a:r>
            <a:r>
              <a:rPr sz="950" dirty="0">
                <a:latin typeface="Courier New"/>
                <a:cs typeface="Courier New"/>
              </a:rPr>
              <a:t>	</a:t>
            </a:r>
            <a:r>
              <a:rPr sz="950" spc="-10" dirty="0">
                <a:latin typeface="Courier New"/>
                <a:cs typeface="Courier New"/>
              </a:rPr>
              <a:t>16559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358900" y="2840340"/>
            <a:ext cx="100330" cy="67310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950" spc="-50" dirty="0">
                <a:latin typeface="Courier New"/>
                <a:cs typeface="Courier New"/>
              </a:rPr>
              <a:t>1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50" dirty="0">
                <a:latin typeface="Courier New"/>
                <a:cs typeface="Courier New"/>
              </a:rPr>
              <a:t>2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50" dirty="0">
                <a:latin typeface="Courier New"/>
                <a:cs typeface="Courier New"/>
              </a:rPr>
              <a:t>3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50" dirty="0">
                <a:latin typeface="Courier New"/>
                <a:cs typeface="Courier New"/>
              </a:rPr>
              <a:t>4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358900" y="3649972"/>
            <a:ext cx="323850" cy="835025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950" spc="-20" dirty="0">
                <a:latin typeface="Courier New"/>
                <a:cs typeface="Courier New"/>
              </a:rPr>
              <a:t>9195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20" dirty="0">
                <a:latin typeface="Courier New"/>
                <a:cs typeface="Courier New"/>
              </a:rPr>
              <a:t>9196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20" dirty="0">
                <a:latin typeface="Courier New"/>
                <a:cs typeface="Courier New"/>
              </a:rPr>
              <a:t>9197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20" dirty="0">
                <a:latin typeface="Courier New"/>
                <a:cs typeface="Courier New"/>
              </a:rPr>
              <a:t>9198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20" dirty="0">
                <a:latin typeface="Courier New"/>
                <a:cs typeface="Courier New"/>
              </a:rPr>
              <a:t>9199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955241" y="2840340"/>
            <a:ext cx="398145" cy="1645285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950" spc="-10" dirty="0">
                <a:latin typeface="Courier New"/>
                <a:cs typeface="Courier New"/>
              </a:rPr>
              <a:t>19562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19563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17558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16558</a:t>
            </a:r>
            <a:endParaRPr sz="950">
              <a:latin typeface="Courier New"/>
              <a:cs typeface="Courier New"/>
            </a:endParaRPr>
          </a:p>
          <a:p>
            <a:pPr marL="12700" marR="5080">
              <a:lnSpc>
                <a:spcPct val="111800"/>
              </a:lnSpc>
            </a:pPr>
            <a:r>
              <a:rPr sz="950" spc="-25" dirty="0">
                <a:latin typeface="Courier New"/>
                <a:cs typeface="Courier New"/>
              </a:rPr>
              <a:t>... </a:t>
            </a:r>
            <a:r>
              <a:rPr sz="950" spc="-10" dirty="0">
                <a:latin typeface="Courier New"/>
                <a:cs typeface="Courier New"/>
              </a:rPr>
              <a:t>16563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16559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17558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19563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17561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358900" y="4472936"/>
            <a:ext cx="34544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latin typeface="Courier New"/>
                <a:cs typeface="Courier New"/>
              </a:rPr>
              <a:t>Name:</a:t>
            </a:r>
            <a:r>
              <a:rPr sz="950" spc="9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property_id,</a:t>
            </a:r>
            <a:r>
              <a:rPr sz="950" spc="9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Length:</a:t>
            </a:r>
            <a:r>
              <a:rPr sz="950" spc="9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9200,</a:t>
            </a:r>
            <a:r>
              <a:rPr sz="950" spc="9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dtype:</a:t>
            </a:r>
            <a:r>
              <a:rPr sz="950" spc="95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int64&gt;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328737" y="4747259"/>
            <a:ext cx="5838825" cy="26733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'property_id'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nunique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57733" y="5111113"/>
            <a:ext cx="3687445" cy="5194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Out[99]:</a:t>
            </a:r>
            <a:r>
              <a:rPr sz="950" spc="34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35" dirty="0">
                <a:latin typeface="Courier New"/>
                <a:cs typeface="Courier New"/>
              </a:rPr>
              <a:t>25</a:t>
            </a:r>
            <a:endParaRPr sz="95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85"/>
              </a:spcBef>
            </a:pPr>
            <a:endParaRPr sz="950">
              <a:latin typeface="Courier New"/>
              <a:cs typeface="Courier New"/>
            </a:endParaRPr>
          </a:p>
          <a:p>
            <a:pPr marL="713740">
              <a:lnSpc>
                <a:spcPct val="100000"/>
              </a:lnSpc>
            </a:pPr>
            <a:r>
              <a:rPr sz="1050" b="1" spc="95" dirty="0">
                <a:latin typeface="Trebuchet MS"/>
                <a:cs typeface="Trebuchet MS"/>
              </a:rPr>
              <a:t>Find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105" dirty="0">
                <a:latin typeface="Trebuchet MS"/>
                <a:cs typeface="Trebuchet MS"/>
              </a:rPr>
              <a:t>out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90" dirty="0">
                <a:latin typeface="Trebuchet MS"/>
                <a:cs typeface="Trebuchet MS"/>
              </a:rPr>
              <a:t>total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130" dirty="0">
                <a:latin typeface="Trebuchet MS"/>
                <a:cs typeface="Trebuchet MS"/>
              </a:rPr>
              <a:t>bookings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100" dirty="0">
                <a:latin typeface="Trebuchet MS"/>
                <a:cs typeface="Trebuchet MS"/>
              </a:rPr>
              <a:t>per</a:t>
            </a:r>
            <a:r>
              <a:rPr sz="1050" b="1" spc="70" dirty="0">
                <a:latin typeface="Trebuchet MS"/>
                <a:cs typeface="Trebuchet MS"/>
              </a:rPr>
              <a:t> </a:t>
            </a:r>
            <a:r>
              <a:rPr sz="1050" b="1" spc="65" dirty="0">
                <a:latin typeface="Trebuchet MS"/>
                <a:cs typeface="Trebuchet MS"/>
              </a:rPr>
              <a:t>property_id</a:t>
            </a:r>
            <a:endParaRPr sz="1050">
              <a:latin typeface="Trebuchet MS"/>
              <a:cs typeface="Trebuchet MS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358900" y="5857875"/>
            <a:ext cx="584073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groupby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'property_id'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'successful_bookings'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sum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reset_inde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57733" y="2367899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[98]: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57733" y="2691751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Out[98]: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57733" y="4787262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[99]: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44525" y="5857875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[100…</a:t>
            </a:r>
            <a:endParaRPr sz="9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625475" y="709612"/>
          <a:ext cx="3463923" cy="68370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5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51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44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Out[100…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successful_bookings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3153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7338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16560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4693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16561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4418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16562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4820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7211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6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17558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5053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7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17559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6142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17560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6013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17561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5183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10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17562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3424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11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17563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6337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12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17564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3982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13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18558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4475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14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18559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5256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15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18560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6638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16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18561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6458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17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18562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7333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18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18563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4737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19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19558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4400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20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19559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4729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21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19560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6079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19561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5736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23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19562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5812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24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19563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5413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3" name="object 3"/>
          <p:cNvSpPr txBox="1"/>
          <p:nvPr/>
        </p:nvSpPr>
        <p:spPr>
          <a:xfrm>
            <a:off x="1358900" y="7850185"/>
            <a:ext cx="4455795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b="1" spc="95" dirty="0">
                <a:latin typeface="Trebuchet MS"/>
                <a:cs typeface="Trebuchet MS"/>
              </a:rPr>
              <a:t>Find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105" dirty="0">
                <a:latin typeface="Trebuchet MS"/>
                <a:cs typeface="Trebuchet MS"/>
              </a:rPr>
              <a:t>out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130" dirty="0">
                <a:latin typeface="Trebuchet MS"/>
                <a:cs typeface="Trebuchet MS"/>
              </a:rPr>
              <a:t>days</a:t>
            </a:r>
            <a:r>
              <a:rPr sz="1050" b="1" spc="60" dirty="0">
                <a:latin typeface="Trebuchet MS"/>
                <a:cs typeface="Trebuchet MS"/>
              </a:rPr>
              <a:t> </a:t>
            </a:r>
            <a:r>
              <a:rPr sz="1050" b="1" spc="110" dirty="0">
                <a:latin typeface="Trebuchet MS"/>
                <a:cs typeface="Trebuchet MS"/>
              </a:rPr>
              <a:t>on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95" dirty="0">
                <a:latin typeface="Trebuchet MS"/>
                <a:cs typeface="Trebuchet MS"/>
              </a:rPr>
              <a:t>which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130" dirty="0">
                <a:latin typeface="Trebuchet MS"/>
                <a:cs typeface="Trebuchet MS"/>
              </a:rPr>
              <a:t>bookings</a:t>
            </a:r>
            <a:r>
              <a:rPr sz="1050" b="1" spc="70" dirty="0">
                <a:latin typeface="Trebuchet MS"/>
                <a:cs typeface="Trebuchet MS"/>
              </a:rPr>
              <a:t> </a:t>
            </a:r>
            <a:r>
              <a:rPr sz="1050" b="1" spc="100" dirty="0">
                <a:latin typeface="Trebuchet MS"/>
                <a:cs typeface="Trebuchet MS"/>
              </a:rPr>
              <a:t>are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105" dirty="0">
                <a:latin typeface="Trebuchet MS"/>
                <a:cs typeface="Trebuchet MS"/>
              </a:rPr>
              <a:t>greater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110" dirty="0">
                <a:latin typeface="Trebuchet MS"/>
                <a:cs typeface="Trebuchet MS"/>
              </a:rPr>
              <a:t>than</a:t>
            </a:r>
            <a:r>
              <a:rPr sz="1050" b="1" spc="60" dirty="0">
                <a:latin typeface="Trebuchet MS"/>
                <a:cs typeface="Trebuchet MS"/>
              </a:rPr>
              <a:t> </a:t>
            </a:r>
            <a:r>
              <a:rPr sz="1050" b="1" spc="85" dirty="0">
                <a:latin typeface="Trebuchet MS"/>
                <a:cs typeface="Trebuchet MS"/>
              </a:rPr>
              <a:t>capacity</a:t>
            </a:r>
            <a:endParaRPr sz="1050">
              <a:latin typeface="Trebuchet MS"/>
              <a:cs typeface="Trebuchet M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328737" y="8223185"/>
            <a:ext cx="5838825" cy="59118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endParaRPr sz="950">
              <a:latin typeface="Courier New"/>
              <a:cs typeface="Courier New"/>
            </a:endParaRPr>
          </a:p>
          <a:p>
            <a:pPr marL="340995">
              <a:lnSpc>
                <a:spcPct val="100000"/>
              </a:lnSpc>
              <a:spcBef>
                <a:spcPts val="135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'successful_bookings'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spc="235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&gt;</a:t>
            </a:r>
            <a:r>
              <a:rPr sz="950" b="1" spc="240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'capacity'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endParaRPr sz="950">
              <a:latin typeface="Courier New"/>
              <a:cs typeface="Courier New"/>
            </a:endParaRPr>
          </a:p>
          <a:p>
            <a:pPr marL="42545">
              <a:lnSpc>
                <a:spcPct val="100000"/>
              </a:lnSpc>
              <a:spcBef>
                <a:spcPts val="135"/>
              </a:spcBef>
            </a:pPr>
            <a:r>
              <a:rPr sz="950" spc="-5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44525" y="8263130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[101…</a:t>
            </a:r>
            <a:endParaRPr sz="9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625475" y="709612"/>
          <a:ext cx="6549388" cy="18192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3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2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449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46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Out[101…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65" dirty="0">
                          <a:latin typeface="Trebuchet MS"/>
                          <a:cs typeface="Trebuchet MS"/>
                        </a:rPr>
                        <a:t>check_in_date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room_category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successful_bookings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capacity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3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17558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30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19.0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702945" algn="l"/>
                        </a:tabLst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12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16563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41.0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875665" algn="l"/>
                        </a:tabLst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4136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11-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Jun-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50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39.0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875665" algn="l"/>
                        </a:tabLst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6209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19560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2-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Jul-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123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26.0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875665" algn="l"/>
                        </a:tabLst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8522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25-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Jul-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35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24.0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875665" algn="l"/>
                        </a:tabLst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9194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18563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31-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Jul-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18.0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625475" y="3836956"/>
          <a:ext cx="6549388" cy="30943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3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2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449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46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Out[102…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65" dirty="0">
                          <a:latin typeface="Trebuchet MS"/>
                          <a:cs typeface="Trebuchet MS"/>
                        </a:rPr>
                        <a:t>check_in_date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room_category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successful_bookings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capacity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  <a:tabLst>
                          <a:tab pos="702945" algn="l"/>
                        </a:tabLst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27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17558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38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50.0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789305" algn="l"/>
                        </a:tabLst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128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17558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2-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27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50.0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789305" algn="l"/>
                        </a:tabLst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229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17558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26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50.0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789305" algn="l"/>
                        </a:tabLst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328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17558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4-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27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50.0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789305" algn="l"/>
                        </a:tabLst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428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17558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5-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50.0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948055" algn="l"/>
                        </a:tabLst>
                      </a:pPr>
                      <a:r>
                        <a:rPr sz="950" b="1" spc="-25" dirty="0">
                          <a:latin typeface="Trebuchet MS"/>
                          <a:cs typeface="Trebuchet MS"/>
                        </a:rPr>
                        <a:t>...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...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...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...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...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...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875665" algn="l"/>
                        </a:tabLst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8728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17558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27-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Jul-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50.0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875665" algn="l"/>
                        </a:tabLst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8828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17558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28-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Jul-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50.0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875665" algn="l"/>
                        </a:tabLst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8928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17558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29-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Jul-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50.0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875665" algn="l"/>
                        </a:tabLst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9028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17558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30-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Jul-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32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50.0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  <a:tabLst>
                          <a:tab pos="875665" algn="l"/>
                        </a:tabLst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9128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17558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31-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Jul-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30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50.0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pSp>
        <p:nvGrpSpPr>
          <p:cNvPr id="4" name="object 4"/>
          <p:cNvGrpSpPr/>
          <p:nvPr/>
        </p:nvGrpSpPr>
        <p:grpSpPr>
          <a:xfrm>
            <a:off x="1371600" y="7699283"/>
            <a:ext cx="5610225" cy="25400"/>
            <a:chOff x="1371600" y="7699283"/>
            <a:chExt cx="5610225" cy="25400"/>
          </a:xfrm>
        </p:grpSpPr>
        <p:sp>
          <p:nvSpPr>
            <p:cNvPr id="5" name="object 5"/>
            <p:cNvSpPr/>
            <p:nvPr/>
          </p:nvSpPr>
          <p:spPr>
            <a:xfrm>
              <a:off x="1371600" y="7699283"/>
              <a:ext cx="5610225" cy="25400"/>
            </a:xfrm>
            <a:custGeom>
              <a:avLst/>
              <a:gdLst/>
              <a:ahLst/>
              <a:cxnLst/>
              <a:rect l="l" t="t" r="r" b="b"/>
              <a:pathLst>
                <a:path w="5610225" h="25400">
                  <a:moveTo>
                    <a:pt x="5610225" y="0"/>
                  </a:moveTo>
                  <a:lnTo>
                    <a:pt x="0" y="0"/>
                  </a:lnTo>
                  <a:lnTo>
                    <a:pt x="0" y="25400"/>
                  </a:lnTo>
                  <a:lnTo>
                    <a:pt x="5610225" y="25400"/>
                  </a:lnTo>
                  <a:lnTo>
                    <a:pt x="5610225" y="0"/>
                  </a:lnTo>
                  <a:close/>
                </a:path>
              </a:pathLst>
            </a:custGeom>
            <a:solidFill>
              <a:srgbClr val="BDBD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371600" y="7699283"/>
              <a:ext cx="5610225" cy="25400"/>
            </a:xfrm>
            <a:custGeom>
              <a:avLst/>
              <a:gdLst/>
              <a:ahLst/>
              <a:cxnLst/>
              <a:rect l="l" t="t" r="r" b="b"/>
              <a:pathLst>
                <a:path w="5610225" h="25400">
                  <a:moveTo>
                    <a:pt x="5610225" y="0"/>
                  </a:moveTo>
                  <a:lnTo>
                    <a:pt x="0" y="0"/>
                  </a:lnTo>
                  <a:lnTo>
                    <a:pt x="0" y="25400"/>
                  </a:lnTo>
                  <a:lnTo>
                    <a:pt x="12700" y="12700"/>
                  </a:lnTo>
                  <a:lnTo>
                    <a:pt x="5597525" y="12700"/>
                  </a:lnTo>
                  <a:lnTo>
                    <a:pt x="561022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371600" y="7699283"/>
              <a:ext cx="5610225" cy="25400"/>
            </a:xfrm>
            <a:custGeom>
              <a:avLst/>
              <a:gdLst/>
              <a:ahLst/>
              <a:cxnLst/>
              <a:rect l="l" t="t" r="r" b="b"/>
              <a:pathLst>
                <a:path w="5610225" h="25400">
                  <a:moveTo>
                    <a:pt x="5610225" y="0"/>
                  </a:moveTo>
                  <a:lnTo>
                    <a:pt x="5597525" y="12700"/>
                  </a:lnTo>
                  <a:lnTo>
                    <a:pt x="12700" y="12700"/>
                  </a:lnTo>
                  <a:lnTo>
                    <a:pt x="0" y="25400"/>
                  </a:lnTo>
                  <a:lnTo>
                    <a:pt x="5610225" y="25400"/>
                  </a:lnTo>
                  <a:lnTo>
                    <a:pt x="5610225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1371600" y="8300755"/>
            <a:ext cx="5610225" cy="25400"/>
            <a:chOff x="1371600" y="8300755"/>
            <a:chExt cx="5610225" cy="25400"/>
          </a:xfrm>
        </p:grpSpPr>
        <p:sp>
          <p:nvSpPr>
            <p:cNvPr id="9" name="object 9"/>
            <p:cNvSpPr/>
            <p:nvPr/>
          </p:nvSpPr>
          <p:spPr>
            <a:xfrm>
              <a:off x="1371600" y="8300755"/>
              <a:ext cx="5610225" cy="25400"/>
            </a:xfrm>
            <a:custGeom>
              <a:avLst/>
              <a:gdLst/>
              <a:ahLst/>
              <a:cxnLst/>
              <a:rect l="l" t="t" r="r" b="b"/>
              <a:pathLst>
                <a:path w="5610225" h="25400">
                  <a:moveTo>
                    <a:pt x="5610225" y="0"/>
                  </a:moveTo>
                  <a:lnTo>
                    <a:pt x="0" y="0"/>
                  </a:lnTo>
                  <a:lnTo>
                    <a:pt x="0" y="25400"/>
                  </a:lnTo>
                  <a:lnTo>
                    <a:pt x="5610225" y="25400"/>
                  </a:lnTo>
                  <a:lnTo>
                    <a:pt x="5610225" y="0"/>
                  </a:lnTo>
                  <a:close/>
                </a:path>
              </a:pathLst>
            </a:custGeom>
            <a:solidFill>
              <a:srgbClr val="BDBD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371600" y="8300755"/>
              <a:ext cx="5610225" cy="25400"/>
            </a:xfrm>
            <a:custGeom>
              <a:avLst/>
              <a:gdLst/>
              <a:ahLst/>
              <a:cxnLst/>
              <a:rect l="l" t="t" r="r" b="b"/>
              <a:pathLst>
                <a:path w="5610225" h="25400">
                  <a:moveTo>
                    <a:pt x="5610225" y="0"/>
                  </a:moveTo>
                  <a:lnTo>
                    <a:pt x="0" y="0"/>
                  </a:lnTo>
                  <a:lnTo>
                    <a:pt x="0" y="25400"/>
                  </a:lnTo>
                  <a:lnTo>
                    <a:pt x="12700" y="12700"/>
                  </a:lnTo>
                  <a:lnTo>
                    <a:pt x="5597525" y="12700"/>
                  </a:lnTo>
                  <a:lnTo>
                    <a:pt x="561022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371600" y="8300755"/>
              <a:ext cx="5610225" cy="25400"/>
            </a:xfrm>
            <a:custGeom>
              <a:avLst/>
              <a:gdLst/>
              <a:ahLst/>
              <a:cxnLst/>
              <a:rect l="l" t="t" r="r" b="b"/>
              <a:pathLst>
                <a:path w="5610225" h="25400">
                  <a:moveTo>
                    <a:pt x="5610225" y="0"/>
                  </a:moveTo>
                  <a:lnTo>
                    <a:pt x="5597525" y="12700"/>
                  </a:lnTo>
                  <a:lnTo>
                    <a:pt x="12700" y="12700"/>
                  </a:lnTo>
                  <a:lnTo>
                    <a:pt x="0" y="25400"/>
                  </a:lnTo>
                  <a:lnTo>
                    <a:pt x="5610225" y="25400"/>
                  </a:lnTo>
                  <a:lnTo>
                    <a:pt x="5610225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1358900" y="2758850"/>
            <a:ext cx="353441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b="1" spc="95" dirty="0">
                <a:latin typeface="Trebuchet MS"/>
                <a:cs typeface="Trebuchet MS"/>
              </a:rPr>
              <a:t>Find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105" dirty="0">
                <a:latin typeface="Trebuchet MS"/>
                <a:cs typeface="Trebuchet MS"/>
              </a:rPr>
              <a:t>out</a:t>
            </a:r>
            <a:r>
              <a:rPr sz="1050" b="1" spc="60" dirty="0">
                <a:latin typeface="Trebuchet MS"/>
                <a:cs typeface="Trebuchet MS"/>
              </a:rPr>
              <a:t> </a:t>
            </a:r>
            <a:r>
              <a:rPr sz="1050" b="1" spc="100" dirty="0">
                <a:latin typeface="Trebuchet MS"/>
                <a:cs typeface="Trebuchet MS"/>
              </a:rPr>
              <a:t>properties</a:t>
            </a:r>
            <a:r>
              <a:rPr sz="1050" b="1" spc="60" dirty="0">
                <a:latin typeface="Trebuchet MS"/>
                <a:cs typeface="Trebuchet MS"/>
              </a:rPr>
              <a:t> </a:t>
            </a:r>
            <a:r>
              <a:rPr sz="1050" b="1" spc="110" dirty="0">
                <a:latin typeface="Trebuchet MS"/>
                <a:cs typeface="Trebuchet MS"/>
              </a:rPr>
              <a:t>that</a:t>
            </a:r>
            <a:r>
              <a:rPr sz="1050" b="1" spc="60" dirty="0">
                <a:latin typeface="Trebuchet MS"/>
                <a:cs typeface="Trebuchet MS"/>
              </a:rPr>
              <a:t> </a:t>
            </a:r>
            <a:r>
              <a:rPr sz="1050" b="1" spc="120" dirty="0">
                <a:latin typeface="Trebuchet MS"/>
                <a:cs typeface="Trebuchet MS"/>
              </a:rPr>
              <a:t>have</a:t>
            </a:r>
            <a:r>
              <a:rPr sz="1050" b="1" spc="75" dirty="0">
                <a:latin typeface="Trebuchet MS"/>
                <a:cs typeface="Trebuchet MS"/>
              </a:rPr>
              <a:t> </a:t>
            </a:r>
            <a:r>
              <a:rPr sz="1050" b="1" spc="125" dirty="0">
                <a:latin typeface="Trebuchet MS"/>
                <a:cs typeface="Trebuchet MS"/>
              </a:rPr>
              <a:t>highest</a:t>
            </a:r>
            <a:r>
              <a:rPr sz="1050" b="1" spc="60" dirty="0">
                <a:latin typeface="Trebuchet MS"/>
                <a:cs typeface="Trebuchet MS"/>
              </a:rPr>
              <a:t> </a:t>
            </a:r>
            <a:r>
              <a:rPr sz="1050" b="1" spc="85" dirty="0">
                <a:latin typeface="Trebuchet MS"/>
                <a:cs typeface="Trebuchet MS"/>
              </a:rPr>
              <a:t>capacity</a:t>
            </a:r>
            <a:endParaRPr sz="1050">
              <a:latin typeface="Trebuchet MS"/>
              <a:cs typeface="Trebuchet MS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328737" y="3131820"/>
            <a:ext cx="5838825" cy="59118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max_capacity</a:t>
            </a:r>
            <a:r>
              <a:rPr sz="950" spc="85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90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'capacity'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max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30"/>
              </a:spcBef>
            </a:pPr>
            <a:endParaRPr sz="950">
              <a:latin typeface="Courier New"/>
              <a:cs typeface="Courier New"/>
            </a:endParaRPr>
          </a:p>
          <a:p>
            <a:pPr marL="42545">
              <a:lnSpc>
                <a:spcPct val="100000"/>
              </a:lnSpc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'capacity'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spc="270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==</a:t>
            </a:r>
            <a:r>
              <a:rPr sz="950" b="1" spc="275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max_capacity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311275" y="7130767"/>
            <a:ext cx="1431925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110" dirty="0">
                <a:latin typeface="Trebuchet MS"/>
                <a:cs typeface="Trebuchet MS"/>
              </a:rPr>
              <a:t>92</a:t>
            </a:r>
            <a:r>
              <a:rPr sz="1050" spc="15" dirty="0">
                <a:latin typeface="Trebuchet MS"/>
                <a:cs typeface="Trebuchet MS"/>
              </a:rPr>
              <a:t> </a:t>
            </a:r>
            <a:r>
              <a:rPr sz="1050" spc="60" dirty="0">
                <a:latin typeface="Trebuchet MS"/>
                <a:cs typeface="Trebuchet MS"/>
              </a:rPr>
              <a:t>rows</a:t>
            </a:r>
            <a:r>
              <a:rPr sz="1050" spc="20" dirty="0">
                <a:latin typeface="Trebuchet MS"/>
                <a:cs typeface="Trebuchet MS"/>
              </a:rPr>
              <a:t> </a:t>
            </a:r>
            <a:r>
              <a:rPr sz="1050" spc="320" dirty="0">
                <a:latin typeface="Trebuchet MS"/>
                <a:cs typeface="Trebuchet MS"/>
              </a:rPr>
              <a:t>×</a:t>
            </a:r>
            <a:r>
              <a:rPr sz="1050" spc="20" dirty="0">
                <a:latin typeface="Trebuchet MS"/>
                <a:cs typeface="Trebuchet MS"/>
              </a:rPr>
              <a:t> </a:t>
            </a:r>
            <a:r>
              <a:rPr sz="1050" spc="114" dirty="0">
                <a:latin typeface="Trebuchet MS"/>
                <a:cs typeface="Trebuchet MS"/>
              </a:rPr>
              <a:t>5</a:t>
            </a:r>
            <a:r>
              <a:rPr sz="1050" spc="20" dirty="0">
                <a:latin typeface="Trebuchet MS"/>
                <a:cs typeface="Trebuchet MS"/>
              </a:rPr>
              <a:t> </a:t>
            </a:r>
            <a:r>
              <a:rPr sz="1050" spc="60" dirty="0">
                <a:latin typeface="Trebuchet MS"/>
                <a:cs typeface="Trebuchet MS"/>
              </a:rPr>
              <a:t>columns</a:t>
            </a:r>
            <a:endParaRPr sz="1050">
              <a:latin typeface="Trebuchet MS"/>
              <a:cs typeface="Trebuchet MS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358900" y="7912877"/>
            <a:ext cx="2173605" cy="255904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500" spc="465" dirty="0">
                <a:latin typeface="Trebuchet MS"/>
                <a:cs typeface="Trebuchet MS"/>
              </a:rPr>
              <a:t>==&gt;</a:t>
            </a:r>
            <a:r>
              <a:rPr sz="1500" spc="55" dirty="0">
                <a:latin typeface="Trebuchet MS"/>
                <a:cs typeface="Trebuchet MS"/>
              </a:rPr>
              <a:t> </a:t>
            </a:r>
            <a:r>
              <a:rPr sz="1500" dirty="0">
                <a:latin typeface="Trebuchet MS"/>
                <a:cs typeface="Trebuchet MS"/>
              </a:rPr>
              <a:t>2.</a:t>
            </a:r>
            <a:r>
              <a:rPr sz="1500" spc="60" dirty="0">
                <a:latin typeface="Trebuchet MS"/>
                <a:cs typeface="Trebuchet MS"/>
              </a:rPr>
              <a:t> </a:t>
            </a:r>
            <a:r>
              <a:rPr sz="1500" spc="120" dirty="0">
                <a:latin typeface="Trebuchet MS"/>
                <a:cs typeface="Trebuchet MS"/>
              </a:rPr>
              <a:t>Data</a:t>
            </a:r>
            <a:r>
              <a:rPr sz="1500" spc="70" dirty="0">
                <a:latin typeface="Trebuchet MS"/>
                <a:cs typeface="Trebuchet MS"/>
              </a:rPr>
              <a:t> </a:t>
            </a:r>
            <a:r>
              <a:rPr sz="1500" spc="90" dirty="0">
                <a:latin typeface="Trebuchet MS"/>
                <a:cs typeface="Trebuchet MS"/>
              </a:rPr>
              <a:t>Cleaning</a:t>
            </a:r>
            <a:endParaRPr sz="1500">
              <a:latin typeface="Trebuchet MS"/>
              <a:cs typeface="Trebuchet MS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328737" y="8493125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244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4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describe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44525" y="3171795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[102…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44525" y="8532535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[103…</a:t>
            </a:r>
            <a:endParaRPr sz="9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625475" y="709612"/>
          <a:ext cx="6562723" cy="23539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7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8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8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61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763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880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Out[103…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100" dirty="0">
                          <a:latin typeface="Trebuchet MS"/>
                          <a:cs typeface="Trebuchet MS"/>
                        </a:rPr>
                        <a:t>no_guests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90" dirty="0">
                          <a:latin typeface="Trebuchet MS"/>
                          <a:cs typeface="Trebuchet MS"/>
                        </a:rPr>
                        <a:t>ratings_given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90" dirty="0">
                          <a:latin typeface="Trebuchet MS"/>
                          <a:cs typeface="Trebuchet MS"/>
                        </a:rPr>
                        <a:t>revenue_generated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3020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revenu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b="1" spc="100" dirty="0">
                          <a:latin typeface="Trebuchet MS"/>
                          <a:cs typeface="Trebuchet MS"/>
                        </a:rPr>
                        <a:t>count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134590.000000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134587.000000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85" dirty="0">
                          <a:latin typeface="Trebuchet MS"/>
                          <a:cs typeface="Trebuchet MS"/>
                        </a:rPr>
                        <a:t>56683.000000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100" dirty="0">
                          <a:latin typeface="Trebuchet MS"/>
                          <a:cs typeface="Trebuchet MS"/>
                        </a:rPr>
                        <a:t>1.345900e+05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1345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20" dirty="0">
                          <a:latin typeface="Trebuchet MS"/>
                          <a:cs typeface="Trebuchet MS"/>
                        </a:rPr>
                        <a:t>mean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5" dirty="0">
                          <a:latin typeface="Trebuchet MS"/>
                          <a:cs typeface="Trebuchet MS"/>
                        </a:rPr>
                        <a:t>18061.113493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2.036170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3.619004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0" dirty="0">
                          <a:latin typeface="Trebuchet MS"/>
                          <a:cs typeface="Trebuchet MS"/>
                        </a:rPr>
                        <a:t>1.537805e+04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126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00" dirty="0">
                          <a:latin typeface="Trebuchet MS"/>
                          <a:cs typeface="Trebuchet MS"/>
                        </a:rPr>
                        <a:t>std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5" dirty="0">
                          <a:latin typeface="Trebuchet MS"/>
                          <a:cs typeface="Trebuchet MS"/>
                        </a:rPr>
                        <a:t>1093.055847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1.034885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1.235009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0" dirty="0">
                          <a:latin typeface="Trebuchet MS"/>
                          <a:cs typeface="Trebuchet MS"/>
                        </a:rPr>
                        <a:t>9.303604e+04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69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90" dirty="0">
                          <a:latin typeface="Trebuchet MS"/>
                          <a:cs typeface="Trebuchet MS"/>
                        </a:rPr>
                        <a:t>min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5" dirty="0">
                          <a:latin typeface="Trebuchet MS"/>
                          <a:cs typeface="Trebuchet MS"/>
                        </a:rPr>
                        <a:t>16558.000000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60" dirty="0">
                          <a:latin typeface="Trebuchet MS"/>
                          <a:cs typeface="Trebuchet MS"/>
                        </a:rPr>
                        <a:t>-</a:t>
                      </a:r>
                      <a:r>
                        <a:rPr sz="950" spc="75" dirty="0">
                          <a:latin typeface="Trebuchet MS"/>
                          <a:cs typeface="Trebuchet MS"/>
                        </a:rPr>
                        <a:t>17.000000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1.000000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0" dirty="0">
                          <a:latin typeface="Trebuchet MS"/>
                          <a:cs typeface="Trebuchet MS"/>
                        </a:rPr>
                        <a:t>6.500000e+03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26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50" dirty="0">
                          <a:latin typeface="Trebuchet MS"/>
                          <a:cs typeface="Trebuchet MS"/>
                        </a:rPr>
                        <a:t>25%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5" dirty="0">
                          <a:latin typeface="Trebuchet MS"/>
                          <a:cs typeface="Trebuchet MS"/>
                        </a:rPr>
                        <a:t>17558.000000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1.000000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3.000000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0" dirty="0">
                          <a:latin typeface="Trebuchet MS"/>
                          <a:cs typeface="Trebuchet MS"/>
                        </a:rPr>
                        <a:t>9.900000e+03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76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50" dirty="0">
                          <a:latin typeface="Trebuchet MS"/>
                          <a:cs typeface="Trebuchet MS"/>
                        </a:rPr>
                        <a:t>50%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5" dirty="0">
                          <a:latin typeface="Trebuchet MS"/>
                          <a:cs typeface="Trebuchet MS"/>
                        </a:rPr>
                        <a:t>17564.000000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4.000000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0" dirty="0">
                          <a:latin typeface="Trebuchet MS"/>
                          <a:cs typeface="Trebuchet MS"/>
                        </a:rPr>
                        <a:t>1.350000e+04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117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50" dirty="0">
                          <a:latin typeface="Trebuchet MS"/>
                          <a:cs typeface="Trebuchet MS"/>
                        </a:rPr>
                        <a:t>75%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5" dirty="0">
                          <a:latin typeface="Trebuchet MS"/>
                          <a:cs typeface="Trebuchet MS"/>
                        </a:rPr>
                        <a:t>18563.000000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5.000000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0" dirty="0">
                          <a:latin typeface="Trebuchet MS"/>
                          <a:cs typeface="Trebuchet MS"/>
                        </a:rPr>
                        <a:t>1.800000e+04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153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25" dirty="0">
                          <a:latin typeface="Trebuchet MS"/>
                          <a:cs typeface="Trebuchet MS"/>
                        </a:rPr>
                        <a:t>max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5" dirty="0">
                          <a:latin typeface="Trebuchet MS"/>
                          <a:cs typeface="Trebuchet MS"/>
                        </a:rPr>
                        <a:t>19563.000000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6.000000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5.000000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0" dirty="0">
                          <a:latin typeface="Trebuchet MS"/>
                          <a:cs typeface="Trebuchet MS"/>
                        </a:rPr>
                        <a:t>2.856000e+07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452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625475" y="4049033"/>
          <a:ext cx="6566534" cy="25596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8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51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6738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Out[104…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booking_id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booking_date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65" dirty="0">
                          <a:latin typeface="Trebuchet MS"/>
                          <a:cs typeface="Trebuchet MS"/>
                        </a:rPr>
                        <a:t>check_in_date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1594" marR="12065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checkou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  <a:tabLst>
                          <a:tab pos="28829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0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27-04-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2476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2/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28829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3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28-04-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41910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2/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633095" algn="l"/>
                        </a:tabLst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17924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May122218559RT44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18559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12/5/2022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12/5/2022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633095" algn="l"/>
                        </a:tabLst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18020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May122218561RT22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18561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8/5/2022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12/5/2022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05" dirty="0">
                          <a:latin typeface="Trebuchet MS"/>
                          <a:cs typeface="Trebuchet MS"/>
                        </a:rPr>
                        <a:t>18119</a:t>
                      </a:r>
                      <a:r>
                        <a:rPr sz="950" b="1" spc="21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May122218562RT311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18562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5/5/2022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12/5/2022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17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05" dirty="0">
                          <a:latin typeface="Trebuchet MS"/>
                          <a:cs typeface="Trebuchet MS"/>
                        </a:rPr>
                        <a:t>18121</a:t>
                      </a:r>
                      <a:r>
                        <a:rPr sz="950" b="1" spc="21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May122218562RT313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18562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10/5/2022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12/5/2022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17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695325" algn="l"/>
                        </a:tabLst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56715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70" dirty="0">
                          <a:latin typeface="Trebuchet MS"/>
                          <a:cs typeface="Trebuchet MS"/>
                        </a:rPr>
                        <a:t>Jun082218562RT12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18562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5/6/2022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8/6/2022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746760" algn="l"/>
                        </a:tabLst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119765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70" dirty="0">
                          <a:latin typeface="Trebuchet MS"/>
                          <a:cs typeface="Trebuchet MS"/>
                        </a:rPr>
                        <a:t>Jul202219560RT220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19560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19-07-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20-07-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  <a:tabLst>
                          <a:tab pos="825500" algn="l"/>
                        </a:tabLst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134586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Jul312217564RT47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17564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30-07-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31-07-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2476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1/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1358900" y="3294780"/>
            <a:ext cx="1805939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b="1" spc="95" dirty="0">
                <a:latin typeface="Trebuchet MS"/>
                <a:cs typeface="Trebuchet MS"/>
              </a:rPr>
              <a:t>(1)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105" dirty="0">
                <a:latin typeface="Trebuchet MS"/>
                <a:cs typeface="Trebuchet MS"/>
              </a:rPr>
              <a:t>Clean</a:t>
            </a:r>
            <a:r>
              <a:rPr sz="1050" b="1" spc="60" dirty="0">
                <a:latin typeface="Trebuchet MS"/>
                <a:cs typeface="Trebuchet MS"/>
              </a:rPr>
              <a:t> </a:t>
            </a:r>
            <a:r>
              <a:rPr sz="1050" b="1" spc="85" dirty="0">
                <a:latin typeface="Trebuchet MS"/>
                <a:cs typeface="Trebuchet MS"/>
              </a:rPr>
              <a:t>invalid</a:t>
            </a:r>
            <a:r>
              <a:rPr sz="1050" b="1" spc="70" dirty="0">
                <a:latin typeface="Trebuchet MS"/>
                <a:cs typeface="Trebuchet MS"/>
              </a:rPr>
              <a:t> </a:t>
            </a:r>
            <a:r>
              <a:rPr sz="1050" b="1" spc="130" dirty="0">
                <a:latin typeface="Trebuchet MS"/>
                <a:cs typeface="Trebuchet MS"/>
              </a:rPr>
              <a:t>guests</a:t>
            </a:r>
            <a:endParaRPr sz="1050">
              <a:latin typeface="Trebuchet MS"/>
              <a:cs typeface="Trebuchet M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328737" y="3667759"/>
            <a:ext cx="5838825" cy="26733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no_guests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&lt;=</a:t>
            </a:r>
            <a:r>
              <a:rPr sz="950" spc="-10" dirty="0">
                <a:solidFill>
                  <a:srgbClr val="008800"/>
                </a:solidFill>
                <a:latin typeface="Courier New"/>
                <a:cs typeface="Courier New"/>
              </a:rPr>
              <a:t>0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328737" y="6899909"/>
            <a:ext cx="5838825" cy="26733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shape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358900" y="7263677"/>
            <a:ext cx="92011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latin typeface="Courier New"/>
                <a:cs typeface="Courier New"/>
              </a:rPr>
              <a:t>(134590,</a:t>
            </a:r>
            <a:r>
              <a:rPr sz="950" spc="105" dirty="0">
                <a:latin typeface="Courier New"/>
                <a:cs typeface="Courier New"/>
              </a:rPr>
              <a:t> </a:t>
            </a:r>
            <a:r>
              <a:rPr sz="950" spc="-25" dirty="0">
                <a:latin typeface="Courier New"/>
                <a:cs typeface="Courier New"/>
              </a:rPr>
              <a:t>12)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358900" y="7597492"/>
            <a:ext cx="313182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b="1" spc="95" dirty="0">
                <a:latin typeface="Trebuchet MS"/>
                <a:cs typeface="Trebuchet MS"/>
              </a:rPr>
              <a:t>(2)</a:t>
            </a:r>
            <a:r>
              <a:rPr sz="1050" b="1" spc="60" dirty="0">
                <a:latin typeface="Trebuchet MS"/>
                <a:cs typeface="Trebuchet MS"/>
              </a:rPr>
              <a:t> </a:t>
            </a:r>
            <a:r>
              <a:rPr sz="1050" b="1" spc="80" dirty="0">
                <a:latin typeface="Trebuchet MS"/>
                <a:cs typeface="Trebuchet MS"/>
              </a:rPr>
              <a:t>Outlier</a:t>
            </a:r>
            <a:r>
              <a:rPr sz="1050" b="1" spc="60" dirty="0">
                <a:latin typeface="Trebuchet MS"/>
                <a:cs typeface="Trebuchet MS"/>
              </a:rPr>
              <a:t> </a:t>
            </a:r>
            <a:r>
              <a:rPr sz="1050" b="1" spc="105" dirty="0">
                <a:latin typeface="Trebuchet MS"/>
                <a:cs typeface="Trebuchet MS"/>
              </a:rPr>
              <a:t>removal</a:t>
            </a:r>
            <a:r>
              <a:rPr sz="1050" b="1" spc="60" dirty="0">
                <a:latin typeface="Trebuchet MS"/>
                <a:cs typeface="Trebuchet MS"/>
              </a:rPr>
              <a:t> </a:t>
            </a:r>
            <a:r>
              <a:rPr sz="1050" b="1" spc="80" dirty="0">
                <a:latin typeface="Trebuchet MS"/>
                <a:cs typeface="Trebuchet MS"/>
              </a:rPr>
              <a:t>in</a:t>
            </a:r>
            <a:r>
              <a:rPr sz="1050" b="1" spc="70" dirty="0">
                <a:latin typeface="Trebuchet MS"/>
                <a:cs typeface="Trebuchet MS"/>
              </a:rPr>
              <a:t> </a:t>
            </a:r>
            <a:r>
              <a:rPr sz="1050" b="1" spc="105" dirty="0">
                <a:latin typeface="Trebuchet MS"/>
                <a:cs typeface="Trebuchet MS"/>
              </a:rPr>
              <a:t>revenue</a:t>
            </a:r>
            <a:r>
              <a:rPr sz="1050" b="1" spc="60" dirty="0">
                <a:latin typeface="Trebuchet MS"/>
                <a:cs typeface="Trebuchet MS"/>
              </a:rPr>
              <a:t> </a:t>
            </a:r>
            <a:r>
              <a:rPr sz="1050" b="1" spc="105" dirty="0">
                <a:latin typeface="Trebuchet MS"/>
                <a:cs typeface="Trebuchet MS"/>
              </a:rPr>
              <a:t>generated</a:t>
            </a:r>
            <a:endParaRPr sz="1050">
              <a:latin typeface="Trebuchet MS"/>
              <a:cs typeface="Trebuchet MS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328737" y="7970519"/>
            <a:ext cx="5838825" cy="26733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revenue_generated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min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(),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revenue_generated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max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358900" y="8334289"/>
            <a:ext cx="270954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latin typeface="Courier New"/>
                <a:cs typeface="Courier New"/>
              </a:rPr>
              <a:t>(np.int64(6500),</a:t>
            </a:r>
            <a:r>
              <a:rPr sz="950" spc="195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np.int64(28560000))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328737" y="8665844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revenue_generated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mean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(),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revenue_generated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median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358900" y="9029616"/>
            <a:ext cx="390207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latin typeface="Courier New"/>
                <a:cs typeface="Courier New"/>
              </a:rPr>
              <a:t>(np.float64(15378.05412734973),</a:t>
            </a:r>
            <a:r>
              <a:rPr sz="950" spc="370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np.float64(13500.0))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44525" y="3707725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[104…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44525" y="6939827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[105…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44525" y="7263677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Out[105…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44525" y="8010438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[106…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44525" y="8334289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Out[106…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44525" y="8705766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[107…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44525" y="9029616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Out[107…</a:t>
            </a:r>
            <a:endParaRPr sz="9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323975" y="600075"/>
            <a:ext cx="5848350" cy="276225"/>
            <a:chOff x="1323975" y="600075"/>
            <a:chExt cx="5848350" cy="276225"/>
          </a:xfrm>
        </p:grpSpPr>
        <p:sp>
          <p:nvSpPr>
            <p:cNvPr id="3" name="object 3"/>
            <p:cNvSpPr/>
            <p:nvPr/>
          </p:nvSpPr>
          <p:spPr>
            <a:xfrm>
              <a:off x="1323975" y="600075"/>
              <a:ext cx="5848350" cy="276225"/>
            </a:xfrm>
            <a:custGeom>
              <a:avLst/>
              <a:gdLst/>
              <a:ahLst/>
              <a:cxnLst/>
              <a:rect l="l" t="t" r="r" b="b"/>
              <a:pathLst>
                <a:path w="5848350" h="276225">
                  <a:moveTo>
                    <a:pt x="5848350" y="0"/>
                  </a:moveTo>
                  <a:lnTo>
                    <a:pt x="0" y="0"/>
                  </a:lnTo>
                  <a:lnTo>
                    <a:pt x="0" y="276226"/>
                  </a:lnTo>
                  <a:lnTo>
                    <a:pt x="5848350" y="276226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F5F5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323975" y="600709"/>
              <a:ext cx="5848350" cy="275590"/>
            </a:xfrm>
            <a:custGeom>
              <a:avLst/>
              <a:gdLst/>
              <a:ahLst/>
              <a:cxnLst/>
              <a:rect l="l" t="t" r="r" b="b"/>
              <a:pathLst>
                <a:path w="5848350" h="275590">
                  <a:moveTo>
                    <a:pt x="5848350" y="0"/>
                  </a:moveTo>
                  <a:lnTo>
                    <a:pt x="0" y="0"/>
                  </a:lnTo>
                  <a:lnTo>
                    <a:pt x="0" y="8890"/>
                  </a:lnTo>
                  <a:lnTo>
                    <a:pt x="0" y="266700"/>
                  </a:lnTo>
                  <a:lnTo>
                    <a:pt x="0" y="275590"/>
                  </a:lnTo>
                  <a:lnTo>
                    <a:pt x="5848350" y="275590"/>
                  </a:lnTo>
                  <a:lnTo>
                    <a:pt x="5848350" y="266700"/>
                  </a:lnTo>
                  <a:lnTo>
                    <a:pt x="9525" y="266700"/>
                  </a:lnTo>
                  <a:lnTo>
                    <a:pt x="9525" y="8890"/>
                  </a:lnTo>
                  <a:lnTo>
                    <a:pt x="5838825" y="8890"/>
                  </a:lnTo>
                  <a:lnTo>
                    <a:pt x="5838825" y="266077"/>
                  </a:lnTo>
                  <a:lnTo>
                    <a:pt x="5848350" y="266077"/>
                  </a:lnTo>
                  <a:lnTo>
                    <a:pt x="5848350" y="8890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1323975" y="3973200"/>
            <a:ext cx="5848350" cy="9525"/>
          </a:xfrm>
          <a:custGeom>
            <a:avLst/>
            <a:gdLst/>
            <a:ahLst/>
            <a:cxnLst/>
            <a:rect l="l" t="t" r="r" b="b"/>
            <a:pathLst>
              <a:path w="5848350" h="9525">
                <a:moveTo>
                  <a:pt x="5848350" y="0"/>
                </a:moveTo>
                <a:lnTo>
                  <a:pt x="0" y="0"/>
                </a:lnTo>
                <a:lnTo>
                  <a:pt x="0" y="9525"/>
                </a:lnTo>
                <a:lnTo>
                  <a:pt x="5848350" y="9525"/>
                </a:lnTo>
                <a:lnTo>
                  <a:pt x="5848350" y="0"/>
                </a:lnTo>
                <a:close/>
              </a:path>
            </a:pathLst>
          </a:custGeom>
          <a:solidFill>
            <a:srgbClr val="BDBDBD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625475" y="4587563"/>
          <a:ext cx="6567168" cy="14903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8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51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680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Out[113…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booking_id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booking_date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65" dirty="0">
                          <a:latin typeface="Trebuchet MS"/>
                          <a:cs typeface="Trebuchet MS"/>
                        </a:rPr>
                        <a:t>check_in_date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1594" marR="12065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checkou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  <a:tabLst>
                          <a:tab pos="28829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2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28-04-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25400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4/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461009" algn="l"/>
                        </a:tabLst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111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May012216559RT32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29-04-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41910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2/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461009" algn="l"/>
                        </a:tabLst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315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May012216562RT22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16562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28-04-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25400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4/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05" dirty="0">
                          <a:latin typeface="Trebuchet MS"/>
                          <a:cs typeface="Trebuchet MS"/>
                        </a:rPr>
                        <a:t>562</a:t>
                      </a:r>
                      <a:r>
                        <a:rPr sz="950" b="1" spc="204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May012217559RT118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17559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26-04-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2476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2/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  <a:tabLst>
                          <a:tab pos="825500" algn="l"/>
                        </a:tabLst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129176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Jul282216562RT26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16562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21-07-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28-07-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7" name="object 7"/>
          <p:cNvGrpSpPr/>
          <p:nvPr/>
        </p:nvGrpSpPr>
        <p:grpSpPr>
          <a:xfrm>
            <a:off x="1323975" y="9152876"/>
            <a:ext cx="5848350" cy="276225"/>
            <a:chOff x="1323975" y="9152876"/>
            <a:chExt cx="5848350" cy="276225"/>
          </a:xfrm>
        </p:grpSpPr>
        <p:sp>
          <p:nvSpPr>
            <p:cNvPr id="8" name="object 8"/>
            <p:cNvSpPr/>
            <p:nvPr/>
          </p:nvSpPr>
          <p:spPr>
            <a:xfrm>
              <a:off x="1323975" y="9152876"/>
              <a:ext cx="5848350" cy="276225"/>
            </a:xfrm>
            <a:custGeom>
              <a:avLst/>
              <a:gdLst/>
              <a:ahLst/>
              <a:cxnLst/>
              <a:rect l="l" t="t" r="r" b="b"/>
              <a:pathLst>
                <a:path w="5848350" h="276225">
                  <a:moveTo>
                    <a:pt x="5848350" y="0"/>
                  </a:moveTo>
                  <a:lnTo>
                    <a:pt x="0" y="0"/>
                  </a:lnTo>
                  <a:lnTo>
                    <a:pt x="0" y="276226"/>
                  </a:lnTo>
                  <a:lnTo>
                    <a:pt x="5848350" y="276226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F5F5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323975" y="9152889"/>
              <a:ext cx="5848350" cy="275590"/>
            </a:xfrm>
            <a:custGeom>
              <a:avLst/>
              <a:gdLst/>
              <a:ahLst/>
              <a:cxnLst/>
              <a:rect l="l" t="t" r="r" b="b"/>
              <a:pathLst>
                <a:path w="5848350" h="275590">
                  <a:moveTo>
                    <a:pt x="5848350" y="0"/>
                  </a:moveTo>
                  <a:lnTo>
                    <a:pt x="0" y="0"/>
                  </a:lnTo>
                  <a:lnTo>
                    <a:pt x="0" y="8890"/>
                  </a:lnTo>
                  <a:lnTo>
                    <a:pt x="0" y="275590"/>
                  </a:lnTo>
                  <a:lnTo>
                    <a:pt x="9525" y="275590"/>
                  </a:lnTo>
                  <a:lnTo>
                    <a:pt x="9525" y="8890"/>
                  </a:lnTo>
                  <a:lnTo>
                    <a:pt x="5838825" y="8890"/>
                  </a:lnTo>
                  <a:lnTo>
                    <a:pt x="5838825" y="275590"/>
                  </a:lnTo>
                  <a:lnTo>
                    <a:pt x="5848350" y="275590"/>
                  </a:lnTo>
                  <a:lnTo>
                    <a:pt x="5848350" y="8890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1358900" y="644530"/>
            <a:ext cx="584073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avg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,</a:t>
            </a:r>
            <a:r>
              <a:rPr sz="950" spc="140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std</a:t>
            </a:r>
            <a:r>
              <a:rPr sz="950" spc="145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145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revenue_generated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mean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(),</a:t>
            </a:r>
            <a:r>
              <a:rPr sz="950" spc="145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revenue_generated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328737" y="976313"/>
            <a:ext cx="5838825" cy="26733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244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4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avg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,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std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358900" y="1339857"/>
            <a:ext cx="464756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latin typeface="Courier New"/>
                <a:cs typeface="Courier New"/>
              </a:rPr>
              <a:t>(np.float64(15378.05412734973),</a:t>
            </a:r>
            <a:r>
              <a:rPr sz="950" spc="370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np.float64(93036.03867095453))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328737" y="1671954"/>
            <a:ext cx="5838825" cy="42862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42545" marR="3850004">
              <a:lnSpc>
                <a:spcPct val="111800"/>
              </a:lnSpc>
              <a:spcBef>
                <a:spcPts val="300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higher_limit</a:t>
            </a:r>
            <a:r>
              <a:rPr sz="950" spc="60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65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avg</a:t>
            </a:r>
            <a:r>
              <a:rPr sz="950" spc="65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+</a:t>
            </a:r>
            <a:r>
              <a:rPr sz="950" b="1" spc="65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008800"/>
                </a:solidFill>
                <a:latin typeface="Courier New"/>
                <a:cs typeface="Courier New"/>
              </a:rPr>
              <a:t>3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*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std higher_limit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358900" y="2197110"/>
            <a:ext cx="226187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latin typeface="Courier New"/>
                <a:cs typeface="Courier New"/>
              </a:rPr>
              <a:t>np.float64(294486.17014021333)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328737" y="2529204"/>
            <a:ext cx="5838825" cy="42862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42545" marR="3924300">
              <a:lnSpc>
                <a:spcPct val="111800"/>
              </a:lnSpc>
              <a:spcBef>
                <a:spcPts val="300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lower_limit</a:t>
            </a:r>
            <a:r>
              <a:rPr sz="950" spc="60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60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avg</a:t>
            </a:r>
            <a:r>
              <a:rPr sz="950" spc="60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+</a:t>
            </a:r>
            <a:r>
              <a:rPr sz="950" b="1" spc="60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008800"/>
                </a:solidFill>
                <a:latin typeface="Courier New"/>
                <a:cs typeface="Courier New"/>
              </a:rPr>
              <a:t>3</a:t>
            </a:r>
            <a:r>
              <a:rPr sz="950" b="1" spc="-20" dirty="0">
                <a:solidFill>
                  <a:srgbClr val="AA22FF"/>
                </a:solidFill>
                <a:latin typeface="Courier New"/>
                <a:cs typeface="Courier New"/>
              </a:rPr>
              <a:t>*</a:t>
            </a:r>
            <a:r>
              <a:rPr sz="950" spc="-20" dirty="0">
                <a:solidFill>
                  <a:srgbClr val="202020"/>
                </a:solidFill>
                <a:latin typeface="Courier New"/>
                <a:cs typeface="Courier New"/>
              </a:rPr>
              <a:t>std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lower_limit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358900" y="3054362"/>
            <a:ext cx="226187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latin typeface="Courier New"/>
                <a:cs typeface="Courier New"/>
              </a:rPr>
              <a:t>np.float64(294486.17014021333)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28737" y="3386454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244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4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revenue_generated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&lt;=</a:t>
            </a:r>
            <a:r>
              <a:rPr sz="950" spc="-10" dirty="0">
                <a:solidFill>
                  <a:srgbClr val="008800"/>
                </a:solidFill>
                <a:latin typeface="Courier New"/>
                <a:cs typeface="Courier New"/>
              </a:rPr>
              <a:t>0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497012" y="3745558"/>
            <a:ext cx="568515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95" dirty="0">
                <a:latin typeface="Trebuchet MS"/>
                <a:cs typeface="Trebuchet MS"/>
              </a:rPr>
              <a:t>booking_id</a:t>
            </a:r>
            <a:r>
              <a:rPr sz="950" b="1" spc="215" dirty="0">
                <a:latin typeface="Trebuchet MS"/>
                <a:cs typeface="Trebuchet MS"/>
              </a:rPr>
              <a:t>  </a:t>
            </a:r>
            <a:r>
              <a:rPr sz="950" b="1" spc="85" dirty="0">
                <a:latin typeface="Trebuchet MS"/>
                <a:cs typeface="Trebuchet MS"/>
              </a:rPr>
              <a:t>property_id</a:t>
            </a:r>
            <a:r>
              <a:rPr sz="950" b="1" spc="215" dirty="0">
                <a:latin typeface="Trebuchet MS"/>
                <a:cs typeface="Trebuchet MS"/>
              </a:rPr>
              <a:t>  </a:t>
            </a:r>
            <a:r>
              <a:rPr sz="950" b="1" spc="105" dirty="0">
                <a:latin typeface="Trebuchet MS"/>
                <a:cs typeface="Trebuchet MS"/>
              </a:rPr>
              <a:t>booking_date</a:t>
            </a:r>
            <a:r>
              <a:rPr sz="950" b="1" spc="210" dirty="0">
                <a:latin typeface="Trebuchet MS"/>
                <a:cs typeface="Trebuchet MS"/>
              </a:rPr>
              <a:t>  </a:t>
            </a:r>
            <a:r>
              <a:rPr sz="950" b="1" spc="75" dirty="0">
                <a:latin typeface="Trebuchet MS"/>
                <a:cs typeface="Trebuchet MS"/>
              </a:rPr>
              <a:t>check_in_date</a:t>
            </a:r>
            <a:r>
              <a:rPr sz="950" b="1" spc="215" dirty="0">
                <a:latin typeface="Trebuchet MS"/>
                <a:cs typeface="Trebuchet MS"/>
              </a:rPr>
              <a:t>  </a:t>
            </a:r>
            <a:r>
              <a:rPr sz="950" b="1" spc="90" dirty="0">
                <a:latin typeface="Trebuchet MS"/>
                <a:cs typeface="Trebuchet MS"/>
              </a:rPr>
              <a:t>checkout_date</a:t>
            </a:r>
            <a:r>
              <a:rPr sz="950" b="1" spc="215" dirty="0">
                <a:latin typeface="Trebuchet MS"/>
                <a:cs typeface="Trebuchet MS"/>
              </a:rPr>
              <a:t>  </a:t>
            </a:r>
            <a:r>
              <a:rPr sz="950" b="1" spc="100" dirty="0">
                <a:latin typeface="Trebuchet MS"/>
                <a:cs typeface="Trebuchet MS"/>
              </a:rPr>
              <a:t>no_gues</a:t>
            </a:r>
            <a:endParaRPr sz="950">
              <a:latin typeface="Trebuchet MS"/>
              <a:cs typeface="Trebuchet MS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328737" y="4206875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244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4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revenue_generated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&gt;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higher_limit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328737" y="6366509"/>
            <a:ext cx="5838825" cy="42862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38735" rIns="0" bIns="0" rtlCol="0">
            <a:spAutoFit/>
          </a:bodyPr>
          <a:lstStyle/>
          <a:p>
            <a:pPr marL="42545" marR="569595">
              <a:lnSpc>
                <a:spcPct val="111800"/>
              </a:lnSpc>
              <a:spcBef>
                <a:spcPts val="305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spc="80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85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revenue_generated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&lt;=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higher_limit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shape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358900" y="6892272"/>
            <a:ext cx="92011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latin typeface="Courier New"/>
                <a:cs typeface="Courier New"/>
              </a:rPr>
              <a:t>(134585,</a:t>
            </a:r>
            <a:r>
              <a:rPr sz="950" spc="105" dirty="0">
                <a:latin typeface="Courier New"/>
                <a:cs typeface="Courier New"/>
              </a:rPr>
              <a:t> </a:t>
            </a:r>
            <a:r>
              <a:rPr sz="950" spc="-25" dirty="0">
                <a:latin typeface="Courier New"/>
                <a:cs typeface="Courier New"/>
              </a:rPr>
              <a:t>12)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328737" y="7223759"/>
            <a:ext cx="5838825" cy="26733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revenue_realized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describe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2029783" y="7574264"/>
            <a:ext cx="995044" cy="1321435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R="5080" algn="r">
              <a:lnSpc>
                <a:spcPct val="100000"/>
              </a:lnSpc>
              <a:spcBef>
                <a:spcPts val="229"/>
              </a:spcBef>
            </a:pPr>
            <a:r>
              <a:rPr sz="950" spc="-10" dirty="0">
                <a:latin typeface="Courier New"/>
                <a:cs typeface="Courier New"/>
              </a:rPr>
              <a:t>134585.000000</a:t>
            </a:r>
            <a:endParaRPr sz="950">
              <a:latin typeface="Courier New"/>
              <a:cs typeface="Courier New"/>
            </a:endParaRPr>
          </a:p>
          <a:p>
            <a:pPr marR="5080" algn="r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12696.095025</a:t>
            </a:r>
            <a:endParaRPr sz="950">
              <a:latin typeface="Courier New"/>
              <a:cs typeface="Courier New"/>
            </a:endParaRPr>
          </a:p>
          <a:p>
            <a:pPr marR="5080" algn="r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6928.058192</a:t>
            </a:r>
            <a:endParaRPr sz="950">
              <a:latin typeface="Courier New"/>
              <a:cs typeface="Courier New"/>
            </a:endParaRPr>
          </a:p>
          <a:p>
            <a:pPr marR="5080" algn="r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2600.000000</a:t>
            </a:r>
            <a:endParaRPr sz="950">
              <a:latin typeface="Courier New"/>
              <a:cs typeface="Courier New"/>
            </a:endParaRPr>
          </a:p>
          <a:p>
            <a:pPr marR="5080" algn="r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7600.000000</a:t>
            </a:r>
            <a:endParaRPr sz="950">
              <a:latin typeface="Courier New"/>
              <a:cs typeface="Courier New"/>
            </a:endParaRPr>
          </a:p>
          <a:p>
            <a:pPr marR="5080" algn="r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11700.000000</a:t>
            </a:r>
            <a:endParaRPr sz="950">
              <a:latin typeface="Courier New"/>
              <a:cs typeface="Courier New"/>
            </a:endParaRPr>
          </a:p>
          <a:p>
            <a:pPr marR="5080" algn="r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15300.000000</a:t>
            </a:r>
            <a:endParaRPr sz="950">
              <a:latin typeface="Courier New"/>
              <a:cs typeface="Courier New"/>
            </a:endParaRPr>
          </a:p>
          <a:p>
            <a:pPr marR="5080" algn="r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45220.000000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358900" y="8883007"/>
            <a:ext cx="285813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latin typeface="Courier New"/>
                <a:cs typeface="Courier New"/>
              </a:rPr>
              <a:t>Name:</a:t>
            </a:r>
            <a:r>
              <a:rPr sz="950" spc="12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revenue_realized,</a:t>
            </a:r>
            <a:r>
              <a:rPr sz="950" spc="12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dtype:</a:t>
            </a:r>
            <a:r>
              <a:rPr sz="950" spc="125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float64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644525" y="7574264"/>
            <a:ext cx="1112520" cy="1321435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Out[115…</a:t>
            </a:r>
            <a:r>
              <a:rPr sz="950" spc="450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count</a:t>
            </a:r>
            <a:endParaRPr sz="950">
              <a:latin typeface="Courier New"/>
              <a:cs typeface="Courier New"/>
            </a:endParaRPr>
          </a:p>
          <a:p>
            <a:pPr marL="727075" marR="79375">
              <a:lnSpc>
                <a:spcPct val="111800"/>
              </a:lnSpc>
            </a:pPr>
            <a:r>
              <a:rPr sz="950" spc="-20" dirty="0">
                <a:latin typeface="Courier New"/>
                <a:cs typeface="Courier New"/>
              </a:rPr>
              <a:t>mean </a:t>
            </a:r>
            <a:r>
              <a:rPr sz="950" spc="-25" dirty="0">
                <a:latin typeface="Courier New"/>
                <a:cs typeface="Courier New"/>
              </a:rPr>
              <a:t>std min 25%</a:t>
            </a:r>
            <a:endParaRPr sz="950">
              <a:latin typeface="Courier New"/>
              <a:cs typeface="Courier New"/>
            </a:endParaRPr>
          </a:p>
          <a:p>
            <a:pPr marL="727075">
              <a:lnSpc>
                <a:spcPct val="100000"/>
              </a:lnSpc>
              <a:spcBef>
                <a:spcPts val="135"/>
              </a:spcBef>
            </a:pPr>
            <a:r>
              <a:rPr sz="950" spc="-25" dirty="0">
                <a:latin typeface="Courier New"/>
                <a:cs typeface="Courier New"/>
              </a:rPr>
              <a:t>50%</a:t>
            </a:r>
            <a:endParaRPr sz="950">
              <a:latin typeface="Courier New"/>
              <a:cs typeface="Courier New"/>
            </a:endParaRPr>
          </a:p>
          <a:p>
            <a:pPr marL="727075">
              <a:lnSpc>
                <a:spcPct val="100000"/>
              </a:lnSpc>
              <a:spcBef>
                <a:spcPts val="135"/>
              </a:spcBef>
            </a:pPr>
            <a:r>
              <a:rPr sz="950" spc="-25" dirty="0">
                <a:latin typeface="Courier New"/>
                <a:cs typeface="Courier New"/>
              </a:rPr>
              <a:t>75%</a:t>
            </a:r>
            <a:endParaRPr sz="950">
              <a:latin typeface="Courier New"/>
              <a:cs typeface="Courier New"/>
            </a:endParaRPr>
          </a:p>
          <a:p>
            <a:pPr marL="727075">
              <a:lnSpc>
                <a:spcPct val="100000"/>
              </a:lnSpc>
              <a:spcBef>
                <a:spcPts val="135"/>
              </a:spcBef>
            </a:pPr>
            <a:r>
              <a:rPr sz="950" spc="-25" dirty="0">
                <a:latin typeface="Courier New"/>
                <a:cs typeface="Courier New"/>
              </a:rPr>
              <a:t>max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1358900" y="9197333"/>
            <a:ext cx="584073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higher_limit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295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revenue_realized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mean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+</a:t>
            </a:r>
            <a:r>
              <a:rPr sz="950" b="1" spc="295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008800"/>
                </a:solidFill>
                <a:latin typeface="Courier New"/>
                <a:cs typeface="Courier New"/>
              </a:rPr>
              <a:t>3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*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revenue_reali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44525" y="644530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[108…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644525" y="1016006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[109…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644525" y="1339857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Out[109…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44525" y="1711332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[110…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644525" y="2197110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Out[110…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644525" y="2568586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[111…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644525" y="3054362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Out[111…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644525" y="3425838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[112…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644525" y="3749690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Out[112…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644525" y="4246255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[113…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644525" y="6406495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[114…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644525" y="6892272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Out[114…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644525" y="7263748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[115…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644525" y="9197333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[116…</a:t>
            </a:r>
            <a:endParaRPr sz="9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323975" y="600075"/>
            <a:ext cx="5848350" cy="276225"/>
            <a:chOff x="1323975" y="600075"/>
            <a:chExt cx="5848350" cy="276225"/>
          </a:xfrm>
        </p:grpSpPr>
        <p:sp>
          <p:nvSpPr>
            <p:cNvPr id="3" name="object 3"/>
            <p:cNvSpPr/>
            <p:nvPr/>
          </p:nvSpPr>
          <p:spPr>
            <a:xfrm>
              <a:off x="1323975" y="600075"/>
              <a:ext cx="5848350" cy="276225"/>
            </a:xfrm>
            <a:custGeom>
              <a:avLst/>
              <a:gdLst/>
              <a:ahLst/>
              <a:cxnLst/>
              <a:rect l="l" t="t" r="r" b="b"/>
              <a:pathLst>
                <a:path w="5848350" h="276225">
                  <a:moveTo>
                    <a:pt x="5848350" y="0"/>
                  </a:moveTo>
                  <a:lnTo>
                    <a:pt x="0" y="0"/>
                  </a:lnTo>
                  <a:lnTo>
                    <a:pt x="0" y="276226"/>
                  </a:lnTo>
                  <a:lnTo>
                    <a:pt x="5848350" y="276226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F5F5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323975" y="600709"/>
              <a:ext cx="5848350" cy="275590"/>
            </a:xfrm>
            <a:custGeom>
              <a:avLst/>
              <a:gdLst/>
              <a:ahLst/>
              <a:cxnLst/>
              <a:rect l="l" t="t" r="r" b="b"/>
              <a:pathLst>
                <a:path w="5848350" h="275590">
                  <a:moveTo>
                    <a:pt x="5848350" y="0"/>
                  </a:moveTo>
                  <a:lnTo>
                    <a:pt x="5838825" y="0"/>
                  </a:lnTo>
                  <a:lnTo>
                    <a:pt x="5838825" y="266700"/>
                  </a:lnTo>
                  <a:lnTo>
                    <a:pt x="9525" y="266700"/>
                  </a:lnTo>
                  <a:lnTo>
                    <a:pt x="9525" y="0"/>
                  </a:lnTo>
                  <a:lnTo>
                    <a:pt x="0" y="0"/>
                  </a:lnTo>
                  <a:lnTo>
                    <a:pt x="0" y="266700"/>
                  </a:lnTo>
                  <a:lnTo>
                    <a:pt x="0" y="275590"/>
                  </a:lnTo>
                  <a:lnTo>
                    <a:pt x="5848350" y="275590"/>
                  </a:lnTo>
                  <a:lnTo>
                    <a:pt x="5848350" y="266700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625475" y="1681165"/>
          <a:ext cx="6548119" cy="30943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8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51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89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Out[117…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booking_id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booking_date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65" dirty="0">
                          <a:latin typeface="Trebuchet MS"/>
                          <a:cs typeface="Trebuchet MS"/>
                        </a:rPr>
                        <a:t>check_in_date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985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checkou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  <a:tabLst>
                          <a:tab pos="461009" algn="l"/>
                        </a:tabLst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137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May012216559RT41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27-04-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6350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7/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461009" algn="l"/>
                        </a:tabLst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139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May012216559RT43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6350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2/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461009" algn="l"/>
                        </a:tabLst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143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May012216559RT47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28-04-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6350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3/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05" dirty="0">
                          <a:latin typeface="Trebuchet MS"/>
                          <a:cs typeface="Trebuchet MS"/>
                        </a:rPr>
                        <a:t>149</a:t>
                      </a:r>
                      <a:r>
                        <a:rPr sz="950" b="1" spc="204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May012216559RT413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24-04-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6350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7/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461009" algn="l"/>
                        </a:tabLst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222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May012216560RT45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16560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30-04-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6350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3/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1500505" algn="l"/>
                        </a:tabLst>
                      </a:pPr>
                      <a:r>
                        <a:rPr sz="950" b="1" spc="-25" dirty="0">
                          <a:latin typeface="Trebuchet MS"/>
                          <a:cs typeface="Trebuchet MS"/>
                        </a:rPr>
                        <a:t>...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...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...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...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...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746760" algn="l"/>
                        </a:tabLst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134331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70" dirty="0">
                          <a:latin typeface="Trebuchet MS"/>
                          <a:cs typeface="Trebuchet MS"/>
                        </a:rPr>
                        <a:t>Jul312219560RT412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19560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31-07-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31-07-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6350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1/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825500" algn="l"/>
                        </a:tabLst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134467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Jul312219562RT45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19562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28-07-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31-07-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6350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1/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746760" algn="l"/>
                        </a:tabLst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134474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70" dirty="0">
                          <a:latin typeface="Trebuchet MS"/>
                          <a:cs typeface="Trebuchet MS"/>
                        </a:rPr>
                        <a:t>Jul312219562RT412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19562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25-07-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31-07-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6350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6/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825500" algn="l"/>
                        </a:tabLst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134581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Jul312217564RT42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17564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31-07-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31-07-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6350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1/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  <a:tabLst>
                          <a:tab pos="825500" algn="l"/>
                        </a:tabLst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134586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Jul312217564RT47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17564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30-07-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31-07-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6350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1/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625475" y="6167383"/>
          <a:ext cx="2478403" cy="12846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9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28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Out[119…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room_id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90" dirty="0">
                          <a:latin typeface="Trebuchet MS"/>
                          <a:cs typeface="Trebuchet MS"/>
                        </a:rPr>
                        <a:t>room_class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60" dirty="0">
                          <a:latin typeface="Trebuchet MS"/>
                          <a:cs typeface="Trebuchet MS"/>
                        </a:rPr>
                        <a:t>Standard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Elite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60" dirty="0">
                          <a:latin typeface="Trebuchet MS"/>
                          <a:cs typeface="Trebuchet MS"/>
                        </a:rPr>
                        <a:t>Premium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Presidential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object 7"/>
          <p:cNvSpPr txBox="1"/>
          <p:nvPr/>
        </p:nvSpPr>
        <p:spPr>
          <a:xfrm>
            <a:off x="1333500" y="644530"/>
            <a:ext cx="5829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higher_limit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358900" y="968381"/>
            <a:ext cx="218757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latin typeface="Courier New"/>
                <a:cs typeface="Courier New"/>
              </a:rPr>
              <a:t>np.float64(33480.26960155918)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328737" y="1300163"/>
            <a:ext cx="5838825" cy="26733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244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4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revenue_realized</a:t>
            </a:r>
            <a:r>
              <a:rPr sz="950" spc="250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&gt;</a:t>
            </a:r>
            <a:r>
              <a:rPr sz="950" b="1" spc="250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higher_limit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311275" y="4974977"/>
            <a:ext cx="168656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110" dirty="0">
                <a:latin typeface="Trebuchet MS"/>
                <a:cs typeface="Trebuchet MS"/>
              </a:rPr>
              <a:t>1300</a:t>
            </a:r>
            <a:r>
              <a:rPr sz="1050" spc="20" dirty="0">
                <a:latin typeface="Trebuchet MS"/>
                <a:cs typeface="Trebuchet MS"/>
              </a:rPr>
              <a:t> </a:t>
            </a:r>
            <a:r>
              <a:rPr sz="1050" spc="60" dirty="0">
                <a:latin typeface="Trebuchet MS"/>
                <a:cs typeface="Trebuchet MS"/>
              </a:rPr>
              <a:t>rows</a:t>
            </a:r>
            <a:r>
              <a:rPr sz="1050" spc="20" dirty="0">
                <a:latin typeface="Trebuchet MS"/>
                <a:cs typeface="Trebuchet MS"/>
              </a:rPr>
              <a:t> </a:t>
            </a:r>
            <a:r>
              <a:rPr sz="1050" spc="320" dirty="0">
                <a:latin typeface="Trebuchet MS"/>
                <a:cs typeface="Trebuchet MS"/>
              </a:rPr>
              <a:t>×</a:t>
            </a:r>
            <a:r>
              <a:rPr sz="1050" spc="20" dirty="0">
                <a:latin typeface="Trebuchet MS"/>
                <a:cs typeface="Trebuchet MS"/>
              </a:rPr>
              <a:t> </a:t>
            </a:r>
            <a:r>
              <a:rPr sz="1050" spc="110" dirty="0">
                <a:latin typeface="Trebuchet MS"/>
                <a:cs typeface="Trebuchet MS"/>
              </a:rPr>
              <a:t>12</a:t>
            </a:r>
            <a:r>
              <a:rPr sz="1050" spc="25" dirty="0">
                <a:latin typeface="Trebuchet MS"/>
                <a:cs typeface="Trebuchet MS"/>
              </a:rPr>
              <a:t> </a:t>
            </a:r>
            <a:r>
              <a:rPr sz="1050" spc="60" dirty="0">
                <a:latin typeface="Trebuchet MS"/>
                <a:cs typeface="Trebuchet MS"/>
              </a:rPr>
              <a:t>columns</a:t>
            </a:r>
            <a:endParaRPr sz="1050">
              <a:latin typeface="Trebuchet MS"/>
              <a:cs typeface="Trebuchet MS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328737" y="5414645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df_rooms</a:t>
            </a:r>
            <a:r>
              <a:rPr sz="950" spc="65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65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pd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read_csv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"dim_rooms.csv"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328737" y="5786120"/>
            <a:ext cx="5838825" cy="26733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df_rooms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328737" y="7678419"/>
            <a:ext cx="5838825" cy="26733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room_category</a:t>
            </a:r>
            <a:r>
              <a:rPr sz="950" spc="440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==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"RT4"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revenue_realized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describe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44525" y="968381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Out[116…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44525" y="1339857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[117…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44525" y="5454598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[118…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44525" y="5826074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[119…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44525" y="7718349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[120…</a:t>
            </a:r>
            <a:endParaRPr sz="9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625475" y="713742"/>
          <a:ext cx="6633209" cy="65474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029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2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75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marR="35560" algn="ctr">
                        <a:lnSpc>
                          <a:spcPts val="1095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Out[120…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2545">
                        <a:lnSpc>
                          <a:spcPts val="1095"/>
                        </a:lnSpc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count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L="260350" marR="3175">
                        <a:lnSpc>
                          <a:spcPts val="1095"/>
                        </a:lnSpc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16073.000000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20" dirty="0">
                          <a:latin typeface="Courier New"/>
                          <a:cs typeface="Courier New"/>
                        </a:rPr>
                        <a:t>mean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 gridSpan="2">
                  <a:txBody>
                    <a:bodyPr/>
                    <a:lstStyle/>
                    <a:p>
                      <a:pPr marL="260350" marR="3175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23440.103652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25" dirty="0">
                          <a:latin typeface="Courier New"/>
                          <a:cs typeface="Courier New"/>
                        </a:rPr>
                        <a:t>std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 gridSpan="2">
                  <a:txBody>
                    <a:bodyPr/>
                    <a:lstStyle/>
                    <a:p>
                      <a:pPr marL="335280" marR="3175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9048.865206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25" dirty="0">
                          <a:latin typeface="Courier New"/>
                          <a:cs typeface="Courier New"/>
                        </a:rPr>
                        <a:t>min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 gridSpan="2">
                  <a:txBody>
                    <a:bodyPr/>
                    <a:lstStyle/>
                    <a:p>
                      <a:pPr marL="335280" marR="3175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7600.000000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25" dirty="0">
                          <a:latin typeface="Courier New"/>
                          <a:cs typeface="Courier New"/>
                        </a:rPr>
                        <a:t>25%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 gridSpan="2">
                  <a:txBody>
                    <a:bodyPr/>
                    <a:lstStyle/>
                    <a:p>
                      <a:pPr marL="260350" marR="3175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19000.000000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25" dirty="0">
                          <a:latin typeface="Courier New"/>
                          <a:cs typeface="Courier New"/>
                        </a:rPr>
                        <a:t>50%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 gridSpan="2">
                  <a:txBody>
                    <a:bodyPr/>
                    <a:lstStyle/>
                    <a:p>
                      <a:pPr marL="260350" marR="3175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26600.000000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25" dirty="0">
                          <a:latin typeface="Courier New"/>
                          <a:cs typeface="Courier New"/>
                        </a:rPr>
                        <a:t>75%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 gridSpan="2">
                  <a:txBody>
                    <a:bodyPr/>
                    <a:lstStyle/>
                    <a:p>
                      <a:pPr marL="260350" marR="3175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32300.000000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354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25" dirty="0">
                          <a:latin typeface="Courier New"/>
                          <a:cs typeface="Courier New"/>
                        </a:rPr>
                        <a:t>max</a:t>
                      </a:r>
                      <a:endParaRPr sz="950">
                        <a:latin typeface="Courier New"/>
                        <a:cs typeface="Courier New"/>
                      </a:endParaRPr>
                    </a:p>
                    <a:p>
                      <a:pPr marL="42545">
                        <a:lnSpc>
                          <a:spcPct val="100000"/>
                        </a:lnSpc>
                        <a:spcBef>
                          <a:spcPts val="13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Name: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 gridSpan="2">
                  <a:txBody>
                    <a:bodyPr/>
                    <a:lstStyle/>
                    <a:p>
                      <a:pPr marL="260350" marR="3175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45220.000000</a:t>
                      </a:r>
                      <a:endParaRPr sz="950">
                        <a:latin typeface="Courier New"/>
                        <a:cs typeface="Courier New"/>
                      </a:endParaRPr>
                    </a:p>
                    <a:p>
                      <a:pPr marL="36830" marR="3175">
                        <a:lnSpc>
                          <a:spcPct val="100000"/>
                        </a:lnSpc>
                        <a:spcBef>
                          <a:spcPts val="135"/>
                        </a:spcBef>
                      </a:pPr>
                      <a:r>
                        <a:rPr sz="950" dirty="0">
                          <a:latin typeface="Courier New"/>
                          <a:cs typeface="Courier New"/>
                        </a:rPr>
                        <a:t>revenue_realized,</a:t>
                      </a:r>
                      <a:r>
                        <a:rPr sz="950" spc="145" dirty="0"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dtype:</a:t>
                      </a:r>
                      <a:r>
                        <a:rPr sz="950" spc="145" dirty="0"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950" spc="-10" dirty="0">
                          <a:latin typeface="Courier New"/>
                          <a:cs typeface="Courier New"/>
                        </a:rPr>
                        <a:t>float64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R="35560" algn="ctr">
                        <a:lnSpc>
                          <a:spcPct val="100000"/>
                        </a:lnSpc>
                        <a:spcBef>
                          <a:spcPts val="434"/>
                        </a:spcBef>
                      </a:pPr>
                      <a:r>
                        <a:rPr sz="95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In</a:t>
                      </a:r>
                      <a:r>
                        <a:rPr sz="950" spc="35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950" spc="-2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[121…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55244" marB="0">
                    <a:lnR w="9525">
                      <a:solidFill>
                        <a:srgbClr val="DFDFD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434"/>
                        </a:spcBef>
                      </a:pPr>
                      <a:r>
                        <a:rPr sz="950" dirty="0">
                          <a:solidFill>
                            <a:srgbClr val="008800"/>
                          </a:solidFill>
                          <a:latin typeface="Courier New"/>
                          <a:cs typeface="Courier New"/>
                        </a:rPr>
                        <a:t>2439</a:t>
                      </a:r>
                      <a:r>
                        <a:rPr sz="950" spc="40" dirty="0">
                          <a:solidFill>
                            <a:srgbClr val="008800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950" b="1" dirty="0">
                          <a:solidFill>
                            <a:srgbClr val="AA22FF"/>
                          </a:solidFill>
                          <a:latin typeface="Courier New"/>
                          <a:cs typeface="Courier New"/>
                        </a:rPr>
                        <a:t>+</a:t>
                      </a:r>
                      <a:r>
                        <a:rPr sz="950" b="1" spc="45" dirty="0">
                          <a:solidFill>
                            <a:srgbClr val="AA22FF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950" spc="-10" dirty="0">
                          <a:solidFill>
                            <a:srgbClr val="008800"/>
                          </a:solidFill>
                          <a:latin typeface="Courier New"/>
                          <a:cs typeface="Courier New"/>
                        </a:rPr>
                        <a:t>3</a:t>
                      </a:r>
                      <a:r>
                        <a:rPr sz="950" b="1" spc="-10" dirty="0">
                          <a:solidFill>
                            <a:srgbClr val="AA22FF"/>
                          </a:solidFill>
                          <a:latin typeface="Courier New"/>
                          <a:cs typeface="Courier New"/>
                        </a:rPr>
                        <a:t>*</a:t>
                      </a:r>
                      <a:r>
                        <a:rPr sz="950" spc="-10" dirty="0">
                          <a:solidFill>
                            <a:srgbClr val="008800"/>
                          </a:solidFill>
                          <a:latin typeface="Courier New"/>
                          <a:cs typeface="Courier New"/>
                        </a:rPr>
                        <a:t>9048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55244" marB="0">
                    <a:lnL w="9525">
                      <a:solidFill>
                        <a:srgbClr val="DFDFDF"/>
                      </a:solidFill>
                      <a:prstDash val="solid"/>
                    </a:lnL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7990">
                <a:tc>
                  <a:txBody>
                    <a:bodyPr/>
                    <a:lstStyle/>
                    <a:p>
                      <a:pPr marR="35560" algn="ctr">
                        <a:lnSpc>
                          <a:spcPct val="100000"/>
                        </a:lnSpc>
                        <a:spcBef>
                          <a:spcPts val="885"/>
                        </a:spcBef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Out[121…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112395" marB="0"/>
                </a:tc>
                <a:tc gridSpan="2"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88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29583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112395" marB="0"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R="35560" algn="ctr">
                        <a:lnSpc>
                          <a:spcPct val="100000"/>
                        </a:lnSpc>
                        <a:spcBef>
                          <a:spcPts val="434"/>
                        </a:spcBef>
                      </a:pPr>
                      <a:r>
                        <a:rPr sz="95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In</a:t>
                      </a:r>
                      <a:r>
                        <a:rPr sz="950" spc="35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950" spc="-2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[122…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55244" marB="0">
                    <a:lnR w="9525">
                      <a:solidFill>
                        <a:srgbClr val="DFDFD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434"/>
                        </a:spcBef>
                      </a:pPr>
                      <a:r>
                        <a:rPr sz="950" spc="-10" dirty="0">
                          <a:solidFill>
                            <a:srgbClr val="202020"/>
                          </a:solidFill>
                          <a:latin typeface="Courier New"/>
                          <a:cs typeface="Courier New"/>
                        </a:rPr>
                        <a:t>df_bookings</a:t>
                      </a:r>
                      <a:r>
                        <a:rPr sz="950" spc="-10" dirty="0">
                          <a:solidFill>
                            <a:srgbClr val="0055AA"/>
                          </a:solidFill>
                          <a:latin typeface="Courier New"/>
                          <a:cs typeface="Courier New"/>
                        </a:rPr>
                        <a:t>[</a:t>
                      </a:r>
                      <a:r>
                        <a:rPr sz="950" spc="-10" dirty="0">
                          <a:solidFill>
                            <a:srgbClr val="202020"/>
                          </a:solidFill>
                          <a:latin typeface="Courier New"/>
                          <a:cs typeface="Courier New"/>
                        </a:rPr>
                        <a:t>df_bookings</a:t>
                      </a:r>
                      <a:r>
                        <a:rPr sz="950" b="1" spc="-10" dirty="0">
                          <a:solidFill>
                            <a:srgbClr val="AA22FF"/>
                          </a:solidFill>
                          <a:latin typeface="Courier New"/>
                          <a:cs typeface="Courier New"/>
                        </a:rPr>
                        <a:t>.</a:t>
                      </a:r>
                      <a:r>
                        <a:rPr sz="950" spc="-10" dirty="0">
                          <a:solidFill>
                            <a:srgbClr val="202020"/>
                          </a:solidFill>
                          <a:latin typeface="Courier New"/>
                          <a:cs typeface="Courier New"/>
                        </a:rPr>
                        <a:t>booking_id</a:t>
                      </a:r>
                      <a:r>
                        <a:rPr sz="950" b="1" spc="-10" dirty="0">
                          <a:solidFill>
                            <a:srgbClr val="AA22FF"/>
                          </a:solidFill>
                          <a:latin typeface="Courier New"/>
                          <a:cs typeface="Courier New"/>
                        </a:rPr>
                        <a:t>==</a:t>
                      </a:r>
                      <a:r>
                        <a:rPr sz="950" spc="-10" dirty="0">
                          <a:solidFill>
                            <a:srgbClr val="BA2121"/>
                          </a:solidFill>
                          <a:latin typeface="Courier New"/>
                          <a:cs typeface="Courier New"/>
                        </a:rPr>
                        <a:t>"May012216558RT213"</a:t>
                      </a:r>
                      <a:r>
                        <a:rPr sz="950" spc="-10" dirty="0">
                          <a:solidFill>
                            <a:srgbClr val="0055AA"/>
                          </a:solidFill>
                          <a:latin typeface="Courier New"/>
                          <a:cs typeface="Courier New"/>
                        </a:rPr>
                        <a:t>]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55244" marB="0">
                    <a:lnL w="9525">
                      <a:solidFill>
                        <a:srgbClr val="DFDFDF"/>
                      </a:solidFill>
                      <a:prstDash val="solid"/>
                    </a:lnL>
                    <a:lnT w="9525">
                      <a:solidFill>
                        <a:srgbClr val="DFDFDF"/>
                      </a:solidFill>
                      <a:prstDash val="solid"/>
                    </a:lnT>
                    <a:lnB w="12700">
                      <a:solidFill>
                        <a:srgbClr val="DFDFD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12700">
                      <a:solidFill>
                        <a:srgbClr val="DFDFD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4485">
                <a:tc>
                  <a:txBody>
                    <a:bodyPr/>
                    <a:lstStyle/>
                    <a:p>
                      <a:pPr marR="35560" algn="ctr">
                        <a:lnSpc>
                          <a:spcPct val="100000"/>
                        </a:lnSpc>
                        <a:spcBef>
                          <a:spcPts val="885"/>
                        </a:spcBef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Out[122…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112395" marB="0"/>
                </a:tc>
                <a:tc gridSpan="2">
                  <a:txBody>
                    <a:bodyPr/>
                    <a:lstStyle/>
                    <a:p>
                      <a:pPr marL="953769">
                        <a:lnSpc>
                          <a:spcPct val="100000"/>
                        </a:lnSpc>
                        <a:spcBef>
                          <a:spcPts val="850"/>
                        </a:spcBef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booking_id</a:t>
                      </a:r>
                      <a:r>
                        <a:rPr sz="950" b="1" spc="21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b="1" spc="85" dirty="0">
                          <a:latin typeface="Trebuchet MS"/>
                          <a:cs typeface="Trebuchet MS"/>
                        </a:rPr>
                        <a:t>property_id</a:t>
                      </a:r>
                      <a:r>
                        <a:rPr sz="950" b="1" spc="215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b="1" spc="105" dirty="0">
                          <a:latin typeface="Trebuchet MS"/>
                          <a:cs typeface="Trebuchet MS"/>
                        </a:rPr>
                        <a:t>booking_date</a:t>
                      </a:r>
                      <a:r>
                        <a:rPr sz="950" b="1" spc="21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b="1" spc="65" dirty="0">
                          <a:latin typeface="Trebuchet MS"/>
                          <a:cs typeface="Trebuchet MS"/>
                        </a:rPr>
                        <a:t>check_in_date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07950" marB="0">
                    <a:lnT w="12700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4445" algn="r">
                        <a:lnSpc>
                          <a:spcPct val="100000"/>
                        </a:lnSpc>
                        <a:spcBef>
                          <a:spcPts val="85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checkout_dat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07950" marB="0">
                    <a:lnT w="12700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959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L="57150">
                        <a:lnSpc>
                          <a:spcPct val="100000"/>
                        </a:lnSpc>
                        <a:spcBef>
                          <a:spcPts val="480"/>
                        </a:spcBef>
                        <a:tabLst>
                          <a:tab pos="2238375" algn="l"/>
                          <a:tab pos="3131820" algn="l"/>
                          <a:tab pos="4232275" algn="l"/>
                        </a:tabLst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30</a:t>
                      </a:r>
                      <a:r>
                        <a:rPr sz="950" b="1" spc="20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5" dirty="0">
                          <a:latin typeface="Trebuchet MS"/>
                          <a:cs typeface="Trebuchet MS"/>
                        </a:rPr>
                        <a:t>May012216558RT213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80" dirty="0">
                          <a:latin typeface="Trebuchet MS"/>
                          <a:cs typeface="Trebuchet MS"/>
                        </a:rPr>
                        <a:t>29-04-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2/5/202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R="35560" algn="ctr">
                        <a:lnSpc>
                          <a:spcPct val="100000"/>
                        </a:lnSpc>
                        <a:spcBef>
                          <a:spcPts val="434"/>
                        </a:spcBef>
                      </a:pPr>
                      <a:r>
                        <a:rPr sz="95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In</a:t>
                      </a:r>
                      <a:r>
                        <a:rPr sz="950" spc="35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950" spc="-2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[123…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55244" marB="0">
                    <a:lnR w="9525">
                      <a:solidFill>
                        <a:srgbClr val="DFDFD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434"/>
                        </a:spcBef>
                      </a:pPr>
                      <a:r>
                        <a:rPr sz="950" spc="-10" dirty="0">
                          <a:solidFill>
                            <a:srgbClr val="202020"/>
                          </a:solidFill>
                          <a:latin typeface="Courier New"/>
                          <a:cs typeface="Courier New"/>
                        </a:rPr>
                        <a:t>df_bookings</a:t>
                      </a:r>
                      <a:r>
                        <a:rPr sz="950" b="1" spc="-10" dirty="0">
                          <a:solidFill>
                            <a:srgbClr val="AA22FF"/>
                          </a:solidFill>
                          <a:latin typeface="Courier New"/>
                          <a:cs typeface="Courier New"/>
                        </a:rPr>
                        <a:t>.</a:t>
                      </a:r>
                      <a:r>
                        <a:rPr sz="950" spc="-10" dirty="0">
                          <a:solidFill>
                            <a:srgbClr val="202020"/>
                          </a:solidFill>
                          <a:latin typeface="Courier New"/>
                          <a:cs typeface="Courier New"/>
                        </a:rPr>
                        <a:t>isnull</a:t>
                      </a:r>
                      <a:r>
                        <a:rPr sz="950" spc="-10" dirty="0">
                          <a:solidFill>
                            <a:srgbClr val="0055AA"/>
                          </a:solidFill>
                          <a:latin typeface="Courier New"/>
                          <a:cs typeface="Courier New"/>
                        </a:rPr>
                        <a:t>()</a:t>
                      </a:r>
                      <a:r>
                        <a:rPr sz="950" b="1" spc="-10" dirty="0">
                          <a:solidFill>
                            <a:srgbClr val="AA22FF"/>
                          </a:solidFill>
                          <a:latin typeface="Courier New"/>
                          <a:cs typeface="Courier New"/>
                        </a:rPr>
                        <a:t>.</a:t>
                      </a:r>
                      <a:r>
                        <a:rPr sz="950" spc="-10" dirty="0">
                          <a:solidFill>
                            <a:srgbClr val="202020"/>
                          </a:solidFill>
                          <a:latin typeface="Courier New"/>
                          <a:cs typeface="Courier New"/>
                        </a:rPr>
                        <a:t>sum</a:t>
                      </a:r>
                      <a:r>
                        <a:rPr sz="950" spc="-10" dirty="0">
                          <a:solidFill>
                            <a:srgbClr val="0055AA"/>
                          </a:solidFill>
                          <a:latin typeface="Courier New"/>
                          <a:cs typeface="Courier New"/>
                        </a:rPr>
                        <a:t>()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55244" marB="0">
                    <a:lnL w="9525">
                      <a:solidFill>
                        <a:srgbClr val="DFDFDF"/>
                      </a:solidFill>
                      <a:prstDash val="solid"/>
                    </a:lnL>
                    <a:lnT w="9525">
                      <a:solidFill>
                        <a:srgbClr val="DFDFDF"/>
                      </a:solidFill>
                      <a:prstDash val="solid"/>
                    </a:lnT>
                    <a:lnB w="12700">
                      <a:solidFill>
                        <a:srgbClr val="DFDFD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12700">
                      <a:solidFill>
                        <a:srgbClr val="DFDFD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14575">
                <a:tc>
                  <a:txBody>
                    <a:bodyPr/>
                    <a:lstStyle/>
                    <a:p>
                      <a:pPr marR="35560" algn="ctr">
                        <a:lnSpc>
                          <a:spcPct val="100000"/>
                        </a:lnSpc>
                        <a:spcBef>
                          <a:spcPts val="885"/>
                        </a:spcBef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Out[123…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112395" marB="0"/>
                </a:tc>
                <a:tc gridSpan="2"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885"/>
                        </a:spcBef>
                        <a:tabLst>
                          <a:tab pos="1906270" algn="l"/>
                        </a:tabLst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booking_id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	</a:t>
                      </a:r>
                      <a:r>
                        <a:rPr sz="950" spc="-50" dirty="0">
                          <a:latin typeface="Courier New"/>
                          <a:cs typeface="Courier New"/>
                        </a:rPr>
                        <a:t>0</a:t>
                      </a:r>
                      <a:endParaRPr sz="950">
                        <a:latin typeface="Courier New"/>
                        <a:cs typeface="Courier New"/>
                      </a:endParaRPr>
                    </a:p>
                    <a:p>
                      <a:pPr marL="42545">
                        <a:lnSpc>
                          <a:spcPct val="100000"/>
                        </a:lnSpc>
                        <a:spcBef>
                          <a:spcPts val="135"/>
                        </a:spcBef>
                        <a:tabLst>
                          <a:tab pos="1906270" algn="l"/>
                        </a:tabLst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property_id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	</a:t>
                      </a:r>
                      <a:r>
                        <a:rPr sz="950" spc="-50" dirty="0">
                          <a:latin typeface="Courier New"/>
                          <a:cs typeface="Courier New"/>
                        </a:rPr>
                        <a:t>0</a:t>
                      </a:r>
                      <a:endParaRPr sz="950">
                        <a:latin typeface="Courier New"/>
                        <a:cs typeface="Courier New"/>
                      </a:endParaRPr>
                    </a:p>
                    <a:p>
                      <a:pPr marL="42545">
                        <a:lnSpc>
                          <a:spcPct val="100000"/>
                        </a:lnSpc>
                        <a:spcBef>
                          <a:spcPts val="135"/>
                        </a:spcBef>
                        <a:tabLst>
                          <a:tab pos="1906270" algn="l"/>
                        </a:tabLst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booking_date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	</a:t>
                      </a:r>
                      <a:r>
                        <a:rPr sz="950" spc="-50" dirty="0">
                          <a:latin typeface="Courier New"/>
                          <a:cs typeface="Courier New"/>
                        </a:rPr>
                        <a:t>0</a:t>
                      </a:r>
                      <a:endParaRPr sz="950">
                        <a:latin typeface="Courier New"/>
                        <a:cs typeface="Courier New"/>
                      </a:endParaRPr>
                    </a:p>
                    <a:p>
                      <a:pPr marL="42545">
                        <a:lnSpc>
                          <a:spcPct val="100000"/>
                        </a:lnSpc>
                        <a:spcBef>
                          <a:spcPts val="135"/>
                        </a:spcBef>
                        <a:tabLst>
                          <a:tab pos="1906270" algn="l"/>
                        </a:tabLst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check_in_date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	</a:t>
                      </a:r>
                      <a:r>
                        <a:rPr sz="950" spc="-50" dirty="0">
                          <a:latin typeface="Courier New"/>
                          <a:cs typeface="Courier New"/>
                        </a:rPr>
                        <a:t>0</a:t>
                      </a:r>
                      <a:endParaRPr sz="950">
                        <a:latin typeface="Courier New"/>
                        <a:cs typeface="Courier New"/>
                      </a:endParaRPr>
                    </a:p>
                    <a:p>
                      <a:pPr marL="42545">
                        <a:lnSpc>
                          <a:spcPct val="100000"/>
                        </a:lnSpc>
                        <a:spcBef>
                          <a:spcPts val="135"/>
                        </a:spcBef>
                        <a:tabLst>
                          <a:tab pos="1906270" algn="l"/>
                        </a:tabLst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checkout_date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	</a:t>
                      </a:r>
                      <a:r>
                        <a:rPr sz="950" spc="-50" dirty="0">
                          <a:latin typeface="Courier New"/>
                          <a:cs typeface="Courier New"/>
                        </a:rPr>
                        <a:t>0</a:t>
                      </a:r>
                      <a:endParaRPr sz="950">
                        <a:latin typeface="Courier New"/>
                        <a:cs typeface="Courier New"/>
                      </a:endParaRPr>
                    </a:p>
                    <a:p>
                      <a:pPr marL="42545">
                        <a:lnSpc>
                          <a:spcPct val="100000"/>
                        </a:lnSpc>
                        <a:spcBef>
                          <a:spcPts val="135"/>
                        </a:spcBef>
                        <a:tabLst>
                          <a:tab pos="1906270" algn="l"/>
                        </a:tabLst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no_guests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	</a:t>
                      </a:r>
                      <a:r>
                        <a:rPr sz="950" spc="-50" dirty="0">
                          <a:latin typeface="Courier New"/>
                          <a:cs typeface="Courier New"/>
                        </a:rPr>
                        <a:t>3</a:t>
                      </a:r>
                      <a:endParaRPr sz="950">
                        <a:latin typeface="Courier New"/>
                        <a:cs typeface="Courier New"/>
                      </a:endParaRPr>
                    </a:p>
                    <a:p>
                      <a:pPr marL="42545">
                        <a:lnSpc>
                          <a:spcPct val="100000"/>
                        </a:lnSpc>
                        <a:spcBef>
                          <a:spcPts val="135"/>
                        </a:spcBef>
                        <a:tabLst>
                          <a:tab pos="1906270" algn="l"/>
                        </a:tabLst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room_category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	</a:t>
                      </a:r>
                      <a:r>
                        <a:rPr sz="950" spc="-50" dirty="0">
                          <a:latin typeface="Courier New"/>
                          <a:cs typeface="Courier New"/>
                        </a:rPr>
                        <a:t>0</a:t>
                      </a:r>
                      <a:endParaRPr sz="950">
                        <a:latin typeface="Courier New"/>
                        <a:cs typeface="Courier New"/>
                      </a:endParaRPr>
                    </a:p>
                    <a:p>
                      <a:pPr marL="42545">
                        <a:lnSpc>
                          <a:spcPct val="100000"/>
                        </a:lnSpc>
                        <a:spcBef>
                          <a:spcPts val="135"/>
                        </a:spcBef>
                        <a:tabLst>
                          <a:tab pos="1906270" algn="l"/>
                        </a:tabLst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booking_platform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	</a:t>
                      </a:r>
                      <a:r>
                        <a:rPr sz="950" spc="-50" dirty="0">
                          <a:latin typeface="Courier New"/>
                          <a:cs typeface="Courier New"/>
                        </a:rPr>
                        <a:t>0</a:t>
                      </a:r>
                      <a:endParaRPr sz="950">
                        <a:latin typeface="Courier New"/>
                        <a:cs typeface="Courier New"/>
                      </a:endParaRPr>
                    </a:p>
                    <a:p>
                      <a:pPr marL="42545">
                        <a:lnSpc>
                          <a:spcPct val="100000"/>
                        </a:lnSpc>
                        <a:spcBef>
                          <a:spcPts val="135"/>
                        </a:spcBef>
                        <a:tabLst>
                          <a:tab pos="1607820" algn="l"/>
                        </a:tabLst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ratings_given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	</a:t>
                      </a:r>
                      <a:r>
                        <a:rPr sz="950" spc="-10" dirty="0">
                          <a:latin typeface="Courier New"/>
                          <a:cs typeface="Courier New"/>
                        </a:rPr>
                        <a:t>77905</a:t>
                      </a:r>
                      <a:endParaRPr sz="950">
                        <a:latin typeface="Courier New"/>
                        <a:cs typeface="Courier New"/>
                      </a:endParaRPr>
                    </a:p>
                    <a:p>
                      <a:pPr marL="42545">
                        <a:lnSpc>
                          <a:spcPct val="100000"/>
                        </a:lnSpc>
                        <a:spcBef>
                          <a:spcPts val="135"/>
                        </a:spcBef>
                        <a:tabLst>
                          <a:tab pos="1906270" algn="l"/>
                        </a:tabLst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booking_status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	</a:t>
                      </a:r>
                      <a:r>
                        <a:rPr sz="950" spc="-50" dirty="0">
                          <a:latin typeface="Courier New"/>
                          <a:cs typeface="Courier New"/>
                        </a:rPr>
                        <a:t>0</a:t>
                      </a:r>
                      <a:endParaRPr sz="950">
                        <a:latin typeface="Courier New"/>
                        <a:cs typeface="Courier New"/>
                      </a:endParaRPr>
                    </a:p>
                    <a:p>
                      <a:pPr marL="42545">
                        <a:lnSpc>
                          <a:spcPct val="100000"/>
                        </a:lnSpc>
                        <a:spcBef>
                          <a:spcPts val="135"/>
                        </a:spcBef>
                        <a:tabLst>
                          <a:tab pos="1906270" algn="l"/>
                        </a:tabLst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revenue_generated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	</a:t>
                      </a:r>
                      <a:r>
                        <a:rPr sz="950" spc="-50" dirty="0">
                          <a:latin typeface="Courier New"/>
                          <a:cs typeface="Courier New"/>
                        </a:rPr>
                        <a:t>0</a:t>
                      </a:r>
                      <a:endParaRPr sz="950">
                        <a:latin typeface="Courier New"/>
                        <a:cs typeface="Courier New"/>
                      </a:endParaRPr>
                    </a:p>
                    <a:p>
                      <a:pPr marL="42545" marR="2861945">
                        <a:lnSpc>
                          <a:spcPct val="111800"/>
                        </a:lnSpc>
                        <a:tabLst>
                          <a:tab pos="1906270" algn="l"/>
                        </a:tabLst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revenue_realized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	</a:t>
                      </a:r>
                      <a:r>
                        <a:rPr sz="950" spc="-50" dirty="0">
                          <a:latin typeface="Courier New"/>
                          <a:cs typeface="Courier New"/>
                        </a:rPr>
                        <a:t>0 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dtype:</a:t>
                      </a:r>
                      <a:r>
                        <a:rPr sz="950" spc="80" dirty="0"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950" spc="-10" dirty="0">
                          <a:latin typeface="Courier New"/>
                          <a:cs typeface="Courier New"/>
                        </a:rPr>
                        <a:t>int64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112395" marB="0">
                    <a:lnT w="12700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6065">
                <a:tc>
                  <a:txBody>
                    <a:bodyPr/>
                    <a:lstStyle/>
                    <a:p>
                      <a:pPr marR="35560" algn="ctr">
                        <a:lnSpc>
                          <a:spcPct val="100000"/>
                        </a:lnSpc>
                        <a:spcBef>
                          <a:spcPts val="434"/>
                        </a:spcBef>
                      </a:pPr>
                      <a:r>
                        <a:rPr sz="95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In</a:t>
                      </a:r>
                      <a:r>
                        <a:rPr sz="950" spc="35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950" spc="-2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[124…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55244" marB="0">
                    <a:lnR w="9525">
                      <a:solidFill>
                        <a:srgbClr val="DFDFD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434"/>
                        </a:spcBef>
                      </a:pPr>
                      <a:r>
                        <a:rPr sz="950" dirty="0">
                          <a:solidFill>
                            <a:srgbClr val="202020"/>
                          </a:solidFill>
                          <a:latin typeface="Courier New"/>
                          <a:cs typeface="Courier New"/>
                        </a:rPr>
                        <a:t>df_agg_bookings</a:t>
                      </a:r>
                      <a:r>
                        <a:rPr sz="950" spc="105" dirty="0">
                          <a:solidFill>
                            <a:srgbClr val="202020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950" b="1" dirty="0">
                          <a:solidFill>
                            <a:srgbClr val="AA22FF"/>
                          </a:solidFill>
                          <a:latin typeface="Courier New"/>
                          <a:cs typeface="Courier New"/>
                        </a:rPr>
                        <a:t>=</a:t>
                      </a:r>
                      <a:r>
                        <a:rPr sz="950" b="1" spc="105" dirty="0">
                          <a:solidFill>
                            <a:srgbClr val="AA22FF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950" spc="-10" dirty="0">
                          <a:solidFill>
                            <a:srgbClr val="202020"/>
                          </a:solidFill>
                          <a:latin typeface="Courier New"/>
                          <a:cs typeface="Courier New"/>
                        </a:rPr>
                        <a:t>pd</a:t>
                      </a:r>
                      <a:r>
                        <a:rPr sz="950" b="1" spc="-10" dirty="0">
                          <a:solidFill>
                            <a:srgbClr val="AA22FF"/>
                          </a:solidFill>
                          <a:latin typeface="Courier New"/>
                          <a:cs typeface="Courier New"/>
                        </a:rPr>
                        <a:t>.</a:t>
                      </a:r>
                      <a:r>
                        <a:rPr sz="950" spc="-10" dirty="0">
                          <a:solidFill>
                            <a:srgbClr val="202020"/>
                          </a:solidFill>
                          <a:latin typeface="Courier New"/>
                          <a:cs typeface="Courier New"/>
                        </a:rPr>
                        <a:t>read_csv</a:t>
                      </a:r>
                      <a:r>
                        <a:rPr sz="950" spc="-10" dirty="0">
                          <a:solidFill>
                            <a:srgbClr val="0055AA"/>
                          </a:solidFill>
                          <a:latin typeface="Courier New"/>
                          <a:cs typeface="Courier New"/>
                        </a:rPr>
                        <a:t>(</a:t>
                      </a:r>
                      <a:r>
                        <a:rPr sz="950" spc="-10" dirty="0">
                          <a:solidFill>
                            <a:srgbClr val="BA2121"/>
                          </a:solidFill>
                          <a:latin typeface="Courier New"/>
                          <a:cs typeface="Courier New"/>
                        </a:rPr>
                        <a:t>"fact_aggregated_bookings.csv"</a:t>
                      </a:r>
                      <a:r>
                        <a:rPr sz="950" spc="-10" dirty="0">
                          <a:solidFill>
                            <a:srgbClr val="0055AA"/>
                          </a:solidFill>
                          <a:latin typeface="Courier New"/>
                          <a:cs typeface="Courier New"/>
                        </a:rPr>
                        <a:t>)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55244" marB="0">
                    <a:lnL w="9525">
                      <a:solidFill>
                        <a:srgbClr val="DFDFDF"/>
                      </a:solidFill>
                      <a:prstDash val="solid"/>
                    </a:lnL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0413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R="35560" algn="ctr">
                        <a:lnSpc>
                          <a:spcPct val="100000"/>
                        </a:lnSpc>
                        <a:spcBef>
                          <a:spcPts val="434"/>
                        </a:spcBef>
                      </a:pPr>
                      <a:r>
                        <a:rPr sz="95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In</a:t>
                      </a:r>
                      <a:r>
                        <a:rPr sz="950" spc="35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950" spc="-2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[125…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55244" marB="0">
                    <a:lnR w="9525">
                      <a:solidFill>
                        <a:srgbClr val="DFDFD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434"/>
                        </a:spcBef>
                      </a:pPr>
                      <a:r>
                        <a:rPr sz="950" spc="-10" dirty="0">
                          <a:solidFill>
                            <a:srgbClr val="202020"/>
                          </a:solidFill>
                          <a:latin typeface="Courier New"/>
                          <a:cs typeface="Courier New"/>
                        </a:rPr>
                        <a:t>df_agg_bookings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55244" marB="0">
                    <a:lnL w="9525">
                      <a:solidFill>
                        <a:srgbClr val="DFDFDF"/>
                      </a:solidFill>
                      <a:prstDash val="solid"/>
                    </a:lnL>
                    <a:lnT w="9525">
                      <a:solidFill>
                        <a:srgbClr val="DFDFDF"/>
                      </a:solidFill>
                      <a:prstDash val="solid"/>
                    </a:lnT>
                    <a:lnB w="12700">
                      <a:solidFill>
                        <a:srgbClr val="DFDFD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12700">
                      <a:solidFill>
                        <a:srgbClr val="DFDFD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625475" y="709612"/>
          <a:ext cx="6623050" cy="30943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3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2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449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46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Out[125…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65" dirty="0">
                          <a:latin typeface="Trebuchet MS"/>
                          <a:cs typeface="Trebuchet MS"/>
                        </a:rPr>
                        <a:t>check_in_date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room_category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successful_bookings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capacity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0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16559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19562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2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3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17558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30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19.0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4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19.0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948055" algn="l"/>
                        </a:tabLst>
                      </a:pPr>
                      <a:r>
                        <a:rPr sz="950" b="1" spc="-25" dirty="0">
                          <a:latin typeface="Trebuchet MS"/>
                          <a:cs typeface="Trebuchet MS"/>
                        </a:rPr>
                        <a:t>...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...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...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...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...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...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875665" algn="l"/>
                        </a:tabLst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9195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16563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31-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Jul-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18.0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875665" algn="l"/>
                        </a:tabLst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9196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16559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31-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Jul-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18.0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875665" algn="l"/>
                        </a:tabLst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9197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17558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31-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Jul-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70" dirty="0">
                          <a:latin typeface="Trebuchet MS"/>
                          <a:cs typeface="Trebuchet MS"/>
                        </a:rPr>
                        <a:t>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30" dirty="0">
                          <a:latin typeface="Trebuchet MS"/>
                          <a:cs typeface="Trebuchet MS"/>
                        </a:rPr>
                        <a:t>6.0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875665" algn="l"/>
                        </a:tabLst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9198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31-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Jul-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70" dirty="0">
                          <a:latin typeface="Trebuchet MS"/>
                          <a:cs typeface="Trebuchet MS"/>
                        </a:rPr>
                        <a:t>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30" dirty="0">
                          <a:latin typeface="Trebuchet MS"/>
                          <a:cs typeface="Trebuchet MS"/>
                        </a:rPr>
                        <a:t>6.0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  <a:tabLst>
                          <a:tab pos="875665" algn="l"/>
                        </a:tabLst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9199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17561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31-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Jul-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70" dirty="0">
                          <a:latin typeface="Trebuchet MS"/>
                          <a:cs typeface="Trebuchet MS"/>
                        </a:rPr>
                        <a:t>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30" dirty="0">
                          <a:latin typeface="Trebuchet MS"/>
                          <a:cs typeface="Trebuchet MS"/>
                        </a:rPr>
                        <a:t>4.0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3" name="object 3"/>
          <p:cNvSpPr txBox="1"/>
          <p:nvPr/>
        </p:nvSpPr>
        <p:spPr>
          <a:xfrm>
            <a:off x="1311275" y="4003424"/>
            <a:ext cx="160147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110" dirty="0">
                <a:latin typeface="Trebuchet MS"/>
                <a:cs typeface="Trebuchet MS"/>
              </a:rPr>
              <a:t>9200</a:t>
            </a:r>
            <a:r>
              <a:rPr sz="1050" spc="15" dirty="0">
                <a:latin typeface="Trebuchet MS"/>
                <a:cs typeface="Trebuchet MS"/>
              </a:rPr>
              <a:t> </a:t>
            </a:r>
            <a:r>
              <a:rPr sz="1050" spc="60" dirty="0">
                <a:latin typeface="Trebuchet MS"/>
                <a:cs typeface="Trebuchet MS"/>
              </a:rPr>
              <a:t>rows</a:t>
            </a:r>
            <a:r>
              <a:rPr sz="1050" spc="20" dirty="0">
                <a:latin typeface="Trebuchet MS"/>
                <a:cs typeface="Trebuchet MS"/>
              </a:rPr>
              <a:t> </a:t>
            </a:r>
            <a:r>
              <a:rPr sz="1050" spc="320" dirty="0">
                <a:latin typeface="Trebuchet MS"/>
                <a:cs typeface="Trebuchet MS"/>
              </a:rPr>
              <a:t>×</a:t>
            </a:r>
            <a:r>
              <a:rPr sz="1050" spc="20" dirty="0">
                <a:latin typeface="Trebuchet MS"/>
                <a:cs typeface="Trebuchet MS"/>
              </a:rPr>
              <a:t> </a:t>
            </a:r>
            <a:r>
              <a:rPr sz="1050" spc="114" dirty="0">
                <a:latin typeface="Trebuchet MS"/>
                <a:cs typeface="Trebuchet MS"/>
              </a:rPr>
              <a:t>5</a:t>
            </a:r>
            <a:r>
              <a:rPr sz="1050" spc="20" dirty="0">
                <a:latin typeface="Trebuchet MS"/>
                <a:cs typeface="Trebuchet MS"/>
              </a:rPr>
              <a:t> </a:t>
            </a:r>
            <a:r>
              <a:rPr sz="1050" spc="60" dirty="0">
                <a:latin typeface="Trebuchet MS"/>
                <a:cs typeface="Trebuchet MS"/>
              </a:rPr>
              <a:t>columns</a:t>
            </a:r>
            <a:endParaRPr sz="1050">
              <a:latin typeface="Trebuchet MS"/>
              <a:cs typeface="Trebuchet M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328737" y="4443095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isnull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sum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44525" y="4793560"/>
            <a:ext cx="2156460" cy="997585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Out[126…</a:t>
            </a:r>
            <a:r>
              <a:rPr sz="950" spc="450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property_id</a:t>
            </a:r>
            <a:endParaRPr sz="950">
              <a:latin typeface="Courier New"/>
              <a:cs typeface="Courier New"/>
            </a:endParaRPr>
          </a:p>
          <a:p>
            <a:pPr marL="727075" marR="5080">
              <a:lnSpc>
                <a:spcPct val="111800"/>
              </a:lnSpc>
            </a:pPr>
            <a:r>
              <a:rPr sz="950" spc="-10" dirty="0">
                <a:latin typeface="Courier New"/>
                <a:cs typeface="Courier New"/>
              </a:rPr>
              <a:t>check_in_date room_category successful_bookings capacity</a:t>
            </a:r>
            <a:endParaRPr sz="950">
              <a:latin typeface="Courier New"/>
              <a:cs typeface="Courier New"/>
            </a:endParaRPr>
          </a:p>
          <a:p>
            <a:pPr marL="727075">
              <a:lnSpc>
                <a:spcPct val="100000"/>
              </a:lnSpc>
              <a:spcBef>
                <a:spcPts val="135"/>
              </a:spcBef>
            </a:pPr>
            <a:r>
              <a:rPr sz="950" dirty="0">
                <a:latin typeface="Courier New"/>
                <a:cs typeface="Courier New"/>
              </a:rPr>
              <a:t>dtype: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int64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073381" y="4793560"/>
            <a:ext cx="100330" cy="835025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950" spc="-50" dirty="0">
                <a:latin typeface="Courier New"/>
                <a:cs typeface="Courier New"/>
              </a:rPr>
              <a:t>0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50" dirty="0">
                <a:latin typeface="Courier New"/>
                <a:cs typeface="Courier New"/>
              </a:rPr>
              <a:t>0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50" dirty="0">
                <a:latin typeface="Courier New"/>
                <a:cs typeface="Courier New"/>
              </a:rPr>
              <a:t>0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50" dirty="0">
                <a:latin typeface="Courier New"/>
                <a:cs typeface="Courier New"/>
              </a:rPr>
              <a:t>0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50" dirty="0">
                <a:latin typeface="Courier New"/>
                <a:cs typeface="Courier New"/>
              </a:rPr>
              <a:t>2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328737" y="5890895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44525" y="4483045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[126…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44525" y="5930851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[127…</a:t>
            </a:r>
            <a:endParaRPr sz="9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625475" y="709612"/>
          <a:ext cx="6623050" cy="30943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3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2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449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46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Out[127…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65" dirty="0">
                          <a:latin typeface="Trebuchet MS"/>
                          <a:cs typeface="Trebuchet MS"/>
                        </a:rPr>
                        <a:t>check_in_date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room_category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successful_bookings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capacity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0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16559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19562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2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3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17558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30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19.0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4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19.0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948055" algn="l"/>
                        </a:tabLst>
                      </a:pPr>
                      <a:r>
                        <a:rPr sz="950" b="1" spc="-25" dirty="0">
                          <a:latin typeface="Trebuchet MS"/>
                          <a:cs typeface="Trebuchet MS"/>
                        </a:rPr>
                        <a:t>...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...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...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...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...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25" dirty="0">
                          <a:latin typeface="Trebuchet MS"/>
                          <a:cs typeface="Trebuchet MS"/>
                        </a:rPr>
                        <a:t>...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875665" algn="l"/>
                        </a:tabLst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9195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16563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31-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Jul-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18.0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875665" algn="l"/>
                        </a:tabLst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9196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16559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31-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Jul-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18.0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875665" algn="l"/>
                        </a:tabLst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9197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17558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31-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Jul-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70" dirty="0">
                          <a:latin typeface="Trebuchet MS"/>
                          <a:cs typeface="Trebuchet MS"/>
                        </a:rPr>
                        <a:t>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30" dirty="0">
                          <a:latin typeface="Trebuchet MS"/>
                          <a:cs typeface="Trebuchet MS"/>
                        </a:rPr>
                        <a:t>6.0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875665" algn="l"/>
                        </a:tabLst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9198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31-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Jul-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70" dirty="0">
                          <a:latin typeface="Trebuchet MS"/>
                          <a:cs typeface="Trebuchet MS"/>
                        </a:rPr>
                        <a:t>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30" dirty="0">
                          <a:latin typeface="Trebuchet MS"/>
                          <a:cs typeface="Trebuchet MS"/>
                        </a:rPr>
                        <a:t>6.0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  <a:tabLst>
                          <a:tab pos="875665" algn="l"/>
                        </a:tabLst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9199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17561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31-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Jul-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70" dirty="0">
                          <a:latin typeface="Trebuchet MS"/>
                          <a:cs typeface="Trebuchet MS"/>
                        </a:rPr>
                        <a:t>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30" dirty="0">
                          <a:latin typeface="Trebuchet MS"/>
                          <a:cs typeface="Trebuchet MS"/>
                        </a:rPr>
                        <a:t>4.0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625475" y="7403733"/>
          <a:ext cx="6623050" cy="18192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3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2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449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46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Out[129…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65" dirty="0">
                          <a:latin typeface="Trebuchet MS"/>
                          <a:cs typeface="Trebuchet MS"/>
                        </a:rPr>
                        <a:t>check_in_date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room_category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successful_bookings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capacity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3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17558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30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19.0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702945" algn="l"/>
                        </a:tabLst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12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16563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41.0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875665" algn="l"/>
                        </a:tabLst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4136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11-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Jun-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50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39.0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875665" algn="l"/>
                        </a:tabLst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6209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19560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2-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Jul-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123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26.0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875665" algn="l"/>
                        </a:tabLst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8522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25-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Jul-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35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24.0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875665" algn="l"/>
                        </a:tabLst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9194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18563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31-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Jul-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18.0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1311275" y="4003424"/>
            <a:ext cx="3202305" cy="6273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110" dirty="0">
                <a:latin typeface="Trebuchet MS"/>
                <a:cs typeface="Trebuchet MS"/>
              </a:rPr>
              <a:t>9200</a:t>
            </a:r>
            <a:r>
              <a:rPr sz="1050" spc="15" dirty="0">
                <a:latin typeface="Trebuchet MS"/>
                <a:cs typeface="Trebuchet MS"/>
              </a:rPr>
              <a:t> </a:t>
            </a:r>
            <a:r>
              <a:rPr sz="1050" spc="60" dirty="0">
                <a:latin typeface="Trebuchet MS"/>
                <a:cs typeface="Trebuchet MS"/>
              </a:rPr>
              <a:t>rows</a:t>
            </a:r>
            <a:r>
              <a:rPr sz="1050" spc="20" dirty="0">
                <a:latin typeface="Trebuchet MS"/>
                <a:cs typeface="Trebuchet MS"/>
              </a:rPr>
              <a:t> </a:t>
            </a:r>
            <a:r>
              <a:rPr sz="1050" spc="320" dirty="0">
                <a:latin typeface="Trebuchet MS"/>
                <a:cs typeface="Trebuchet MS"/>
              </a:rPr>
              <a:t>×</a:t>
            </a:r>
            <a:r>
              <a:rPr sz="1050" spc="20" dirty="0">
                <a:latin typeface="Trebuchet MS"/>
                <a:cs typeface="Trebuchet MS"/>
              </a:rPr>
              <a:t> </a:t>
            </a:r>
            <a:r>
              <a:rPr sz="1050" spc="114" dirty="0">
                <a:latin typeface="Trebuchet MS"/>
                <a:cs typeface="Trebuchet MS"/>
              </a:rPr>
              <a:t>5</a:t>
            </a:r>
            <a:r>
              <a:rPr sz="1050" spc="20" dirty="0">
                <a:latin typeface="Trebuchet MS"/>
                <a:cs typeface="Trebuchet MS"/>
              </a:rPr>
              <a:t> </a:t>
            </a:r>
            <a:r>
              <a:rPr sz="1050" spc="60" dirty="0">
                <a:latin typeface="Trebuchet MS"/>
                <a:cs typeface="Trebuchet MS"/>
              </a:rPr>
              <a:t>columns</a:t>
            </a:r>
            <a:endParaRPr sz="105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000"/>
              </a:spcBef>
            </a:pPr>
            <a:endParaRPr sz="1050">
              <a:latin typeface="Trebuchet MS"/>
              <a:cs typeface="Trebuchet MS"/>
            </a:endParaRPr>
          </a:p>
          <a:p>
            <a:pPr marL="60325">
              <a:lnSpc>
                <a:spcPct val="100000"/>
              </a:lnSpc>
            </a:pPr>
            <a:r>
              <a:rPr sz="1050" b="1" spc="114" dirty="0">
                <a:latin typeface="Trebuchet MS"/>
                <a:cs typeface="Trebuchet MS"/>
              </a:rPr>
              <a:t>Handle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80" dirty="0">
                <a:latin typeface="Trebuchet MS"/>
                <a:cs typeface="Trebuchet MS"/>
              </a:rPr>
              <a:t>null</a:t>
            </a:r>
            <a:r>
              <a:rPr sz="1050" b="1" spc="60" dirty="0">
                <a:latin typeface="Trebuchet MS"/>
                <a:cs typeface="Trebuchet MS"/>
              </a:rPr>
              <a:t> </a:t>
            </a:r>
            <a:r>
              <a:rPr sz="1050" b="1" spc="110" dirty="0">
                <a:latin typeface="Trebuchet MS"/>
                <a:cs typeface="Trebuchet MS"/>
              </a:rPr>
              <a:t>values</a:t>
            </a:r>
            <a:r>
              <a:rPr sz="1050" b="1" spc="75" dirty="0">
                <a:latin typeface="Trebuchet MS"/>
                <a:cs typeface="Trebuchet MS"/>
              </a:rPr>
              <a:t> </a:t>
            </a:r>
            <a:r>
              <a:rPr sz="1050" b="1" spc="80" dirty="0">
                <a:latin typeface="Trebuchet MS"/>
                <a:cs typeface="Trebuchet MS"/>
              </a:rPr>
              <a:t>in</a:t>
            </a:r>
            <a:r>
              <a:rPr sz="1050" b="1" spc="60" dirty="0">
                <a:latin typeface="Trebuchet MS"/>
                <a:cs typeface="Trebuchet MS"/>
              </a:rPr>
              <a:t> </a:t>
            </a:r>
            <a:r>
              <a:rPr sz="1050" b="1" spc="140" dirty="0">
                <a:latin typeface="Trebuchet MS"/>
                <a:cs typeface="Trebuchet MS"/>
              </a:rPr>
              <a:t>aggregate</a:t>
            </a:r>
            <a:r>
              <a:rPr sz="1050" b="1" spc="60" dirty="0">
                <a:latin typeface="Trebuchet MS"/>
                <a:cs typeface="Trebuchet MS"/>
              </a:rPr>
              <a:t> </a:t>
            </a:r>
            <a:r>
              <a:rPr sz="1050" b="1" spc="114" dirty="0">
                <a:latin typeface="Trebuchet MS"/>
                <a:cs typeface="Trebuchet MS"/>
              </a:rPr>
              <a:t>bookings</a:t>
            </a:r>
            <a:endParaRPr sz="1050">
              <a:latin typeface="Trebuchet MS"/>
              <a:cs typeface="Trebuchet M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328737" y="4818379"/>
            <a:ext cx="5876925" cy="107632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38735" rIns="0" bIns="0" rtlCol="0">
            <a:spAutoFit/>
          </a:bodyPr>
          <a:lstStyle/>
          <a:p>
            <a:pPr marL="266065" marR="970280" indent="-224154">
              <a:lnSpc>
                <a:spcPct val="111800"/>
              </a:lnSpc>
              <a:spcBef>
                <a:spcPts val="305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'capacity'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spc="175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175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'capacity'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fillna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'capacity'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median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  <a:p>
            <a:pPr marL="42545" marR="21590">
              <a:lnSpc>
                <a:spcPct val="100000"/>
              </a:lnSpc>
              <a:spcBef>
                <a:spcPts val="135"/>
              </a:spcBef>
            </a:pPr>
            <a:r>
              <a:rPr sz="950" spc="-5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  <a:p>
            <a:pPr marL="340995" indent="-298450">
              <a:lnSpc>
                <a:spcPct val="111800"/>
              </a:lnSpc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'successful_bookings'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spc="235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240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'successful_bookings'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'successful_bookings'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median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  <a:p>
            <a:pPr marL="42545" marR="21590">
              <a:lnSpc>
                <a:spcPct val="100000"/>
              </a:lnSpc>
              <a:spcBef>
                <a:spcPts val="135"/>
              </a:spcBef>
            </a:pPr>
            <a:r>
              <a:rPr sz="950" spc="-5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358900" y="6001776"/>
            <a:ext cx="3041015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b="1" spc="95" dirty="0">
                <a:latin typeface="Trebuchet MS"/>
                <a:cs typeface="Trebuchet MS"/>
              </a:rPr>
              <a:t>Find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100" dirty="0">
                <a:latin typeface="Trebuchet MS"/>
                <a:cs typeface="Trebuchet MS"/>
              </a:rPr>
              <a:t>records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105" dirty="0">
                <a:latin typeface="Trebuchet MS"/>
                <a:cs typeface="Trebuchet MS"/>
              </a:rPr>
              <a:t>where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130" dirty="0">
                <a:latin typeface="Trebuchet MS"/>
                <a:cs typeface="Trebuchet MS"/>
              </a:rPr>
              <a:t>bookings</a:t>
            </a:r>
            <a:r>
              <a:rPr sz="1050" b="1" spc="65" dirty="0">
                <a:latin typeface="Trebuchet MS"/>
                <a:cs typeface="Trebuchet MS"/>
              </a:rPr>
              <a:t> </a:t>
            </a:r>
            <a:r>
              <a:rPr sz="1050" b="1" spc="260" dirty="0">
                <a:latin typeface="Trebuchet MS"/>
                <a:cs typeface="Trebuchet MS"/>
              </a:rPr>
              <a:t>&gt;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85" dirty="0">
                <a:latin typeface="Trebuchet MS"/>
                <a:cs typeface="Trebuchet MS"/>
              </a:rPr>
              <a:t>capacity</a:t>
            </a:r>
            <a:endParaRPr sz="1050">
              <a:latin typeface="Trebuchet MS"/>
              <a:cs typeface="Trebuchet M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328737" y="6374765"/>
            <a:ext cx="5838825" cy="9144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38735" rIns="0" bIns="0" rtlCol="0">
            <a:spAutoFit/>
          </a:bodyPr>
          <a:lstStyle/>
          <a:p>
            <a:pPr marL="340995" marR="420370" indent="-298450">
              <a:lnSpc>
                <a:spcPct val="111800"/>
              </a:lnSpc>
              <a:spcBef>
                <a:spcPts val="305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df_invalid_bookings</a:t>
            </a:r>
            <a:r>
              <a:rPr sz="950" spc="120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130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[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'successful_bookings'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spc="235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&gt;</a:t>
            </a:r>
            <a:r>
              <a:rPr sz="950" b="1" spc="240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'capacity'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endParaRPr sz="950">
              <a:latin typeface="Courier New"/>
              <a:cs typeface="Courier New"/>
            </a:endParaRPr>
          </a:p>
          <a:p>
            <a:pPr marL="42545">
              <a:lnSpc>
                <a:spcPct val="100000"/>
              </a:lnSpc>
              <a:spcBef>
                <a:spcPts val="135"/>
              </a:spcBef>
            </a:pPr>
            <a:r>
              <a:rPr sz="950" spc="-5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endParaRPr sz="95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30"/>
              </a:spcBef>
            </a:pPr>
            <a:endParaRPr sz="950">
              <a:latin typeface="Courier New"/>
              <a:cs typeface="Courier New"/>
            </a:endParaRPr>
          </a:p>
          <a:p>
            <a:pPr marL="42545">
              <a:lnSpc>
                <a:spcPct val="100000"/>
              </a:lnSpc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df_invalid_bookings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44525" y="4858330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[128…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44525" y="6414721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[129…</a:t>
            </a:r>
            <a:endParaRPr sz="9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371600" y="1804037"/>
            <a:ext cx="5610225" cy="25400"/>
            <a:chOff x="1371600" y="1804037"/>
            <a:chExt cx="5610225" cy="25400"/>
          </a:xfrm>
        </p:grpSpPr>
        <p:sp>
          <p:nvSpPr>
            <p:cNvPr id="3" name="object 3"/>
            <p:cNvSpPr/>
            <p:nvPr/>
          </p:nvSpPr>
          <p:spPr>
            <a:xfrm>
              <a:off x="1371600" y="1804037"/>
              <a:ext cx="5610225" cy="25400"/>
            </a:xfrm>
            <a:custGeom>
              <a:avLst/>
              <a:gdLst/>
              <a:ahLst/>
              <a:cxnLst/>
              <a:rect l="l" t="t" r="r" b="b"/>
              <a:pathLst>
                <a:path w="5610225" h="25400">
                  <a:moveTo>
                    <a:pt x="5610225" y="0"/>
                  </a:moveTo>
                  <a:lnTo>
                    <a:pt x="0" y="0"/>
                  </a:lnTo>
                  <a:lnTo>
                    <a:pt x="0" y="25400"/>
                  </a:lnTo>
                  <a:lnTo>
                    <a:pt x="5610225" y="25400"/>
                  </a:lnTo>
                  <a:lnTo>
                    <a:pt x="5610225" y="0"/>
                  </a:lnTo>
                  <a:close/>
                </a:path>
              </a:pathLst>
            </a:custGeom>
            <a:solidFill>
              <a:srgbClr val="BDBD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371600" y="1804037"/>
              <a:ext cx="5610225" cy="25400"/>
            </a:xfrm>
            <a:custGeom>
              <a:avLst/>
              <a:gdLst/>
              <a:ahLst/>
              <a:cxnLst/>
              <a:rect l="l" t="t" r="r" b="b"/>
              <a:pathLst>
                <a:path w="5610225" h="25400">
                  <a:moveTo>
                    <a:pt x="5610225" y="0"/>
                  </a:moveTo>
                  <a:lnTo>
                    <a:pt x="0" y="0"/>
                  </a:lnTo>
                  <a:lnTo>
                    <a:pt x="0" y="25400"/>
                  </a:lnTo>
                  <a:lnTo>
                    <a:pt x="12700" y="12700"/>
                  </a:lnTo>
                  <a:lnTo>
                    <a:pt x="5597525" y="12700"/>
                  </a:lnTo>
                  <a:lnTo>
                    <a:pt x="561022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371600" y="1804037"/>
              <a:ext cx="5610225" cy="25400"/>
            </a:xfrm>
            <a:custGeom>
              <a:avLst/>
              <a:gdLst/>
              <a:ahLst/>
              <a:cxnLst/>
              <a:rect l="l" t="t" r="r" b="b"/>
              <a:pathLst>
                <a:path w="5610225" h="25400">
                  <a:moveTo>
                    <a:pt x="5610225" y="0"/>
                  </a:moveTo>
                  <a:lnTo>
                    <a:pt x="5597525" y="12700"/>
                  </a:lnTo>
                  <a:lnTo>
                    <a:pt x="12700" y="12700"/>
                  </a:lnTo>
                  <a:lnTo>
                    <a:pt x="0" y="25400"/>
                  </a:lnTo>
                  <a:lnTo>
                    <a:pt x="5610225" y="25400"/>
                  </a:lnTo>
                  <a:lnTo>
                    <a:pt x="5610225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371600" y="2405509"/>
            <a:ext cx="5610225" cy="25400"/>
            <a:chOff x="1371600" y="2405509"/>
            <a:chExt cx="5610225" cy="25400"/>
          </a:xfrm>
        </p:grpSpPr>
        <p:sp>
          <p:nvSpPr>
            <p:cNvPr id="7" name="object 7"/>
            <p:cNvSpPr/>
            <p:nvPr/>
          </p:nvSpPr>
          <p:spPr>
            <a:xfrm>
              <a:off x="1371600" y="2405509"/>
              <a:ext cx="5610225" cy="25400"/>
            </a:xfrm>
            <a:custGeom>
              <a:avLst/>
              <a:gdLst/>
              <a:ahLst/>
              <a:cxnLst/>
              <a:rect l="l" t="t" r="r" b="b"/>
              <a:pathLst>
                <a:path w="5610225" h="25400">
                  <a:moveTo>
                    <a:pt x="5610225" y="0"/>
                  </a:moveTo>
                  <a:lnTo>
                    <a:pt x="0" y="0"/>
                  </a:lnTo>
                  <a:lnTo>
                    <a:pt x="0" y="25400"/>
                  </a:lnTo>
                  <a:lnTo>
                    <a:pt x="5610225" y="25400"/>
                  </a:lnTo>
                  <a:lnTo>
                    <a:pt x="5610225" y="0"/>
                  </a:lnTo>
                  <a:close/>
                </a:path>
              </a:pathLst>
            </a:custGeom>
            <a:solidFill>
              <a:srgbClr val="BDBD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371600" y="2405509"/>
              <a:ext cx="5610225" cy="25400"/>
            </a:xfrm>
            <a:custGeom>
              <a:avLst/>
              <a:gdLst/>
              <a:ahLst/>
              <a:cxnLst/>
              <a:rect l="l" t="t" r="r" b="b"/>
              <a:pathLst>
                <a:path w="5610225" h="25400">
                  <a:moveTo>
                    <a:pt x="5610225" y="0"/>
                  </a:moveTo>
                  <a:lnTo>
                    <a:pt x="0" y="0"/>
                  </a:lnTo>
                  <a:lnTo>
                    <a:pt x="0" y="25400"/>
                  </a:lnTo>
                  <a:lnTo>
                    <a:pt x="12700" y="12700"/>
                  </a:lnTo>
                  <a:lnTo>
                    <a:pt x="5597525" y="12700"/>
                  </a:lnTo>
                  <a:lnTo>
                    <a:pt x="561022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371600" y="2405509"/>
              <a:ext cx="5610225" cy="25400"/>
            </a:xfrm>
            <a:custGeom>
              <a:avLst/>
              <a:gdLst/>
              <a:ahLst/>
              <a:cxnLst/>
              <a:rect l="l" t="t" r="r" b="b"/>
              <a:pathLst>
                <a:path w="5610225" h="25400">
                  <a:moveTo>
                    <a:pt x="5610225" y="0"/>
                  </a:moveTo>
                  <a:lnTo>
                    <a:pt x="5597525" y="12700"/>
                  </a:lnTo>
                  <a:lnTo>
                    <a:pt x="12700" y="12700"/>
                  </a:lnTo>
                  <a:lnTo>
                    <a:pt x="0" y="25400"/>
                  </a:lnTo>
                  <a:lnTo>
                    <a:pt x="5610225" y="25400"/>
                  </a:lnTo>
                  <a:lnTo>
                    <a:pt x="5610225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10" name="object 10"/>
          <p:cNvGraphicFramePr>
            <a:graphicFrameLocks noGrp="1"/>
          </p:cNvGraphicFramePr>
          <p:nvPr/>
        </p:nvGraphicFramePr>
        <p:xfrm>
          <a:off x="625475" y="3353883"/>
          <a:ext cx="6644005" cy="955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53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20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449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092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479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Out[131…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65" dirty="0">
                          <a:latin typeface="Trebuchet MS"/>
                          <a:cs typeface="Trebuchet MS"/>
                        </a:rPr>
                        <a:t>check_in_date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room_category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successful_bookings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capacity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1594">
                        <a:lnSpc>
                          <a:spcPts val="1095"/>
                        </a:lnSpc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oc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0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16559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1206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19562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1206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2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1206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1" name="object 11"/>
          <p:cNvGrpSpPr/>
          <p:nvPr/>
        </p:nvGrpSpPr>
        <p:grpSpPr>
          <a:xfrm>
            <a:off x="1323975" y="4592320"/>
            <a:ext cx="5848350" cy="276860"/>
            <a:chOff x="1323975" y="4592320"/>
            <a:chExt cx="5848350" cy="276860"/>
          </a:xfrm>
        </p:grpSpPr>
        <p:sp>
          <p:nvSpPr>
            <p:cNvPr id="12" name="object 12"/>
            <p:cNvSpPr/>
            <p:nvPr/>
          </p:nvSpPr>
          <p:spPr>
            <a:xfrm>
              <a:off x="1323975" y="4592430"/>
              <a:ext cx="5848350" cy="276225"/>
            </a:xfrm>
            <a:custGeom>
              <a:avLst/>
              <a:gdLst/>
              <a:ahLst/>
              <a:cxnLst/>
              <a:rect l="l" t="t" r="r" b="b"/>
              <a:pathLst>
                <a:path w="5848350" h="276225">
                  <a:moveTo>
                    <a:pt x="5848350" y="0"/>
                  </a:moveTo>
                  <a:lnTo>
                    <a:pt x="0" y="0"/>
                  </a:lnTo>
                  <a:lnTo>
                    <a:pt x="0" y="276226"/>
                  </a:lnTo>
                  <a:lnTo>
                    <a:pt x="5848350" y="276226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F5F5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323975" y="4592319"/>
              <a:ext cx="5848350" cy="276860"/>
            </a:xfrm>
            <a:custGeom>
              <a:avLst/>
              <a:gdLst/>
              <a:ahLst/>
              <a:cxnLst/>
              <a:rect l="l" t="t" r="r" b="b"/>
              <a:pathLst>
                <a:path w="5848350" h="276860">
                  <a:moveTo>
                    <a:pt x="9525" y="10160"/>
                  </a:moveTo>
                  <a:lnTo>
                    <a:pt x="0" y="10160"/>
                  </a:lnTo>
                  <a:lnTo>
                    <a:pt x="0" y="266700"/>
                  </a:lnTo>
                  <a:lnTo>
                    <a:pt x="9525" y="266700"/>
                  </a:lnTo>
                  <a:lnTo>
                    <a:pt x="9525" y="10160"/>
                  </a:lnTo>
                  <a:close/>
                </a:path>
                <a:path w="5848350" h="276860">
                  <a:moveTo>
                    <a:pt x="5848350" y="0"/>
                  </a:moveTo>
                  <a:lnTo>
                    <a:pt x="0" y="0"/>
                  </a:lnTo>
                  <a:lnTo>
                    <a:pt x="0" y="9639"/>
                  </a:lnTo>
                  <a:lnTo>
                    <a:pt x="5838825" y="9639"/>
                  </a:lnTo>
                  <a:lnTo>
                    <a:pt x="5838825" y="266814"/>
                  </a:lnTo>
                  <a:lnTo>
                    <a:pt x="0" y="266814"/>
                  </a:lnTo>
                  <a:lnTo>
                    <a:pt x="0" y="276860"/>
                  </a:lnTo>
                  <a:lnTo>
                    <a:pt x="5848350" y="276860"/>
                  </a:lnTo>
                  <a:lnTo>
                    <a:pt x="5848350" y="266814"/>
                  </a:lnTo>
                  <a:lnTo>
                    <a:pt x="5848350" y="9639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1323975" y="4963906"/>
            <a:ext cx="5848350" cy="600075"/>
            <a:chOff x="1323975" y="4963906"/>
            <a:chExt cx="5848350" cy="600075"/>
          </a:xfrm>
        </p:grpSpPr>
        <p:sp>
          <p:nvSpPr>
            <p:cNvPr id="15" name="object 15"/>
            <p:cNvSpPr/>
            <p:nvPr/>
          </p:nvSpPr>
          <p:spPr>
            <a:xfrm>
              <a:off x="1323975" y="4963906"/>
              <a:ext cx="5848350" cy="600075"/>
            </a:xfrm>
            <a:custGeom>
              <a:avLst/>
              <a:gdLst/>
              <a:ahLst/>
              <a:cxnLst/>
              <a:rect l="l" t="t" r="r" b="b"/>
              <a:pathLst>
                <a:path w="5848350" h="600075">
                  <a:moveTo>
                    <a:pt x="5848350" y="0"/>
                  </a:moveTo>
                  <a:lnTo>
                    <a:pt x="0" y="0"/>
                  </a:lnTo>
                  <a:lnTo>
                    <a:pt x="0" y="600077"/>
                  </a:lnTo>
                  <a:lnTo>
                    <a:pt x="5848350" y="600077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F5F5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323975" y="4964429"/>
              <a:ext cx="5848350" cy="599440"/>
            </a:xfrm>
            <a:custGeom>
              <a:avLst/>
              <a:gdLst/>
              <a:ahLst/>
              <a:cxnLst/>
              <a:rect l="l" t="t" r="r" b="b"/>
              <a:pathLst>
                <a:path w="5848350" h="599439">
                  <a:moveTo>
                    <a:pt x="5848350" y="9004"/>
                  </a:moveTo>
                  <a:lnTo>
                    <a:pt x="5838825" y="9004"/>
                  </a:lnTo>
                  <a:lnTo>
                    <a:pt x="5838825" y="590029"/>
                  </a:lnTo>
                  <a:lnTo>
                    <a:pt x="5848350" y="590029"/>
                  </a:lnTo>
                  <a:lnTo>
                    <a:pt x="5848350" y="9004"/>
                  </a:lnTo>
                  <a:close/>
                </a:path>
                <a:path w="5848350" h="599439">
                  <a:moveTo>
                    <a:pt x="5848350" y="0"/>
                  </a:moveTo>
                  <a:lnTo>
                    <a:pt x="0" y="0"/>
                  </a:lnTo>
                  <a:lnTo>
                    <a:pt x="0" y="8890"/>
                  </a:lnTo>
                  <a:lnTo>
                    <a:pt x="0" y="590550"/>
                  </a:lnTo>
                  <a:lnTo>
                    <a:pt x="0" y="599440"/>
                  </a:lnTo>
                  <a:lnTo>
                    <a:pt x="5848350" y="599440"/>
                  </a:lnTo>
                  <a:lnTo>
                    <a:pt x="5848350" y="590550"/>
                  </a:lnTo>
                  <a:lnTo>
                    <a:pt x="9525" y="590550"/>
                  </a:lnTo>
                  <a:lnTo>
                    <a:pt x="9525" y="8890"/>
                  </a:lnTo>
                  <a:lnTo>
                    <a:pt x="5848350" y="8890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17" name="object 17"/>
          <p:cNvGraphicFramePr>
            <a:graphicFrameLocks noGrp="1"/>
          </p:cNvGraphicFramePr>
          <p:nvPr/>
        </p:nvGraphicFramePr>
        <p:xfrm>
          <a:off x="625475" y="5673522"/>
          <a:ext cx="6644005" cy="955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53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20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449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344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Out[133…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65" dirty="0">
                          <a:latin typeface="Trebuchet MS"/>
                          <a:cs typeface="Trebuchet MS"/>
                        </a:rPr>
                        <a:t>check_in_date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room_category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successful_bookings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1594" algn="ctr">
                        <a:lnSpc>
                          <a:spcPts val="1095"/>
                        </a:lnSpc>
                      </a:pPr>
                      <a:r>
                        <a:rPr sz="950" b="1" spc="105" dirty="0">
                          <a:latin typeface="Trebuchet MS"/>
                          <a:cs typeface="Trebuchet MS"/>
                        </a:rPr>
                        <a:t>capacity</a:t>
                      </a:r>
                      <a:r>
                        <a:rPr sz="950" b="1" spc="21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b="1" spc="70" dirty="0">
                          <a:latin typeface="Trebuchet MS"/>
                          <a:cs typeface="Trebuchet MS"/>
                        </a:rPr>
                        <a:t>oc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0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16559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02870" marR="12065" algn="ct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19562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88265" marR="12065" algn="ct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2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L="102870" marR="12065" algn="ct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8" name="object 18"/>
          <p:cNvGrpSpPr/>
          <p:nvPr/>
        </p:nvGrpSpPr>
        <p:grpSpPr>
          <a:xfrm>
            <a:off x="1323975" y="6912068"/>
            <a:ext cx="5848350" cy="438784"/>
            <a:chOff x="1323975" y="6912068"/>
            <a:chExt cx="5848350" cy="438784"/>
          </a:xfrm>
        </p:grpSpPr>
        <p:sp>
          <p:nvSpPr>
            <p:cNvPr id="19" name="object 19"/>
            <p:cNvSpPr/>
            <p:nvPr/>
          </p:nvSpPr>
          <p:spPr>
            <a:xfrm>
              <a:off x="1323975" y="6912068"/>
              <a:ext cx="5848350" cy="438150"/>
            </a:xfrm>
            <a:custGeom>
              <a:avLst/>
              <a:gdLst/>
              <a:ahLst/>
              <a:cxnLst/>
              <a:rect l="l" t="t" r="r" b="b"/>
              <a:pathLst>
                <a:path w="5848350" h="438150">
                  <a:moveTo>
                    <a:pt x="5848350" y="0"/>
                  </a:moveTo>
                  <a:lnTo>
                    <a:pt x="0" y="0"/>
                  </a:lnTo>
                  <a:lnTo>
                    <a:pt x="0" y="438152"/>
                  </a:lnTo>
                  <a:lnTo>
                    <a:pt x="5848350" y="438152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F5F5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323975" y="6912609"/>
              <a:ext cx="5848350" cy="438150"/>
            </a:xfrm>
            <a:custGeom>
              <a:avLst/>
              <a:gdLst/>
              <a:ahLst/>
              <a:cxnLst/>
              <a:rect l="l" t="t" r="r" b="b"/>
              <a:pathLst>
                <a:path w="5848350" h="438150">
                  <a:moveTo>
                    <a:pt x="5848350" y="0"/>
                  </a:moveTo>
                  <a:lnTo>
                    <a:pt x="0" y="0"/>
                  </a:lnTo>
                  <a:lnTo>
                    <a:pt x="0" y="8890"/>
                  </a:lnTo>
                  <a:lnTo>
                    <a:pt x="0" y="427990"/>
                  </a:lnTo>
                  <a:lnTo>
                    <a:pt x="0" y="438150"/>
                  </a:lnTo>
                  <a:lnTo>
                    <a:pt x="5848350" y="438150"/>
                  </a:lnTo>
                  <a:lnTo>
                    <a:pt x="5848350" y="428091"/>
                  </a:lnTo>
                  <a:lnTo>
                    <a:pt x="5848350" y="8991"/>
                  </a:lnTo>
                  <a:lnTo>
                    <a:pt x="5838825" y="8991"/>
                  </a:lnTo>
                  <a:lnTo>
                    <a:pt x="5838825" y="427990"/>
                  </a:lnTo>
                  <a:lnTo>
                    <a:pt x="9525" y="427990"/>
                  </a:lnTo>
                  <a:lnTo>
                    <a:pt x="9525" y="8890"/>
                  </a:lnTo>
                  <a:lnTo>
                    <a:pt x="5848350" y="8890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21" name="object 21"/>
          <p:cNvGraphicFramePr>
            <a:graphicFrameLocks noGrp="1"/>
          </p:cNvGraphicFramePr>
          <p:nvPr/>
        </p:nvGraphicFramePr>
        <p:xfrm>
          <a:off x="625475" y="7459759"/>
          <a:ext cx="6644005" cy="955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53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20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449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344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Out[134…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65" dirty="0">
                          <a:latin typeface="Trebuchet MS"/>
                          <a:cs typeface="Trebuchet MS"/>
                        </a:rPr>
                        <a:t>check_in_date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room_category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successful_bookings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1594" algn="ctr">
                        <a:lnSpc>
                          <a:spcPts val="1095"/>
                        </a:lnSpc>
                      </a:pPr>
                      <a:r>
                        <a:rPr sz="950" b="1" spc="105" dirty="0">
                          <a:latin typeface="Trebuchet MS"/>
                          <a:cs typeface="Trebuchet MS"/>
                        </a:rPr>
                        <a:t>capacity</a:t>
                      </a:r>
                      <a:r>
                        <a:rPr sz="950" b="1" spc="21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b="1" spc="70" dirty="0">
                          <a:latin typeface="Trebuchet MS"/>
                          <a:cs typeface="Trebuchet MS"/>
                        </a:rPr>
                        <a:t>oc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0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16559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02870" marR="12065" algn="ct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19562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88265" marR="12065" algn="ct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2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L="102870" marR="12065" algn="ct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object 22"/>
          <p:cNvSpPr txBox="1"/>
          <p:nvPr/>
        </p:nvSpPr>
        <p:spPr>
          <a:xfrm>
            <a:off x="1358900" y="606869"/>
            <a:ext cx="285496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b="1" spc="100" dirty="0">
                <a:latin typeface="Trebuchet MS"/>
                <a:cs typeface="Trebuchet MS"/>
              </a:rPr>
              <a:t>Create</a:t>
            </a:r>
            <a:r>
              <a:rPr sz="1050" b="1" spc="60" dirty="0">
                <a:latin typeface="Trebuchet MS"/>
                <a:cs typeface="Trebuchet MS"/>
              </a:rPr>
              <a:t> </a:t>
            </a:r>
            <a:r>
              <a:rPr sz="1050" b="1" spc="105" dirty="0">
                <a:latin typeface="Trebuchet MS"/>
                <a:cs typeface="Trebuchet MS"/>
              </a:rPr>
              <a:t>occupancy</a:t>
            </a:r>
            <a:r>
              <a:rPr sz="1050" b="1" spc="60" dirty="0">
                <a:latin typeface="Trebuchet MS"/>
                <a:cs typeface="Trebuchet MS"/>
              </a:rPr>
              <a:t> </a:t>
            </a:r>
            <a:r>
              <a:rPr sz="1050" b="1" spc="110" dirty="0">
                <a:latin typeface="Trebuchet MS"/>
                <a:cs typeface="Trebuchet MS"/>
              </a:rPr>
              <a:t>percentage</a:t>
            </a:r>
            <a:r>
              <a:rPr sz="1050" b="1" spc="75" dirty="0">
                <a:latin typeface="Trebuchet MS"/>
                <a:cs typeface="Trebuchet MS"/>
              </a:rPr>
              <a:t> </a:t>
            </a:r>
            <a:r>
              <a:rPr sz="1050" b="1" spc="95" dirty="0">
                <a:latin typeface="Trebuchet MS"/>
                <a:cs typeface="Trebuchet MS"/>
              </a:rPr>
              <a:t>column</a:t>
            </a:r>
            <a:endParaRPr sz="1050">
              <a:latin typeface="Trebuchet MS"/>
              <a:cs typeface="Trebuchet MS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28737" y="980122"/>
            <a:ext cx="5838825" cy="59118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340995" marR="420370" indent="-298450">
              <a:lnSpc>
                <a:spcPct val="111800"/>
              </a:lnSpc>
              <a:spcBef>
                <a:spcPts val="300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'occupancy_pct'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spc="200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204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50" dirty="0">
                <a:solidFill>
                  <a:srgbClr val="0055AA"/>
                </a:solidFill>
                <a:latin typeface="Courier New"/>
                <a:cs typeface="Courier New"/>
              </a:rPr>
              <a:t>(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'successful_bookings'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spc="235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/</a:t>
            </a:r>
            <a:r>
              <a:rPr sz="950" b="1" spc="240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'capacity'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endParaRPr sz="950">
              <a:latin typeface="Courier New"/>
              <a:cs typeface="Courier New"/>
            </a:endParaRPr>
          </a:p>
          <a:p>
            <a:pPr marL="42545">
              <a:lnSpc>
                <a:spcPct val="100000"/>
              </a:lnSpc>
              <a:spcBef>
                <a:spcPts val="135"/>
              </a:spcBef>
            </a:pP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r>
              <a:rPr sz="950" spc="25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*</a:t>
            </a:r>
            <a:r>
              <a:rPr sz="950" b="1" spc="25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25" dirty="0">
                <a:solidFill>
                  <a:srgbClr val="008800"/>
                </a:solidFill>
                <a:latin typeface="Courier New"/>
                <a:cs typeface="Courier New"/>
              </a:rPr>
              <a:t>100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358900" y="2017631"/>
            <a:ext cx="2854960" cy="76771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500" spc="465" dirty="0">
                <a:latin typeface="Trebuchet MS"/>
                <a:cs typeface="Trebuchet MS"/>
              </a:rPr>
              <a:t>==&gt;</a:t>
            </a:r>
            <a:r>
              <a:rPr sz="1500" spc="55" dirty="0">
                <a:latin typeface="Trebuchet MS"/>
                <a:cs typeface="Trebuchet MS"/>
              </a:rPr>
              <a:t> </a:t>
            </a:r>
            <a:r>
              <a:rPr sz="1500" dirty="0">
                <a:latin typeface="Trebuchet MS"/>
                <a:cs typeface="Trebuchet MS"/>
              </a:rPr>
              <a:t>3.</a:t>
            </a:r>
            <a:r>
              <a:rPr sz="1500" spc="60" dirty="0">
                <a:latin typeface="Trebuchet MS"/>
                <a:cs typeface="Trebuchet MS"/>
              </a:rPr>
              <a:t> </a:t>
            </a:r>
            <a:r>
              <a:rPr sz="1500" spc="120" dirty="0">
                <a:latin typeface="Trebuchet MS"/>
                <a:cs typeface="Trebuchet MS"/>
              </a:rPr>
              <a:t>Data</a:t>
            </a:r>
            <a:r>
              <a:rPr sz="1500" spc="70" dirty="0">
                <a:latin typeface="Trebuchet MS"/>
                <a:cs typeface="Trebuchet MS"/>
              </a:rPr>
              <a:t> </a:t>
            </a:r>
            <a:r>
              <a:rPr sz="1500" spc="50" dirty="0">
                <a:latin typeface="Trebuchet MS"/>
                <a:cs typeface="Trebuchet MS"/>
              </a:rPr>
              <a:t>Transformation</a:t>
            </a:r>
            <a:endParaRPr sz="15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030"/>
              </a:spcBef>
            </a:pPr>
            <a:endParaRPr sz="15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1050" b="1" spc="100" dirty="0">
                <a:latin typeface="Trebuchet MS"/>
                <a:cs typeface="Trebuchet MS"/>
              </a:rPr>
              <a:t>Create</a:t>
            </a:r>
            <a:r>
              <a:rPr sz="1050" b="1" spc="60" dirty="0">
                <a:latin typeface="Trebuchet MS"/>
                <a:cs typeface="Trebuchet MS"/>
              </a:rPr>
              <a:t> </a:t>
            </a:r>
            <a:r>
              <a:rPr sz="1050" b="1" spc="105" dirty="0">
                <a:latin typeface="Trebuchet MS"/>
                <a:cs typeface="Trebuchet MS"/>
              </a:rPr>
              <a:t>occupancy</a:t>
            </a:r>
            <a:r>
              <a:rPr sz="1050" b="1" spc="60" dirty="0">
                <a:latin typeface="Trebuchet MS"/>
                <a:cs typeface="Trebuchet MS"/>
              </a:rPr>
              <a:t> </a:t>
            </a:r>
            <a:r>
              <a:rPr sz="1050" b="1" spc="110" dirty="0">
                <a:latin typeface="Trebuchet MS"/>
                <a:cs typeface="Trebuchet MS"/>
              </a:rPr>
              <a:t>percentage</a:t>
            </a:r>
            <a:r>
              <a:rPr sz="1050" b="1" spc="75" dirty="0">
                <a:latin typeface="Trebuchet MS"/>
                <a:cs typeface="Trebuchet MS"/>
              </a:rPr>
              <a:t> </a:t>
            </a:r>
            <a:r>
              <a:rPr sz="1050" b="1" spc="95" dirty="0">
                <a:latin typeface="Trebuchet MS"/>
                <a:cs typeface="Trebuchet MS"/>
              </a:rPr>
              <a:t>column</a:t>
            </a:r>
            <a:endParaRPr sz="1050">
              <a:latin typeface="Trebuchet MS"/>
              <a:cs typeface="Trebuchet MS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1328737" y="2972817"/>
            <a:ext cx="5838825" cy="26733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244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4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head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008800"/>
                </a:solidFill>
                <a:latin typeface="Courier New"/>
                <a:cs typeface="Courier New"/>
              </a:rPr>
              <a:t>3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1358900" y="4636885"/>
            <a:ext cx="584073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'occ_pct'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spc="180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185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apply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b="1" dirty="0">
                <a:solidFill>
                  <a:srgbClr val="008000"/>
                </a:solidFill>
                <a:latin typeface="Courier New"/>
                <a:cs typeface="Courier New"/>
              </a:rPr>
              <a:t>lambda</a:t>
            </a:r>
            <a:r>
              <a:rPr sz="950" b="1" spc="185" dirty="0">
                <a:solidFill>
                  <a:srgbClr val="008000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row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:</a:t>
            </a:r>
            <a:r>
              <a:rPr sz="950" spc="185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row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'successful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358900" y="5008361"/>
            <a:ext cx="584073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new_col</a:t>
            </a:r>
            <a:r>
              <a:rPr sz="950" spc="120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130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apply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b="1" dirty="0">
                <a:solidFill>
                  <a:srgbClr val="008000"/>
                </a:solidFill>
                <a:latin typeface="Courier New"/>
                <a:cs typeface="Courier New"/>
              </a:rPr>
              <a:t>lambda</a:t>
            </a:r>
            <a:r>
              <a:rPr sz="950" b="1" spc="130" dirty="0">
                <a:solidFill>
                  <a:srgbClr val="008000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row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:</a:t>
            </a:r>
            <a:r>
              <a:rPr sz="950" spc="130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row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'successful_bookings'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/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row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'ca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1358900" y="5156952"/>
            <a:ext cx="4796790" cy="349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800"/>
              </a:lnSpc>
              <a:spcBef>
                <a:spcPts val="95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spc="105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105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assign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occ_pct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new_col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values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head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008800"/>
                </a:solidFill>
                <a:latin typeface="Courier New"/>
                <a:cs typeface="Courier New"/>
              </a:rPr>
              <a:t>3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58900" y="6956525"/>
            <a:ext cx="584073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'occ_pct'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spc="210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210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'occ_pct'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apply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b="1" dirty="0">
                <a:solidFill>
                  <a:srgbClr val="008000"/>
                </a:solidFill>
                <a:latin typeface="Courier New"/>
                <a:cs typeface="Courier New"/>
              </a:rPr>
              <a:t>lambda</a:t>
            </a:r>
            <a:r>
              <a:rPr sz="950" b="1" spc="210" dirty="0">
                <a:solidFill>
                  <a:srgbClr val="008000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x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:</a:t>
            </a:r>
            <a:r>
              <a:rPr sz="950" spc="210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round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1358900" y="7118451"/>
            <a:ext cx="174053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head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008800"/>
                </a:solidFill>
                <a:latin typeface="Courier New"/>
                <a:cs typeface="Courier New"/>
              </a:rPr>
              <a:t>3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1328737" y="8703030"/>
            <a:ext cx="5838825" cy="26733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244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4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info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644525" y="1019815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[130…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644525" y="3012574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[131…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644525" y="4636885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[132…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644525" y="5008361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[133…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644525" y="6956525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[134…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644525" y="8742762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[135…</a:t>
            </a:r>
            <a:endParaRPr sz="9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371600" y="3143263"/>
            <a:ext cx="5610225" cy="25400"/>
            <a:chOff x="1371600" y="3143263"/>
            <a:chExt cx="5610225" cy="25400"/>
          </a:xfrm>
        </p:grpSpPr>
        <p:sp>
          <p:nvSpPr>
            <p:cNvPr id="3" name="object 3"/>
            <p:cNvSpPr/>
            <p:nvPr/>
          </p:nvSpPr>
          <p:spPr>
            <a:xfrm>
              <a:off x="1371600" y="3143263"/>
              <a:ext cx="5610225" cy="25400"/>
            </a:xfrm>
            <a:custGeom>
              <a:avLst/>
              <a:gdLst/>
              <a:ahLst/>
              <a:cxnLst/>
              <a:rect l="l" t="t" r="r" b="b"/>
              <a:pathLst>
                <a:path w="5610225" h="25400">
                  <a:moveTo>
                    <a:pt x="5610225" y="0"/>
                  </a:moveTo>
                  <a:lnTo>
                    <a:pt x="0" y="0"/>
                  </a:lnTo>
                  <a:lnTo>
                    <a:pt x="0" y="25400"/>
                  </a:lnTo>
                  <a:lnTo>
                    <a:pt x="5610225" y="25400"/>
                  </a:lnTo>
                  <a:lnTo>
                    <a:pt x="5610225" y="0"/>
                  </a:lnTo>
                  <a:close/>
                </a:path>
              </a:pathLst>
            </a:custGeom>
            <a:solidFill>
              <a:srgbClr val="BDBD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371600" y="3143263"/>
              <a:ext cx="5610225" cy="25400"/>
            </a:xfrm>
            <a:custGeom>
              <a:avLst/>
              <a:gdLst/>
              <a:ahLst/>
              <a:cxnLst/>
              <a:rect l="l" t="t" r="r" b="b"/>
              <a:pathLst>
                <a:path w="5610225" h="25400">
                  <a:moveTo>
                    <a:pt x="5610225" y="0"/>
                  </a:moveTo>
                  <a:lnTo>
                    <a:pt x="0" y="0"/>
                  </a:lnTo>
                  <a:lnTo>
                    <a:pt x="0" y="25400"/>
                  </a:lnTo>
                  <a:lnTo>
                    <a:pt x="12700" y="12700"/>
                  </a:lnTo>
                  <a:lnTo>
                    <a:pt x="5597525" y="12700"/>
                  </a:lnTo>
                  <a:lnTo>
                    <a:pt x="561022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371600" y="3143263"/>
              <a:ext cx="5610225" cy="25400"/>
            </a:xfrm>
            <a:custGeom>
              <a:avLst/>
              <a:gdLst/>
              <a:ahLst/>
              <a:cxnLst/>
              <a:rect l="l" t="t" r="r" b="b"/>
              <a:pathLst>
                <a:path w="5610225" h="25400">
                  <a:moveTo>
                    <a:pt x="5610225" y="0"/>
                  </a:moveTo>
                  <a:lnTo>
                    <a:pt x="5597525" y="12700"/>
                  </a:lnTo>
                  <a:lnTo>
                    <a:pt x="12700" y="12700"/>
                  </a:lnTo>
                  <a:lnTo>
                    <a:pt x="0" y="25400"/>
                  </a:lnTo>
                  <a:lnTo>
                    <a:pt x="5610225" y="25400"/>
                  </a:lnTo>
                  <a:lnTo>
                    <a:pt x="5610225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371600" y="3744736"/>
            <a:ext cx="5610225" cy="25400"/>
            <a:chOff x="1371600" y="3744736"/>
            <a:chExt cx="5610225" cy="25400"/>
          </a:xfrm>
        </p:grpSpPr>
        <p:sp>
          <p:nvSpPr>
            <p:cNvPr id="7" name="object 7"/>
            <p:cNvSpPr/>
            <p:nvPr/>
          </p:nvSpPr>
          <p:spPr>
            <a:xfrm>
              <a:off x="1371600" y="3744736"/>
              <a:ext cx="5610225" cy="25400"/>
            </a:xfrm>
            <a:custGeom>
              <a:avLst/>
              <a:gdLst/>
              <a:ahLst/>
              <a:cxnLst/>
              <a:rect l="l" t="t" r="r" b="b"/>
              <a:pathLst>
                <a:path w="5610225" h="25400">
                  <a:moveTo>
                    <a:pt x="5610225" y="0"/>
                  </a:moveTo>
                  <a:lnTo>
                    <a:pt x="0" y="0"/>
                  </a:lnTo>
                  <a:lnTo>
                    <a:pt x="0" y="25400"/>
                  </a:lnTo>
                  <a:lnTo>
                    <a:pt x="5610225" y="25400"/>
                  </a:lnTo>
                  <a:lnTo>
                    <a:pt x="5610225" y="0"/>
                  </a:lnTo>
                  <a:close/>
                </a:path>
              </a:pathLst>
            </a:custGeom>
            <a:solidFill>
              <a:srgbClr val="BDBD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371600" y="3744736"/>
              <a:ext cx="5610225" cy="25400"/>
            </a:xfrm>
            <a:custGeom>
              <a:avLst/>
              <a:gdLst/>
              <a:ahLst/>
              <a:cxnLst/>
              <a:rect l="l" t="t" r="r" b="b"/>
              <a:pathLst>
                <a:path w="5610225" h="25400">
                  <a:moveTo>
                    <a:pt x="5610225" y="0"/>
                  </a:moveTo>
                  <a:lnTo>
                    <a:pt x="0" y="0"/>
                  </a:lnTo>
                  <a:lnTo>
                    <a:pt x="0" y="25400"/>
                  </a:lnTo>
                  <a:lnTo>
                    <a:pt x="12700" y="12700"/>
                  </a:lnTo>
                  <a:lnTo>
                    <a:pt x="5597525" y="12700"/>
                  </a:lnTo>
                  <a:lnTo>
                    <a:pt x="561022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371600" y="3744736"/>
              <a:ext cx="5610225" cy="25400"/>
            </a:xfrm>
            <a:custGeom>
              <a:avLst/>
              <a:gdLst/>
              <a:ahLst/>
              <a:cxnLst/>
              <a:rect l="l" t="t" r="r" b="b"/>
              <a:pathLst>
                <a:path w="5610225" h="25400">
                  <a:moveTo>
                    <a:pt x="5610225" y="0"/>
                  </a:moveTo>
                  <a:lnTo>
                    <a:pt x="5597525" y="12700"/>
                  </a:lnTo>
                  <a:lnTo>
                    <a:pt x="12700" y="12700"/>
                  </a:lnTo>
                  <a:lnTo>
                    <a:pt x="0" y="25400"/>
                  </a:lnTo>
                  <a:lnTo>
                    <a:pt x="5610225" y="25400"/>
                  </a:lnTo>
                  <a:lnTo>
                    <a:pt x="5610225" y="0"/>
                  </a:lnTo>
                  <a:close/>
                </a:path>
              </a:pathLst>
            </a:custGeom>
            <a:solidFill>
              <a:srgbClr val="7F7F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10" name="object 10"/>
          <p:cNvGraphicFramePr>
            <a:graphicFrameLocks noGrp="1"/>
          </p:cNvGraphicFramePr>
          <p:nvPr/>
        </p:nvGraphicFramePr>
        <p:xfrm>
          <a:off x="625475" y="4693108"/>
          <a:ext cx="6644005" cy="955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53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20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449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092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479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Out[136…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65" dirty="0">
                          <a:latin typeface="Trebuchet MS"/>
                          <a:cs typeface="Trebuchet MS"/>
                        </a:rPr>
                        <a:t>check_in_date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room_category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successful_bookings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capacity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1594">
                        <a:lnSpc>
                          <a:spcPts val="1095"/>
                        </a:lnSpc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oc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0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16559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1206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19562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1206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2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1206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1" name="object 11"/>
          <p:cNvGrpSpPr/>
          <p:nvPr/>
        </p:nvGrpSpPr>
        <p:grpSpPr>
          <a:xfrm>
            <a:off x="1323975" y="7379461"/>
            <a:ext cx="5848350" cy="438784"/>
            <a:chOff x="1323975" y="7379461"/>
            <a:chExt cx="5848350" cy="438784"/>
          </a:xfrm>
        </p:grpSpPr>
        <p:sp>
          <p:nvSpPr>
            <p:cNvPr id="12" name="object 12"/>
            <p:cNvSpPr/>
            <p:nvPr/>
          </p:nvSpPr>
          <p:spPr>
            <a:xfrm>
              <a:off x="1323975" y="7379461"/>
              <a:ext cx="5848350" cy="438150"/>
            </a:xfrm>
            <a:custGeom>
              <a:avLst/>
              <a:gdLst/>
              <a:ahLst/>
              <a:cxnLst/>
              <a:rect l="l" t="t" r="r" b="b"/>
              <a:pathLst>
                <a:path w="5848350" h="438150">
                  <a:moveTo>
                    <a:pt x="5848350" y="0"/>
                  </a:moveTo>
                  <a:lnTo>
                    <a:pt x="0" y="0"/>
                  </a:lnTo>
                  <a:lnTo>
                    <a:pt x="0" y="438152"/>
                  </a:lnTo>
                  <a:lnTo>
                    <a:pt x="5848350" y="438152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F5F5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323975" y="7379969"/>
              <a:ext cx="5848350" cy="438150"/>
            </a:xfrm>
            <a:custGeom>
              <a:avLst/>
              <a:gdLst/>
              <a:ahLst/>
              <a:cxnLst/>
              <a:rect l="l" t="t" r="r" b="b"/>
              <a:pathLst>
                <a:path w="5848350" h="438150">
                  <a:moveTo>
                    <a:pt x="5848350" y="9017"/>
                  </a:moveTo>
                  <a:lnTo>
                    <a:pt x="5838825" y="9017"/>
                  </a:lnTo>
                  <a:lnTo>
                    <a:pt x="5838825" y="428129"/>
                  </a:lnTo>
                  <a:lnTo>
                    <a:pt x="0" y="428129"/>
                  </a:lnTo>
                  <a:lnTo>
                    <a:pt x="0" y="438150"/>
                  </a:lnTo>
                  <a:lnTo>
                    <a:pt x="5848350" y="438150"/>
                  </a:lnTo>
                  <a:lnTo>
                    <a:pt x="5848350" y="428129"/>
                  </a:lnTo>
                  <a:lnTo>
                    <a:pt x="5848350" y="9017"/>
                  </a:lnTo>
                  <a:close/>
                </a:path>
                <a:path w="5848350" h="438150">
                  <a:moveTo>
                    <a:pt x="5848350" y="0"/>
                  </a:moveTo>
                  <a:lnTo>
                    <a:pt x="0" y="0"/>
                  </a:lnTo>
                  <a:lnTo>
                    <a:pt x="0" y="8890"/>
                  </a:lnTo>
                  <a:lnTo>
                    <a:pt x="0" y="427990"/>
                  </a:lnTo>
                  <a:lnTo>
                    <a:pt x="9525" y="427990"/>
                  </a:lnTo>
                  <a:lnTo>
                    <a:pt x="9525" y="8890"/>
                  </a:lnTo>
                  <a:lnTo>
                    <a:pt x="5848350" y="8890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14" name="object 14"/>
          <p:cNvGraphicFramePr>
            <a:graphicFrameLocks noGrp="1"/>
          </p:cNvGraphicFramePr>
          <p:nvPr/>
        </p:nvGraphicFramePr>
        <p:xfrm>
          <a:off x="625475" y="7927152"/>
          <a:ext cx="6642099" cy="12846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53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20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449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21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Out[138…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65" dirty="0">
                          <a:latin typeface="Trebuchet MS"/>
                          <a:cs typeface="Trebuchet MS"/>
                        </a:rPr>
                        <a:t>check_in_date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room_category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successful_bookings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1594" algn="ctr">
                        <a:lnSpc>
                          <a:spcPts val="1095"/>
                        </a:lnSpc>
                      </a:pPr>
                      <a:r>
                        <a:rPr sz="950" b="1" spc="105" dirty="0">
                          <a:latin typeface="Trebuchet MS"/>
                          <a:cs typeface="Trebuchet MS"/>
                        </a:rPr>
                        <a:t>capacity</a:t>
                      </a:r>
                      <a:r>
                        <a:rPr sz="950" b="1" spc="21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b="1" spc="70" dirty="0">
                          <a:latin typeface="Trebuchet MS"/>
                          <a:cs typeface="Trebuchet MS"/>
                        </a:rPr>
                        <a:t>oc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0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16559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04775" marR="12065" algn="ct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19562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88265" marR="12065" algn="ct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2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L="104775" marR="12065" algn="ct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3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17558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30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105410" marR="12065" algn="ct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19.0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object 15"/>
          <p:cNvSpPr txBox="1"/>
          <p:nvPr/>
        </p:nvSpPr>
        <p:spPr>
          <a:xfrm>
            <a:off x="1244600" y="621669"/>
            <a:ext cx="3007360" cy="6731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228600">
              <a:lnSpc>
                <a:spcPct val="111800"/>
              </a:lnSpc>
              <a:spcBef>
                <a:spcPts val="95"/>
              </a:spcBef>
            </a:pPr>
            <a:r>
              <a:rPr sz="950" dirty="0">
                <a:latin typeface="Courier New"/>
                <a:cs typeface="Courier New"/>
              </a:rPr>
              <a:t>&lt;class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'pandas.core.frame.DataFrame'&gt; </a:t>
            </a:r>
            <a:r>
              <a:rPr sz="950" dirty="0">
                <a:latin typeface="Courier New"/>
                <a:cs typeface="Courier New"/>
              </a:rPr>
              <a:t>RangeIndex:</a:t>
            </a:r>
            <a:r>
              <a:rPr sz="950" spc="7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9200</a:t>
            </a:r>
            <a:r>
              <a:rPr sz="950" spc="7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entries,</a:t>
            </a:r>
            <a:r>
              <a:rPr sz="950" spc="7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0</a:t>
            </a:r>
            <a:r>
              <a:rPr sz="950" spc="7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to</a:t>
            </a:r>
            <a:r>
              <a:rPr sz="950" spc="75" dirty="0">
                <a:latin typeface="Courier New"/>
                <a:cs typeface="Courier New"/>
              </a:rPr>
              <a:t> </a:t>
            </a:r>
            <a:r>
              <a:rPr sz="950" spc="-20" dirty="0">
                <a:latin typeface="Courier New"/>
                <a:cs typeface="Courier New"/>
              </a:rPr>
              <a:t>9199 </a:t>
            </a:r>
            <a:r>
              <a:rPr sz="950" dirty="0">
                <a:latin typeface="Courier New"/>
                <a:cs typeface="Courier New"/>
              </a:rPr>
              <a:t>Data</a:t>
            </a:r>
            <a:r>
              <a:rPr sz="950" spc="6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columns</a:t>
            </a:r>
            <a:r>
              <a:rPr sz="950" spc="6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(total</a:t>
            </a:r>
            <a:r>
              <a:rPr sz="950" spc="7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7</a:t>
            </a:r>
            <a:r>
              <a:rPr sz="950" spc="65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columns):</a:t>
            </a:r>
            <a:endParaRPr sz="950">
              <a:latin typeface="Courier New"/>
              <a:cs typeface="Courier New"/>
            </a:endParaRPr>
          </a:p>
          <a:p>
            <a:pPr marL="86995">
              <a:lnSpc>
                <a:spcPct val="100000"/>
              </a:lnSpc>
              <a:spcBef>
                <a:spcPts val="135"/>
              </a:spcBef>
              <a:tabLst>
                <a:tab pos="384810" algn="l"/>
                <a:tab pos="1950720" algn="l"/>
              </a:tabLst>
            </a:pPr>
            <a:r>
              <a:rPr sz="950" spc="-50" dirty="0">
                <a:latin typeface="Courier New"/>
                <a:cs typeface="Courier New"/>
              </a:rPr>
              <a:t>#</a:t>
            </a:r>
            <a:r>
              <a:rPr sz="950" dirty="0">
                <a:latin typeface="Courier New"/>
                <a:cs typeface="Courier New"/>
              </a:rPr>
              <a:t>	</a:t>
            </a:r>
            <a:r>
              <a:rPr sz="950" spc="-10" dirty="0">
                <a:latin typeface="Courier New"/>
                <a:cs typeface="Courier New"/>
              </a:rPr>
              <a:t>Column</a:t>
            </a:r>
            <a:r>
              <a:rPr sz="950" dirty="0">
                <a:latin typeface="Courier New"/>
                <a:cs typeface="Courier New"/>
              </a:rPr>
              <a:t>	Non-Null</a:t>
            </a:r>
            <a:r>
              <a:rPr sz="950" spc="105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Count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375397" y="1120782"/>
            <a:ext cx="39814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latin typeface="Courier New"/>
                <a:cs typeface="Courier New"/>
              </a:rPr>
              <a:t>Dtype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1257300" y="1385305"/>
            <a:ext cx="224154" cy="0"/>
          </a:xfrm>
          <a:custGeom>
            <a:avLst/>
            <a:gdLst/>
            <a:ahLst/>
            <a:cxnLst/>
            <a:rect l="l" t="t" r="r" b="b"/>
            <a:pathLst>
              <a:path w="224155">
                <a:moveTo>
                  <a:pt x="0" y="0"/>
                </a:moveTo>
                <a:lnTo>
                  <a:pt x="223627" y="0"/>
                </a:lnTo>
              </a:path>
            </a:pathLst>
          </a:custGeom>
          <a:ln w="9906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630013" y="1385305"/>
            <a:ext cx="447675" cy="0"/>
          </a:xfrm>
          <a:custGeom>
            <a:avLst/>
            <a:gdLst/>
            <a:ahLst/>
            <a:cxnLst/>
            <a:rect l="l" t="t" r="r" b="b"/>
            <a:pathLst>
              <a:path w="447675">
                <a:moveTo>
                  <a:pt x="0" y="0"/>
                </a:moveTo>
                <a:lnTo>
                  <a:pt x="447255" y="0"/>
                </a:lnTo>
              </a:path>
            </a:pathLst>
          </a:custGeom>
          <a:ln w="9906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3195409" y="1385305"/>
            <a:ext cx="1043940" cy="0"/>
          </a:xfrm>
          <a:custGeom>
            <a:avLst/>
            <a:gdLst/>
            <a:ahLst/>
            <a:cxnLst/>
            <a:rect l="l" t="t" r="r" b="b"/>
            <a:pathLst>
              <a:path w="1043939">
                <a:moveTo>
                  <a:pt x="0" y="0"/>
                </a:moveTo>
                <a:lnTo>
                  <a:pt x="1043597" y="0"/>
                </a:lnTo>
              </a:path>
            </a:pathLst>
          </a:custGeom>
          <a:ln w="9906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4388091" y="1385305"/>
            <a:ext cx="372745" cy="0"/>
          </a:xfrm>
          <a:custGeom>
            <a:avLst/>
            <a:gdLst/>
            <a:ahLst/>
            <a:cxnLst/>
            <a:rect l="l" t="t" r="r" b="b"/>
            <a:pathLst>
              <a:path w="372745">
                <a:moveTo>
                  <a:pt x="0" y="0"/>
                </a:moveTo>
                <a:lnTo>
                  <a:pt x="372713" y="0"/>
                </a:lnTo>
              </a:path>
            </a:pathLst>
          </a:custGeom>
          <a:ln w="9906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1319149" y="1431298"/>
            <a:ext cx="1739900" cy="115951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310515" indent="-297815">
              <a:lnSpc>
                <a:spcPct val="100000"/>
              </a:lnSpc>
              <a:spcBef>
                <a:spcPts val="229"/>
              </a:spcBef>
              <a:buAutoNum type="arabicPlain"/>
              <a:tabLst>
                <a:tab pos="310515" algn="l"/>
              </a:tabLst>
            </a:pPr>
            <a:r>
              <a:rPr sz="950" spc="-10" dirty="0">
                <a:latin typeface="Courier New"/>
                <a:cs typeface="Courier New"/>
              </a:rPr>
              <a:t>property_id</a:t>
            </a:r>
            <a:endParaRPr sz="950">
              <a:latin typeface="Courier New"/>
              <a:cs typeface="Courier New"/>
            </a:endParaRPr>
          </a:p>
          <a:p>
            <a:pPr marL="310515" indent="-297815">
              <a:lnSpc>
                <a:spcPct val="100000"/>
              </a:lnSpc>
              <a:spcBef>
                <a:spcPts val="135"/>
              </a:spcBef>
              <a:buAutoNum type="arabicPlain"/>
              <a:tabLst>
                <a:tab pos="310515" algn="l"/>
              </a:tabLst>
            </a:pPr>
            <a:r>
              <a:rPr sz="950" spc="-10" dirty="0">
                <a:latin typeface="Courier New"/>
                <a:cs typeface="Courier New"/>
              </a:rPr>
              <a:t>check_in_date</a:t>
            </a:r>
            <a:endParaRPr sz="950">
              <a:latin typeface="Courier New"/>
              <a:cs typeface="Courier New"/>
            </a:endParaRPr>
          </a:p>
          <a:p>
            <a:pPr marL="310515" indent="-297815">
              <a:lnSpc>
                <a:spcPct val="100000"/>
              </a:lnSpc>
              <a:spcBef>
                <a:spcPts val="135"/>
              </a:spcBef>
              <a:buAutoNum type="arabicPlain"/>
              <a:tabLst>
                <a:tab pos="310515" algn="l"/>
              </a:tabLst>
            </a:pPr>
            <a:r>
              <a:rPr sz="950" spc="-10" dirty="0">
                <a:latin typeface="Courier New"/>
                <a:cs typeface="Courier New"/>
              </a:rPr>
              <a:t>room_category</a:t>
            </a:r>
            <a:endParaRPr sz="950">
              <a:latin typeface="Courier New"/>
              <a:cs typeface="Courier New"/>
            </a:endParaRPr>
          </a:p>
          <a:p>
            <a:pPr marL="310515" indent="-297815">
              <a:lnSpc>
                <a:spcPct val="100000"/>
              </a:lnSpc>
              <a:spcBef>
                <a:spcPts val="135"/>
              </a:spcBef>
              <a:buAutoNum type="arabicPlain"/>
              <a:tabLst>
                <a:tab pos="310515" algn="l"/>
              </a:tabLst>
            </a:pPr>
            <a:r>
              <a:rPr sz="950" spc="-10" dirty="0">
                <a:latin typeface="Courier New"/>
                <a:cs typeface="Courier New"/>
              </a:rPr>
              <a:t>successful_bookings</a:t>
            </a:r>
            <a:endParaRPr sz="950">
              <a:latin typeface="Courier New"/>
              <a:cs typeface="Courier New"/>
            </a:endParaRPr>
          </a:p>
          <a:p>
            <a:pPr marL="310515" indent="-297815">
              <a:lnSpc>
                <a:spcPct val="100000"/>
              </a:lnSpc>
              <a:spcBef>
                <a:spcPts val="135"/>
              </a:spcBef>
              <a:buAutoNum type="arabicPlain"/>
              <a:tabLst>
                <a:tab pos="310515" algn="l"/>
              </a:tabLst>
            </a:pPr>
            <a:r>
              <a:rPr sz="950" spc="-10" dirty="0">
                <a:latin typeface="Courier New"/>
                <a:cs typeface="Courier New"/>
              </a:rPr>
              <a:t>capacity</a:t>
            </a:r>
            <a:endParaRPr sz="950">
              <a:latin typeface="Courier New"/>
              <a:cs typeface="Courier New"/>
            </a:endParaRPr>
          </a:p>
          <a:p>
            <a:pPr marL="310515" indent="-297815">
              <a:lnSpc>
                <a:spcPct val="100000"/>
              </a:lnSpc>
              <a:spcBef>
                <a:spcPts val="135"/>
              </a:spcBef>
              <a:buAutoNum type="arabicPlain"/>
              <a:tabLst>
                <a:tab pos="310515" algn="l"/>
              </a:tabLst>
            </a:pPr>
            <a:r>
              <a:rPr sz="950" spc="-10" dirty="0">
                <a:latin typeface="Courier New"/>
                <a:cs typeface="Courier New"/>
              </a:rPr>
              <a:t>occupancy_pct</a:t>
            </a:r>
            <a:endParaRPr sz="950">
              <a:latin typeface="Courier New"/>
              <a:cs typeface="Courier New"/>
            </a:endParaRPr>
          </a:p>
          <a:p>
            <a:pPr marL="310515" indent="-297815">
              <a:lnSpc>
                <a:spcPct val="100000"/>
              </a:lnSpc>
              <a:spcBef>
                <a:spcPts val="135"/>
              </a:spcBef>
              <a:buAutoNum type="arabicPlain"/>
              <a:tabLst>
                <a:tab pos="310515" algn="l"/>
              </a:tabLst>
            </a:pPr>
            <a:r>
              <a:rPr sz="950" spc="-10" dirty="0">
                <a:latin typeface="Courier New"/>
                <a:cs typeface="Courier New"/>
              </a:rPr>
              <a:t>occ_pct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3182715" y="1431298"/>
            <a:ext cx="995044" cy="115951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950" dirty="0">
                <a:latin typeface="Courier New"/>
                <a:cs typeface="Courier New"/>
              </a:rPr>
              <a:t>9200</a:t>
            </a:r>
            <a:r>
              <a:rPr sz="950" spc="10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non-</a:t>
            </a:r>
            <a:r>
              <a:rPr sz="950" spc="-20" dirty="0">
                <a:latin typeface="Courier New"/>
                <a:cs typeface="Courier New"/>
              </a:rPr>
              <a:t>null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dirty="0">
                <a:latin typeface="Courier New"/>
                <a:cs typeface="Courier New"/>
              </a:rPr>
              <a:t>9200</a:t>
            </a:r>
            <a:r>
              <a:rPr sz="950" spc="10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non-</a:t>
            </a:r>
            <a:r>
              <a:rPr sz="950" spc="-20" dirty="0">
                <a:latin typeface="Courier New"/>
                <a:cs typeface="Courier New"/>
              </a:rPr>
              <a:t>null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dirty="0">
                <a:latin typeface="Courier New"/>
                <a:cs typeface="Courier New"/>
              </a:rPr>
              <a:t>9200</a:t>
            </a:r>
            <a:r>
              <a:rPr sz="950" spc="10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non-</a:t>
            </a:r>
            <a:r>
              <a:rPr sz="950" spc="-20" dirty="0">
                <a:latin typeface="Courier New"/>
                <a:cs typeface="Courier New"/>
              </a:rPr>
              <a:t>null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dirty="0">
                <a:latin typeface="Courier New"/>
                <a:cs typeface="Courier New"/>
              </a:rPr>
              <a:t>9200</a:t>
            </a:r>
            <a:r>
              <a:rPr sz="950" spc="10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non-</a:t>
            </a:r>
            <a:r>
              <a:rPr sz="950" spc="-20" dirty="0">
                <a:latin typeface="Courier New"/>
                <a:cs typeface="Courier New"/>
              </a:rPr>
              <a:t>null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dirty="0">
                <a:latin typeface="Courier New"/>
                <a:cs typeface="Courier New"/>
              </a:rPr>
              <a:t>9200</a:t>
            </a:r>
            <a:r>
              <a:rPr sz="950" spc="10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non-</a:t>
            </a:r>
            <a:r>
              <a:rPr sz="950" spc="-20" dirty="0">
                <a:latin typeface="Courier New"/>
                <a:cs typeface="Courier New"/>
              </a:rPr>
              <a:t>null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dirty="0">
                <a:latin typeface="Courier New"/>
                <a:cs typeface="Courier New"/>
              </a:rPr>
              <a:t>9200</a:t>
            </a:r>
            <a:r>
              <a:rPr sz="950" spc="10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non-</a:t>
            </a:r>
            <a:r>
              <a:rPr sz="950" spc="-20" dirty="0">
                <a:latin typeface="Courier New"/>
                <a:cs typeface="Courier New"/>
              </a:rPr>
              <a:t>null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dirty="0">
                <a:latin typeface="Courier New"/>
                <a:cs typeface="Courier New"/>
              </a:rPr>
              <a:t>9200</a:t>
            </a:r>
            <a:r>
              <a:rPr sz="950" spc="10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non-</a:t>
            </a:r>
            <a:r>
              <a:rPr sz="950" spc="-20" dirty="0">
                <a:latin typeface="Courier New"/>
                <a:cs typeface="Courier New"/>
              </a:rPr>
              <a:t>null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4375397" y="1431298"/>
            <a:ext cx="547370" cy="115951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800"/>
              </a:lnSpc>
              <a:spcBef>
                <a:spcPts val="95"/>
              </a:spcBef>
            </a:pPr>
            <a:r>
              <a:rPr sz="950" spc="-10" dirty="0">
                <a:latin typeface="Courier New"/>
                <a:cs typeface="Courier New"/>
              </a:rPr>
              <a:t>int64 object object int64 float64 float64 float64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244600" y="2564779"/>
            <a:ext cx="2933065" cy="349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800"/>
              </a:lnSpc>
              <a:spcBef>
                <a:spcPts val="95"/>
              </a:spcBef>
            </a:pPr>
            <a:r>
              <a:rPr sz="950" dirty="0">
                <a:latin typeface="Courier New"/>
                <a:cs typeface="Courier New"/>
              </a:rPr>
              <a:t>dtypes:</a:t>
            </a:r>
            <a:r>
              <a:rPr sz="950" spc="114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float64(3),</a:t>
            </a:r>
            <a:r>
              <a:rPr sz="950" spc="12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int64(2),</a:t>
            </a:r>
            <a:r>
              <a:rPr sz="950" spc="120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object(2) </a:t>
            </a:r>
            <a:r>
              <a:rPr sz="950" dirty="0">
                <a:latin typeface="Courier New"/>
                <a:cs typeface="Courier New"/>
              </a:rPr>
              <a:t>memory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usage:</a:t>
            </a:r>
            <a:r>
              <a:rPr sz="950" spc="8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503.2+</a:t>
            </a:r>
            <a:r>
              <a:rPr sz="950" spc="85" dirty="0">
                <a:latin typeface="Courier New"/>
                <a:cs typeface="Courier New"/>
              </a:rPr>
              <a:t> </a:t>
            </a:r>
            <a:r>
              <a:rPr sz="950" spc="-25" dirty="0">
                <a:latin typeface="Courier New"/>
                <a:cs typeface="Courier New"/>
              </a:rPr>
              <a:t>KB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1358900" y="3356857"/>
            <a:ext cx="5291455" cy="76771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500" spc="465" dirty="0">
                <a:latin typeface="Trebuchet MS"/>
                <a:cs typeface="Trebuchet MS"/>
              </a:rPr>
              <a:t>==&gt;</a:t>
            </a:r>
            <a:r>
              <a:rPr sz="1500" spc="60" dirty="0">
                <a:latin typeface="Trebuchet MS"/>
                <a:cs typeface="Trebuchet MS"/>
              </a:rPr>
              <a:t> </a:t>
            </a:r>
            <a:r>
              <a:rPr sz="1500" dirty="0">
                <a:latin typeface="Trebuchet MS"/>
                <a:cs typeface="Trebuchet MS"/>
              </a:rPr>
              <a:t>4.</a:t>
            </a:r>
            <a:r>
              <a:rPr sz="1500" spc="65" dirty="0">
                <a:latin typeface="Trebuchet MS"/>
                <a:cs typeface="Trebuchet MS"/>
              </a:rPr>
              <a:t> </a:t>
            </a:r>
            <a:r>
              <a:rPr sz="1500" spc="95" dirty="0">
                <a:latin typeface="Trebuchet MS"/>
                <a:cs typeface="Trebuchet MS"/>
              </a:rPr>
              <a:t>Insights</a:t>
            </a:r>
            <a:r>
              <a:rPr sz="1500" spc="80" dirty="0">
                <a:latin typeface="Trebuchet MS"/>
                <a:cs typeface="Trebuchet MS"/>
              </a:rPr>
              <a:t> </a:t>
            </a:r>
            <a:r>
              <a:rPr sz="1500" spc="70" dirty="0">
                <a:latin typeface="Trebuchet MS"/>
                <a:cs typeface="Trebuchet MS"/>
              </a:rPr>
              <a:t>Generation</a:t>
            </a:r>
            <a:endParaRPr sz="15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030"/>
              </a:spcBef>
            </a:pPr>
            <a:endParaRPr sz="15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1050" b="1" spc="55" dirty="0">
                <a:latin typeface="Trebuchet MS"/>
                <a:cs typeface="Trebuchet MS"/>
              </a:rPr>
              <a:t>1.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145" dirty="0">
                <a:latin typeface="Trebuchet MS"/>
                <a:cs typeface="Trebuchet MS"/>
              </a:rPr>
              <a:t>What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105" dirty="0">
                <a:latin typeface="Trebuchet MS"/>
                <a:cs typeface="Trebuchet MS"/>
              </a:rPr>
              <a:t>is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125" dirty="0">
                <a:latin typeface="Trebuchet MS"/>
                <a:cs typeface="Trebuchet MS"/>
              </a:rPr>
              <a:t>an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125" dirty="0">
                <a:latin typeface="Trebuchet MS"/>
                <a:cs typeface="Trebuchet MS"/>
              </a:rPr>
              <a:t>average</a:t>
            </a:r>
            <a:r>
              <a:rPr sz="1050" b="1" spc="65" dirty="0">
                <a:latin typeface="Trebuchet MS"/>
                <a:cs typeface="Trebuchet MS"/>
              </a:rPr>
              <a:t> </a:t>
            </a:r>
            <a:r>
              <a:rPr sz="1050" b="1" spc="105" dirty="0">
                <a:latin typeface="Trebuchet MS"/>
                <a:cs typeface="Trebuchet MS"/>
              </a:rPr>
              <a:t>occupancy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95" dirty="0">
                <a:latin typeface="Trebuchet MS"/>
                <a:cs typeface="Trebuchet MS"/>
              </a:rPr>
              <a:t>rate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80" dirty="0">
                <a:latin typeface="Trebuchet MS"/>
                <a:cs typeface="Trebuchet MS"/>
              </a:rPr>
              <a:t>in</a:t>
            </a:r>
            <a:r>
              <a:rPr sz="1050" b="1" spc="60" dirty="0">
                <a:latin typeface="Trebuchet MS"/>
                <a:cs typeface="Trebuchet MS"/>
              </a:rPr>
              <a:t> </a:t>
            </a:r>
            <a:r>
              <a:rPr sz="1050" b="1" spc="110" dirty="0">
                <a:latin typeface="Trebuchet MS"/>
                <a:cs typeface="Trebuchet MS"/>
              </a:rPr>
              <a:t>each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90" dirty="0">
                <a:latin typeface="Trebuchet MS"/>
                <a:cs typeface="Trebuchet MS"/>
              </a:rPr>
              <a:t>of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100" dirty="0">
                <a:latin typeface="Trebuchet MS"/>
                <a:cs typeface="Trebuchet MS"/>
              </a:rPr>
              <a:t>the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114" dirty="0">
                <a:latin typeface="Trebuchet MS"/>
                <a:cs typeface="Trebuchet MS"/>
              </a:rPr>
              <a:t>room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105" dirty="0">
                <a:latin typeface="Trebuchet MS"/>
                <a:cs typeface="Trebuchet MS"/>
              </a:rPr>
              <a:t>categories?</a:t>
            </a:r>
            <a:endParaRPr sz="1050">
              <a:latin typeface="Trebuchet MS"/>
              <a:cs typeface="Trebuchet MS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1328737" y="4312284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244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4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head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008800"/>
                </a:solidFill>
                <a:latin typeface="Courier New"/>
                <a:cs typeface="Courier New"/>
              </a:rPr>
              <a:t>3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328737" y="5936615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244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4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groupby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"room_category"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"occ_pct"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mean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644525" y="6299961"/>
            <a:ext cx="170942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Out[137…</a:t>
            </a:r>
            <a:r>
              <a:rPr sz="950" spc="450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room_category</a:t>
            </a:r>
            <a:endParaRPr sz="950">
              <a:latin typeface="Courier New"/>
              <a:cs typeface="Courier New"/>
            </a:endParaRPr>
          </a:p>
        </p:txBody>
      </p:sp>
      <p:graphicFrame>
        <p:nvGraphicFramePr>
          <p:cNvPr id="29" name="object 29"/>
          <p:cNvGraphicFramePr>
            <a:graphicFrameLocks noGrp="1"/>
          </p:cNvGraphicFramePr>
          <p:nvPr/>
        </p:nvGraphicFramePr>
        <p:xfrm>
          <a:off x="1339850" y="6483475"/>
          <a:ext cx="2301875" cy="7905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419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marL="31750">
                        <a:lnSpc>
                          <a:spcPts val="1095"/>
                        </a:lnSpc>
                      </a:pPr>
                      <a:r>
                        <a:rPr sz="950" spc="-25" dirty="0">
                          <a:latin typeface="Courier New"/>
                          <a:cs typeface="Courier New"/>
                        </a:rPr>
                        <a:t>RT1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11760">
                        <a:lnSpc>
                          <a:spcPts val="1095"/>
                        </a:lnSpc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58.232748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25" dirty="0">
                          <a:latin typeface="Courier New"/>
                          <a:cs typeface="Courier New"/>
                        </a:rPr>
                        <a:t>RT2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L="11176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58.040278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25" dirty="0">
                          <a:latin typeface="Courier New"/>
                          <a:cs typeface="Courier New"/>
                        </a:rPr>
                        <a:t>RT3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L="11176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58.028213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25" dirty="0">
                          <a:latin typeface="Courier New"/>
                          <a:cs typeface="Courier New"/>
                        </a:rPr>
                        <a:t>RT4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L="11176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59.300461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31750">
                        <a:lnSpc>
                          <a:spcPts val="108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Name: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ts val="1080"/>
                        </a:lnSpc>
                        <a:spcBef>
                          <a:spcPts val="25"/>
                        </a:spcBef>
                      </a:pPr>
                      <a:r>
                        <a:rPr sz="950" dirty="0">
                          <a:latin typeface="Courier New"/>
                          <a:cs typeface="Courier New"/>
                        </a:rPr>
                        <a:t>occ_pct,</a:t>
                      </a:r>
                      <a:r>
                        <a:rPr sz="950" spc="95" dirty="0"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dtype:</a:t>
                      </a:r>
                      <a:r>
                        <a:rPr sz="950" spc="95" dirty="0"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950" spc="-10" dirty="0">
                          <a:latin typeface="Courier New"/>
                          <a:cs typeface="Courier New"/>
                        </a:rPr>
                        <a:t>float64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" name="object 30"/>
          <p:cNvSpPr txBox="1"/>
          <p:nvPr/>
        </p:nvSpPr>
        <p:spPr>
          <a:xfrm>
            <a:off x="1358900" y="7423918"/>
            <a:ext cx="584073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</a:t>
            </a:r>
            <a:r>
              <a:rPr sz="950" spc="155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155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pd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merge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,</a:t>
            </a:r>
            <a:r>
              <a:rPr sz="950" spc="155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df_rooms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,</a:t>
            </a:r>
            <a:r>
              <a:rPr sz="950" spc="155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left_on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"room_category"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,</a:t>
            </a:r>
            <a:r>
              <a:rPr sz="950" spc="155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right_on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"ro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1358900" y="7585844"/>
            <a:ext cx="77089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head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008800"/>
                </a:solidFill>
                <a:latin typeface="Courier New"/>
                <a:cs typeface="Courier New"/>
              </a:rPr>
              <a:t>4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644525" y="4351801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[136…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644525" y="5976111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[137…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644525" y="7423918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[138…</a:t>
            </a:r>
            <a:endParaRPr sz="9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625475" y="1147764"/>
          <a:ext cx="6642099" cy="12846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53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20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449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092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351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Out[139…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65" dirty="0">
                          <a:latin typeface="Trebuchet MS"/>
                          <a:cs typeface="Trebuchet MS"/>
                        </a:rPr>
                        <a:t>check_in_date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room_category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successful_bookings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capacity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1594">
                        <a:lnSpc>
                          <a:spcPts val="1095"/>
                        </a:lnSpc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oc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0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16559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1206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19562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1206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2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1206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3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17558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30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19.0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1206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object 3"/>
          <p:cNvSpPr/>
          <p:nvPr/>
        </p:nvSpPr>
        <p:spPr>
          <a:xfrm>
            <a:off x="1323975" y="6135987"/>
            <a:ext cx="3672204" cy="9525"/>
          </a:xfrm>
          <a:custGeom>
            <a:avLst/>
            <a:gdLst/>
            <a:ahLst/>
            <a:cxnLst/>
            <a:rect l="l" t="t" r="r" b="b"/>
            <a:pathLst>
              <a:path w="3672204" h="9525">
                <a:moveTo>
                  <a:pt x="3672064" y="0"/>
                </a:moveTo>
                <a:lnTo>
                  <a:pt x="0" y="0"/>
                </a:lnTo>
                <a:lnTo>
                  <a:pt x="0" y="9525"/>
                </a:lnTo>
                <a:lnTo>
                  <a:pt x="3672064" y="9525"/>
                </a:lnTo>
                <a:lnTo>
                  <a:pt x="3672064" y="0"/>
                </a:lnTo>
                <a:close/>
              </a:path>
            </a:pathLst>
          </a:custGeom>
          <a:solidFill>
            <a:srgbClr val="BDBDBD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625475" y="7716172"/>
          <a:ext cx="6644005" cy="955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53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20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449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092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479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Out[144…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65" dirty="0">
                          <a:latin typeface="Trebuchet MS"/>
                          <a:cs typeface="Trebuchet MS"/>
                        </a:rPr>
                        <a:t>check_in_date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room_category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successful_bookings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capacity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1594">
                        <a:lnSpc>
                          <a:spcPts val="1095"/>
                        </a:lnSpc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oc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0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16559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1206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19562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1206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2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1206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1328737" y="605155"/>
            <a:ext cx="5838825" cy="42862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42545" marR="2880360">
              <a:lnSpc>
                <a:spcPct val="111800"/>
              </a:lnSpc>
              <a:spcBef>
                <a:spcPts val="300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drop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"room_id"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,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axis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dirty="0">
                <a:solidFill>
                  <a:srgbClr val="008800"/>
                </a:solidFill>
                <a:latin typeface="Courier New"/>
                <a:cs typeface="Courier New"/>
              </a:rPr>
              <a:t>1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,</a:t>
            </a:r>
            <a:r>
              <a:rPr sz="950" spc="300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inplace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-10" dirty="0">
                <a:solidFill>
                  <a:srgbClr val="008000"/>
                </a:solidFill>
                <a:latin typeface="Courier New"/>
                <a:cs typeface="Courier New"/>
              </a:rPr>
              <a:t>True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head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008800"/>
                </a:solidFill>
                <a:latin typeface="Courier New"/>
                <a:cs typeface="Courier New"/>
              </a:rPr>
              <a:t>4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328737" y="2658745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groupby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"room_class"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"occ_pct"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mean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625475" y="3044171"/>
          <a:ext cx="3016250" cy="9525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70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2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marL="31750">
                        <a:lnSpc>
                          <a:spcPts val="1095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Out[140…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8419">
                        <a:lnSpc>
                          <a:spcPts val="1095"/>
                        </a:lnSpc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room_class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8419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Elite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L="11176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58.040278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8419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Premium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L="11176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58.028213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8419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Presidential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L="11176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59.300461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8419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Standard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L="11176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58.232748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8419">
                        <a:lnSpc>
                          <a:spcPts val="1080"/>
                        </a:lnSpc>
                        <a:spcBef>
                          <a:spcPts val="25"/>
                        </a:spcBef>
                      </a:pPr>
                      <a:r>
                        <a:rPr sz="950" dirty="0">
                          <a:latin typeface="Courier New"/>
                          <a:cs typeface="Courier New"/>
                        </a:rPr>
                        <a:t>Name:</a:t>
                      </a:r>
                      <a:r>
                        <a:rPr sz="950" spc="70" dirty="0"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950" spc="-10" dirty="0">
                          <a:latin typeface="Courier New"/>
                          <a:cs typeface="Courier New"/>
                        </a:rPr>
                        <a:t>occ_pct,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ts val="1080"/>
                        </a:lnSpc>
                        <a:spcBef>
                          <a:spcPts val="25"/>
                        </a:spcBef>
                      </a:pPr>
                      <a:r>
                        <a:rPr sz="950" dirty="0">
                          <a:latin typeface="Courier New"/>
                          <a:cs typeface="Courier New"/>
                        </a:rPr>
                        <a:t>dtype:</a:t>
                      </a:r>
                      <a:r>
                        <a:rPr sz="950" spc="80" dirty="0"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950" spc="-10" dirty="0">
                          <a:latin typeface="Courier New"/>
                          <a:cs typeface="Courier New"/>
                        </a:rPr>
                        <a:t>float64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object 8"/>
          <p:cNvSpPr txBox="1"/>
          <p:nvPr/>
        </p:nvSpPr>
        <p:spPr>
          <a:xfrm>
            <a:off x="1328737" y="4106545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room_class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==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"Standard"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occ_pct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mean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358900" y="4470389"/>
            <a:ext cx="218757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latin typeface="Courier New"/>
                <a:cs typeface="Courier New"/>
              </a:rPr>
              <a:t>np.float64(58.23274782608696)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358900" y="4804205"/>
            <a:ext cx="3052445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b="1" spc="55" dirty="0">
                <a:latin typeface="Trebuchet MS"/>
                <a:cs typeface="Trebuchet MS"/>
              </a:rPr>
              <a:t>2.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95" dirty="0">
                <a:latin typeface="Trebuchet MS"/>
                <a:cs typeface="Trebuchet MS"/>
              </a:rPr>
              <a:t>Print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125" dirty="0">
                <a:latin typeface="Trebuchet MS"/>
                <a:cs typeface="Trebuchet MS"/>
              </a:rPr>
              <a:t>average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105" dirty="0">
                <a:latin typeface="Trebuchet MS"/>
                <a:cs typeface="Trebuchet MS"/>
              </a:rPr>
              <a:t>occupancy</a:t>
            </a:r>
            <a:r>
              <a:rPr sz="1050" b="1" spc="65" dirty="0">
                <a:latin typeface="Trebuchet MS"/>
                <a:cs typeface="Trebuchet MS"/>
              </a:rPr>
              <a:t> </a:t>
            </a:r>
            <a:r>
              <a:rPr sz="1050" b="1" spc="95" dirty="0">
                <a:latin typeface="Trebuchet MS"/>
                <a:cs typeface="Trebuchet MS"/>
              </a:rPr>
              <a:t>rate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100" dirty="0">
                <a:latin typeface="Trebuchet MS"/>
                <a:cs typeface="Trebuchet MS"/>
              </a:rPr>
              <a:t>per</a:t>
            </a:r>
            <a:r>
              <a:rPr sz="1050" b="1" spc="55" dirty="0">
                <a:latin typeface="Trebuchet MS"/>
                <a:cs typeface="Trebuchet MS"/>
              </a:rPr>
              <a:t> city</a:t>
            </a:r>
            <a:endParaRPr sz="1050">
              <a:latin typeface="Trebuchet MS"/>
              <a:cs typeface="Trebuchet MS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328737" y="5177154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df_hotels</a:t>
            </a:r>
            <a:r>
              <a:rPr sz="950" spc="70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75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pd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read_csv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"dim_hotels.csv"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328737" y="5548629"/>
            <a:ext cx="5838825" cy="26733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df_hotels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head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008800"/>
                </a:solidFill>
                <a:latin typeface="Courier New"/>
                <a:cs typeface="Courier New"/>
              </a:rPr>
              <a:t>3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373187" y="5908347"/>
            <a:ext cx="3573779" cy="45148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222250">
              <a:lnSpc>
                <a:spcPct val="100000"/>
              </a:lnSpc>
              <a:spcBef>
                <a:spcPts val="125"/>
              </a:spcBef>
              <a:tabLst>
                <a:tab pos="3304540" algn="l"/>
              </a:tabLst>
            </a:pPr>
            <a:r>
              <a:rPr sz="950" b="1" spc="85" dirty="0">
                <a:latin typeface="Trebuchet MS"/>
                <a:cs typeface="Trebuchet MS"/>
              </a:rPr>
              <a:t>property_id</a:t>
            </a:r>
            <a:r>
              <a:rPr sz="950" b="1" spc="210" dirty="0">
                <a:latin typeface="Trebuchet MS"/>
                <a:cs typeface="Trebuchet MS"/>
              </a:rPr>
              <a:t>  </a:t>
            </a:r>
            <a:r>
              <a:rPr sz="950" b="1" spc="105" dirty="0">
                <a:latin typeface="Trebuchet MS"/>
                <a:cs typeface="Trebuchet MS"/>
              </a:rPr>
              <a:t>property_name</a:t>
            </a:r>
            <a:r>
              <a:rPr sz="950" b="1" spc="210" dirty="0">
                <a:latin typeface="Trebuchet MS"/>
                <a:cs typeface="Trebuchet MS"/>
              </a:rPr>
              <a:t>  </a:t>
            </a:r>
            <a:r>
              <a:rPr sz="950" b="1" spc="110" dirty="0">
                <a:latin typeface="Trebuchet MS"/>
                <a:cs typeface="Trebuchet MS"/>
              </a:rPr>
              <a:t>category</a:t>
            </a:r>
            <a:r>
              <a:rPr sz="950" b="1" dirty="0">
                <a:latin typeface="Trebuchet MS"/>
                <a:cs typeface="Trebuchet MS"/>
              </a:rPr>
              <a:t>	</a:t>
            </a:r>
            <a:r>
              <a:rPr sz="950" b="1" spc="60" dirty="0">
                <a:latin typeface="Trebuchet MS"/>
                <a:cs typeface="Trebuchet MS"/>
              </a:rPr>
              <a:t>city</a:t>
            </a:r>
            <a:endParaRPr sz="95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1045"/>
              </a:spcBef>
              <a:tabLst>
                <a:tab pos="629920" algn="l"/>
                <a:tab pos="1440180" algn="l"/>
                <a:tab pos="2520950" algn="l"/>
                <a:tab pos="3241675" algn="l"/>
              </a:tabLst>
            </a:pPr>
            <a:r>
              <a:rPr sz="950" b="1" spc="60" dirty="0">
                <a:latin typeface="Trebuchet MS"/>
                <a:cs typeface="Trebuchet MS"/>
              </a:rPr>
              <a:t>0</a:t>
            </a:r>
            <a:r>
              <a:rPr sz="950" b="1" dirty="0">
                <a:latin typeface="Trebuchet MS"/>
                <a:cs typeface="Trebuchet MS"/>
              </a:rPr>
              <a:t>	</a:t>
            </a:r>
            <a:r>
              <a:rPr sz="950" spc="105" dirty="0">
                <a:latin typeface="Trebuchet MS"/>
                <a:cs typeface="Trebuchet MS"/>
              </a:rPr>
              <a:t>16558</a:t>
            </a:r>
            <a:r>
              <a:rPr sz="950" dirty="0">
                <a:latin typeface="Trebuchet MS"/>
                <a:cs typeface="Trebuchet MS"/>
              </a:rPr>
              <a:t>	Atliq</a:t>
            </a:r>
            <a:r>
              <a:rPr sz="950" spc="170" dirty="0">
                <a:latin typeface="Trebuchet MS"/>
                <a:cs typeface="Trebuchet MS"/>
              </a:rPr>
              <a:t> </a:t>
            </a:r>
            <a:r>
              <a:rPr sz="950" spc="70" dirty="0">
                <a:latin typeface="Trebuchet MS"/>
                <a:cs typeface="Trebuchet MS"/>
              </a:rPr>
              <a:t>Grands</a:t>
            </a:r>
            <a:r>
              <a:rPr sz="950" dirty="0">
                <a:latin typeface="Trebuchet MS"/>
                <a:cs typeface="Trebuchet MS"/>
              </a:rPr>
              <a:t>	</a:t>
            </a:r>
            <a:r>
              <a:rPr sz="950" spc="65" dirty="0">
                <a:latin typeface="Trebuchet MS"/>
                <a:cs typeface="Trebuchet MS"/>
              </a:rPr>
              <a:t>Luxury</a:t>
            </a:r>
            <a:r>
              <a:rPr sz="950" dirty="0">
                <a:latin typeface="Trebuchet MS"/>
                <a:cs typeface="Trebuchet MS"/>
              </a:rPr>
              <a:t>	</a:t>
            </a:r>
            <a:r>
              <a:rPr sz="950" spc="50" dirty="0">
                <a:latin typeface="Trebuchet MS"/>
                <a:cs typeface="Trebuchet MS"/>
              </a:rPr>
              <a:t>Delhi</a:t>
            </a:r>
            <a:endParaRPr sz="950">
              <a:latin typeface="Trebuchet MS"/>
              <a:cs typeface="Trebuchet MS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323975" y="6413478"/>
            <a:ext cx="3672204" cy="267970"/>
          </a:xfrm>
          <a:prstGeom prst="rect">
            <a:avLst/>
          </a:prstGeom>
          <a:solidFill>
            <a:srgbClr val="F5F5F5"/>
          </a:solidFill>
        </p:spPr>
        <p:txBody>
          <a:bodyPr vert="horz" wrap="square" lIns="0" tIns="55880" rIns="0" bIns="0" rtlCol="0">
            <a:spAutoFit/>
          </a:bodyPr>
          <a:lstStyle/>
          <a:p>
            <a:pPr marL="61594">
              <a:lnSpc>
                <a:spcPct val="100000"/>
              </a:lnSpc>
              <a:spcBef>
                <a:spcPts val="440"/>
              </a:spcBef>
              <a:tabLst>
                <a:tab pos="678815" algn="l"/>
                <a:tab pos="1483360" algn="l"/>
                <a:tab pos="2569845" algn="l"/>
              </a:tabLst>
            </a:pPr>
            <a:r>
              <a:rPr sz="950" b="1" spc="60" dirty="0">
                <a:latin typeface="Trebuchet MS"/>
                <a:cs typeface="Trebuchet MS"/>
              </a:rPr>
              <a:t>1</a:t>
            </a:r>
            <a:r>
              <a:rPr sz="950" b="1" dirty="0">
                <a:latin typeface="Trebuchet MS"/>
                <a:cs typeface="Trebuchet MS"/>
              </a:rPr>
              <a:t>	</a:t>
            </a:r>
            <a:r>
              <a:rPr sz="950" spc="105" dirty="0">
                <a:latin typeface="Trebuchet MS"/>
                <a:cs typeface="Trebuchet MS"/>
              </a:rPr>
              <a:t>16559</a:t>
            </a:r>
            <a:r>
              <a:rPr sz="950" dirty="0">
                <a:latin typeface="Trebuchet MS"/>
                <a:cs typeface="Trebuchet MS"/>
              </a:rPr>
              <a:t>	Atliq</a:t>
            </a:r>
            <a:r>
              <a:rPr sz="950" spc="170" dirty="0">
                <a:latin typeface="Trebuchet MS"/>
                <a:cs typeface="Trebuchet MS"/>
              </a:rPr>
              <a:t> </a:t>
            </a:r>
            <a:r>
              <a:rPr sz="950" spc="40" dirty="0">
                <a:latin typeface="Trebuchet MS"/>
                <a:cs typeface="Trebuchet MS"/>
              </a:rPr>
              <a:t>Exotica</a:t>
            </a:r>
            <a:r>
              <a:rPr sz="950" dirty="0">
                <a:latin typeface="Trebuchet MS"/>
                <a:cs typeface="Trebuchet MS"/>
              </a:rPr>
              <a:t>	</a:t>
            </a:r>
            <a:r>
              <a:rPr sz="950" spc="75" dirty="0">
                <a:latin typeface="Trebuchet MS"/>
                <a:cs typeface="Trebuchet MS"/>
              </a:rPr>
              <a:t>Luxury</a:t>
            </a:r>
            <a:r>
              <a:rPr sz="950" spc="200" dirty="0">
                <a:latin typeface="Trebuchet MS"/>
                <a:cs typeface="Trebuchet MS"/>
              </a:rPr>
              <a:t>  </a:t>
            </a:r>
            <a:r>
              <a:rPr sz="950" spc="80" dirty="0">
                <a:latin typeface="Trebuchet MS"/>
                <a:cs typeface="Trebuchet MS"/>
              </a:rPr>
              <a:t>Mumbai</a:t>
            </a:r>
            <a:endParaRPr sz="950">
              <a:latin typeface="Trebuchet MS"/>
              <a:cs typeface="Trebuchet MS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373187" y="6721767"/>
            <a:ext cx="357314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  <a:tabLst>
                <a:tab pos="629920" algn="l"/>
                <a:tab pos="1642110" algn="l"/>
                <a:tab pos="2395855" algn="l"/>
                <a:tab pos="3241675" algn="l"/>
              </a:tabLst>
            </a:pPr>
            <a:r>
              <a:rPr sz="950" b="1" spc="60" dirty="0">
                <a:latin typeface="Trebuchet MS"/>
                <a:cs typeface="Trebuchet MS"/>
              </a:rPr>
              <a:t>2</a:t>
            </a:r>
            <a:r>
              <a:rPr sz="950" b="1" dirty="0">
                <a:latin typeface="Trebuchet MS"/>
                <a:cs typeface="Trebuchet MS"/>
              </a:rPr>
              <a:t>	</a:t>
            </a:r>
            <a:r>
              <a:rPr sz="950" spc="105" dirty="0">
                <a:latin typeface="Trebuchet MS"/>
                <a:cs typeface="Trebuchet MS"/>
              </a:rPr>
              <a:t>16560</a:t>
            </a:r>
            <a:r>
              <a:rPr sz="950" dirty="0">
                <a:latin typeface="Trebuchet MS"/>
                <a:cs typeface="Trebuchet MS"/>
              </a:rPr>
              <a:t>	Atliq</a:t>
            </a:r>
            <a:r>
              <a:rPr sz="950" spc="170" dirty="0">
                <a:latin typeface="Trebuchet MS"/>
                <a:cs typeface="Trebuchet MS"/>
              </a:rPr>
              <a:t> </a:t>
            </a:r>
            <a:r>
              <a:rPr sz="950" spc="30" dirty="0">
                <a:latin typeface="Trebuchet MS"/>
                <a:cs typeface="Trebuchet MS"/>
              </a:rPr>
              <a:t>City</a:t>
            </a:r>
            <a:r>
              <a:rPr sz="950" dirty="0">
                <a:latin typeface="Trebuchet MS"/>
                <a:cs typeface="Trebuchet MS"/>
              </a:rPr>
              <a:t>	</a:t>
            </a:r>
            <a:r>
              <a:rPr sz="950" spc="75" dirty="0">
                <a:latin typeface="Trebuchet MS"/>
                <a:cs typeface="Trebuchet MS"/>
              </a:rPr>
              <a:t>Business</a:t>
            </a:r>
            <a:r>
              <a:rPr sz="950" dirty="0">
                <a:latin typeface="Trebuchet MS"/>
                <a:cs typeface="Trebuchet MS"/>
              </a:rPr>
              <a:t>	</a:t>
            </a:r>
            <a:r>
              <a:rPr sz="950" spc="50" dirty="0">
                <a:latin typeface="Trebuchet MS"/>
                <a:cs typeface="Trebuchet MS"/>
              </a:rPr>
              <a:t>Delhi</a:t>
            </a:r>
            <a:endParaRPr sz="950">
              <a:latin typeface="Trebuchet MS"/>
              <a:cs typeface="Trebuchet MS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328737" y="7172959"/>
            <a:ext cx="5838825" cy="42862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38735" rIns="0" bIns="0" rtlCol="0">
            <a:spAutoFit/>
          </a:bodyPr>
          <a:lstStyle/>
          <a:p>
            <a:pPr marL="42545" marR="2359025">
              <a:lnSpc>
                <a:spcPct val="111800"/>
              </a:lnSpc>
              <a:spcBef>
                <a:spcPts val="305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</a:t>
            </a:r>
            <a:r>
              <a:rPr sz="950" spc="85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85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pd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merge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,</a:t>
            </a:r>
            <a:r>
              <a:rPr sz="950" spc="90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df_hotels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,</a:t>
            </a:r>
            <a:r>
              <a:rPr sz="950" spc="85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on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"property_id"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head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008800"/>
                </a:solidFill>
                <a:latin typeface="Courier New"/>
                <a:cs typeface="Courier New"/>
              </a:rPr>
              <a:t>3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28737" y="8959215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groupby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"city"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"occ_pct"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mean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44525" y="644530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[139…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44525" y="2698732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[140…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44525" y="4146538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[141…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44525" y="4470389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Out[141…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44525" y="5217150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[142…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44525" y="5588627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[143…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644525" y="5912477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Out[143…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644525" y="7212938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[144…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644525" y="8999175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[145…</a:t>
            </a:r>
            <a:endParaRPr sz="9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625475" y="2904180"/>
          <a:ext cx="3936365" cy="955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18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50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486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Out[147…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195" dirty="0">
                          <a:latin typeface="Trebuchet MS"/>
                          <a:cs typeface="Trebuchet MS"/>
                        </a:rPr>
                        <a:t>mmm</a:t>
                      </a:r>
                      <a:r>
                        <a:rPr sz="950" b="1" spc="6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950" b="1" spc="80" dirty="0">
                          <a:latin typeface="Trebuchet MS"/>
                          <a:cs typeface="Trebuchet MS"/>
                        </a:rPr>
                        <a:t>yy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114" dirty="0">
                          <a:latin typeface="Trebuchet MS"/>
                          <a:cs typeface="Trebuchet MS"/>
                        </a:rPr>
                        <a:t>week</a:t>
                      </a:r>
                      <a:r>
                        <a:rPr sz="950" b="1" spc="6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950" b="1" spc="100" dirty="0">
                          <a:latin typeface="Trebuchet MS"/>
                          <a:cs typeface="Trebuchet MS"/>
                        </a:rPr>
                        <a:t>no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day_type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0</a:t>
                      </a:r>
                      <a:r>
                        <a:rPr sz="950" b="1" spc="21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85" dirty="0">
                          <a:latin typeface="Trebuchet MS"/>
                          <a:cs typeface="Trebuchet MS"/>
                        </a:rPr>
                        <a:t>01-May-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120" dirty="0">
                          <a:latin typeface="Trebuchet MS"/>
                          <a:cs typeface="Trebuchet MS"/>
                        </a:rPr>
                        <a:t>May</a:t>
                      </a:r>
                      <a:r>
                        <a:rPr sz="950" spc="2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950" spc="80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145" dirty="0">
                          <a:latin typeface="Trebuchet MS"/>
                          <a:cs typeface="Trebuchet MS"/>
                        </a:rPr>
                        <a:t>W</a:t>
                      </a:r>
                      <a:r>
                        <a:rPr sz="950" spc="2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950" spc="80" dirty="0">
                          <a:latin typeface="Trebuchet MS"/>
                          <a:cs typeface="Trebuchet MS"/>
                        </a:rPr>
                        <a:t>19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65" dirty="0">
                          <a:latin typeface="Trebuchet MS"/>
                          <a:cs typeface="Trebuchet MS"/>
                        </a:rPr>
                        <a:t>weekend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950" b="1" spc="21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85" dirty="0">
                          <a:latin typeface="Trebuchet MS"/>
                          <a:cs typeface="Trebuchet MS"/>
                        </a:rPr>
                        <a:t>02-May-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20" dirty="0">
                          <a:latin typeface="Trebuchet MS"/>
                          <a:cs typeface="Trebuchet MS"/>
                        </a:rPr>
                        <a:t>May</a:t>
                      </a:r>
                      <a:r>
                        <a:rPr sz="950" spc="2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950" spc="80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45" dirty="0">
                          <a:latin typeface="Trebuchet MS"/>
                          <a:cs typeface="Trebuchet MS"/>
                        </a:rPr>
                        <a:t>W</a:t>
                      </a:r>
                      <a:r>
                        <a:rPr sz="950" spc="2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950" spc="80" dirty="0">
                          <a:latin typeface="Trebuchet MS"/>
                          <a:cs typeface="Trebuchet MS"/>
                        </a:rPr>
                        <a:t>19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70" dirty="0">
                          <a:latin typeface="Trebuchet MS"/>
                          <a:cs typeface="Trebuchet MS"/>
                        </a:rPr>
                        <a:t>weekeday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2</a:t>
                      </a:r>
                      <a:r>
                        <a:rPr sz="950" b="1" spc="21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85" dirty="0">
                          <a:latin typeface="Trebuchet MS"/>
                          <a:cs typeface="Trebuchet MS"/>
                        </a:rPr>
                        <a:t>03-May-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120" dirty="0">
                          <a:latin typeface="Trebuchet MS"/>
                          <a:cs typeface="Trebuchet MS"/>
                        </a:rPr>
                        <a:t>May</a:t>
                      </a:r>
                      <a:r>
                        <a:rPr sz="950" spc="2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950" spc="80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145" dirty="0">
                          <a:latin typeface="Trebuchet MS"/>
                          <a:cs typeface="Trebuchet MS"/>
                        </a:rPr>
                        <a:t>W</a:t>
                      </a:r>
                      <a:r>
                        <a:rPr sz="950" spc="2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950" spc="80" dirty="0">
                          <a:latin typeface="Trebuchet MS"/>
                          <a:cs typeface="Trebuchet MS"/>
                        </a:rPr>
                        <a:t>19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70" dirty="0">
                          <a:latin typeface="Trebuchet MS"/>
                          <a:cs typeface="Trebuchet MS"/>
                        </a:rPr>
                        <a:t>weekeday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1323975" y="4762487"/>
          <a:ext cx="5945505" cy="138810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353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20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449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2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7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82575"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65" dirty="0">
                          <a:latin typeface="Trebuchet MS"/>
                          <a:cs typeface="Trebuchet MS"/>
                        </a:rPr>
                        <a:t>check_in_date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room_category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successful_bookings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capacity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1594">
                        <a:lnSpc>
                          <a:spcPts val="1095"/>
                        </a:lnSpc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oc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6559"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45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0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32715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45"/>
                        </a:spcBef>
                      </a:pPr>
                      <a:r>
                        <a:rPr sz="950" spc="70" dirty="0">
                          <a:latin typeface="Trebuchet MS"/>
                          <a:cs typeface="Trebuchet MS"/>
                        </a:rPr>
                        <a:t>10-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32715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45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32715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45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32715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45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29.0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32715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1206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1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18560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spc="70" dirty="0">
                          <a:latin typeface="Trebuchet MS"/>
                          <a:cs typeface="Trebuchet MS"/>
                        </a:rPr>
                        <a:t>10-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1206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7495"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101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2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19562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1010"/>
                        </a:spcBef>
                      </a:pPr>
                      <a:r>
                        <a:rPr sz="950" spc="70" dirty="0">
                          <a:latin typeface="Trebuchet MS"/>
                          <a:cs typeface="Trebuchet MS"/>
                        </a:rPr>
                        <a:t>10-</a:t>
                      </a:r>
                      <a:r>
                        <a:rPr sz="950" spc="100" dirty="0">
                          <a:latin typeface="Trebuchet MS"/>
                          <a:cs typeface="Trebuchet MS"/>
                        </a:rPr>
                        <a:t>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101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101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101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/>
                </a:tc>
                <a:tc>
                  <a:txBody>
                    <a:bodyPr/>
                    <a:lstStyle/>
                    <a:p>
                      <a:pPr marR="1206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1358900" y="678819"/>
            <a:ext cx="696595" cy="835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800"/>
              </a:lnSpc>
              <a:spcBef>
                <a:spcPts val="95"/>
              </a:spcBef>
            </a:pPr>
            <a:r>
              <a:rPr sz="950" spc="-20" dirty="0">
                <a:latin typeface="Courier New"/>
                <a:cs typeface="Courier New"/>
              </a:rPr>
              <a:t>city </a:t>
            </a:r>
            <a:r>
              <a:rPr sz="950" spc="-10" dirty="0">
                <a:latin typeface="Courier New"/>
                <a:cs typeface="Courier New"/>
              </a:rPr>
              <a:t>Bangalore Delhi Hyderabad Mumbai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327954" y="840744"/>
            <a:ext cx="696595" cy="67310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950" spc="-10" dirty="0">
                <a:latin typeface="Courier New"/>
                <a:cs typeface="Courier New"/>
              </a:rPr>
              <a:t>56.594207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61.606467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58.144651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57.943142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358900" y="1501785"/>
            <a:ext cx="4451350" cy="46228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latin typeface="Courier New"/>
                <a:cs typeface="Courier New"/>
              </a:rPr>
              <a:t>Name:</a:t>
            </a:r>
            <a:r>
              <a:rPr sz="950" spc="8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occ_pct,</a:t>
            </a:r>
            <a:r>
              <a:rPr sz="950" spc="9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dtype:</a:t>
            </a:r>
            <a:r>
              <a:rPr sz="950" spc="85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float64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010"/>
              </a:spcBef>
            </a:pPr>
            <a:r>
              <a:rPr sz="1050" b="1" spc="55" dirty="0">
                <a:latin typeface="Trebuchet MS"/>
                <a:cs typeface="Trebuchet MS"/>
              </a:rPr>
              <a:t>3.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140" dirty="0">
                <a:latin typeface="Trebuchet MS"/>
                <a:cs typeface="Trebuchet MS"/>
              </a:rPr>
              <a:t>When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145" dirty="0">
                <a:latin typeface="Trebuchet MS"/>
                <a:cs typeface="Trebuchet MS"/>
              </a:rPr>
              <a:t>was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100" dirty="0">
                <a:latin typeface="Trebuchet MS"/>
                <a:cs typeface="Trebuchet MS"/>
              </a:rPr>
              <a:t>the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105" dirty="0">
                <a:latin typeface="Trebuchet MS"/>
                <a:cs typeface="Trebuchet MS"/>
              </a:rPr>
              <a:t>occupancy</a:t>
            </a:r>
            <a:r>
              <a:rPr sz="1050" b="1" spc="65" dirty="0">
                <a:latin typeface="Trebuchet MS"/>
                <a:cs typeface="Trebuchet MS"/>
              </a:rPr>
              <a:t> </a:t>
            </a:r>
            <a:r>
              <a:rPr sz="1050" b="1" spc="100" dirty="0">
                <a:latin typeface="Trebuchet MS"/>
                <a:cs typeface="Trebuchet MS"/>
              </a:rPr>
              <a:t>better?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125" dirty="0">
                <a:latin typeface="Trebuchet MS"/>
                <a:cs typeface="Trebuchet MS"/>
              </a:rPr>
              <a:t>Weekday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90" dirty="0">
                <a:latin typeface="Trebuchet MS"/>
                <a:cs typeface="Trebuchet MS"/>
              </a:rPr>
              <a:t>or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110" dirty="0">
                <a:latin typeface="Trebuchet MS"/>
                <a:cs typeface="Trebuchet MS"/>
              </a:rPr>
              <a:t>Weekend?</a:t>
            </a:r>
            <a:endParaRPr sz="1050">
              <a:latin typeface="Trebuchet MS"/>
              <a:cs typeface="Trebuchet M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328737" y="2152014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244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4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df_date</a:t>
            </a:r>
            <a:r>
              <a:rPr sz="950" spc="60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60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pd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read_csv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"dim_date.csv"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328737" y="2523175"/>
            <a:ext cx="5838825" cy="26733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244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4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df_date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head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008800"/>
                </a:solidFill>
                <a:latin typeface="Courier New"/>
                <a:cs typeface="Courier New"/>
              </a:rPr>
              <a:t>3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328737" y="4147184"/>
            <a:ext cx="5838825" cy="429259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38735" rIns="0" bIns="0" rtlCol="0">
            <a:spAutoFit/>
          </a:bodyPr>
          <a:lstStyle/>
          <a:p>
            <a:pPr marL="42545" marR="718820">
              <a:lnSpc>
                <a:spcPct val="111800"/>
              </a:lnSpc>
              <a:spcBef>
                <a:spcPts val="305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</a:t>
            </a:r>
            <a:r>
              <a:rPr sz="950" spc="120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125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pd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merge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,</a:t>
            </a:r>
            <a:r>
              <a:rPr sz="950" spc="120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df_date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,</a:t>
            </a:r>
            <a:r>
              <a:rPr sz="950" spc="125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left_on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"check_in_date"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,</a:t>
            </a:r>
            <a:r>
              <a:rPr sz="950" spc="125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right_on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"date"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head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008800"/>
                </a:solidFill>
                <a:latin typeface="Courier New"/>
                <a:cs typeface="Courier New"/>
              </a:rPr>
              <a:t>3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328737" y="6510019"/>
            <a:ext cx="5838825" cy="26733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groupby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"day_type"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"occ_pct"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mean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round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008800"/>
                </a:solidFill>
                <a:latin typeface="Courier New"/>
                <a:cs typeface="Courier New"/>
              </a:rPr>
              <a:t>2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358900" y="6860494"/>
            <a:ext cx="622300" cy="5111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11800"/>
              </a:lnSpc>
              <a:spcBef>
                <a:spcPts val="95"/>
              </a:spcBef>
            </a:pPr>
            <a:r>
              <a:rPr sz="950" spc="-10" dirty="0">
                <a:latin typeface="Courier New"/>
                <a:cs typeface="Courier New"/>
              </a:rPr>
              <a:t>day_type weekeday weekend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253411" y="7022420"/>
            <a:ext cx="398145" cy="34925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950" spc="-10" dirty="0">
                <a:latin typeface="Courier New"/>
                <a:cs typeface="Courier New"/>
              </a:rPr>
              <a:t>50.90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72.39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358900" y="7359609"/>
            <a:ext cx="4947285" cy="46228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latin typeface="Courier New"/>
                <a:cs typeface="Courier New"/>
              </a:rPr>
              <a:t>Name:</a:t>
            </a:r>
            <a:r>
              <a:rPr sz="950" spc="8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occ_pct,</a:t>
            </a:r>
            <a:r>
              <a:rPr sz="950" spc="9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dtype:</a:t>
            </a:r>
            <a:r>
              <a:rPr sz="950" spc="85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float64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010"/>
              </a:spcBef>
            </a:pPr>
            <a:r>
              <a:rPr sz="1050" b="1" spc="70" dirty="0">
                <a:latin typeface="Trebuchet MS"/>
                <a:cs typeface="Trebuchet MS"/>
              </a:rPr>
              <a:t>4:</a:t>
            </a:r>
            <a:r>
              <a:rPr sz="1050" b="1" spc="65" dirty="0">
                <a:latin typeface="Trebuchet MS"/>
                <a:cs typeface="Trebuchet MS"/>
              </a:rPr>
              <a:t> </a:t>
            </a:r>
            <a:r>
              <a:rPr sz="1050" b="1" spc="105" dirty="0">
                <a:latin typeface="Trebuchet MS"/>
                <a:cs typeface="Trebuchet MS"/>
              </a:rPr>
              <a:t>In</a:t>
            </a:r>
            <a:r>
              <a:rPr sz="1050" b="1" spc="65" dirty="0">
                <a:latin typeface="Trebuchet MS"/>
                <a:cs typeface="Trebuchet MS"/>
              </a:rPr>
              <a:t> </a:t>
            </a:r>
            <a:r>
              <a:rPr sz="1050" b="1" spc="100" dirty="0">
                <a:latin typeface="Trebuchet MS"/>
                <a:cs typeface="Trebuchet MS"/>
              </a:rPr>
              <a:t>the</a:t>
            </a:r>
            <a:r>
              <a:rPr sz="1050" b="1" spc="65" dirty="0">
                <a:latin typeface="Trebuchet MS"/>
                <a:cs typeface="Trebuchet MS"/>
              </a:rPr>
              <a:t> </a:t>
            </a:r>
            <a:r>
              <a:rPr sz="1050" b="1" spc="120" dirty="0">
                <a:latin typeface="Trebuchet MS"/>
                <a:cs typeface="Trebuchet MS"/>
              </a:rPr>
              <a:t>month</a:t>
            </a:r>
            <a:r>
              <a:rPr sz="1050" b="1" spc="65" dirty="0">
                <a:latin typeface="Trebuchet MS"/>
                <a:cs typeface="Trebuchet MS"/>
              </a:rPr>
              <a:t> </a:t>
            </a:r>
            <a:r>
              <a:rPr sz="1050" b="1" spc="90" dirty="0">
                <a:latin typeface="Trebuchet MS"/>
                <a:cs typeface="Trebuchet MS"/>
              </a:rPr>
              <a:t>of</a:t>
            </a:r>
            <a:r>
              <a:rPr sz="1050" b="1" spc="65" dirty="0">
                <a:latin typeface="Trebuchet MS"/>
                <a:cs typeface="Trebuchet MS"/>
              </a:rPr>
              <a:t> </a:t>
            </a:r>
            <a:r>
              <a:rPr sz="1050" b="1" dirty="0">
                <a:latin typeface="Trebuchet MS"/>
                <a:cs typeface="Trebuchet MS"/>
              </a:rPr>
              <a:t>June,</a:t>
            </a:r>
            <a:r>
              <a:rPr sz="1050" b="1" spc="80" dirty="0">
                <a:latin typeface="Trebuchet MS"/>
                <a:cs typeface="Trebuchet MS"/>
              </a:rPr>
              <a:t> </a:t>
            </a:r>
            <a:r>
              <a:rPr sz="1050" b="1" spc="120" dirty="0">
                <a:latin typeface="Trebuchet MS"/>
                <a:cs typeface="Trebuchet MS"/>
              </a:rPr>
              <a:t>what</a:t>
            </a:r>
            <a:r>
              <a:rPr sz="1050" b="1" spc="65" dirty="0">
                <a:latin typeface="Trebuchet MS"/>
                <a:cs typeface="Trebuchet MS"/>
              </a:rPr>
              <a:t> </a:t>
            </a:r>
            <a:r>
              <a:rPr sz="1050" b="1" spc="105" dirty="0">
                <a:latin typeface="Trebuchet MS"/>
                <a:cs typeface="Trebuchet MS"/>
              </a:rPr>
              <a:t>is</a:t>
            </a:r>
            <a:r>
              <a:rPr sz="1050" b="1" spc="65" dirty="0">
                <a:latin typeface="Trebuchet MS"/>
                <a:cs typeface="Trebuchet MS"/>
              </a:rPr>
              <a:t> </a:t>
            </a:r>
            <a:r>
              <a:rPr sz="1050" b="1" spc="100" dirty="0">
                <a:latin typeface="Trebuchet MS"/>
                <a:cs typeface="Trebuchet MS"/>
              </a:rPr>
              <a:t>the</a:t>
            </a:r>
            <a:r>
              <a:rPr sz="1050" b="1" spc="65" dirty="0">
                <a:latin typeface="Trebuchet MS"/>
                <a:cs typeface="Trebuchet MS"/>
              </a:rPr>
              <a:t> </a:t>
            </a:r>
            <a:r>
              <a:rPr sz="1050" b="1" spc="105" dirty="0">
                <a:latin typeface="Trebuchet MS"/>
                <a:cs typeface="Trebuchet MS"/>
              </a:rPr>
              <a:t>occupancy</a:t>
            </a:r>
            <a:r>
              <a:rPr sz="1050" b="1" spc="85" dirty="0">
                <a:latin typeface="Trebuchet MS"/>
                <a:cs typeface="Trebuchet MS"/>
              </a:rPr>
              <a:t> </a:t>
            </a:r>
            <a:r>
              <a:rPr sz="1050" b="1" spc="75" dirty="0">
                <a:latin typeface="Trebuchet MS"/>
                <a:cs typeface="Trebuchet MS"/>
              </a:rPr>
              <a:t>for</a:t>
            </a:r>
            <a:r>
              <a:rPr sz="1050" b="1" spc="65" dirty="0">
                <a:latin typeface="Trebuchet MS"/>
                <a:cs typeface="Trebuchet MS"/>
              </a:rPr>
              <a:t> </a:t>
            </a:r>
            <a:r>
              <a:rPr sz="1050" b="1" spc="80" dirty="0">
                <a:latin typeface="Trebuchet MS"/>
                <a:cs typeface="Trebuchet MS"/>
              </a:rPr>
              <a:t>different</a:t>
            </a:r>
            <a:r>
              <a:rPr sz="1050" b="1" spc="65" dirty="0">
                <a:latin typeface="Trebuchet MS"/>
                <a:cs typeface="Trebuchet MS"/>
              </a:rPr>
              <a:t> </a:t>
            </a:r>
            <a:r>
              <a:rPr sz="1050" b="1" spc="75" dirty="0">
                <a:latin typeface="Trebuchet MS"/>
                <a:cs typeface="Trebuchet MS"/>
              </a:rPr>
              <a:t>cities</a:t>
            </a:r>
            <a:endParaRPr sz="1050">
              <a:latin typeface="Trebuchet MS"/>
              <a:cs typeface="Trebuchet MS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328737" y="8009255"/>
            <a:ext cx="5838825" cy="429259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38735" rIns="0" bIns="0" rtlCol="0">
            <a:spAutoFit/>
          </a:bodyPr>
          <a:lstStyle/>
          <a:p>
            <a:pPr marL="42545" marR="2880360">
              <a:lnSpc>
                <a:spcPct val="111800"/>
              </a:lnSpc>
              <a:spcBef>
                <a:spcPts val="305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df_june_22</a:t>
            </a:r>
            <a:r>
              <a:rPr sz="950" spc="100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105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"mmm</a:t>
            </a:r>
            <a:r>
              <a:rPr sz="950" spc="105" dirty="0">
                <a:solidFill>
                  <a:srgbClr val="BA2121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yy"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==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"Jun</a:t>
            </a:r>
            <a:r>
              <a:rPr sz="950" spc="105" dirty="0">
                <a:solidFill>
                  <a:srgbClr val="BA212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BA2121"/>
                </a:solidFill>
                <a:latin typeface="Courier New"/>
                <a:cs typeface="Courier New"/>
              </a:rPr>
              <a:t>22"</a:t>
            </a:r>
            <a:r>
              <a:rPr sz="950" spc="-20" dirty="0">
                <a:solidFill>
                  <a:srgbClr val="0055AA"/>
                </a:solidFill>
                <a:latin typeface="Courier New"/>
                <a:cs typeface="Courier New"/>
              </a:rPr>
              <a:t>]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df_june_22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head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008800"/>
                </a:solidFill>
                <a:latin typeface="Courier New"/>
                <a:cs typeface="Courier New"/>
              </a:rPr>
              <a:t>4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44525" y="692155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Out[145…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44525" y="2191396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[146…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44525" y="2562871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[147…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44525" y="4187182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[148…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44525" y="4672959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Out[148…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44525" y="6549980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[149…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44525" y="6873830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Out[149…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44525" y="8049219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[150…</a:t>
            </a:r>
            <a:endParaRPr sz="9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1323975" y="781682"/>
          <a:ext cx="5924550" cy="19335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7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51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47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4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443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4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8257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65" dirty="0">
                          <a:latin typeface="Trebuchet MS"/>
                          <a:cs typeface="Trebuchet MS"/>
                        </a:rPr>
                        <a:t>check_in_date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room_category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successful_bookings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capacity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655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45"/>
                        </a:spcBef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2200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32715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45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32715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45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10-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Jun-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32715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45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32715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45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32715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1045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32715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2201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19562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10-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Jun-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2202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19563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10-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Jun-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17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2203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17558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10-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Jun-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spc="70" dirty="0">
                          <a:latin typeface="Trebuchet MS"/>
                          <a:cs typeface="Trebuchet MS"/>
                        </a:rPr>
                        <a:t>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19.0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3" name="object 3"/>
          <p:cNvGrpSpPr/>
          <p:nvPr/>
        </p:nvGrpSpPr>
        <p:grpSpPr>
          <a:xfrm>
            <a:off x="1323975" y="2936239"/>
            <a:ext cx="5848350" cy="276860"/>
            <a:chOff x="1323975" y="2936239"/>
            <a:chExt cx="5848350" cy="276860"/>
          </a:xfrm>
        </p:grpSpPr>
        <p:sp>
          <p:nvSpPr>
            <p:cNvPr id="4" name="object 4"/>
            <p:cNvSpPr/>
            <p:nvPr/>
          </p:nvSpPr>
          <p:spPr>
            <a:xfrm>
              <a:off x="1323975" y="2936825"/>
              <a:ext cx="5848350" cy="276225"/>
            </a:xfrm>
            <a:custGeom>
              <a:avLst/>
              <a:gdLst/>
              <a:ahLst/>
              <a:cxnLst/>
              <a:rect l="l" t="t" r="r" b="b"/>
              <a:pathLst>
                <a:path w="5848350" h="276225">
                  <a:moveTo>
                    <a:pt x="5848350" y="0"/>
                  </a:moveTo>
                  <a:lnTo>
                    <a:pt x="0" y="0"/>
                  </a:lnTo>
                  <a:lnTo>
                    <a:pt x="0" y="276226"/>
                  </a:lnTo>
                  <a:lnTo>
                    <a:pt x="5848350" y="276226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F5F5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323975" y="2936239"/>
              <a:ext cx="5848350" cy="276860"/>
            </a:xfrm>
            <a:custGeom>
              <a:avLst/>
              <a:gdLst/>
              <a:ahLst/>
              <a:cxnLst/>
              <a:rect l="l" t="t" r="r" b="b"/>
              <a:pathLst>
                <a:path w="5848350" h="276860">
                  <a:moveTo>
                    <a:pt x="5848350" y="0"/>
                  </a:moveTo>
                  <a:lnTo>
                    <a:pt x="0" y="0"/>
                  </a:lnTo>
                  <a:lnTo>
                    <a:pt x="0" y="10160"/>
                  </a:lnTo>
                  <a:lnTo>
                    <a:pt x="0" y="266700"/>
                  </a:lnTo>
                  <a:lnTo>
                    <a:pt x="9525" y="266700"/>
                  </a:lnTo>
                  <a:lnTo>
                    <a:pt x="9525" y="10160"/>
                  </a:lnTo>
                  <a:lnTo>
                    <a:pt x="5838825" y="10160"/>
                  </a:lnTo>
                  <a:lnTo>
                    <a:pt x="5838825" y="267296"/>
                  </a:lnTo>
                  <a:lnTo>
                    <a:pt x="0" y="267296"/>
                  </a:lnTo>
                  <a:lnTo>
                    <a:pt x="0" y="276860"/>
                  </a:lnTo>
                  <a:lnTo>
                    <a:pt x="5848350" y="276860"/>
                  </a:lnTo>
                  <a:lnTo>
                    <a:pt x="5848350" y="267296"/>
                  </a:lnTo>
                  <a:lnTo>
                    <a:pt x="5848350" y="10160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323975" y="4384040"/>
            <a:ext cx="5848350" cy="276860"/>
            <a:chOff x="1323975" y="4384040"/>
            <a:chExt cx="5848350" cy="276860"/>
          </a:xfrm>
        </p:grpSpPr>
        <p:sp>
          <p:nvSpPr>
            <p:cNvPr id="7" name="object 7"/>
            <p:cNvSpPr/>
            <p:nvPr/>
          </p:nvSpPr>
          <p:spPr>
            <a:xfrm>
              <a:off x="1323975" y="4384631"/>
              <a:ext cx="5848350" cy="276225"/>
            </a:xfrm>
            <a:custGeom>
              <a:avLst/>
              <a:gdLst/>
              <a:ahLst/>
              <a:cxnLst/>
              <a:rect l="l" t="t" r="r" b="b"/>
              <a:pathLst>
                <a:path w="5848350" h="276225">
                  <a:moveTo>
                    <a:pt x="5848350" y="0"/>
                  </a:moveTo>
                  <a:lnTo>
                    <a:pt x="0" y="0"/>
                  </a:lnTo>
                  <a:lnTo>
                    <a:pt x="0" y="276226"/>
                  </a:lnTo>
                  <a:lnTo>
                    <a:pt x="5848350" y="276226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F5F5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323975" y="4384039"/>
              <a:ext cx="5848350" cy="276860"/>
            </a:xfrm>
            <a:custGeom>
              <a:avLst/>
              <a:gdLst/>
              <a:ahLst/>
              <a:cxnLst/>
              <a:rect l="l" t="t" r="r" b="b"/>
              <a:pathLst>
                <a:path w="5848350" h="276860">
                  <a:moveTo>
                    <a:pt x="5848350" y="0"/>
                  </a:moveTo>
                  <a:lnTo>
                    <a:pt x="0" y="0"/>
                  </a:lnTo>
                  <a:lnTo>
                    <a:pt x="0" y="10160"/>
                  </a:lnTo>
                  <a:lnTo>
                    <a:pt x="0" y="266700"/>
                  </a:lnTo>
                  <a:lnTo>
                    <a:pt x="9525" y="266700"/>
                  </a:lnTo>
                  <a:lnTo>
                    <a:pt x="9525" y="10160"/>
                  </a:lnTo>
                  <a:lnTo>
                    <a:pt x="5838825" y="10160"/>
                  </a:lnTo>
                  <a:lnTo>
                    <a:pt x="5838825" y="267296"/>
                  </a:lnTo>
                  <a:lnTo>
                    <a:pt x="0" y="267296"/>
                  </a:lnTo>
                  <a:lnTo>
                    <a:pt x="0" y="276860"/>
                  </a:lnTo>
                  <a:lnTo>
                    <a:pt x="5848350" y="276860"/>
                  </a:lnTo>
                  <a:lnTo>
                    <a:pt x="5848350" y="267296"/>
                  </a:lnTo>
                  <a:lnTo>
                    <a:pt x="5848350" y="10160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358900" y="2981280"/>
            <a:ext cx="584073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df_june_22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groupby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'city'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'occ_pct'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mean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round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008800"/>
                </a:solidFill>
                <a:latin typeface="Courier New"/>
                <a:cs typeface="Courier New"/>
              </a:rPr>
              <a:t>2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sort_values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ascending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-10" dirty="0">
                <a:solidFill>
                  <a:srgbClr val="008000"/>
                </a:solidFill>
                <a:latin typeface="Courier New"/>
                <a:cs typeface="Courier New"/>
              </a:rPr>
              <a:t>Fa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358900" y="3291796"/>
            <a:ext cx="696595" cy="835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800"/>
              </a:lnSpc>
              <a:spcBef>
                <a:spcPts val="95"/>
              </a:spcBef>
            </a:pPr>
            <a:r>
              <a:rPr sz="950" spc="-20" dirty="0">
                <a:latin typeface="Courier New"/>
                <a:cs typeface="Courier New"/>
              </a:rPr>
              <a:t>city </a:t>
            </a:r>
            <a:r>
              <a:rPr sz="950" spc="-10" dirty="0">
                <a:latin typeface="Courier New"/>
                <a:cs typeface="Courier New"/>
              </a:rPr>
              <a:t>Delhi Hyderabad Mumbai Bangalore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327954" y="3453720"/>
            <a:ext cx="398145" cy="67310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950" spc="-10" dirty="0">
                <a:latin typeface="Courier New"/>
                <a:cs typeface="Courier New"/>
              </a:rPr>
              <a:t>62.47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58.46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58.38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56.58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358900" y="4114760"/>
            <a:ext cx="218757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latin typeface="Courier New"/>
                <a:cs typeface="Courier New"/>
              </a:rPr>
              <a:t>Name:</a:t>
            </a:r>
            <a:r>
              <a:rPr sz="950" spc="8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occ_pct,</a:t>
            </a:r>
            <a:r>
              <a:rPr sz="950" spc="9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dtype:</a:t>
            </a:r>
            <a:r>
              <a:rPr sz="950" spc="85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float64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358900" y="4429087"/>
            <a:ext cx="584073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df_june_22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groupby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'city'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'occ_pct'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mean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round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008800"/>
                </a:solidFill>
                <a:latin typeface="Courier New"/>
                <a:cs typeface="Courier New"/>
              </a:rPr>
              <a:t>2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sort_values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ascending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-10" dirty="0">
                <a:solidFill>
                  <a:srgbClr val="008000"/>
                </a:solidFill>
                <a:latin typeface="Courier New"/>
                <a:cs typeface="Courier New"/>
              </a:rPr>
              <a:t>Fa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358900" y="4752938"/>
            <a:ext cx="159131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latin typeface="Courier New"/>
                <a:cs typeface="Courier New"/>
              </a:rPr>
              <a:t>&lt;Axes: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xlabel='city'&gt;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44525" y="692155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Out[150…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44525" y="2981280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[151…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44525" y="3305131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Out[151…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44525" y="4429087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[152…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44525" y="4752938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Out[152…</a:t>
            </a:r>
            <a:endParaRPr sz="9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1323975" y="6482072"/>
          <a:ext cx="5924550" cy="10280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353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91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9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31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20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20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82575"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property_name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105" dirty="0">
                          <a:latin typeface="Trebuchet MS"/>
                          <a:cs typeface="Trebuchet MS"/>
                        </a:rPr>
                        <a:t>category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city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room_category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42545" algn="r">
                        <a:lnSpc>
                          <a:spcPts val="1095"/>
                        </a:lnSpc>
                      </a:pPr>
                      <a:r>
                        <a:rPr sz="950" b="1" spc="90" dirty="0">
                          <a:latin typeface="Trebuchet MS"/>
                          <a:cs typeface="Trebuchet MS"/>
                        </a:rPr>
                        <a:t>room_class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0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16559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dirty="0">
                          <a:latin typeface="Trebuchet MS"/>
                          <a:cs typeface="Trebuchet MS"/>
                        </a:rPr>
                        <a:t>Atliq</a:t>
                      </a:r>
                      <a:r>
                        <a:rPr sz="950" spc="17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950" spc="40" dirty="0">
                          <a:latin typeface="Trebuchet MS"/>
                          <a:cs typeface="Trebuchet MS"/>
                        </a:rPr>
                        <a:t>Exotica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60" dirty="0">
                          <a:latin typeface="Trebuchet MS"/>
                          <a:cs typeface="Trebuchet MS"/>
                        </a:rPr>
                        <a:t>Luxury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Mumbai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4254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60" dirty="0">
                          <a:latin typeface="Trebuchet MS"/>
                          <a:cs typeface="Trebuchet MS"/>
                        </a:rPr>
                        <a:t>Standard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19562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dirty="0">
                          <a:latin typeface="Trebuchet MS"/>
                          <a:cs typeface="Trebuchet MS"/>
                        </a:rPr>
                        <a:t>Atliq</a:t>
                      </a:r>
                      <a:r>
                        <a:rPr sz="950" spc="17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950" spc="80" dirty="0">
                          <a:latin typeface="Trebuchet MS"/>
                          <a:cs typeface="Trebuchet MS"/>
                        </a:rPr>
                        <a:t>Bay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60" dirty="0">
                          <a:latin typeface="Trebuchet MS"/>
                          <a:cs typeface="Trebuchet MS"/>
                        </a:rPr>
                        <a:t>Luxury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65" dirty="0">
                          <a:latin typeface="Trebuchet MS"/>
                          <a:cs typeface="Trebuchet MS"/>
                        </a:rPr>
                        <a:t>Bangalore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4254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60" dirty="0">
                          <a:latin typeface="Trebuchet MS"/>
                          <a:cs typeface="Trebuchet MS"/>
                        </a:rPr>
                        <a:t>Standard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  <a:tabLst>
                          <a:tab pos="617220" algn="l"/>
                        </a:tabLst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2</a:t>
                      </a:r>
                      <a:r>
                        <a:rPr sz="950" b="1" dirty="0"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950" spc="105" dirty="0">
                          <a:latin typeface="Trebuchet MS"/>
                          <a:cs typeface="Trebuchet MS"/>
                        </a:rPr>
                        <a:t>19563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dirty="0">
                          <a:latin typeface="Trebuchet MS"/>
                          <a:cs typeface="Trebuchet MS"/>
                        </a:rPr>
                        <a:t>Atliq</a:t>
                      </a:r>
                      <a:r>
                        <a:rPr sz="950" spc="17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950" spc="40" dirty="0">
                          <a:latin typeface="Trebuchet MS"/>
                          <a:cs typeface="Trebuchet MS"/>
                        </a:rPr>
                        <a:t>Palace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75" dirty="0">
                          <a:latin typeface="Trebuchet MS"/>
                          <a:cs typeface="Trebuchet MS"/>
                        </a:rPr>
                        <a:t>Business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65" dirty="0">
                          <a:latin typeface="Trebuchet MS"/>
                          <a:cs typeface="Trebuchet MS"/>
                        </a:rPr>
                        <a:t>Bangalore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4254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60" dirty="0">
                          <a:latin typeface="Trebuchet MS"/>
                          <a:cs typeface="Trebuchet MS"/>
                        </a:rPr>
                        <a:t>Standard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3" name="object 3"/>
          <p:cNvGrpSpPr/>
          <p:nvPr/>
        </p:nvGrpSpPr>
        <p:grpSpPr>
          <a:xfrm>
            <a:off x="1323975" y="8916644"/>
            <a:ext cx="5848350" cy="276225"/>
            <a:chOff x="1323975" y="8916644"/>
            <a:chExt cx="5848350" cy="276225"/>
          </a:xfrm>
        </p:grpSpPr>
        <p:sp>
          <p:nvSpPr>
            <p:cNvPr id="4" name="object 4"/>
            <p:cNvSpPr/>
            <p:nvPr/>
          </p:nvSpPr>
          <p:spPr>
            <a:xfrm>
              <a:off x="1323975" y="8916644"/>
              <a:ext cx="5848350" cy="276225"/>
            </a:xfrm>
            <a:custGeom>
              <a:avLst/>
              <a:gdLst/>
              <a:ahLst/>
              <a:cxnLst/>
              <a:rect l="l" t="t" r="r" b="b"/>
              <a:pathLst>
                <a:path w="5848350" h="276225">
                  <a:moveTo>
                    <a:pt x="5848350" y="0"/>
                  </a:moveTo>
                  <a:lnTo>
                    <a:pt x="0" y="0"/>
                  </a:lnTo>
                  <a:lnTo>
                    <a:pt x="0" y="276226"/>
                  </a:lnTo>
                  <a:lnTo>
                    <a:pt x="5848350" y="276226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F5F5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323975" y="8916670"/>
              <a:ext cx="5848350" cy="275590"/>
            </a:xfrm>
            <a:custGeom>
              <a:avLst/>
              <a:gdLst/>
              <a:ahLst/>
              <a:cxnLst/>
              <a:rect l="l" t="t" r="r" b="b"/>
              <a:pathLst>
                <a:path w="5848350" h="275590">
                  <a:moveTo>
                    <a:pt x="5848350" y="9499"/>
                  </a:moveTo>
                  <a:lnTo>
                    <a:pt x="5838825" y="9499"/>
                  </a:lnTo>
                  <a:lnTo>
                    <a:pt x="5838825" y="266687"/>
                  </a:lnTo>
                  <a:lnTo>
                    <a:pt x="5848350" y="266687"/>
                  </a:lnTo>
                  <a:lnTo>
                    <a:pt x="5848350" y="9499"/>
                  </a:lnTo>
                  <a:close/>
                </a:path>
                <a:path w="5848350" h="275590">
                  <a:moveTo>
                    <a:pt x="5848350" y="0"/>
                  </a:moveTo>
                  <a:lnTo>
                    <a:pt x="0" y="0"/>
                  </a:lnTo>
                  <a:lnTo>
                    <a:pt x="0" y="8890"/>
                  </a:lnTo>
                  <a:lnTo>
                    <a:pt x="0" y="266700"/>
                  </a:lnTo>
                  <a:lnTo>
                    <a:pt x="0" y="275590"/>
                  </a:lnTo>
                  <a:lnTo>
                    <a:pt x="5848350" y="275590"/>
                  </a:lnTo>
                  <a:lnTo>
                    <a:pt x="5848350" y="266700"/>
                  </a:lnTo>
                  <a:lnTo>
                    <a:pt x="9525" y="266700"/>
                  </a:lnTo>
                  <a:lnTo>
                    <a:pt x="9525" y="8890"/>
                  </a:lnTo>
                  <a:lnTo>
                    <a:pt x="5848350" y="8890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14450" y="723900"/>
            <a:ext cx="4991100" cy="4552950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358900" y="5493822"/>
            <a:ext cx="560197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b="1" spc="70" dirty="0">
                <a:latin typeface="Trebuchet MS"/>
                <a:cs typeface="Trebuchet MS"/>
              </a:rPr>
              <a:t>5: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145" dirty="0">
                <a:latin typeface="Trebuchet MS"/>
                <a:cs typeface="Trebuchet MS"/>
              </a:rPr>
              <a:t>We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140" dirty="0">
                <a:latin typeface="Trebuchet MS"/>
                <a:cs typeface="Trebuchet MS"/>
              </a:rPr>
              <a:t>got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114" dirty="0">
                <a:latin typeface="Trebuchet MS"/>
                <a:cs typeface="Trebuchet MS"/>
              </a:rPr>
              <a:t>new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125" dirty="0">
                <a:latin typeface="Trebuchet MS"/>
                <a:cs typeface="Trebuchet MS"/>
              </a:rPr>
              <a:t>data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75" dirty="0">
                <a:latin typeface="Trebuchet MS"/>
                <a:cs typeface="Trebuchet MS"/>
              </a:rPr>
              <a:t>for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100" dirty="0">
                <a:latin typeface="Trebuchet MS"/>
                <a:cs typeface="Trebuchet MS"/>
              </a:rPr>
              <a:t>the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120" dirty="0">
                <a:latin typeface="Trebuchet MS"/>
                <a:cs typeface="Trebuchet MS"/>
              </a:rPr>
              <a:t>month</a:t>
            </a:r>
            <a:r>
              <a:rPr sz="1050" b="1" spc="60" dirty="0">
                <a:latin typeface="Trebuchet MS"/>
                <a:cs typeface="Trebuchet MS"/>
              </a:rPr>
              <a:t> </a:t>
            </a:r>
            <a:r>
              <a:rPr sz="1050" b="1" spc="90" dirty="0">
                <a:latin typeface="Trebuchet MS"/>
                <a:cs typeface="Trebuchet MS"/>
              </a:rPr>
              <a:t>of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114" dirty="0">
                <a:latin typeface="Trebuchet MS"/>
                <a:cs typeface="Trebuchet MS"/>
              </a:rPr>
              <a:t>august.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125" dirty="0">
                <a:latin typeface="Trebuchet MS"/>
                <a:cs typeface="Trebuchet MS"/>
              </a:rPr>
              <a:t>Append</a:t>
            </a:r>
            <a:r>
              <a:rPr sz="1050" b="1" spc="65" dirty="0">
                <a:latin typeface="Trebuchet MS"/>
                <a:cs typeface="Trebuchet MS"/>
              </a:rPr>
              <a:t> </a:t>
            </a:r>
            <a:r>
              <a:rPr sz="1050" b="1" spc="110" dirty="0">
                <a:latin typeface="Trebuchet MS"/>
                <a:cs typeface="Trebuchet MS"/>
              </a:rPr>
              <a:t>that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100" dirty="0">
                <a:latin typeface="Trebuchet MS"/>
                <a:cs typeface="Trebuchet MS"/>
              </a:rPr>
              <a:t>to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110" dirty="0">
                <a:latin typeface="Trebuchet MS"/>
                <a:cs typeface="Trebuchet MS"/>
              </a:rPr>
              <a:t>existing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100" dirty="0">
                <a:latin typeface="Trebuchet MS"/>
                <a:cs typeface="Trebuchet MS"/>
              </a:rPr>
              <a:t>data</a:t>
            </a:r>
            <a:endParaRPr sz="1050">
              <a:latin typeface="Trebuchet MS"/>
              <a:cs typeface="Trebuchet M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328737" y="5866765"/>
            <a:ext cx="5838825" cy="429259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38735" rIns="0" bIns="0" rtlCol="0">
            <a:spAutoFit/>
          </a:bodyPr>
          <a:lstStyle/>
          <a:p>
            <a:pPr marL="42545" marR="2359025">
              <a:lnSpc>
                <a:spcPct val="111800"/>
              </a:lnSpc>
              <a:spcBef>
                <a:spcPts val="305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df_august</a:t>
            </a:r>
            <a:r>
              <a:rPr sz="950" spc="70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75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pd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read_csv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"new_data_august.csv"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df_august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head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008800"/>
                </a:solidFill>
                <a:latin typeface="Courier New"/>
                <a:cs typeface="Courier New"/>
              </a:rPr>
              <a:t>3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328737" y="7797165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df_august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columns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44525" y="8147659"/>
            <a:ext cx="6330950" cy="987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48410" marR="5080" indent="-1236345">
              <a:lnSpc>
                <a:spcPct val="111800"/>
              </a:lnSpc>
              <a:spcBef>
                <a:spcPts val="9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Out[154…</a:t>
            </a:r>
            <a:r>
              <a:rPr sz="950" spc="-5" dirty="0">
                <a:solidFill>
                  <a:srgbClr val="616161"/>
                </a:solidFill>
                <a:latin typeface="Courier New"/>
                <a:cs typeface="Courier New"/>
              </a:rPr>
              <a:t>  </a:t>
            </a:r>
            <a:r>
              <a:rPr sz="950" dirty="0">
                <a:latin typeface="Courier New"/>
                <a:cs typeface="Courier New"/>
              </a:rPr>
              <a:t>Index(['property_id',</a:t>
            </a:r>
            <a:r>
              <a:rPr sz="950" spc="14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'property_name',</a:t>
            </a:r>
            <a:r>
              <a:rPr sz="950" spc="14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'category',</a:t>
            </a:r>
            <a:r>
              <a:rPr sz="950" spc="14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'city',</a:t>
            </a:r>
            <a:r>
              <a:rPr sz="950" spc="145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'room_category', </a:t>
            </a:r>
            <a:r>
              <a:rPr sz="950" dirty="0">
                <a:latin typeface="Courier New"/>
                <a:cs typeface="Courier New"/>
              </a:rPr>
              <a:t>'room_class',</a:t>
            </a:r>
            <a:r>
              <a:rPr sz="950" spc="10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'check_in_date',</a:t>
            </a:r>
            <a:r>
              <a:rPr sz="950" spc="10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'mmm</a:t>
            </a:r>
            <a:r>
              <a:rPr sz="950" spc="10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yy',</a:t>
            </a:r>
            <a:r>
              <a:rPr sz="950" spc="10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'week</a:t>
            </a:r>
            <a:r>
              <a:rPr sz="950" spc="10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no',</a:t>
            </a:r>
            <a:r>
              <a:rPr sz="950" spc="100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'day_type', </a:t>
            </a:r>
            <a:r>
              <a:rPr sz="950" dirty="0">
                <a:latin typeface="Courier New"/>
                <a:cs typeface="Courier New"/>
              </a:rPr>
              <a:t>'successful_bookings',</a:t>
            </a:r>
            <a:r>
              <a:rPr sz="950" spc="20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'capacity',</a:t>
            </a:r>
            <a:r>
              <a:rPr sz="950" spc="204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'occ%'],</a:t>
            </a:r>
            <a:endParaRPr sz="950">
              <a:latin typeface="Courier New"/>
              <a:cs typeface="Courier New"/>
            </a:endParaRPr>
          </a:p>
          <a:p>
            <a:pPr marL="1174115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dtype='object')</a:t>
            </a:r>
            <a:endParaRPr sz="95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54"/>
              </a:spcBef>
            </a:pP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4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[155…</a:t>
            </a:r>
            <a:r>
              <a:rPr sz="950" spc="409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columns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44525" y="5906767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[153…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44525" y="6392545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Out[153…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44525" y="7837144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[154…</a:t>
            </a:r>
            <a:endParaRPr sz="9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1323975" y="3620142"/>
          <a:ext cx="5924550" cy="29610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7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51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47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4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443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4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8257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65" dirty="0">
                          <a:latin typeface="Trebuchet MS"/>
                          <a:cs typeface="Trebuchet MS"/>
                        </a:rPr>
                        <a:t>check_in_date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room_category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successful_bookings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capacity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6497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17558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31-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Jul-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70" dirty="0">
                          <a:latin typeface="Trebuchet MS"/>
                          <a:cs typeface="Trebuchet MS"/>
                        </a:rPr>
                        <a:t>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30" dirty="0">
                          <a:latin typeface="Trebuchet MS"/>
                          <a:cs typeface="Trebuchet MS"/>
                        </a:rPr>
                        <a:t>6.0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6498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19563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31-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Jul-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70" dirty="0">
                          <a:latin typeface="Trebuchet MS"/>
                          <a:cs typeface="Trebuchet MS"/>
                        </a:rPr>
                        <a:t>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30" dirty="0">
                          <a:latin typeface="Trebuchet MS"/>
                          <a:cs typeface="Trebuchet MS"/>
                        </a:rPr>
                        <a:t>6.0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6499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17561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31-</a:t>
                      </a:r>
                      <a:r>
                        <a:rPr sz="950" dirty="0">
                          <a:latin typeface="Trebuchet MS"/>
                          <a:cs typeface="Trebuchet MS"/>
                        </a:rPr>
                        <a:t>Jul-</a:t>
                      </a:r>
                      <a:r>
                        <a:rPr sz="950" spc="-2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70" dirty="0">
                          <a:latin typeface="Trebuchet MS"/>
                          <a:cs typeface="Trebuchet MS"/>
                        </a:rPr>
                        <a:t>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30" dirty="0">
                          <a:latin typeface="Trebuchet MS"/>
                          <a:cs typeface="Trebuchet MS"/>
                        </a:rPr>
                        <a:t>4.0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6500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65" dirty="0">
                          <a:latin typeface="Trebuchet MS"/>
                          <a:cs typeface="Trebuchet MS"/>
                        </a:rPr>
                        <a:t>01-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Aug-</a:t>
                      </a:r>
                      <a:r>
                        <a:rPr sz="950" spc="70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30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6501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19562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65" dirty="0">
                          <a:latin typeface="Trebuchet MS"/>
                          <a:cs typeface="Trebuchet MS"/>
                        </a:rPr>
                        <a:t>01-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Aug-</a:t>
                      </a:r>
                      <a:r>
                        <a:rPr sz="950" spc="70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6502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19563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65" dirty="0">
                          <a:latin typeface="Trebuchet MS"/>
                          <a:cs typeface="Trebuchet MS"/>
                        </a:rPr>
                        <a:t>01-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Aug-</a:t>
                      </a:r>
                      <a:r>
                        <a:rPr sz="950" spc="70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6503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19558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65" dirty="0">
                          <a:latin typeface="Trebuchet MS"/>
                          <a:cs typeface="Trebuchet MS"/>
                        </a:rPr>
                        <a:t>01-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Aug-</a:t>
                      </a:r>
                      <a:r>
                        <a:rPr sz="950" spc="70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30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40.0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6504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19560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65" dirty="0">
                          <a:latin typeface="Trebuchet MS"/>
                          <a:cs typeface="Trebuchet MS"/>
                        </a:rPr>
                        <a:t>01-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Aug-</a:t>
                      </a:r>
                      <a:r>
                        <a:rPr sz="950" spc="70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20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26.0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6505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17561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65" dirty="0">
                          <a:latin typeface="Trebuchet MS"/>
                          <a:cs typeface="Trebuchet MS"/>
                        </a:rPr>
                        <a:t>01-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Aug-</a:t>
                      </a:r>
                      <a:r>
                        <a:rPr sz="950" spc="70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26.0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6506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17564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65" dirty="0">
                          <a:latin typeface="Trebuchet MS"/>
                          <a:cs typeface="Trebuchet MS"/>
                        </a:rPr>
                        <a:t>01-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Aug-</a:t>
                      </a:r>
                      <a:r>
                        <a:rPr sz="950" spc="70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0" dirty="0">
                          <a:latin typeface="Trebuchet MS"/>
                          <a:cs typeface="Trebuchet MS"/>
                        </a:rPr>
                        <a:t>10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16.0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object 3"/>
          <p:cNvSpPr txBox="1"/>
          <p:nvPr/>
        </p:nvSpPr>
        <p:spPr>
          <a:xfrm>
            <a:off x="1358900" y="678819"/>
            <a:ext cx="5765800" cy="835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153670">
              <a:lnSpc>
                <a:spcPct val="111800"/>
              </a:lnSpc>
              <a:spcBef>
                <a:spcPts val="95"/>
              </a:spcBef>
            </a:pPr>
            <a:r>
              <a:rPr sz="950" dirty="0">
                <a:latin typeface="Courier New"/>
                <a:cs typeface="Courier New"/>
              </a:rPr>
              <a:t>Index(['property_id',</a:t>
            </a:r>
            <a:r>
              <a:rPr sz="950" spc="21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'check_in_date',</a:t>
            </a:r>
            <a:r>
              <a:rPr sz="950" spc="22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'room_category',</a:t>
            </a:r>
            <a:r>
              <a:rPr sz="950" spc="215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'successful_booking </a:t>
            </a:r>
            <a:r>
              <a:rPr sz="950" spc="-25" dirty="0">
                <a:latin typeface="Courier New"/>
                <a:cs typeface="Courier New"/>
              </a:rPr>
              <a:t>s',</a:t>
            </a:r>
            <a:endParaRPr sz="950">
              <a:latin typeface="Courier New"/>
              <a:cs typeface="Courier New"/>
            </a:endParaRPr>
          </a:p>
          <a:p>
            <a:pPr marL="534035" marR="5080">
              <a:lnSpc>
                <a:spcPct val="111800"/>
              </a:lnSpc>
            </a:pPr>
            <a:r>
              <a:rPr sz="950" dirty="0">
                <a:latin typeface="Courier New"/>
                <a:cs typeface="Courier New"/>
              </a:rPr>
              <a:t>'capacity',</a:t>
            </a:r>
            <a:r>
              <a:rPr sz="950" spc="14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'occupancy_pct',</a:t>
            </a:r>
            <a:r>
              <a:rPr sz="950" spc="16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'occ_pct',</a:t>
            </a:r>
            <a:r>
              <a:rPr sz="950" spc="16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'room_class',</a:t>
            </a:r>
            <a:r>
              <a:rPr sz="950" spc="160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'property_name', </a:t>
            </a:r>
            <a:r>
              <a:rPr sz="950" dirty="0">
                <a:latin typeface="Courier New"/>
                <a:cs typeface="Courier New"/>
              </a:rPr>
              <a:t>'category',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'city',</a:t>
            </a:r>
            <a:r>
              <a:rPr sz="950" spc="8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'date',</a:t>
            </a:r>
            <a:r>
              <a:rPr sz="950" spc="8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'mmm</a:t>
            </a:r>
            <a:r>
              <a:rPr sz="950" spc="8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yy',</a:t>
            </a:r>
            <a:r>
              <a:rPr sz="950" spc="8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'week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no',</a:t>
            </a:r>
            <a:r>
              <a:rPr sz="950" spc="85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'day_type'],</a:t>
            </a:r>
            <a:endParaRPr sz="950">
              <a:latin typeface="Courier New"/>
              <a:cs typeface="Courier New"/>
            </a:endParaRPr>
          </a:p>
          <a:p>
            <a:pPr marL="459740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dtype='object')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328737" y="1614805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244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4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df_august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shape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358900" y="1978036"/>
            <a:ext cx="54737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latin typeface="Courier New"/>
                <a:cs typeface="Courier New"/>
              </a:rPr>
              <a:t>(7,</a:t>
            </a:r>
            <a:r>
              <a:rPr sz="950" spc="45" dirty="0">
                <a:latin typeface="Courier New"/>
                <a:cs typeface="Courier New"/>
              </a:rPr>
              <a:t> </a:t>
            </a:r>
            <a:r>
              <a:rPr sz="950" spc="-25" dirty="0">
                <a:latin typeface="Courier New"/>
                <a:cs typeface="Courier New"/>
              </a:rPr>
              <a:t>13)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328737" y="2309815"/>
            <a:ext cx="5838825" cy="26733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244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4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shape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358900" y="2673362"/>
            <a:ext cx="77089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latin typeface="Courier New"/>
                <a:cs typeface="Courier New"/>
              </a:rPr>
              <a:t>(6500,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spc="-25" dirty="0">
                <a:latin typeface="Courier New"/>
                <a:cs typeface="Courier New"/>
              </a:rPr>
              <a:t>15)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328737" y="3005454"/>
            <a:ext cx="5838825" cy="42862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42545" marR="643890">
              <a:lnSpc>
                <a:spcPct val="111800"/>
              </a:lnSpc>
              <a:spcBef>
                <a:spcPts val="300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latest_df</a:t>
            </a:r>
            <a:r>
              <a:rPr sz="950" spc="85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90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pd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concat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([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,</a:t>
            </a:r>
            <a:r>
              <a:rPr sz="950" spc="90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df_august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],</a:t>
            </a:r>
            <a:r>
              <a:rPr sz="950" spc="90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ignore_index</a:t>
            </a:r>
            <a:r>
              <a:rPr sz="950" spc="90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85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008000"/>
                </a:solidFill>
                <a:latin typeface="Courier New"/>
                <a:cs typeface="Courier New"/>
              </a:rPr>
              <a:t>True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,</a:t>
            </a:r>
            <a:r>
              <a:rPr sz="950" spc="90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axis</a:t>
            </a:r>
            <a:r>
              <a:rPr sz="950" spc="90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90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25" dirty="0">
                <a:solidFill>
                  <a:srgbClr val="008800"/>
                </a:solidFill>
                <a:latin typeface="Courier New"/>
                <a:cs typeface="Courier New"/>
              </a:rPr>
              <a:t>0</a:t>
            </a:r>
            <a:r>
              <a:rPr sz="950" spc="-25" dirty="0">
                <a:solidFill>
                  <a:srgbClr val="0055AA"/>
                </a:solidFill>
                <a:latin typeface="Courier New"/>
                <a:cs typeface="Courier New"/>
              </a:rPr>
              <a:t>)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latest_df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tail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008800"/>
                </a:solidFill>
                <a:latin typeface="Courier New"/>
                <a:cs typeface="Courier New"/>
              </a:rPr>
              <a:t>10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328737" y="6811009"/>
            <a:ext cx="5838825" cy="26733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latest_df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shape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358900" y="7174821"/>
            <a:ext cx="77089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latin typeface="Courier New"/>
                <a:cs typeface="Courier New"/>
              </a:rPr>
              <a:t>(6507,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spc="-25" dirty="0">
                <a:latin typeface="Courier New"/>
                <a:cs typeface="Courier New"/>
              </a:rPr>
              <a:t>16)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358900" y="7508637"/>
            <a:ext cx="251079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b="1" spc="55" dirty="0">
                <a:latin typeface="Trebuchet MS"/>
                <a:cs typeface="Trebuchet MS"/>
              </a:rPr>
              <a:t>6.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95" dirty="0">
                <a:latin typeface="Trebuchet MS"/>
                <a:cs typeface="Trebuchet MS"/>
              </a:rPr>
              <a:t>Print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105" dirty="0">
                <a:latin typeface="Trebuchet MS"/>
                <a:cs typeface="Trebuchet MS"/>
              </a:rPr>
              <a:t>revenue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85" dirty="0">
                <a:latin typeface="Trebuchet MS"/>
                <a:cs typeface="Trebuchet MS"/>
              </a:rPr>
              <a:t>realized</a:t>
            </a:r>
            <a:r>
              <a:rPr sz="1050" b="1" spc="65" dirty="0">
                <a:latin typeface="Trebuchet MS"/>
                <a:cs typeface="Trebuchet MS"/>
              </a:rPr>
              <a:t> </a:t>
            </a:r>
            <a:r>
              <a:rPr sz="1050" b="1" spc="100" dirty="0">
                <a:latin typeface="Trebuchet MS"/>
                <a:cs typeface="Trebuchet MS"/>
              </a:rPr>
              <a:t>per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55" dirty="0">
                <a:latin typeface="Trebuchet MS"/>
                <a:cs typeface="Trebuchet MS"/>
              </a:rPr>
              <a:t>city</a:t>
            </a:r>
            <a:endParaRPr sz="1050">
              <a:latin typeface="Trebuchet MS"/>
              <a:cs typeface="Trebuchet MS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328737" y="7881619"/>
            <a:ext cx="5838825" cy="26733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head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44525" y="692155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Out[155…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44525" y="1654185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[156…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44525" y="1978036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Out[156…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44525" y="2349511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[157…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44525" y="2673362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Out[157…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44525" y="3044838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[158…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44525" y="3530615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Out[158…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44525" y="6850970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[159…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44525" y="7174821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Out[159…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44525" y="7921583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[160…</a:t>
            </a:r>
            <a:endParaRPr sz="9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625475" y="709612"/>
          <a:ext cx="6623050" cy="14903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90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51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58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Out[160…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booking_id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booking_date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65" dirty="0">
                          <a:latin typeface="Trebuchet MS"/>
                          <a:cs typeface="Trebuchet MS"/>
                        </a:rPr>
                        <a:t>check_in_date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ts val="1095"/>
                        </a:lnSpc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checkout_date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0</a:t>
                      </a:r>
                      <a:r>
                        <a:rPr sz="950" b="1" spc="20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27-04-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2/5/2022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950" b="1" spc="20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30-04-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2/5/2022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3</a:t>
                      </a:r>
                      <a:r>
                        <a:rPr sz="950" b="1" spc="20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28-04-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2/5/2022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4</a:t>
                      </a:r>
                      <a:r>
                        <a:rPr sz="950" b="1" spc="20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27-04-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2/5/2022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5</a:t>
                      </a:r>
                      <a:r>
                        <a:rPr sz="950" b="1" spc="20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May012216558RT16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3/5/2022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object 3"/>
          <p:cNvSpPr/>
          <p:nvPr/>
        </p:nvSpPr>
        <p:spPr>
          <a:xfrm>
            <a:off x="1323975" y="3075905"/>
            <a:ext cx="3672204" cy="9525"/>
          </a:xfrm>
          <a:custGeom>
            <a:avLst/>
            <a:gdLst/>
            <a:ahLst/>
            <a:cxnLst/>
            <a:rect l="l" t="t" r="r" b="b"/>
            <a:pathLst>
              <a:path w="3672204" h="9525">
                <a:moveTo>
                  <a:pt x="3672064" y="0"/>
                </a:moveTo>
                <a:lnTo>
                  <a:pt x="0" y="0"/>
                </a:lnTo>
                <a:lnTo>
                  <a:pt x="0" y="9525"/>
                </a:lnTo>
                <a:lnTo>
                  <a:pt x="3672064" y="9525"/>
                </a:lnTo>
                <a:lnTo>
                  <a:pt x="3672064" y="0"/>
                </a:lnTo>
                <a:close/>
              </a:path>
            </a:pathLst>
          </a:custGeom>
          <a:solidFill>
            <a:srgbClr val="BDBDBD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625475" y="4656090"/>
          <a:ext cx="6623050" cy="955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90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51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58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Out[162…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booking_id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booking_date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65" dirty="0">
                          <a:latin typeface="Trebuchet MS"/>
                          <a:cs typeface="Trebuchet MS"/>
                        </a:rPr>
                        <a:t>check_in_date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ts val="1095"/>
                        </a:lnSpc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checkout_date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0</a:t>
                      </a:r>
                      <a:r>
                        <a:rPr sz="950" b="1" spc="20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27-04-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2/5/2022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950" b="1" spc="20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30-04-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2/5/2022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2</a:t>
                      </a:r>
                      <a:r>
                        <a:rPr sz="950" b="1" spc="20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28-04-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2/5/2022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625475" y="8103492"/>
          <a:ext cx="3936365" cy="955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18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50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486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Out[164…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195" dirty="0">
                          <a:latin typeface="Trebuchet MS"/>
                          <a:cs typeface="Trebuchet MS"/>
                        </a:rPr>
                        <a:t>mmm</a:t>
                      </a:r>
                      <a:r>
                        <a:rPr sz="950" b="1" spc="6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950" b="1" spc="80" dirty="0">
                          <a:latin typeface="Trebuchet MS"/>
                          <a:cs typeface="Trebuchet MS"/>
                        </a:rPr>
                        <a:t>yy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114" dirty="0">
                          <a:latin typeface="Trebuchet MS"/>
                          <a:cs typeface="Trebuchet MS"/>
                        </a:rPr>
                        <a:t>week</a:t>
                      </a:r>
                      <a:r>
                        <a:rPr sz="950" b="1" spc="6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950" b="1" spc="100" dirty="0">
                          <a:latin typeface="Trebuchet MS"/>
                          <a:cs typeface="Trebuchet MS"/>
                        </a:rPr>
                        <a:t>no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day_type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0</a:t>
                      </a:r>
                      <a:r>
                        <a:rPr sz="950" b="1" spc="21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85" dirty="0">
                          <a:latin typeface="Trebuchet MS"/>
                          <a:cs typeface="Trebuchet MS"/>
                        </a:rPr>
                        <a:t>01-May-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120" dirty="0">
                          <a:latin typeface="Trebuchet MS"/>
                          <a:cs typeface="Trebuchet MS"/>
                        </a:rPr>
                        <a:t>May</a:t>
                      </a:r>
                      <a:r>
                        <a:rPr sz="950" spc="2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950" spc="80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145" dirty="0">
                          <a:latin typeface="Trebuchet MS"/>
                          <a:cs typeface="Trebuchet MS"/>
                        </a:rPr>
                        <a:t>W</a:t>
                      </a:r>
                      <a:r>
                        <a:rPr sz="950" spc="2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950" spc="80" dirty="0">
                          <a:latin typeface="Trebuchet MS"/>
                          <a:cs typeface="Trebuchet MS"/>
                        </a:rPr>
                        <a:t>19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65" dirty="0">
                          <a:latin typeface="Trebuchet MS"/>
                          <a:cs typeface="Trebuchet MS"/>
                        </a:rPr>
                        <a:t>weekend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950" b="1" spc="21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85" dirty="0">
                          <a:latin typeface="Trebuchet MS"/>
                          <a:cs typeface="Trebuchet MS"/>
                        </a:rPr>
                        <a:t>02-May-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20" dirty="0">
                          <a:latin typeface="Trebuchet MS"/>
                          <a:cs typeface="Trebuchet MS"/>
                        </a:rPr>
                        <a:t>May</a:t>
                      </a:r>
                      <a:r>
                        <a:rPr sz="950" spc="2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950" spc="80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45" dirty="0">
                          <a:latin typeface="Trebuchet MS"/>
                          <a:cs typeface="Trebuchet MS"/>
                        </a:rPr>
                        <a:t>W</a:t>
                      </a:r>
                      <a:r>
                        <a:rPr sz="950" spc="2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950" spc="80" dirty="0">
                          <a:latin typeface="Trebuchet MS"/>
                          <a:cs typeface="Trebuchet MS"/>
                        </a:rPr>
                        <a:t>19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70" dirty="0">
                          <a:latin typeface="Trebuchet MS"/>
                          <a:cs typeface="Trebuchet MS"/>
                        </a:rPr>
                        <a:t>weekeday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2</a:t>
                      </a:r>
                      <a:r>
                        <a:rPr sz="950" b="1" spc="21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85" dirty="0">
                          <a:latin typeface="Trebuchet MS"/>
                          <a:cs typeface="Trebuchet MS"/>
                        </a:rPr>
                        <a:t>03-May-</a:t>
                      </a:r>
                      <a:r>
                        <a:rPr sz="950" spc="5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120" dirty="0">
                          <a:latin typeface="Trebuchet MS"/>
                          <a:cs typeface="Trebuchet MS"/>
                        </a:rPr>
                        <a:t>May</a:t>
                      </a:r>
                      <a:r>
                        <a:rPr sz="950" spc="2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950" spc="80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145" dirty="0">
                          <a:latin typeface="Trebuchet MS"/>
                          <a:cs typeface="Trebuchet MS"/>
                        </a:rPr>
                        <a:t>W</a:t>
                      </a:r>
                      <a:r>
                        <a:rPr sz="950" spc="2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950" spc="80" dirty="0">
                          <a:latin typeface="Trebuchet MS"/>
                          <a:cs typeface="Trebuchet MS"/>
                        </a:rPr>
                        <a:t>19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70" dirty="0">
                          <a:latin typeface="Trebuchet MS"/>
                          <a:cs typeface="Trebuchet MS"/>
                        </a:rPr>
                        <a:t>weekeday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object 6"/>
          <p:cNvSpPr txBox="1"/>
          <p:nvPr/>
        </p:nvSpPr>
        <p:spPr>
          <a:xfrm>
            <a:off x="1328737" y="2488564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df_hotels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head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008800"/>
                </a:solidFill>
                <a:latin typeface="Courier New"/>
                <a:cs typeface="Courier New"/>
              </a:rPr>
              <a:t>3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373187" y="2848265"/>
            <a:ext cx="3573779" cy="45148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222250">
              <a:lnSpc>
                <a:spcPct val="100000"/>
              </a:lnSpc>
              <a:spcBef>
                <a:spcPts val="125"/>
              </a:spcBef>
              <a:tabLst>
                <a:tab pos="3304540" algn="l"/>
              </a:tabLst>
            </a:pPr>
            <a:r>
              <a:rPr sz="950" b="1" spc="85" dirty="0">
                <a:latin typeface="Trebuchet MS"/>
                <a:cs typeface="Trebuchet MS"/>
              </a:rPr>
              <a:t>property_id</a:t>
            </a:r>
            <a:r>
              <a:rPr sz="950" b="1" spc="210" dirty="0">
                <a:latin typeface="Trebuchet MS"/>
                <a:cs typeface="Trebuchet MS"/>
              </a:rPr>
              <a:t>  </a:t>
            </a:r>
            <a:r>
              <a:rPr sz="950" b="1" spc="105" dirty="0">
                <a:latin typeface="Trebuchet MS"/>
                <a:cs typeface="Trebuchet MS"/>
              </a:rPr>
              <a:t>property_name</a:t>
            </a:r>
            <a:r>
              <a:rPr sz="950" b="1" spc="210" dirty="0">
                <a:latin typeface="Trebuchet MS"/>
                <a:cs typeface="Trebuchet MS"/>
              </a:rPr>
              <a:t>  </a:t>
            </a:r>
            <a:r>
              <a:rPr sz="950" b="1" spc="110" dirty="0">
                <a:latin typeface="Trebuchet MS"/>
                <a:cs typeface="Trebuchet MS"/>
              </a:rPr>
              <a:t>category</a:t>
            </a:r>
            <a:r>
              <a:rPr sz="950" b="1" dirty="0">
                <a:latin typeface="Trebuchet MS"/>
                <a:cs typeface="Trebuchet MS"/>
              </a:rPr>
              <a:t>	</a:t>
            </a:r>
            <a:r>
              <a:rPr sz="950" b="1" spc="60" dirty="0">
                <a:latin typeface="Trebuchet MS"/>
                <a:cs typeface="Trebuchet MS"/>
              </a:rPr>
              <a:t>city</a:t>
            </a:r>
            <a:endParaRPr sz="95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1045"/>
              </a:spcBef>
              <a:tabLst>
                <a:tab pos="629920" algn="l"/>
                <a:tab pos="1440180" algn="l"/>
                <a:tab pos="2520950" algn="l"/>
                <a:tab pos="3241675" algn="l"/>
              </a:tabLst>
            </a:pPr>
            <a:r>
              <a:rPr sz="950" b="1" spc="60" dirty="0">
                <a:latin typeface="Trebuchet MS"/>
                <a:cs typeface="Trebuchet MS"/>
              </a:rPr>
              <a:t>0</a:t>
            </a:r>
            <a:r>
              <a:rPr sz="950" b="1" dirty="0">
                <a:latin typeface="Trebuchet MS"/>
                <a:cs typeface="Trebuchet MS"/>
              </a:rPr>
              <a:t>	</a:t>
            </a:r>
            <a:r>
              <a:rPr sz="950" spc="105" dirty="0">
                <a:latin typeface="Trebuchet MS"/>
                <a:cs typeface="Trebuchet MS"/>
              </a:rPr>
              <a:t>16558</a:t>
            </a:r>
            <a:r>
              <a:rPr sz="950" dirty="0">
                <a:latin typeface="Trebuchet MS"/>
                <a:cs typeface="Trebuchet MS"/>
              </a:rPr>
              <a:t>	Atliq</a:t>
            </a:r>
            <a:r>
              <a:rPr sz="950" spc="170" dirty="0">
                <a:latin typeface="Trebuchet MS"/>
                <a:cs typeface="Trebuchet MS"/>
              </a:rPr>
              <a:t> </a:t>
            </a:r>
            <a:r>
              <a:rPr sz="950" spc="70" dirty="0">
                <a:latin typeface="Trebuchet MS"/>
                <a:cs typeface="Trebuchet MS"/>
              </a:rPr>
              <a:t>Grands</a:t>
            </a:r>
            <a:r>
              <a:rPr sz="950" dirty="0">
                <a:latin typeface="Trebuchet MS"/>
                <a:cs typeface="Trebuchet MS"/>
              </a:rPr>
              <a:t>	</a:t>
            </a:r>
            <a:r>
              <a:rPr sz="950" spc="65" dirty="0">
                <a:latin typeface="Trebuchet MS"/>
                <a:cs typeface="Trebuchet MS"/>
              </a:rPr>
              <a:t>Luxury</a:t>
            </a:r>
            <a:r>
              <a:rPr sz="950" dirty="0">
                <a:latin typeface="Trebuchet MS"/>
                <a:cs typeface="Trebuchet MS"/>
              </a:rPr>
              <a:t>	</a:t>
            </a:r>
            <a:r>
              <a:rPr sz="950" spc="50" dirty="0">
                <a:latin typeface="Trebuchet MS"/>
                <a:cs typeface="Trebuchet MS"/>
              </a:rPr>
              <a:t>Delhi</a:t>
            </a:r>
            <a:endParaRPr sz="950">
              <a:latin typeface="Trebuchet MS"/>
              <a:cs typeface="Trebuchet M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323975" y="3353396"/>
            <a:ext cx="3672204" cy="267970"/>
          </a:xfrm>
          <a:prstGeom prst="rect">
            <a:avLst/>
          </a:prstGeom>
          <a:solidFill>
            <a:srgbClr val="F5F5F5"/>
          </a:solidFill>
        </p:spPr>
        <p:txBody>
          <a:bodyPr vert="horz" wrap="square" lIns="0" tIns="55880" rIns="0" bIns="0" rtlCol="0">
            <a:spAutoFit/>
          </a:bodyPr>
          <a:lstStyle/>
          <a:p>
            <a:pPr marL="61594">
              <a:lnSpc>
                <a:spcPct val="100000"/>
              </a:lnSpc>
              <a:spcBef>
                <a:spcPts val="440"/>
              </a:spcBef>
              <a:tabLst>
                <a:tab pos="678815" algn="l"/>
                <a:tab pos="1483360" algn="l"/>
                <a:tab pos="2569845" algn="l"/>
              </a:tabLst>
            </a:pPr>
            <a:r>
              <a:rPr sz="950" b="1" spc="60" dirty="0">
                <a:latin typeface="Trebuchet MS"/>
                <a:cs typeface="Trebuchet MS"/>
              </a:rPr>
              <a:t>1</a:t>
            </a:r>
            <a:r>
              <a:rPr sz="950" b="1" dirty="0">
                <a:latin typeface="Trebuchet MS"/>
                <a:cs typeface="Trebuchet MS"/>
              </a:rPr>
              <a:t>	</a:t>
            </a:r>
            <a:r>
              <a:rPr sz="950" spc="105" dirty="0">
                <a:latin typeface="Trebuchet MS"/>
                <a:cs typeface="Trebuchet MS"/>
              </a:rPr>
              <a:t>16559</a:t>
            </a:r>
            <a:r>
              <a:rPr sz="950" dirty="0">
                <a:latin typeface="Trebuchet MS"/>
                <a:cs typeface="Trebuchet MS"/>
              </a:rPr>
              <a:t>	Atliq</a:t>
            </a:r>
            <a:r>
              <a:rPr sz="950" spc="170" dirty="0">
                <a:latin typeface="Trebuchet MS"/>
                <a:cs typeface="Trebuchet MS"/>
              </a:rPr>
              <a:t> </a:t>
            </a:r>
            <a:r>
              <a:rPr sz="950" spc="40" dirty="0">
                <a:latin typeface="Trebuchet MS"/>
                <a:cs typeface="Trebuchet MS"/>
              </a:rPr>
              <a:t>Exotica</a:t>
            </a:r>
            <a:r>
              <a:rPr sz="950" dirty="0">
                <a:latin typeface="Trebuchet MS"/>
                <a:cs typeface="Trebuchet MS"/>
              </a:rPr>
              <a:t>	</a:t>
            </a:r>
            <a:r>
              <a:rPr sz="950" spc="75" dirty="0">
                <a:latin typeface="Trebuchet MS"/>
                <a:cs typeface="Trebuchet MS"/>
              </a:rPr>
              <a:t>Luxury</a:t>
            </a:r>
            <a:r>
              <a:rPr sz="950" spc="200" dirty="0">
                <a:latin typeface="Trebuchet MS"/>
                <a:cs typeface="Trebuchet MS"/>
              </a:rPr>
              <a:t>  </a:t>
            </a:r>
            <a:r>
              <a:rPr sz="950" spc="80" dirty="0">
                <a:latin typeface="Trebuchet MS"/>
                <a:cs typeface="Trebuchet MS"/>
              </a:rPr>
              <a:t>Mumbai</a:t>
            </a:r>
            <a:endParaRPr sz="950">
              <a:latin typeface="Trebuchet MS"/>
              <a:cs typeface="Trebuchet MS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373187" y="3661685"/>
            <a:ext cx="357314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  <a:tabLst>
                <a:tab pos="629920" algn="l"/>
                <a:tab pos="1642110" algn="l"/>
                <a:tab pos="2395855" algn="l"/>
                <a:tab pos="3241675" algn="l"/>
              </a:tabLst>
            </a:pPr>
            <a:r>
              <a:rPr sz="950" b="1" spc="60" dirty="0">
                <a:latin typeface="Trebuchet MS"/>
                <a:cs typeface="Trebuchet MS"/>
              </a:rPr>
              <a:t>2</a:t>
            </a:r>
            <a:r>
              <a:rPr sz="950" b="1" dirty="0">
                <a:latin typeface="Trebuchet MS"/>
                <a:cs typeface="Trebuchet MS"/>
              </a:rPr>
              <a:t>	</a:t>
            </a:r>
            <a:r>
              <a:rPr sz="950" spc="105" dirty="0">
                <a:latin typeface="Trebuchet MS"/>
                <a:cs typeface="Trebuchet MS"/>
              </a:rPr>
              <a:t>16560</a:t>
            </a:r>
            <a:r>
              <a:rPr sz="950" dirty="0">
                <a:latin typeface="Trebuchet MS"/>
                <a:cs typeface="Trebuchet MS"/>
              </a:rPr>
              <a:t>	Atliq</a:t>
            </a:r>
            <a:r>
              <a:rPr sz="950" spc="170" dirty="0">
                <a:latin typeface="Trebuchet MS"/>
                <a:cs typeface="Trebuchet MS"/>
              </a:rPr>
              <a:t> </a:t>
            </a:r>
            <a:r>
              <a:rPr sz="950" spc="30" dirty="0">
                <a:latin typeface="Trebuchet MS"/>
                <a:cs typeface="Trebuchet MS"/>
              </a:rPr>
              <a:t>City</a:t>
            </a:r>
            <a:r>
              <a:rPr sz="950" dirty="0">
                <a:latin typeface="Trebuchet MS"/>
                <a:cs typeface="Trebuchet MS"/>
              </a:rPr>
              <a:t>	</a:t>
            </a:r>
            <a:r>
              <a:rPr sz="950" spc="75" dirty="0">
                <a:latin typeface="Trebuchet MS"/>
                <a:cs typeface="Trebuchet MS"/>
              </a:rPr>
              <a:t>Business</a:t>
            </a:r>
            <a:r>
              <a:rPr sz="950" dirty="0">
                <a:latin typeface="Trebuchet MS"/>
                <a:cs typeface="Trebuchet MS"/>
              </a:rPr>
              <a:t>	</a:t>
            </a:r>
            <a:r>
              <a:rPr sz="950" spc="50" dirty="0">
                <a:latin typeface="Trebuchet MS"/>
                <a:cs typeface="Trebuchet MS"/>
              </a:rPr>
              <a:t>Delhi</a:t>
            </a:r>
            <a:endParaRPr sz="950">
              <a:latin typeface="Trebuchet MS"/>
              <a:cs typeface="Trebuchet MS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328737" y="4112895"/>
            <a:ext cx="5838825" cy="429259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38735" rIns="0" bIns="0" rtlCol="0">
            <a:spAutoFit/>
          </a:bodyPr>
          <a:lstStyle/>
          <a:p>
            <a:pPr marL="42545" marR="718820">
              <a:lnSpc>
                <a:spcPct val="111800"/>
              </a:lnSpc>
              <a:spcBef>
                <a:spcPts val="305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df_bookings_all</a:t>
            </a:r>
            <a:r>
              <a:rPr sz="950" spc="150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150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pd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merge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,</a:t>
            </a:r>
            <a:r>
              <a:rPr sz="950" spc="150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df_hotels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,</a:t>
            </a:r>
            <a:r>
              <a:rPr sz="950" spc="150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on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"property_id"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df_bookings_all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head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008800"/>
                </a:solidFill>
                <a:latin typeface="Courier New"/>
                <a:cs typeface="Courier New"/>
              </a:rPr>
              <a:t>3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328737" y="5899150"/>
            <a:ext cx="5838825" cy="26733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df_bookings_all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groupby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"city"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"revenue_realized"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sum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358900" y="6249608"/>
            <a:ext cx="696595" cy="835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800"/>
              </a:lnSpc>
              <a:spcBef>
                <a:spcPts val="95"/>
              </a:spcBef>
            </a:pPr>
            <a:r>
              <a:rPr sz="950" spc="-20" dirty="0">
                <a:latin typeface="Courier New"/>
                <a:cs typeface="Courier New"/>
              </a:rPr>
              <a:t>city </a:t>
            </a:r>
            <a:r>
              <a:rPr sz="950" spc="-10" dirty="0">
                <a:latin typeface="Courier New"/>
                <a:cs typeface="Courier New"/>
              </a:rPr>
              <a:t>Bangalore Delhi Hyderabad Mumbai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327954" y="6411534"/>
            <a:ext cx="696595" cy="67310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950" spc="-10" dirty="0">
                <a:latin typeface="Courier New"/>
                <a:cs typeface="Courier New"/>
              </a:rPr>
              <a:t>420397050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294466018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325232870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668608011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358900" y="7072574"/>
            <a:ext cx="2709545" cy="46228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latin typeface="Courier New"/>
                <a:cs typeface="Courier New"/>
              </a:rPr>
              <a:t>Name:</a:t>
            </a:r>
            <a:r>
              <a:rPr sz="950" spc="12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revenue_realized,</a:t>
            </a:r>
            <a:r>
              <a:rPr sz="950" spc="12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dtype:</a:t>
            </a:r>
            <a:r>
              <a:rPr sz="950" spc="125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int64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010"/>
              </a:spcBef>
            </a:pPr>
            <a:r>
              <a:rPr sz="1050" b="1" spc="55" dirty="0">
                <a:latin typeface="Trebuchet MS"/>
                <a:cs typeface="Trebuchet MS"/>
              </a:rPr>
              <a:t>7.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95" dirty="0">
                <a:latin typeface="Trebuchet MS"/>
                <a:cs typeface="Trebuchet MS"/>
              </a:rPr>
              <a:t>Print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120" dirty="0">
                <a:latin typeface="Trebuchet MS"/>
                <a:cs typeface="Trebuchet MS"/>
              </a:rPr>
              <a:t>month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125" dirty="0">
                <a:latin typeface="Trebuchet MS"/>
                <a:cs typeface="Trebuchet MS"/>
              </a:rPr>
              <a:t>by</a:t>
            </a:r>
            <a:r>
              <a:rPr sz="1050" b="1" spc="65" dirty="0">
                <a:latin typeface="Trebuchet MS"/>
                <a:cs typeface="Trebuchet MS"/>
              </a:rPr>
              <a:t> </a:t>
            </a:r>
            <a:r>
              <a:rPr sz="1050" b="1" spc="120" dirty="0">
                <a:latin typeface="Trebuchet MS"/>
                <a:cs typeface="Trebuchet MS"/>
              </a:rPr>
              <a:t>month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90" dirty="0">
                <a:latin typeface="Trebuchet MS"/>
                <a:cs typeface="Trebuchet MS"/>
              </a:rPr>
              <a:t>revenue</a:t>
            </a:r>
            <a:endParaRPr sz="1050">
              <a:latin typeface="Trebuchet MS"/>
              <a:cs typeface="Trebuchet MS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328737" y="7722234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df_date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head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008800"/>
                </a:solidFill>
                <a:latin typeface="Courier New"/>
                <a:cs typeface="Courier New"/>
              </a:rPr>
              <a:t>3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44525" y="2528545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[161…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44525" y="2852395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Out[161…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44525" y="4152856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[162…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44525" y="5939094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[163…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44525" y="6262944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Out[163…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44525" y="7762185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[164…</a:t>
            </a:r>
            <a:endParaRPr sz="9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625475" y="1681165"/>
          <a:ext cx="6623050" cy="955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90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51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58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Out[166…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booking_id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booking_date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65" dirty="0">
                          <a:latin typeface="Trebuchet MS"/>
                          <a:cs typeface="Trebuchet MS"/>
                        </a:rPr>
                        <a:t>check_in_date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ts val="1095"/>
                        </a:lnSpc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checkout_date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0</a:t>
                      </a:r>
                      <a:r>
                        <a:rPr sz="950" b="1" spc="20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27-04-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2/5/2022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950" b="1" spc="20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30-04-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2/5/2022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2</a:t>
                      </a:r>
                      <a:r>
                        <a:rPr sz="950" b="1" spc="20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28-04-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2/5/2022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625475" y="6524944"/>
          <a:ext cx="3997325" cy="955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34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5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54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49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Out[168…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195" dirty="0">
                          <a:latin typeface="Trebuchet MS"/>
                          <a:cs typeface="Trebuchet MS"/>
                        </a:rPr>
                        <a:t>mmm</a:t>
                      </a:r>
                      <a:r>
                        <a:rPr sz="950" b="1" spc="6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950" b="1" spc="80" dirty="0">
                          <a:latin typeface="Trebuchet MS"/>
                          <a:cs typeface="Trebuchet MS"/>
                        </a:rPr>
                        <a:t>yy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114" dirty="0">
                          <a:latin typeface="Trebuchet MS"/>
                          <a:cs typeface="Trebuchet MS"/>
                        </a:rPr>
                        <a:t>week</a:t>
                      </a:r>
                      <a:r>
                        <a:rPr sz="950" b="1" spc="6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950" b="1" spc="100" dirty="0">
                          <a:latin typeface="Trebuchet MS"/>
                          <a:cs typeface="Trebuchet MS"/>
                        </a:rPr>
                        <a:t>no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ts val="1095"/>
                        </a:lnSpc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day_type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0</a:t>
                      </a:r>
                      <a:r>
                        <a:rPr sz="950" b="1" spc="21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85" dirty="0">
                          <a:latin typeface="Trebuchet MS"/>
                          <a:cs typeface="Trebuchet MS"/>
                        </a:rPr>
                        <a:t>2022-05-</a:t>
                      </a:r>
                      <a:r>
                        <a:rPr sz="950" spc="70" dirty="0">
                          <a:latin typeface="Trebuchet MS"/>
                          <a:cs typeface="Trebuchet MS"/>
                        </a:rPr>
                        <a:t>01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120" dirty="0">
                          <a:latin typeface="Trebuchet MS"/>
                          <a:cs typeface="Trebuchet MS"/>
                        </a:rPr>
                        <a:t>May</a:t>
                      </a:r>
                      <a:r>
                        <a:rPr sz="950" spc="2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950" spc="80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145" dirty="0">
                          <a:latin typeface="Trebuchet MS"/>
                          <a:cs typeface="Trebuchet MS"/>
                        </a:rPr>
                        <a:t>W</a:t>
                      </a:r>
                      <a:r>
                        <a:rPr sz="950" spc="2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950" spc="80" dirty="0">
                          <a:latin typeface="Trebuchet MS"/>
                          <a:cs typeface="Trebuchet MS"/>
                        </a:rPr>
                        <a:t>19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69850" algn="ct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65" dirty="0">
                          <a:latin typeface="Trebuchet MS"/>
                          <a:cs typeface="Trebuchet MS"/>
                        </a:rPr>
                        <a:t>weekend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950" b="1" spc="21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85" dirty="0">
                          <a:latin typeface="Trebuchet MS"/>
                          <a:cs typeface="Trebuchet MS"/>
                        </a:rPr>
                        <a:t>2022-05-</a:t>
                      </a:r>
                      <a:r>
                        <a:rPr sz="950" spc="70" dirty="0">
                          <a:latin typeface="Trebuchet MS"/>
                          <a:cs typeface="Trebuchet MS"/>
                        </a:rPr>
                        <a:t>02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20" dirty="0">
                          <a:latin typeface="Trebuchet MS"/>
                          <a:cs typeface="Trebuchet MS"/>
                        </a:rPr>
                        <a:t>May</a:t>
                      </a:r>
                      <a:r>
                        <a:rPr sz="950" spc="2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950" spc="80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45" dirty="0">
                          <a:latin typeface="Trebuchet MS"/>
                          <a:cs typeface="Trebuchet MS"/>
                        </a:rPr>
                        <a:t>W</a:t>
                      </a:r>
                      <a:r>
                        <a:rPr sz="950" spc="2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950" spc="80" dirty="0">
                          <a:latin typeface="Trebuchet MS"/>
                          <a:cs typeface="Trebuchet MS"/>
                        </a:rPr>
                        <a:t>19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70" dirty="0">
                          <a:latin typeface="Trebuchet MS"/>
                          <a:cs typeface="Trebuchet MS"/>
                        </a:rPr>
                        <a:t>weekeday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2</a:t>
                      </a:r>
                      <a:r>
                        <a:rPr sz="950" b="1" spc="21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85" dirty="0">
                          <a:latin typeface="Trebuchet MS"/>
                          <a:cs typeface="Trebuchet MS"/>
                        </a:rPr>
                        <a:t>2022-05-</a:t>
                      </a:r>
                      <a:r>
                        <a:rPr sz="950" spc="70" dirty="0">
                          <a:latin typeface="Trebuchet MS"/>
                          <a:cs typeface="Trebuchet MS"/>
                        </a:rPr>
                        <a:t>03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120" dirty="0">
                          <a:latin typeface="Trebuchet MS"/>
                          <a:cs typeface="Trebuchet MS"/>
                        </a:rPr>
                        <a:t>May</a:t>
                      </a:r>
                      <a:r>
                        <a:rPr sz="950" spc="25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950" spc="80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145" dirty="0">
                          <a:latin typeface="Trebuchet MS"/>
                          <a:cs typeface="Trebuchet MS"/>
                        </a:rPr>
                        <a:t>W</a:t>
                      </a:r>
                      <a:r>
                        <a:rPr sz="950" spc="20" dirty="0"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950" spc="80" dirty="0">
                          <a:latin typeface="Trebuchet MS"/>
                          <a:cs typeface="Trebuchet MS"/>
                        </a:rPr>
                        <a:t>19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70" dirty="0">
                          <a:latin typeface="Trebuchet MS"/>
                          <a:cs typeface="Trebuchet MS"/>
                        </a:rPr>
                        <a:t>weekeday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1328737" y="605155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244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4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df_date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"mmm</a:t>
            </a:r>
            <a:r>
              <a:rPr sz="950" spc="150" dirty="0">
                <a:solidFill>
                  <a:srgbClr val="BA2121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yy"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unique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44525" y="968381"/>
            <a:ext cx="454152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Out[165…</a:t>
            </a:r>
            <a:r>
              <a:rPr sz="950" spc="45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array(['May</a:t>
            </a:r>
            <a:r>
              <a:rPr sz="950" spc="7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22',</a:t>
            </a:r>
            <a:r>
              <a:rPr sz="950" spc="7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'Jun</a:t>
            </a:r>
            <a:r>
              <a:rPr sz="950" spc="7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22',</a:t>
            </a:r>
            <a:r>
              <a:rPr sz="950" spc="7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'Jul</a:t>
            </a:r>
            <a:r>
              <a:rPr sz="950" spc="7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22'],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dtype=object)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328737" y="1300163"/>
            <a:ext cx="5838825" cy="26733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244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4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df_bookings_all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head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008800"/>
                </a:solidFill>
                <a:latin typeface="Courier New"/>
                <a:cs typeface="Courier New"/>
              </a:rPr>
              <a:t>3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328737" y="2924175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df_date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info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244600" y="3217532"/>
            <a:ext cx="2783840" cy="6731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800"/>
              </a:lnSpc>
              <a:spcBef>
                <a:spcPts val="95"/>
              </a:spcBef>
            </a:pPr>
            <a:r>
              <a:rPr sz="950" dirty="0">
                <a:latin typeface="Courier New"/>
                <a:cs typeface="Courier New"/>
              </a:rPr>
              <a:t>&lt;class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'pandas.core.frame.DataFrame'&gt; </a:t>
            </a:r>
            <a:r>
              <a:rPr sz="950" dirty="0">
                <a:latin typeface="Courier New"/>
                <a:cs typeface="Courier New"/>
              </a:rPr>
              <a:t>RangeIndex:</a:t>
            </a:r>
            <a:r>
              <a:rPr sz="950" spc="7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92</a:t>
            </a:r>
            <a:r>
              <a:rPr sz="950" spc="7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entries,</a:t>
            </a:r>
            <a:r>
              <a:rPr sz="950" spc="7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0</a:t>
            </a:r>
            <a:r>
              <a:rPr sz="950" spc="7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to</a:t>
            </a:r>
            <a:r>
              <a:rPr sz="950" spc="70" dirty="0">
                <a:latin typeface="Courier New"/>
                <a:cs typeface="Courier New"/>
              </a:rPr>
              <a:t> </a:t>
            </a:r>
            <a:r>
              <a:rPr sz="950" spc="-25" dirty="0">
                <a:latin typeface="Courier New"/>
                <a:cs typeface="Courier New"/>
              </a:rPr>
              <a:t>91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dirty="0">
                <a:latin typeface="Courier New"/>
                <a:cs typeface="Courier New"/>
              </a:rPr>
              <a:t>Data</a:t>
            </a:r>
            <a:r>
              <a:rPr sz="950" spc="6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columns</a:t>
            </a:r>
            <a:r>
              <a:rPr sz="950" spc="6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(total</a:t>
            </a:r>
            <a:r>
              <a:rPr sz="950" spc="7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4</a:t>
            </a:r>
            <a:r>
              <a:rPr sz="950" spc="65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columns):</a:t>
            </a:r>
            <a:endParaRPr sz="950">
              <a:latin typeface="Courier New"/>
              <a:cs typeface="Courier New"/>
            </a:endParaRPr>
          </a:p>
          <a:p>
            <a:pPr marL="86995">
              <a:lnSpc>
                <a:spcPct val="100000"/>
              </a:lnSpc>
              <a:spcBef>
                <a:spcPts val="135"/>
              </a:spcBef>
              <a:tabLst>
                <a:tab pos="384810" algn="l"/>
                <a:tab pos="1130300" algn="l"/>
                <a:tab pos="2323465" algn="l"/>
              </a:tabLst>
            </a:pPr>
            <a:r>
              <a:rPr sz="950" spc="-50" dirty="0">
                <a:latin typeface="Courier New"/>
                <a:cs typeface="Courier New"/>
              </a:rPr>
              <a:t>#</a:t>
            </a:r>
            <a:r>
              <a:rPr sz="950" dirty="0">
                <a:latin typeface="Courier New"/>
                <a:cs typeface="Courier New"/>
              </a:rPr>
              <a:t>	</a:t>
            </a:r>
            <a:r>
              <a:rPr sz="950" spc="-10" dirty="0">
                <a:latin typeface="Courier New"/>
                <a:cs typeface="Courier New"/>
              </a:rPr>
              <a:t>Column</a:t>
            </a:r>
            <a:r>
              <a:rPr sz="950" dirty="0">
                <a:latin typeface="Courier New"/>
                <a:cs typeface="Courier New"/>
              </a:rPr>
              <a:t>	Non-Null</a:t>
            </a:r>
            <a:r>
              <a:rPr sz="950" spc="105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Count</a:t>
            </a:r>
            <a:r>
              <a:rPr sz="950" dirty="0">
                <a:latin typeface="Courier New"/>
                <a:cs typeface="Courier New"/>
              </a:rPr>
              <a:t>	</a:t>
            </a:r>
            <a:r>
              <a:rPr sz="950" spc="-10" dirty="0">
                <a:latin typeface="Courier New"/>
                <a:cs typeface="Courier New"/>
              </a:rPr>
              <a:t>Dtype</a:t>
            </a:r>
            <a:endParaRPr sz="950">
              <a:latin typeface="Courier New"/>
              <a:cs typeface="Courier New"/>
            </a:endParaRPr>
          </a:p>
        </p:txBody>
      </p:sp>
      <p:graphicFrame>
        <p:nvGraphicFramePr>
          <p:cNvPr id="9" name="object 9"/>
          <p:cNvGraphicFramePr>
            <a:graphicFrameLocks noGrp="1"/>
          </p:cNvGraphicFramePr>
          <p:nvPr/>
        </p:nvGraphicFramePr>
        <p:xfrm>
          <a:off x="1257300" y="3981169"/>
          <a:ext cx="2866390" cy="7099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3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54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66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724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92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794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3367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90"/>
                        </a:spcBef>
                      </a:pPr>
                      <a:r>
                        <a:rPr sz="950" spc="-50" dirty="0">
                          <a:latin typeface="Courier New"/>
                          <a:cs typeface="Courier New"/>
                        </a:rPr>
                        <a:t>0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74930" marB="0">
                    <a:lnT w="12700">
                      <a:solidFill>
                        <a:srgbClr val="000000"/>
                      </a:solidFill>
                      <a:prstDash val="dash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90"/>
                        </a:spcBef>
                      </a:pPr>
                      <a:r>
                        <a:rPr sz="950" spc="-20" dirty="0">
                          <a:latin typeface="Courier New"/>
                          <a:cs typeface="Courier New"/>
                        </a:rPr>
                        <a:t>date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74930" marB="0"/>
                </a:tc>
                <a:tc>
                  <a:txBody>
                    <a:bodyPr/>
                    <a:lstStyle/>
                    <a:p>
                      <a:pPr marR="29209" algn="ctr">
                        <a:lnSpc>
                          <a:spcPct val="100000"/>
                        </a:lnSpc>
                        <a:spcBef>
                          <a:spcPts val="590"/>
                        </a:spcBef>
                      </a:pPr>
                      <a:r>
                        <a:rPr sz="950" spc="-25" dirty="0">
                          <a:latin typeface="Courier New"/>
                          <a:cs typeface="Courier New"/>
                        </a:rPr>
                        <a:t>92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74930" marB="0">
                    <a:lnT w="12700">
                      <a:solidFill>
                        <a:srgbClr val="000000"/>
                      </a:solidFill>
                      <a:prstDash val="dash"/>
                    </a:lnT>
                  </a:tcPr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ct val="100000"/>
                        </a:lnSpc>
                        <a:spcBef>
                          <a:spcPts val="590"/>
                        </a:spcBef>
                      </a:pPr>
                      <a:r>
                        <a:rPr sz="950" dirty="0">
                          <a:latin typeface="Courier New"/>
                          <a:cs typeface="Courier New"/>
                        </a:rPr>
                        <a:t>non-</a:t>
                      </a:r>
                      <a:r>
                        <a:rPr sz="950" spc="-20" dirty="0">
                          <a:latin typeface="Courier New"/>
                          <a:cs typeface="Courier New"/>
                        </a:rPr>
                        <a:t>null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74930" marB="0">
                    <a:lnT w="12700">
                      <a:solidFill>
                        <a:srgbClr val="000000"/>
                      </a:solidFill>
                      <a:prstDash val="dash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765" algn="ctr">
                        <a:lnSpc>
                          <a:spcPct val="100000"/>
                        </a:lnSpc>
                        <a:spcBef>
                          <a:spcPts val="590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object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7493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50" dirty="0">
                          <a:latin typeface="Courier New"/>
                          <a:cs typeface="Courier New"/>
                        </a:rPr>
                        <a:t>1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dirty="0">
                          <a:latin typeface="Courier New"/>
                          <a:cs typeface="Courier New"/>
                        </a:rPr>
                        <a:t>mmm</a:t>
                      </a:r>
                      <a:r>
                        <a:rPr sz="950" spc="45" dirty="0"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950" spc="-35" dirty="0">
                          <a:latin typeface="Courier New"/>
                          <a:cs typeface="Courier New"/>
                        </a:rPr>
                        <a:t>yy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R="29209" algn="ctr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25" dirty="0">
                          <a:latin typeface="Courier New"/>
                          <a:cs typeface="Courier New"/>
                        </a:rPr>
                        <a:t>92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dirty="0">
                          <a:latin typeface="Courier New"/>
                          <a:cs typeface="Courier New"/>
                        </a:rPr>
                        <a:t>non-</a:t>
                      </a:r>
                      <a:r>
                        <a:rPr sz="950" spc="-20" dirty="0">
                          <a:latin typeface="Courier New"/>
                          <a:cs typeface="Courier New"/>
                        </a:rPr>
                        <a:t>null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765" algn="ctr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object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50" dirty="0">
                          <a:latin typeface="Courier New"/>
                          <a:cs typeface="Courier New"/>
                        </a:rPr>
                        <a:t>2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dirty="0">
                          <a:latin typeface="Courier New"/>
                          <a:cs typeface="Courier New"/>
                        </a:rPr>
                        <a:t>week</a:t>
                      </a:r>
                      <a:r>
                        <a:rPr sz="950" spc="60" dirty="0"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950" spc="-25" dirty="0">
                          <a:latin typeface="Courier New"/>
                          <a:cs typeface="Courier New"/>
                        </a:rPr>
                        <a:t>no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R="29209" algn="ctr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25" dirty="0">
                          <a:latin typeface="Courier New"/>
                          <a:cs typeface="Courier New"/>
                        </a:rPr>
                        <a:t>92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dirty="0">
                          <a:latin typeface="Courier New"/>
                          <a:cs typeface="Courier New"/>
                        </a:rPr>
                        <a:t>non-</a:t>
                      </a:r>
                      <a:r>
                        <a:rPr sz="950" spc="-20" dirty="0">
                          <a:latin typeface="Courier New"/>
                          <a:cs typeface="Courier New"/>
                        </a:rPr>
                        <a:t>null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765" algn="ctr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object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>
                        <a:lnSpc>
                          <a:spcPts val="1080"/>
                        </a:lnSpc>
                        <a:spcBef>
                          <a:spcPts val="25"/>
                        </a:spcBef>
                      </a:pPr>
                      <a:r>
                        <a:rPr sz="950" spc="-50" dirty="0">
                          <a:latin typeface="Courier New"/>
                          <a:cs typeface="Courier New"/>
                        </a:rPr>
                        <a:t>3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ts val="108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day_type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R="29209" algn="ctr">
                        <a:lnSpc>
                          <a:spcPts val="1080"/>
                        </a:lnSpc>
                        <a:spcBef>
                          <a:spcPts val="25"/>
                        </a:spcBef>
                      </a:pPr>
                      <a:r>
                        <a:rPr sz="950" spc="-25" dirty="0">
                          <a:latin typeface="Courier New"/>
                          <a:cs typeface="Courier New"/>
                        </a:rPr>
                        <a:t>92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ts val="1080"/>
                        </a:lnSpc>
                        <a:spcBef>
                          <a:spcPts val="25"/>
                        </a:spcBef>
                      </a:pPr>
                      <a:r>
                        <a:rPr sz="950" dirty="0">
                          <a:latin typeface="Courier New"/>
                          <a:cs typeface="Courier New"/>
                        </a:rPr>
                        <a:t>non-</a:t>
                      </a:r>
                      <a:r>
                        <a:rPr sz="950" spc="-20" dirty="0">
                          <a:latin typeface="Courier New"/>
                          <a:cs typeface="Courier New"/>
                        </a:rPr>
                        <a:t>null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765" algn="ctr">
                        <a:lnSpc>
                          <a:spcPts val="108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object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object 10"/>
          <p:cNvSpPr/>
          <p:nvPr/>
        </p:nvSpPr>
        <p:spPr>
          <a:xfrm>
            <a:off x="1630013" y="3981169"/>
            <a:ext cx="447675" cy="0"/>
          </a:xfrm>
          <a:custGeom>
            <a:avLst/>
            <a:gdLst/>
            <a:ahLst/>
            <a:cxnLst/>
            <a:rect l="l" t="t" r="r" b="b"/>
            <a:pathLst>
              <a:path w="447675">
                <a:moveTo>
                  <a:pt x="0" y="0"/>
                </a:moveTo>
                <a:lnTo>
                  <a:pt x="447255" y="0"/>
                </a:lnTo>
              </a:path>
            </a:pathLst>
          </a:custGeom>
          <a:ln w="9906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3568122" y="3981169"/>
            <a:ext cx="372745" cy="0"/>
          </a:xfrm>
          <a:custGeom>
            <a:avLst/>
            <a:gdLst/>
            <a:ahLst/>
            <a:cxnLst/>
            <a:rect l="l" t="t" r="r" b="b"/>
            <a:pathLst>
              <a:path w="372745">
                <a:moveTo>
                  <a:pt x="0" y="0"/>
                </a:moveTo>
                <a:lnTo>
                  <a:pt x="372713" y="0"/>
                </a:lnTo>
              </a:path>
            </a:pathLst>
          </a:custGeom>
          <a:ln w="9906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1244600" y="4674866"/>
            <a:ext cx="1591310" cy="349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800"/>
              </a:lnSpc>
              <a:spcBef>
                <a:spcPts val="95"/>
              </a:spcBef>
            </a:pPr>
            <a:r>
              <a:rPr sz="950" dirty="0">
                <a:latin typeface="Courier New"/>
                <a:cs typeface="Courier New"/>
              </a:rPr>
              <a:t>dtypes:</a:t>
            </a:r>
            <a:r>
              <a:rPr sz="950" spc="95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object(4) </a:t>
            </a:r>
            <a:r>
              <a:rPr sz="950" dirty="0">
                <a:latin typeface="Courier New"/>
                <a:cs typeface="Courier New"/>
              </a:rPr>
              <a:t>memory</a:t>
            </a:r>
            <a:r>
              <a:rPr sz="950" spc="7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usage:</a:t>
            </a:r>
            <a:r>
              <a:rPr sz="950" spc="7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3.0+</a:t>
            </a:r>
            <a:r>
              <a:rPr sz="950" spc="75" dirty="0">
                <a:latin typeface="Courier New"/>
                <a:cs typeface="Courier New"/>
              </a:rPr>
              <a:t> </a:t>
            </a:r>
            <a:r>
              <a:rPr sz="950" spc="-25" dirty="0">
                <a:latin typeface="Courier New"/>
                <a:cs typeface="Courier New"/>
              </a:rPr>
              <a:t>KB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328737" y="5124450"/>
            <a:ext cx="5838825" cy="42862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38735" rIns="0" bIns="0" rtlCol="0">
            <a:spAutoFit/>
          </a:bodyPr>
          <a:lstStyle/>
          <a:p>
            <a:pPr marL="42545" marR="2134870">
              <a:lnSpc>
                <a:spcPct val="111800"/>
              </a:lnSpc>
              <a:spcBef>
                <a:spcPts val="305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df_date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"date"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spc="105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105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pd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to_datetime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df_date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"date"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])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df_date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head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008800"/>
                </a:solidFill>
                <a:latin typeface="Courier New"/>
                <a:cs typeface="Courier New"/>
              </a:rPr>
              <a:t>3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209675" y="5605776"/>
            <a:ext cx="5962650" cy="857250"/>
          </a:xfrm>
          <a:prstGeom prst="rect">
            <a:avLst/>
          </a:prstGeom>
          <a:solidFill>
            <a:srgbClr val="FFDDDD"/>
          </a:solidFill>
        </p:spPr>
        <p:txBody>
          <a:bodyPr vert="horz" wrap="square" lIns="0" tIns="33655" rIns="0" bIns="0" rtlCol="0">
            <a:spAutoFit/>
          </a:bodyPr>
          <a:lstStyle/>
          <a:p>
            <a:pPr marL="47625" marR="18415">
              <a:lnSpc>
                <a:spcPct val="111800"/>
              </a:lnSpc>
              <a:spcBef>
                <a:spcPts val="265"/>
              </a:spcBef>
            </a:pPr>
            <a:r>
              <a:rPr sz="950" spc="10" dirty="0">
                <a:latin typeface="Courier New"/>
                <a:cs typeface="Courier New"/>
              </a:rPr>
              <a:t>C:\Users\Nandini\AppData\Local\Temp\ipykernel_15812\173964601.py:1:</a:t>
            </a:r>
            <a:r>
              <a:rPr sz="950" spc="114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UserWarnin </a:t>
            </a:r>
            <a:r>
              <a:rPr sz="950" dirty="0">
                <a:latin typeface="Courier New"/>
                <a:cs typeface="Courier New"/>
              </a:rPr>
              <a:t>g:</a:t>
            </a:r>
            <a:r>
              <a:rPr sz="950" spc="7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Could</a:t>
            </a:r>
            <a:r>
              <a:rPr sz="950" spc="7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not</a:t>
            </a:r>
            <a:r>
              <a:rPr sz="950" spc="7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infer</a:t>
            </a:r>
            <a:r>
              <a:rPr sz="950" spc="7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format,</a:t>
            </a:r>
            <a:r>
              <a:rPr sz="950" spc="7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so</a:t>
            </a:r>
            <a:r>
              <a:rPr sz="950" spc="7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each</a:t>
            </a:r>
            <a:r>
              <a:rPr sz="950" spc="7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element</a:t>
            </a:r>
            <a:r>
              <a:rPr sz="950" spc="7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will</a:t>
            </a:r>
            <a:r>
              <a:rPr sz="950" spc="7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be</a:t>
            </a:r>
            <a:r>
              <a:rPr sz="950" spc="7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parsed</a:t>
            </a:r>
            <a:r>
              <a:rPr sz="950" spc="7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individually,</a:t>
            </a:r>
            <a:r>
              <a:rPr sz="950" spc="75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falling </a:t>
            </a:r>
            <a:r>
              <a:rPr sz="950" dirty="0">
                <a:latin typeface="Courier New"/>
                <a:cs typeface="Courier New"/>
              </a:rPr>
              <a:t>back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to</a:t>
            </a:r>
            <a:r>
              <a:rPr sz="950" spc="8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`dateutil`.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To</a:t>
            </a:r>
            <a:r>
              <a:rPr sz="950" spc="8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ensure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parsing</a:t>
            </a:r>
            <a:r>
              <a:rPr sz="950" spc="8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is</a:t>
            </a:r>
            <a:r>
              <a:rPr sz="950" spc="8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consistent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and</a:t>
            </a:r>
            <a:r>
              <a:rPr sz="950" spc="8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as-expected,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please</a:t>
            </a:r>
            <a:r>
              <a:rPr sz="950" spc="85" dirty="0">
                <a:latin typeface="Courier New"/>
                <a:cs typeface="Courier New"/>
              </a:rPr>
              <a:t> </a:t>
            </a:r>
            <a:r>
              <a:rPr sz="950" spc="-25" dirty="0">
                <a:latin typeface="Courier New"/>
                <a:cs typeface="Courier New"/>
              </a:rPr>
              <a:t>spe </a:t>
            </a:r>
            <a:r>
              <a:rPr sz="950" dirty="0">
                <a:latin typeface="Courier New"/>
                <a:cs typeface="Courier New"/>
              </a:rPr>
              <a:t>cify</a:t>
            </a:r>
            <a:r>
              <a:rPr sz="950" spc="4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a</a:t>
            </a:r>
            <a:r>
              <a:rPr sz="950" spc="45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format.</a:t>
            </a:r>
            <a:endParaRPr sz="950">
              <a:latin typeface="Courier New"/>
              <a:cs typeface="Courier New"/>
            </a:endParaRPr>
          </a:p>
          <a:p>
            <a:pPr marL="196215">
              <a:lnSpc>
                <a:spcPct val="100000"/>
              </a:lnSpc>
              <a:spcBef>
                <a:spcPts val="135"/>
              </a:spcBef>
            </a:pPr>
            <a:r>
              <a:rPr sz="950" dirty="0">
                <a:latin typeface="Courier New"/>
                <a:cs typeface="Courier New"/>
              </a:rPr>
              <a:t>df_date["date"]</a:t>
            </a:r>
            <a:r>
              <a:rPr sz="950" spc="10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=</a:t>
            </a:r>
            <a:r>
              <a:rPr sz="950" spc="105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pd.to_datetime(df_date["date"])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328737" y="7767955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df_bookings_all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info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44525" y="644530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[165…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44525" y="1339857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[166…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44525" y="2964168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[167…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44525" y="5164454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[168…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44525" y="7807945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[169…</a:t>
            </a:r>
            <a:endParaRPr sz="9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44600" y="621669"/>
            <a:ext cx="2933065" cy="6731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800"/>
              </a:lnSpc>
              <a:spcBef>
                <a:spcPts val="95"/>
              </a:spcBef>
            </a:pPr>
            <a:r>
              <a:rPr sz="950" dirty="0">
                <a:latin typeface="Courier New"/>
                <a:cs typeface="Courier New"/>
              </a:rPr>
              <a:t>&lt;class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'pandas.core.frame.DataFrame'&gt; </a:t>
            </a:r>
            <a:r>
              <a:rPr sz="950" dirty="0">
                <a:latin typeface="Courier New"/>
                <a:cs typeface="Courier New"/>
              </a:rPr>
              <a:t>RangeIndex:</a:t>
            </a:r>
            <a:r>
              <a:rPr sz="950" spc="7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134585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entries,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0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to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134584 </a:t>
            </a:r>
            <a:r>
              <a:rPr sz="950" dirty="0">
                <a:latin typeface="Courier New"/>
                <a:cs typeface="Courier New"/>
              </a:rPr>
              <a:t>Data</a:t>
            </a:r>
            <a:r>
              <a:rPr sz="950" spc="6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columns</a:t>
            </a:r>
            <a:r>
              <a:rPr sz="950" spc="7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(total</a:t>
            </a:r>
            <a:r>
              <a:rPr sz="950" spc="7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15</a:t>
            </a:r>
            <a:r>
              <a:rPr sz="950" spc="70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columns):</a:t>
            </a:r>
            <a:endParaRPr sz="950">
              <a:latin typeface="Courier New"/>
              <a:cs typeface="Courier New"/>
            </a:endParaRPr>
          </a:p>
          <a:p>
            <a:pPr marL="86995">
              <a:lnSpc>
                <a:spcPct val="100000"/>
              </a:lnSpc>
              <a:spcBef>
                <a:spcPts val="135"/>
              </a:spcBef>
              <a:tabLst>
                <a:tab pos="384810" algn="l"/>
                <a:tab pos="1801495" algn="l"/>
              </a:tabLst>
            </a:pPr>
            <a:r>
              <a:rPr sz="950" spc="-50" dirty="0">
                <a:latin typeface="Courier New"/>
                <a:cs typeface="Courier New"/>
              </a:rPr>
              <a:t>#</a:t>
            </a:r>
            <a:r>
              <a:rPr sz="950" dirty="0">
                <a:latin typeface="Courier New"/>
                <a:cs typeface="Courier New"/>
              </a:rPr>
              <a:t>	</a:t>
            </a:r>
            <a:r>
              <a:rPr sz="950" spc="-10" dirty="0">
                <a:latin typeface="Courier New"/>
                <a:cs typeface="Courier New"/>
              </a:rPr>
              <a:t>Column</a:t>
            </a:r>
            <a:r>
              <a:rPr sz="950" dirty="0">
                <a:latin typeface="Courier New"/>
                <a:cs typeface="Courier New"/>
              </a:rPr>
              <a:t>	Non-Null</a:t>
            </a:r>
            <a:r>
              <a:rPr sz="950" spc="105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Count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300855" y="1120782"/>
            <a:ext cx="39814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latin typeface="Courier New"/>
                <a:cs typeface="Courier New"/>
              </a:rPr>
              <a:t>Dtype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257300" y="1385305"/>
            <a:ext cx="224154" cy="0"/>
          </a:xfrm>
          <a:custGeom>
            <a:avLst/>
            <a:gdLst/>
            <a:ahLst/>
            <a:cxnLst/>
            <a:rect l="l" t="t" r="r" b="b"/>
            <a:pathLst>
              <a:path w="224155">
                <a:moveTo>
                  <a:pt x="0" y="0"/>
                </a:moveTo>
                <a:lnTo>
                  <a:pt x="223627" y="0"/>
                </a:lnTo>
              </a:path>
            </a:pathLst>
          </a:custGeom>
          <a:ln w="9906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1630013" y="1385305"/>
            <a:ext cx="447675" cy="0"/>
          </a:xfrm>
          <a:custGeom>
            <a:avLst/>
            <a:gdLst/>
            <a:ahLst/>
            <a:cxnLst/>
            <a:rect l="l" t="t" r="r" b="b"/>
            <a:pathLst>
              <a:path w="447675">
                <a:moveTo>
                  <a:pt x="0" y="0"/>
                </a:moveTo>
                <a:lnTo>
                  <a:pt x="447255" y="0"/>
                </a:lnTo>
              </a:path>
            </a:pathLst>
          </a:custGeom>
          <a:ln w="9906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1257300" y="1385305"/>
          <a:ext cx="3686175" cy="249047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29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37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3679">
                <a:tc>
                  <a:txBody>
                    <a:bodyPr/>
                    <a:lstStyle/>
                    <a:p>
                      <a:pPr marL="74295">
                        <a:lnSpc>
                          <a:spcPct val="100000"/>
                        </a:lnSpc>
                        <a:spcBef>
                          <a:spcPts val="590"/>
                        </a:spcBef>
                        <a:tabLst>
                          <a:tab pos="372110" algn="l"/>
                        </a:tabLst>
                      </a:pPr>
                      <a:r>
                        <a:rPr sz="950" spc="-50" dirty="0">
                          <a:latin typeface="Courier New"/>
                          <a:cs typeface="Courier New"/>
                        </a:rPr>
                        <a:t>0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	</a:t>
                      </a:r>
                      <a:r>
                        <a:rPr sz="950" spc="-10" dirty="0">
                          <a:latin typeface="Courier New"/>
                          <a:cs typeface="Courier New"/>
                        </a:rPr>
                        <a:t>booking_id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74930" marB="0"/>
                </a:tc>
                <a:tc>
                  <a:txBody>
                    <a:bodyPr/>
                    <a:lstStyle/>
                    <a:p>
                      <a:pPr marR="29209" algn="ctr">
                        <a:lnSpc>
                          <a:spcPct val="100000"/>
                        </a:lnSpc>
                        <a:spcBef>
                          <a:spcPts val="590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134585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74930" marB="0">
                    <a:lnT w="12700">
                      <a:solidFill>
                        <a:srgbClr val="000000"/>
                      </a:solidFill>
                      <a:prstDash val="dash"/>
                    </a:lnT>
                  </a:tcPr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ct val="100000"/>
                        </a:lnSpc>
                        <a:spcBef>
                          <a:spcPts val="590"/>
                        </a:spcBef>
                      </a:pPr>
                      <a:r>
                        <a:rPr sz="950" dirty="0">
                          <a:latin typeface="Courier New"/>
                          <a:cs typeface="Courier New"/>
                        </a:rPr>
                        <a:t>non-</a:t>
                      </a:r>
                      <a:r>
                        <a:rPr sz="950" spc="-20" dirty="0">
                          <a:latin typeface="Courier New"/>
                          <a:cs typeface="Courier New"/>
                        </a:rPr>
                        <a:t>null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74930" marB="0">
                    <a:lnT w="12700">
                      <a:solidFill>
                        <a:srgbClr val="000000"/>
                      </a:solidFill>
                      <a:prstDash val="dash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90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object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7493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marL="74295">
                        <a:lnSpc>
                          <a:spcPct val="100000"/>
                        </a:lnSpc>
                        <a:spcBef>
                          <a:spcPts val="25"/>
                        </a:spcBef>
                        <a:tabLst>
                          <a:tab pos="372110" algn="l"/>
                        </a:tabLst>
                      </a:pPr>
                      <a:r>
                        <a:rPr sz="950" spc="-50" dirty="0">
                          <a:latin typeface="Courier New"/>
                          <a:cs typeface="Courier New"/>
                        </a:rPr>
                        <a:t>1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	</a:t>
                      </a:r>
                      <a:r>
                        <a:rPr sz="950" spc="-10" dirty="0">
                          <a:latin typeface="Courier New"/>
                          <a:cs typeface="Courier New"/>
                        </a:rPr>
                        <a:t>property_id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R="29209" algn="ctr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134585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dirty="0">
                          <a:latin typeface="Courier New"/>
                          <a:cs typeface="Courier New"/>
                        </a:rPr>
                        <a:t>non-</a:t>
                      </a:r>
                      <a:r>
                        <a:rPr sz="950" spc="-20" dirty="0">
                          <a:latin typeface="Courier New"/>
                          <a:cs typeface="Courier New"/>
                        </a:rPr>
                        <a:t>null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int64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marL="74295">
                        <a:lnSpc>
                          <a:spcPct val="100000"/>
                        </a:lnSpc>
                        <a:spcBef>
                          <a:spcPts val="25"/>
                        </a:spcBef>
                        <a:tabLst>
                          <a:tab pos="372110" algn="l"/>
                        </a:tabLst>
                      </a:pPr>
                      <a:r>
                        <a:rPr sz="950" spc="-50" dirty="0">
                          <a:latin typeface="Courier New"/>
                          <a:cs typeface="Courier New"/>
                        </a:rPr>
                        <a:t>2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	</a:t>
                      </a:r>
                      <a:r>
                        <a:rPr sz="950" spc="-10" dirty="0">
                          <a:latin typeface="Courier New"/>
                          <a:cs typeface="Courier New"/>
                        </a:rPr>
                        <a:t>booking_date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R="29209" algn="ctr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134585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dirty="0">
                          <a:latin typeface="Courier New"/>
                          <a:cs typeface="Courier New"/>
                        </a:rPr>
                        <a:t>non-</a:t>
                      </a:r>
                      <a:r>
                        <a:rPr sz="950" spc="-20" dirty="0">
                          <a:latin typeface="Courier New"/>
                          <a:cs typeface="Courier New"/>
                        </a:rPr>
                        <a:t>null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object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marL="74295">
                        <a:lnSpc>
                          <a:spcPct val="100000"/>
                        </a:lnSpc>
                        <a:spcBef>
                          <a:spcPts val="25"/>
                        </a:spcBef>
                        <a:tabLst>
                          <a:tab pos="372110" algn="l"/>
                        </a:tabLst>
                      </a:pPr>
                      <a:r>
                        <a:rPr sz="950" spc="-50" dirty="0">
                          <a:latin typeface="Courier New"/>
                          <a:cs typeface="Courier New"/>
                        </a:rPr>
                        <a:t>3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	</a:t>
                      </a:r>
                      <a:r>
                        <a:rPr sz="950" spc="-10" dirty="0">
                          <a:latin typeface="Courier New"/>
                          <a:cs typeface="Courier New"/>
                        </a:rPr>
                        <a:t>check_in_date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R="29209" algn="ctr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134585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dirty="0">
                          <a:latin typeface="Courier New"/>
                          <a:cs typeface="Courier New"/>
                        </a:rPr>
                        <a:t>non-</a:t>
                      </a:r>
                      <a:r>
                        <a:rPr sz="950" spc="-20" dirty="0">
                          <a:latin typeface="Courier New"/>
                          <a:cs typeface="Courier New"/>
                        </a:rPr>
                        <a:t>null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object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marL="74295">
                        <a:lnSpc>
                          <a:spcPct val="100000"/>
                        </a:lnSpc>
                        <a:spcBef>
                          <a:spcPts val="25"/>
                        </a:spcBef>
                        <a:tabLst>
                          <a:tab pos="372110" algn="l"/>
                        </a:tabLst>
                      </a:pPr>
                      <a:r>
                        <a:rPr sz="950" spc="-50" dirty="0">
                          <a:latin typeface="Courier New"/>
                          <a:cs typeface="Courier New"/>
                        </a:rPr>
                        <a:t>4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	</a:t>
                      </a:r>
                      <a:r>
                        <a:rPr sz="950" spc="-10" dirty="0">
                          <a:latin typeface="Courier New"/>
                          <a:cs typeface="Courier New"/>
                        </a:rPr>
                        <a:t>checkout_date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R="29209" algn="ctr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134585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dirty="0">
                          <a:latin typeface="Courier New"/>
                          <a:cs typeface="Courier New"/>
                        </a:rPr>
                        <a:t>non-</a:t>
                      </a:r>
                      <a:r>
                        <a:rPr sz="950" spc="-20" dirty="0">
                          <a:latin typeface="Courier New"/>
                          <a:cs typeface="Courier New"/>
                        </a:rPr>
                        <a:t>null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object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marL="74295">
                        <a:lnSpc>
                          <a:spcPct val="100000"/>
                        </a:lnSpc>
                        <a:spcBef>
                          <a:spcPts val="25"/>
                        </a:spcBef>
                        <a:tabLst>
                          <a:tab pos="372110" algn="l"/>
                        </a:tabLst>
                      </a:pPr>
                      <a:r>
                        <a:rPr sz="950" spc="-50" dirty="0">
                          <a:latin typeface="Courier New"/>
                          <a:cs typeface="Courier New"/>
                        </a:rPr>
                        <a:t>5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	</a:t>
                      </a:r>
                      <a:r>
                        <a:rPr sz="950" spc="-10" dirty="0">
                          <a:latin typeface="Courier New"/>
                          <a:cs typeface="Courier New"/>
                        </a:rPr>
                        <a:t>no_guests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R="29209" algn="ctr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134582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dirty="0">
                          <a:latin typeface="Courier New"/>
                          <a:cs typeface="Courier New"/>
                        </a:rPr>
                        <a:t>non-</a:t>
                      </a:r>
                      <a:r>
                        <a:rPr sz="950" spc="-20" dirty="0">
                          <a:latin typeface="Courier New"/>
                          <a:cs typeface="Courier New"/>
                        </a:rPr>
                        <a:t>null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float64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marL="74295">
                        <a:lnSpc>
                          <a:spcPct val="100000"/>
                        </a:lnSpc>
                        <a:spcBef>
                          <a:spcPts val="25"/>
                        </a:spcBef>
                        <a:tabLst>
                          <a:tab pos="372110" algn="l"/>
                        </a:tabLst>
                      </a:pPr>
                      <a:r>
                        <a:rPr sz="950" spc="-50" dirty="0">
                          <a:latin typeface="Courier New"/>
                          <a:cs typeface="Courier New"/>
                        </a:rPr>
                        <a:t>6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	</a:t>
                      </a:r>
                      <a:r>
                        <a:rPr sz="950" spc="-10" dirty="0">
                          <a:latin typeface="Courier New"/>
                          <a:cs typeface="Courier New"/>
                        </a:rPr>
                        <a:t>room_category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R="29209" algn="ctr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134585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dirty="0">
                          <a:latin typeface="Courier New"/>
                          <a:cs typeface="Courier New"/>
                        </a:rPr>
                        <a:t>non-</a:t>
                      </a:r>
                      <a:r>
                        <a:rPr sz="950" spc="-20" dirty="0">
                          <a:latin typeface="Courier New"/>
                          <a:cs typeface="Courier New"/>
                        </a:rPr>
                        <a:t>null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object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74295">
                        <a:lnSpc>
                          <a:spcPts val="1080"/>
                        </a:lnSpc>
                        <a:spcBef>
                          <a:spcPts val="25"/>
                        </a:spcBef>
                        <a:tabLst>
                          <a:tab pos="372110" algn="l"/>
                        </a:tabLst>
                      </a:pPr>
                      <a:r>
                        <a:rPr sz="950" spc="-50" dirty="0">
                          <a:latin typeface="Courier New"/>
                          <a:cs typeface="Courier New"/>
                        </a:rPr>
                        <a:t>7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	</a:t>
                      </a:r>
                      <a:r>
                        <a:rPr sz="950" spc="-10" dirty="0">
                          <a:latin typeface="Courier New"/>
                          <a:cs typeface="Courier New"/>
                        </a:rPr>
                        <a:t>booking_platform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R="29209" algn="ctr">
                        <a:lnSpc>
                          <a:spcPts val="108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134585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ts val="1080"/>
                        </a:lnSpc>
                        <a:spcBef>
                          <a:spcPts val="25"/>
                        </a:spcBef>
                      </a:pPr>
                      <a:r>
                        <a:rPr sz="950" dirty="0">
                          <a:latin typeface="Courier New"/>
                          <a:cs typeface="Courier New"/>
                        </a:rPr>
                        <a:t>non-</a:t>
                      </a:r>
                      <a:r>
                        <a:rPr sz="950" spc="-20" dirty="0">
                          <a:latin typeface="Courier New"/>
                          <a:cs typeface="Courier New"/>
                        </a:rPr>
                        <a:t>null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>
                        <a:lnSpc>
                          <a:spcPts val="108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object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marL="74295">
                        <a:lnSpc>
                          <a:spcPts val="1080"/>
                        </a:lnSpc>
                        <a:spcBef>
                          <a:spcPts val="95"/>
                        </a:spcBef>
                        <a:tabLst>
                          <a:tab pos="372110" algn="l"/>
                        </a:tabLst>
                      </a:pPr>
                      <a:r>
                        <a:rPr sz="950" spc="-50" dirty="0">
                          <a:latin typeface="Courier New"/>
                          <a:cs typeface="Courier New"/>
                        </a:rPr>
                        <a:t>8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	</a:t>
                      </a:r>
                      <a:r>
                        <a:rPr sz="950" spc="-10" dirty="0">
                          <a:latin typeface="Courier New"/>
                          <a:cs typeface="Courier New"/>
                        </a:rPr>
                        <a:t>ratings_given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12065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ts val="1080"/>
                        </a:lnSpc>
                        <a:spcBef>
                          <a:spcPts val="95"/>
                        </a:spcBef>
                      </a:pPr>
                      <a:r>
                        <a:rPr sz="950" dirty="0">
                          <a:latin typeface="Courier New"/>
                          <a:cs typeface="Courier New"/>
                        </a:rPr>
                        <a:t>56680</a:t>
                      </a:r>
                      <a:r>
                        <a:rPr sz="950" spc="114" dirty="0"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non-</a:t>
                      </a:r>
                      <a:r>
                        <a:rPr sz="950" spc="-20" dirty="0">
                          <a:latin typeface="Courier New"/>
                          <a:cs typeface="Courier New"/>
                        </a:rPr>
                        <a:t>null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12065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ts val="1080"/>
                        </a:lnSpc>
                        <a:spcBef>
                          <a:spcPts val="9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float64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12065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0815">
                <a:tc>
                  <a:txBody>
                    <a:bodyPr/>
                    <a:lstStyle/>
                    <a:p>
                      <a:pPr marL="74295">
                        <a:lnSpc>
                          <a:spcPct val="100000"/>
                        </a:lnSpc>
                        <a:spcBef>
                          <a:spcPts val="95"/>
                        </a:spcBef>
                        <a:tabLst>
                          <a:tab pos="372110" algn="l"/>
                        </a:tabLst>
                      </a:pPr>
                      <a:r>
                        <a:rPr sz="950" spc="-50" dirty="0">
                          <a:latin typeface="Courier New"/>
                          <a:cs typeface="Courier New"/>
                        </a:rPr>
                        <a:t>9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	</a:t>
                      </a:r>
                      <a:r>
                        <a:rPr sz="950" spc="-10" dirty="0">
                          <a:latin typeface="Courier New"/>
                          <a:cs typeface="Courier New"/>
                        </a:rPr>
                        <a:t>booking_status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12065" marB="0"/>
                </a:tc>
                <a:tc>
                  <a:txBody>
                    <a:bodyPr/>
                    <a:lstStyle/>
                    <a:p>
                      <a:pPr marR="29209" algn="ctr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134585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12065" marB="0"/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950" dirty="0">
                          <a:latin typeface="Courier New"/>
                          <a:cs typeface="Courier New"/>
                        </a:rPr>
                        <a:t>non-</a:t>
                      </a:r>
                      <a:r>
                        <a:rPr sz="950" spc="-20" dirty="0">
                          <a:latin typeface="Courier New"/>
                          <a:cs typeface="Courier New"/>
                        </a:rPr>
                        <a:t>null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1206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object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12065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marL="74295">
                        <a:lnSpc>
                          <a:spcPct val="100000"/>
                        </a:lnSpc>
                        <a:spcBef>
                          <a:spcPts val="25"/>
                        </a:spcBef>
                        <a:tabLst>
                          <a:tab pos="372110" algn="l"/>
                        </a:tabLst>
                      </a:pPr>
                      <a:r>
                        <a:rPr sz="950" spc="-25" dirty="0">
                          <a:latin typeface="Courier New"/>
                          <a:cs typeface="Courier New"/>
                        </a:rPr>
                        <a:t>10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	</a:t>
                      </a:r>
                      <a:r>
                        <a:rPr sz="950" spc="-10" dirty="0">
                          <a:latin typeface="Courier New"/>
                          <a:cs typeface="Courier New"/>
                        </a:rPr>
                        <a:t>revenue_generated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R="29209" algn="ctr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134585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dirty="0">
                          <a:latin typeface="Courier New"/>
                          <a:cs typeface="Courier New"/>
                        </a:rPr>
                        <a:t>non-</a:t>
                      </a:r>
                      <a:r>
                        <a:rPr sz="950" spc="-20" dirty="0">
                          <a:latin typeface="Courier New"/>
                          <a:cs typeface="Courier New"/>
                        </a:rPr>
                        <a:t>null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int64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marL="74295">
                        <a:lnSpc>
                          <a:spcPct val="100000"/>
                        </a:lnSpc>
                        <a:spcBef>
                          <a:spcPts val="25"/>
                        </a:spcBef>
                        <a:tabLst>
                          <a:tab pos="372110" algn="l"/>
                        </a:tabLst>
                      </a:pPr>
                      <a:r>
                        <a:rPr sz="950" spc="-25" dirty="0">
                          <a:latin typeface="Courier New"/>
                          <a:cs typeface="Courier New"/>
                        </a:rPr>
                        <a:t>11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	</a:t>
                      </a:r>
                      <a:r>
                        <a:rPr sz="950" spc="-10" dirty="0">
                          <a:latin typeface="Courier New"/>
                          <a:cs typeface="Courier New"/>
                        </a:rPr>
                        <a:t>revenue_realized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R="29209" algn="ctr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134585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dirty="0">
                          <a:latin typeface="Courier New"/>
                          <a:cs typeface="Courier New"/>
                        </a:rPr>
                        <a:t>non-</a:t>
                      </a:r>
                      <a:r>
                        <a:rPr sz="950" spc="-20" dirty="0">
                          <a:latin typeface="Courier New"/>
                          <a:cs typeface="Courier New"/>
                        </a:rPr>
                        <a:t>null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int64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marL="74295">
                        <a:lnSpc>
                          <a:spcPct val="100000"/>
                        </a:lnSpc>
                        <a:spcBef>
                          <a:spcPts val="25"/>
                        </a:spcBef>
                        <a:tabLst>
                          <a:tab pos="372110" algn="l"/>
                        </a:tabLst>
                      </a:pPr>
                      <a:r>
                        <a:rPr sz="950" spc="-25" dirty="0">
                          <a:latin typeface="Courier New"/>
                          <a:cs typeface="Courier New"/>
                        </a:rPr>
                        <a:t>12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	</a:t>
                      </a:r>
                      <a:r>
                        <a:rPr sz="950" spc="-10" dirty="0">
                          <a:latin typeface="Courier New"/>
                          <a:cs typeface="Courier New"/>
                        </a:rPr>
                        <a:t>property_name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R="29209" algn="ctr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134585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dirty="0">
                          <a:latin typeface="Courier New"/>
                          <a:cs typeface="Courier New"/>
                        </a:rPr>
                        <a:t>non-</a:t>
                      </a:r>
                      <a:r>
                        <a:rPr sz="950" spc="-20" dirty="0">
                          <a:latin typeface="Courier New"/>
                          <a:cs typeface="Courier New"/>
                        </a:rPr>
                        <a:t>null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object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marL="74295">
                        <a:lnSpc>
                          <a:spcPct val="100000"/>
                        </a:lnSpc>
                        <a:spcBef>
                          <a:spcPts val="25"/>
                        </a:spcBef>
                        <a:tabLst>
                          <a:tab pos="372110" algn="l"/>
                        </a:tabLst>
                      </a:pPr>
                      <a:r>
                        <a:rPr sz="950" spc="-25" dirty="0">
                          <a:latin typeface="Courier New"/>
                          <a:cs typeface="Courier New"/>
                        </a:rPr>
                        <a:t>13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	</a:t>
                      </a:r>
                      <a:r>
                        <a:rPr sz="950" spc="-10" dirty="0">
                          <a:latin typeface="Courier New"/>
                          <a:cs typeface="Courier New"/>
                        </a:rPr>
                        <a:t>category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R="29209" algn="ctr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134585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dirty="0">
                          <a:latin typeface="Courier New"/>
                          <a:cs typeface="Courier New"/>
                        </a:rPr>
                        <a:t>non-</a:t>
                      </a:r>
                      <a:r>
                        <a:rPr sz="950" spc="-20" dirty="0">
                          <a:latin typeface="Courier New"/>
                          <a:cs typeface="Courier New"/>
                        </a:rPr>
                        <a:t>null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object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74295">
                        <a:lnSpc>
                          <a:spcPts val="1080"/>
                        </a:lnSpc>
                        <a:spcBef>
                          <a:spcPts val="25"/>
                        </a:spcBef>
                        <a:tabLst>
                          <a:tab pos="372110" algn="l"/>
                        </a:tabLst>
                      </a:pPr>
                      <a:r>
                        <a:rPr sz="950" spc="-25" dirty="0">
                          <a:latin typeface="Courier New"/>
                          <a:cs typeface="Courier New"/>
                        </a:rPr>
                        <a:t>14</a:t>
                      </a:r>
                      <a:r>
                        <a:rPr sz="950" dirty="0">
                          <a:latin typeface="Courier New"/>
                          <a:cs typeface="Courier New"/>
                        </a:rPr>
                        <a:t>	</a:t>
                      </a:r>
                      <a:r>
                        <a:rPr sz="950" spc="-20" dirty="0">
                          <a:latin typeface="Courier New"/>
                          <a:cs typeface="Courier New"/>
                        </a:rPr>
                        <a:t>city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R="29209" algn="ctr">
                        <a:lnSpc>
                          <a:spcPts val="108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134585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 marL="36830">
                        <a:lnSpc>
                          <a:spcPts val="1080"/>
                        </a:lnSpc>
                        <a:spcBef>
                          <a:spcPts val="25"/>
                        </a:spcBef>
                      </a:pPr>
                      <a:r>
                        <a:rPr sz="950" dirty="0">
                          <a:latin typeface="Courier New"/>
                          <a:cs typeface="Courier New"/>
                        </a:rPr>
                        <a:t>non-</a:t>
                      </a:r>
                      <a:r>
                        <a:rPr sz="950" spc="-20" dirty="0">
                          <a:latin typeface="Courier New"/>
                          <a:cs typeface="Courier New"/>
                        </a:rPr>
                        <a:t>null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tc>
                  <a:txBody>
                    <a:bodyPr/>
                    <a:lstStyle/>
                    <a:p>
                      <a:pPr>
                        <a:lnSpc>
                          <a:spcPts val="1080"/>
                        </a:lnSpc>
                        <a:spcBef>
                          <a:spcPts val="25"/>
                        </a:spcBef>
                      </a:pPr>
                      <a:r>
                        <a:rPr sz="950" spc="-10" dirty="0">
                          <a:latin typeface="Courier New"/>
                          <a:cs typeface="Courier New"/>
                        </a:rPr>
                        <a:t>object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3175" marB="0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7" name="object 7"/>
          <p:cNvSpPr/>
          <p:nvPr/>
        </p:nvSpPr>
        <p:spPr>
          <a:xfrm>
            <a:off x="4313548" y="1385305"/>
            <a:ext cx="372745" cy="0"/>
          </a:xfrm>
          <a:custGeom>
            <a:avLst/>
            <a:gdLst/>
            <a:ahLst/>
            <a:cxnLst/>
            <a:rect l="l" t="t" r="r" b="b"/>
            <a:pathLst>
              <a:path w="372745">
                <a:moveTo>
                  <a:pt x="0" y="0"/>
                </a:moveTo>
                <a:lnTo>
                  <a:pt x="372713" y="0"/>
                </a:lnTo>
              </a:path>
            </a:pathLst>
          </a:custGeom>
          <a:ln w="9906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1244600" y="3860187"/>
            <a:ext cx="3007360" cy="349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800"/>
              </a:lnSpc>
              <a:spcBef>
                <a:spcPts val="95"/>
              </a:spcBef>
            </a:pPr>
            <a:r>
              <a:rPr sz="950" dirty="0">
                <a:latin typeface="Courier New"/>
                <a:cs typeface="Courier New"/>
              </a:rPr>
              <a:t>dtypes:</a:t>
            </a:r>
            <a:r>
              <a:rPr sz="950" spc="114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float64(2),</a:t>
            </a:r>
            <a:r>
              <a:rPr sz="950" spc="12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int64(3),</a:t>
            </a:r>
            <a:r>
              <a:rPr sz="950" spc="120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object(10) </a:t>
            </a:r>
            <a:r>
              <a:rPr sz="950" dirty="0">
                <a:latin typeface="Courier New"/>
                <a:cs typeface="Courier New"/>
              </a:rPr>
              <a:t>memory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usage: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15.4+</a:t>
            </a:r>
            <a:r>
              <a:rPr sz="950" spc="80" dirty="0">
                <a:latin typeface="Courier New"/>
                <a:cs typeface="Courier New"/>
              </a:rPr>
              <a:t> </a:t>
            </a:r>
            <a:r>
              <a:rPr sz="950" spc="-25" dirty="0">
                <a:latin typeface="Courier New"/>
                <a:cs typeface="Courier New"/>
              </a:rPr>
              <a:t>MB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328737" y="4310072"/>
            <a:ext cx="5838825" cy="91503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340995" marR="2359025" indent="-298450">
              <a:lnSpc>
                <a:spcPct val="111800"/>
              </a:lnSpc>
              <a:spcBef>
                <a:spcPts val="300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"check_in_date"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spc="180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180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pd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to_datetime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"check_in_date"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],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format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"mixed"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,</a:t>
            </a:r>
            <a:endParaRPr sz="950">
              <a:latin typeface="Courier New"/>
              <a:cs typeface="Courier New"/>
            </a:endParaRPr>
          </a:p>
          <a:p>
            <a:pPr marL="340995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dayfirst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-10" dirty="0">
                <a:solidFill>
                  <a:srgbClr val="008000"/>
                </a:solidFill>
                <a:latin typeface="Courier New"/>
                <a:cs typeface="Courier New"/>
              </a:rPr>
              <a:t>True</a:t>
            </a:r>
            <a:endParaRPr sz="950">
              <a:latin typeface="Courier New"/>
              <a:cs typeface="Courier New"/>
            </a:endParaRPr>
          </a:p>
          <a:p>
            <a:pPr marL="42545">
              <a:lnSpc>
                <a:spcPct val="100000"/>
              </a:lnSpc>
              <a:spcBef>
                <a:spcPts val="135"/>
              </a:spcBef>
            </a:pPr>
            <a:r>
              <a:rPr sz="950" spc="-5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328737" y="5329554"/>
            <a:ext cx="5838825" cy="107632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340995" marR="2060575" indent="-298450">
              <a:lnSpc>
                <a:spcPct val="111800"/>
              </a:lnSpc>
              <a:spcBef>
                <a:spcPts val="300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df_bookings_all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"check_in_date"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spc="200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204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pd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to_datetime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df_bookings_all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"check_in_date"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],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format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"mixed"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,</a:t>
            </a:r>
            <a:endParaRPr sz="950">
              <a:latin typeface="Courier New"/>
              <a:cs typeface="Courier New"/>
            </a:endParaRPr>
          </a:p>
          <a:p>
            <a:pPr marL="340995" marR="4371340">
              <a:lnSpc>
                <a:spcPct val="111800"/>
              </a:lnSpc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dayfirst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-10" dirty="0">
                <a:solidFill>
                  <a:srgbClr val="008000"/>
                </a:solidFill>
                <a:latin typeface="Courier New"/>
                <a:cs typeface="Courier New"/>
              </a:rPr>
              <a:t>True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,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errors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"coerce"</a:t>
            </a:r>
            <a:endParaRPr sz="950">
              <a:latin typeface="Courier New"/>
              <a:cs typeface="Courier New"/>
            </a:endParaRPr>
          </a:p>
          <a:p>
            <a:pPr marL="42545">
              <a:lnSpc>
                <a:spcPct val="100000"/>
              </a:lnSpc>
              <a:spcBef>
                <a:spcPts val="135"/>
              </a:spcBef>
            </a:pPr>
            <a:r>
              <a:rPr sz="950" spc="-5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328737" y="6510655"/>
            <a:ext cx="5838825" cy="75247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340995" marR="2359025" indent="-298450">
              <a:lnSpc>
                <a:spcPct val="111800"/>
              </a:lnSpc>
              <a:spcBef>
                <a:spcPts val="300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"check_in_date"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spc="180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180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pd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to_datetime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"check_in_date"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],</a:t>
            </a:r>
            <a:endParaRPr sz="950">
              <a:latin typeface="Courier New"/>
              <a:cs typeface="Courier New"/>
            </a:endParaRPr>
          </a:p>
          <a:p>
            <a:pPr marL="340995">
              <a:lnSpc>
                <a:spcPct val="100000"/>
              </a:lnSpc>
              <a:spcBef>
                <a:spcPts val="135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format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"%d-%m-</a:t>
            </a:r>
            <a:r>
              <a:rPr sz="950" spc="-25" dirty="0">
                <a:solidFill>
                  <a:srgbClr val="BA2121"/>
                </a:solidFill>
                <a:latin typeface="Courier New"/>
                <a:cs typeface="Courier New"/>
              </a:rPr>
              <a:t>%y"</a:t>
            </a:r>
            <a:endParaRPr sz="950">
              <a:latin typeface="Courier New"/>
              <a:cs typeface="Courier New"/>
            </a:endParaRPr>
          </a:p>
          <a:p>
            <a:pPr marL="42545">
              <a:lnSpc>
                <a:spcPct val="100000"/>
              </a:lnSpc>
              <a:spcBef>
                <a:spcPts val="135"/>
              </a:spcBef>
            </a:pPr>
            <a:r>
              <a:rPr sz="950" spc="-5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328737" y="7367905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244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4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"check_in_date"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dtype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44525" y="7731166"/>
            <a:ext cx="1932939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Out[173…</a:t>
            </a:r>
            <a:r>
              <a:rPr sz="950" spc="450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dtype('&lt;M8[ns]')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328737" y="8062931"/>
            <a:ext cx="5838825" cy="26733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244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4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"check_in_date"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dtype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44525" y="8426493"/>
            <a:ext cx="1932939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Out[174…</a:t>
            </a:r>
            <a:r>
              <a:rPr sz="950" spc="450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dtype('&lt;M8[ns]')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328737" y="8758555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244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4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df_bookings_all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head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44525" y="4349776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[170…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44525" y="5368955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[171…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44525" y="6550062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[172…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44525" y="7407315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[173…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44525" y="8102641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[174…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44525" y="8797969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[175…</a:t>
            </a:r>
            <a:endParaRPr sz="9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625475" y="709612"/>
          <a:ext cx="6623050" cy="14903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90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51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58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Out[175…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booking_id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booking_date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65" dirty="0">
                          <a:latin typeface="Trebuchet MS"/>
                          <a:cs typeface="Trebuchet MS"/>
                        </a:rPr>
                        <a:t>check_in_date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ts val="1095"/>
                        </a:lnSpc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checkout_date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0</a:t>
                      </a:r>
                      <a:r>
                        <a:rPr sz="950" b="1" spc="20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27-04-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85" dirty="0">
                          <a:latin typeface="Trebuchet MS"/>
                          <a:cs typeface="Trebuchet MS"/>
                        </a:rPr>
                        <a:t>2022-05-</a:t>
                      </a:r>
                      <a:r>
                        <a:rPr sz="950" spc="70" dirty="0">
                          <a:latin typeface="Trebuchet MS"/>
                          <a:cs typeface="Trebuchet MS"/>
                        </a:rPr>
                        <a:t>01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2/5/2022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950" b="1" spc="20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30-04-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5" dirty="0">
                          <a:latin typeface="Trebuchet MS"/>
                          <a:cs typeface="Trebuchet MS"/>
                        </a:rPr>
                        <a:t>2022-05-</a:t>
                      </a:r>
                      <a:r>
                        <a:rPr sz="950" spc="70" dirty="0">
                          <a:latin typeface="Trebuchet MS"/>
                          <a:cs typeface="Trebuchet MS"/>
                        </a:rPr>
                        <a:t>01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2/5/2022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2</a:t>
                      </a:r>
                      <a:r>
                        <a:rPr sz="950" b="1" spc="20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28-04-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5" dirty="0">
                          <a:latin typeface="Trebuchet MS"/>
                          <a:cs typeface="Trebuchet MS"/>
                        </a:rPr>
                        <a:t>2022-05-</a:t>
                      </a:r>
                      <a:r>
                        <a:rPr sz="950" spc="70" dirty="0">
                          <a:latin typeface="Trebuchet MS"/>
                          <a:cs typeface="Trebuchet MS"/>
                        </a:rPr>
                        <a:t>01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2/5/2022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3</a:t>
                      </a:r>
                      <a:r>
                        <a:rPr sz="950" b="1" spc="20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27-04-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5" dirty="0">
                          <a:latin typeface="Trebuchet MS"/>
                          <a:cs typeface="Trebuchet MS"/>
                        </a:rPr>
                        <a:t>2022-05-</a:t>
                      </a:r>
                      <a:r>
                        <a:rPr sz="950" spc="70" dirty="0">
                          <a:latin typeface="Trebuchet MS"/>
                          <a:cs typeface="Trebuchet MS"/>
                        </a:rPr>
                        <a:t>01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2/5/2022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4</a:t>
                      </a:r>
                      <a:r>
                        <a:rPr sz="950" b="1" spc="20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May012216558RT16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1/5/2022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85" dirty="0">
                          <a:latin typeface="Trebuchet MS"/>
                          <a:cs typeface="Trebuchet MS"/>
                        </a:rPr>
                        <a:t>2022-05-</a:t>
                      </a:r>
                      <a:r>
                        <a:rPr sz="950" spc="70" dirty="0">
                          <a:latin typeface="Trebuchet MS"/>
                          <a:cs typeface="Trebuchet MS"/>
                        </a:rPr>
                        <a:t>01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3/5/2022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object 3"/>
          <p:cNvSpPr/>
          <p:nvPr/>
        </p:nvSpPr>
        <p:spPr>
          <a:xfrm>
            <a:off x="1323975" y="3075905"/>
            <a:ext cx="5848350" cy="9525"/>
          </a:xfrm>
          <a:custGeom>
            <a:avLst/>
            <a:gdLst/>
            <a:ahLst/>
            <a:cxnLst/>
            <a:rect l="l" t="t" r="r" b="b"/>
            <a:pathLst>
              <a:path w="5848350" h="9525">
                <a:moveTo>
                  <a:pt x="5848350" y="0"/>
                </a:moveTo>
                <a:lnTo>
                  <a:pt x="0" y="0"/>
                </a:lnTo>
                <a:lnTo>
                  <a:pt x="0" y="9525"/>
                </a:lnTo>
                <a:lnTo>
                  <a:pt x="5848350" y="9525"/>
                </a:lnTo>
                <a:lnTo>
                  <a:pt x="5848350" y="0"/>
                </a:lnTo>
                <a:close/>
              </a:path>
            </a:pathLst>
          </a:custGeom>
          <a:solidFill>
            <a:srgbClr val="BDBDBD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1323975" y="3304505"/>
            <a:ext cx="5848350" cy="438784"/>
            <a:chOff x="1323975" y="3304505"/>
            <a:chExt cx="5848350" cy="438784"/>
          </a:xfrm>
        </p:grpSpPr>
        <p:sp>
          <p:nvSpPr>
            <p:cNvPr id="5" name="object 5"/>
            <p:cNvSpPr/>
            <p:nvPr/>
          </p:nvSpPr>
          <p:spPr>
            <a:xfrm>
              <a:off x="1323975" y="3304505"/>
              <a:ext cx="5848350" cy="438150"/>
            </a:xfrm>
            <a:custGeom>
              <a:avLst/>
              <a:gdLst/>
              <a:ahLst/>
              <a:cxnLst/>
              <a:rect l="l" t="t" r="r" b="b"/>
              <a:pathLst>
                <a:path w="5848350" h="438150">
                  <a:moveTo>
                    <a:pt x="5848350" y="0"/>
                  </a:moveTo>
                  <a:lnTo>
                    <a:pt x="0" y="0"/>
                  </a:lnTo>
                  <a:lnTo>
                    <a:pt x="0" y="438152"/>
                  </a:lnTo>
                  <a:lnTo>
                    <a:pt x="5848350" y="438152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F5F5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323975" y="3304539"/>
              <a:ext cx="5848350" cy="438150"/>
            </a:xfrm>
            <a:custGeom>
              <a:avLst/>
              <a:gdLst/>
              <a:ahLst/>
              <a:cxnLst/>
              <a:rect l="l" t="t" r="r" b="b"/>
              <a:pathLst>
                <a:path w="5848350" h="438150">
                  <a:moveTo>
                    <a:pt x="5848350" y="9499"/>
                  </a:moveTo>
                  <a:lnTo>
                    <a:pt x="5838825" y="9499"/>
                  </a:lnTo>
                  <a:lnTo>
                    <a:pt x="5838825" y="428599"/>
                  </a:lnTo>
                  <a:lnTo>
                    <a:pt x="0" y="428599"/>
                  </a:lnTo>
                  <a:lnTo>
                    <a:pt x="0" y="438150"/>
                  </a:lnTo>
                  <a:lnTo>
                    <a:pt x="5848350" y="438150"/>
                  </a:lnTo>
                  <a:lnTo>
                    <a:pt x="5848350" y="428599"/>
                  </a:lnTo>
                  <a:lnTo>
                    <a:pt x="5848350" y="9499"/>
                  </a:lnTo>
                  <a:close/>
                </a:path>
                <a:path w="5848350" h="438150">
                  <a:moveTo>
                    <a:pt x="5848350" y="0"/>
                  </a:moveTo>
                  <a:lnTo>
                    <a:pt x="0" y="0"/>
                  </a:lnTo>
                  <a:lnTo>
                    <a:pt x="0" y="8890"/>
                  </a:lnTo>
                  <a:lnTo>
                    <a:pt x="0" y="427990"/>
                  </a:lnTo>
                  <a:lnTo>
                    <a:pt x="9525" y="427990"/>
                  </a:lnTo>
                  <a:lnTo>
                    <a:pt x="9525" y="8890"/>
                  </a:lnTo>
                  <a:lnTo>
                    <a:pt x="5848350" y="8890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625475" y="3852196"/>
          <a:ext cx="6623050" cy="12846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90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51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58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Out[177…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booking_id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booking_date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65" dirty="0">
                          <a:latin typeface="Trebuchet MS"/>
                          <a:cs typeface="Trebuchet MS"/>
                        </a:rPr>
                        <a:t>check_in_date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ts val="1095"/>
                        </a:lnSpc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checkout_date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0</a:t>
                      </a:r>
                      <a:r>
                        <a:rPr sz="950" b="1" spc="20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27-04-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85" dirty="0">
                          <a:latin typeface="Trebuchet MS"/>
                          <a:cs typeface="Trebuchet MS"/>
                        </a:rPr>
                        <a:t>2022-05-</a:t>
                      </a:r>
                      <a:r>
                        <a:rPr sz="950" spc="70" dirty="0">
                          <a:latin typeface="Trebuchet MS"/>
                          <a:cs typeface="Trebuchet MS"/>
                        </a:rPr>
                        <a:t>01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2/5/2022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950" b="1" spc="20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30-04-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5" dirty="0">
                          <a:latin typeface="Trebuchet MS"/>
                          <a:cs typeface="Trebuchet MS"/>
                        </a:rPr>
                        <a:t>2022-05-</a:t>
                      </a:r>
                      <a:r>
                        <a:rPr sz="950" spc="70" dirty="0">
                          <a:latin typeface="Trebuchet MS"/>
                          <a:cs typeface="Trebuchet MS"/>
                        </a:rPr>
                        <a:t>01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2/5/2022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2</a:t>
                      </a:r>
                      <a:r>
                        <a:rPr sz="950" b="1" spc="20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28-04-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5" dirty="0">
                          <a:latin typeface="Trebuchet MS"/>
                          <a:cs typeface="Trebuchet MS"/>
                        </a:rPr>
                        <a:t>2022-05-</a:t>
                      </a:r>
                      <a:r>
                        <a:rPr sz="950" spc="70" dirty="0">
                          <a:latin typeface="Trebuchet MS"/>
                          <a:cs typeface="Trebuchet MS"/>
                        </a:rPr>
                        <a:t>01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2/5/2022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3</a:t>
                      </a:r>
                      <a:r>
                        <a:rPr sz="950" b="1" spc="20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27-04-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5" dirty="0">
                          <a:latin typeface="Trebuchet MS"/>
                          <a:cs typeface="Trebuchet MS"/>
                        </a:rPr>
                        <a:t>2022-05-</a:t>
                      </a:r>
                      <a:r>
                        <a:rPr sz="950" spc="70" dirty="0">
                          <a:latin typeface="Trebuchet MS"/>
                          <a:cs typeface="Trebuchet MS"/>
                        </a:rPr>
                        <a:t>01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2/5/2022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8" name="object 8"/>
          <p:cNvGraphicFramePr>
            <a:graphicFrameLocks noGrp="1"/>
          </p:cNvGraphicFramePr>
          <p:nvPr/>
        </p:nvGraphicFramePr>
        <p:xfrm>
          <a:off x="1319212" y="5978468"/>
          <a:ext cx="5934075" cy="20129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090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51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7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823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82575"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85" dirty="0">
                          <a:latin typeface="Trebuchet MS"/>
                          <a:cs typeface="Trebuchet MS"/>
                        </a:rPr>
                        <a:t>booking_id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booking_date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95"/>
                        </a:lnSpc>
                      </a:pPr>
                      <a:r>
                        <a:rPr sz="950" b="1" spc="65" dirty="0">
                          <a:latin typeface="Trebuchet MS"/>
                          <a:cs typeface="Trebuchet MS"/>
                        </a:rPr>
                        <a:t>check_in_date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ts val="1095"/>
                        </a:lnSpc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checkout_date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6559"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45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0</a:t>
                      </a:r>
                      <a:r>
                        <a:rPr sz="950" b="1" spc="20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32715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45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32715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45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27-04-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32715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45"/>
                        </a:spcBef>
                      </a:pPr>
                      <a:r>
                        <a:rPr sz="950" spc="85" dirty="0">
                          <a:latin typeface="Trebuchet MS"/>
                          <a:cs typeface="Trebuchet MS"/>
                        </a:rPr>
                        <a:t>2022-05-</a:t>
                      </a:r>
                      <a:r>
                        <a:rPr sz="950" spc="70" dirty="0">
                          <a:latin typeface="Trebuchet MS"/>
                          <a:cs typeface="Trebuchet MS"/>
                        </a:rPr>
                        <a:t>01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32715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ct val="100000"/>
                        </a:lnSpc>
                        <a:spcBef>
                          <a:spcPts val="1045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2/5/2022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32715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1</a:t>
                      </a:r>
                      <a:r>
                        <a:rPr sz="950" b="1" spc="20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30-04-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spc="85" dirty="0">
                          <a:latin typeface="Trebuchet MS"/>
                          <a:cs typeface="Trebuchet MS"/>
                        </a:rPr>
                        <a:t>2022-05-</a:t>
                      </a:r>
                      <a:r>
                        <a:rPr sz="950" spc="70" dirty="0">
                          <a:latin typeface="Trebuchet MS"/>
                          <a:cs typeface="Trebuchet MS"/>
                        </a:rPr>
                        <a:t>01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2/5/2022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5635"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b="1" spc="110" dirty="0">
                          <a:latin typeface="Trebuchet MS"/>
                          <a:cs typeface="Trebuchet MS"/>
                        </a:rPr>
                        <a:t>2</a:t>
                      </a:r>
                      <a:r>
                        <a:rPr sz="950" b="1" spc="200" dirty="0">
                          <a:latin typeface="Trebuchet MS"/>
                          <a:cs typeface="Trebuchet MS"/>
                        </a:rPr>
                        <a:t>  </a:t>
                      </a:r>
                      <a:r>
                        <a:rPr sz="950" spc="90" dirty="0">
                          <a:latin typeface="Trebuchet MS"/>
                          <a:cs typeface="Trebuchet MS"/>
                        </a:rPr>
                        <a:t>May012216558RT14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28-04-</a:t>
                      </a:r>
                      <a:r>
                        <a:rPr sz="950" spc="65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spc="85" dirty="0">
                          <a:latin typeface="Trebuchet MS"/>
                          <a:cs typeface="Trebuchet MS"/>
                        </a:rPr>
                        <a:t>2022-05-</a:t>
                      </a:r>
                      <a:r>
                        <a:rPr sz="950" spc="70" dirty="0">
                          <a:latin typeface="Trebuchet MS"/>
                          <a:cs typeface="Trebuchet MS"/>
                        </a:rPr>
                        <a:t>01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/>
                </a:tc>
                <a:tc>
                  <a:txBody>
                    <a:bodyPr/>
                    <a:lstStyle/>
                    <a:p>
                      <a:pPr marR="80645" algn="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950" spc="-10" dirty="0">
                          <a:latin typeface="Trebuchet MS"/>
                          <a:cs typeface="Trebuchet MS"/>
                        </a:rPr>
                        <a:t>2/5/2022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12827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 gridSpan="5">
                  <a:txBody>
                    <a:bodyPr/>
                    <a:lstStyle/>
                    <a:p>
                      <a:pPr marL="47625">
                        <a:lnSpc>
                          <a:spcPct val="100000"/>
                        </a:lnSpc>
                        <a:spcBef>
                          <a:spcPts val="439"/>
                        </a:spcBef>
                      </a:pPr>
                      <a:r>
                        <a:rPr sz="950" dirty="0">
                          <a:solidFill>
                            <a:srgbClr val="202020"/>
                          </a:solidFill>
                          <a:latin typeface="Courier New"/>
                          <a:cs typeface="Courier New"/>
                        </a:rPr>
                        <a:t>df_bookings_all</a:t>
                      </a:r>
                      <a:r>
                        <a:rPr sz="950" b="1" dirty="0">
                          <a:solidFill>
                            <a:srgbClr val="AA22FF"/>
                          </a:solidFill>
                          <a:latin typeface="Courier New"/>
                          <a:cs typeface="Courier New"/>
                        </a:rPr>
                        <a:t>.</a:t>
                      </a:r>
                      <a:r>
                        <a:rPr sz="950" dirty="0">
                          <a:solidFill>
                            <a:srgbClr val="202020"/>
                          </a:solidFill>
                          <a:latin typeface="Courier New"/>
                          <a:cs typeface="Courier New"/>
                        </a:rPr>
                        <a:t>groupby</a:t>
                      </a:r>
                      <a:r>
                        <a:rPr sz="950" dirty="0">
                          <a:solidFill>
                            <a:srgbClr val="0055AA"/>
                          </a:solidFill>
                          <a:latin typeface="Courier New"/>
                          <a:cs typeface="Courier New"/>
                        </a:rPr>
                        <a:t>(</a:t>
                      </a:r>
                      <a:r>
                        <a:rPr sz="950" dirty="0">
                          <a:solidFill>
                            <a:srgbClr val="BA2121"/>
                          </a:solidFill>
                          <a:latin typeface="Courier New"/>
                          <a:cs typeface="Courier New"/>
                        </a:rPr>
                        <a:t>"mmm</a:t>
                      </a:r>
                      <a:r>
                        <a:rPr sz="950" spc="335" dirty="0">
                          <a:solidFill>
                            <a:srgbClr val="BA2121"/>
                          </a:solidFill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950" spc="-10" dirty="0">
                          <a:solidFill>
                            <a:srgbClr val="BA2121"/>
                          </a:solidFill>
                          <a:latin typeface="Courier New"/>
                          <a:cs typeface="Courier New"/>
                        </a:rPr>
                        <a:t>yy"</a:t>
                      </a:r>
                      <a:r>
                        <a:rPr sz="950" spc="-10" dirty="0">
                          <a:solidFill>
                            <a:srgbClr val="0055AA"/>
                          </a:solidFill>
                          <a:latin typeface="Courier New"/>
                          <a:cs typeface="Courier New"/>
                        </a:rPr>
                        <a:t>)[</a:t>
                      </a:r>
                      <a:r>
                        <a:rPr sz="950" spc="-10" dirty="0">
                          <a:solidFill>
                            <a:srgbClr val="BA2121"/>
                          </a:solidFill>
                          <a:latin typeface="Courier New"/>
                          <a:cs typeface="Courier New"/>
                        </a:rPr>
                        <a:t>"revenue_realized"</a:t>
                      </a:r>
                      <a:r>
                        <a:rPr sz="950" spc="-10" dirty="0">
                          <a:solidFill>
                            <a:srgbClr val="0055AA"/>
                          </a:solidFill>
                          <a:latin typeface="Courier New"/>
                          <a:cs typeface="Courier New"/>
                        </a:rPr>
                        <a:t>]</a:t>
                      </a:r>
                      <a:r>
                        <a:rPr sz="950" b="1" spc="-10" dirty="0">
                          <a:solidFill>
                            <a:srgbClr val="AA22FF"/>
                          </a:solidFill>
                          <a:latin typeface="Courier New"/>
                          <a:cs typeface="Courier New"/>
                        </a:rPr>
                        <a:t>.</a:t>
                      </a:r>
                      <a:r>
                        <a:rPr sz="950" spc="-10" dirty="0">
                          <a:solidFill>
                            <a:srgbClr val="202020"/>
                          </a:solidFill>
                          <a:latin typeface="Courier New"/>
                          <a:cs typeface="Courier New"/>
                        </a:rPr>
                        <a:t>sum</a:t>
                      </a:r>
                      <a:r>
                        <a:rPr sz="950" spc="-10" dirty="0">
                          <a:solidFill>
                            <a:srgbClr val="0055AA"/>
                          </a:solidFill>
                          <a:latin typeface="Courier New"/>
                          <a:cs typeface="Courier New"/>
                        </a:rPr>
                        <a:t>()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55879" marB="0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object 9"/>
          <p:cNvSpPr txBox="1"/>
          <p:nvPr/>
        </p:nvSpPr>
        <p:spPr>
          <a:xfrm>
            <a:off x="1328737" y="2488564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df_bookings_all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df_bookings_all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"check_in_date"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isna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()]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497012" y="2848265"/>
            <a:ext cx="568515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spc="95" dirty="0">
                <a:latin typeface="Trebuchet MS"/>
                <a:cs typeface="Trebuchet MS"/>
              </a:rPr>
              <a:t>booking_id</a:t>
            </a:r>
            <a:r>
              <a:rPr sz="950" b="1" spc="215" dirty="0">
                <a:latin typeface="Trebuchet MS"/>
                <a:cs typeface="Trebuchet MS"/>
              </a:rPr>
              <a:t>  </a:t>
            </a:r>
            <a:r>
              <a:rPr sz="950" b="1" spc="85" dirty="0">
                <a:latin typeface="Trebuchet MS"/>
                <a:cs typeface="Trebuchet MS"/>
              </a:rPr>
              <a:t>property_id</a:t>
            </a:r>
            <a:r>
              <a:rPr sz="950" b="1" spc="215" dirty="0">
                <a:latin typeface="Trebuchet MS"/>
                <a:cs typeface="Trebuchet MS"/>
              </a:rPr>
              <a:t>  </a:t>
            </a:r>
            <a:r>
              <a:rPr sz="950" b="1" spc="105" dirty="0">
                <a:latin typeface="Trebuchet MS"/>
                <a:cs typeface="Trebuchet MS"/>
              </a:rPr>
              <a:t>booking_date</a:t>
            </a:r>
            <a:r>
              <a:rPr sz="950" b="1" spc="210" dirty="0">
                <a:latin typeface="Trebuchet MS"/>
                <a:cs typeface="Trebuchet MS"/>
              </a:rPr>
              <a:t>  </a:t>
            </a:r>
            <a:r>
              <a:rPr sz="950" b="1" spc="75" dirty="0">
                <a:latin typeface="Trebuchet MS"/>
                <a:cs typeface="Trebuchet MS"/>
              </a:rPr>
              <a:t>check_in_date</a:t>
            </a:r>
            <a:r>
              <a:rPr sz="950" b="1" spc="215" dirty="0">
                <a:latin typeface="Trebuchet MS"/>
                <a:cs typeface="Trebuchet MS"/>
              </a:rPr>
              <a:t>  </a:t>
            </a:r>
            <a:r>
              <a:rPr sz="950" b="1" spc="90" dirty="0">
                <a:latin typeface="Trebuchet MS"/>
                <a:cs typeface="Trebuchet MS"/>
              </a:rPr>
              <a:t>checkout_date</a:t>
            </a:r>
            <a:r>
              <a:rPr sz="950" b="1" spc="215" dirty="0">
                <a:latin typeface="Trebuchet MS"/>
                <a:cs typeface="Trebuchet MS"/>
              </a:rPr>
              <a:t>  </a:t>
            </a:r>
            <a:r>
              <a:rPr sz="950" b="1" spc="100" dirty="0">
                <a:latin typeface="Trebuchet MS"/>
                <a:cs typeface="Trebuchet MS"/>
              </a:rPr>
              <a:t>no_gues</a:t>
            </a:r>
            <a:endParaRPr sz="950">
              <a:latin typeface="Trebuchet MS"/>
              <a:cs typeface="Trebuchet MS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358900" y="3348960"/>
            <a:ext cx="584073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df_bookings_all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"check_in_date"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spc="200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204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pd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to_datetime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df_bookings_all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"check_in_da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358900" y="3510887"/>
            <a:ext cx="1740535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df_bookings_all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head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008800"/>
                </a:solidFill>
                <a:latin typeface="Courier New"/>
                <a:cs typeface="Courier New"/>
              </a:rPr>
              <a:t>4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328737" y="5363209"/>
            <a:ext cx="5838825" cy="42862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38735" rIns="0" bIns="0" rtlCol="0">
            <a:spAutoFit/>
          </a:bodyPr>
          <a:lstStyle/>
          <a:p>
            <a:pPr marL="42545" marR="47625">
              <a:lnSpc>
                <a:spcPct val="111800"/>
              </a:lnSpc>
              <a:spcBef>
                <a:spcPts val="305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df_bookings_all</a:t>
            </a:r>
            <a:r>
              <a:rPr sz="950" spc="155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155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pd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merge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df_bookings_all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,</a:t>
            </a:r>
            <a:r>
              <a:rPr sz="950" spc="155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df_date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,</a:t>
            </a:r>
            <a:r>
              <a:rPr sz="950" spc="155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left_on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"check_in_date"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,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df_bookings_all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head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008800"/>
                </a:solidFill>
                <a:latin typeface="Courier New"/>
                <a:cs typeface="Courier New"/>
              </a:rPr>
              <a:t>3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358900" y="8076474"/>
            <a:ext cx="473075" cy="6731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800"/>
              </a:lnSpc>
              <a:spcBef>
                <a:spcPts val="95"/>
              </a:spcBef>
            </a:pPr>
            <a:r>
              <a:rPr sz="950" dirty="0">
                <a:latin typeface="Courier New"/>
                <a:cs typeface="Courier New"/>
              </a:rPr>
              <a:t>mmm</a:t>
            </a:r>
            <a:r>
              <a:rPr sz="950" spc="45" dirty="0">
                <a:latin typeface="Courier New"/>
                <a:cs typeface="Courier New"/>
              </a:rPr>
              <a:t> </a:t>
            </a:r>
            <a:r>
              <a:rPr sz="950" spc="-35" dirty="0">
                <a:latin typeface="Courier New"/>
                <a:cs typeface="Courier New"/>
              </a:rPr>
              <a:t>yy </a:t>
            </a:r>
            <a:r>
              <a:rPr sz="950" dirty="0">
                <a:latin typeface="Courier New"/>
                <a:cs typeface="Courier New"/>
              </a:rPr>
              <a:t>Jul</a:t>
            </a:r>
            <a:r>
              <a:rPr sz="950" spc="45" dirty="0">
                <a:latin typeface="Courier New"/>
                <a:cs typeface="Courier New"/>
              </a:rPr>
              <a:t> </a:t>
            </a:r>
            <a:r>
              <a:rPr sz="950" spc="-35" dirty="0">
                <a:latin typeface="Courier New"/>
                <a:cs typeface="Courier New"/>
              </a:rPr>
              <a:t>22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dirty="0">
                <a:latin typeface="Courier New"/>
                <a:cs typeface="Courier New"/>
              </a:rPr>
              <a:t>Jun</a:t>
            </a:r>
            <a:r>
              <a:rPr sz="950" spc="45" dirty="0">
                <a:latin typeface="Courier New"/>
                <a:cs typeface="Courier New"/>
              </a:rPr>
              <a:t> </a:t>
            </a:r>
            <a:r>
              <a:rPr sz="950" spc="-35" dirty="0">
                <a:latin typeface="Courier New"/>
                <a:cs typeface="Courier New"/>
              </a:rPr>
              <a:t>22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dirty="0">
                <a:latin typeface="Courier New"/>
                <a:cs typeface="Courier New"/>
              </a:rPr>
              <a:t>May</a:t>
            </a:r>
            <a:r>
              <a:rPr sz="950" spc="45" dirty="0">
                <a:latin typeface="Courier New"/>
                <a:cs typeface="Courier New"/>
              </a:rPr>
              <a:t> </a:t>
            </a:r>
            <a:r>
              <a:rPr sz="950" spc="-35" dirty="0">
                <a:latin typeface="Courier New"/>
                <a:cs typeface="Courier New"/>
              </a:rPr>
              <a:t>22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104326" y="8238401"/>
            <a:ext cx="696595" cy="511175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950" spc="-10" dirty="0">
                <a:latin typeface="Courier New"/>
                <a:cs typeface="Courier New"/>
              </a:rPr>
              <a:t>572895608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553932355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581875986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358900" y="8737514"/>
            <a:ext cx="2814955" cy="46228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latin typeface="Courier New"/>
                <a:cs typeface="Courier New"/>
              </a:rPr>
              <a:t>Name:</a:t>
            </a:r>
            <a:r>
              <a:rPr sz="950" spc="12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revenue_realized,</a:t>
            </a:r>
            <a:r>
              <a:rPr sz="950" spc="12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dtype:</a:t>
            </a:r>
            <a:r>
              <a:rPr sz="950" spc="125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int64</a:t>
            </a: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010"/>
              </a:spcBef>
            </a:pPr>
            <a:r>
              <a:rPr sz="1050" b="1" spc="95" dirty="0">
                <a:latin typeface="Trebuchet MS"/>
                <a:cs typeface="Trebuchet MS"/>
              </a:rPr>
              <a:t>Print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105" dirty="0">
                <a:latin typeface="Trebuchet MS"/>
                <a:cs typeface="Trebuchet MS"/>
              </a:rPr>
              <a:t>revenue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85" dirty="0">
                <a:latin typeface="Trebuchet MS"/>
                <a:cs typeface="Trebuchet MS"/>
              </a:rPr>
              <a:t>realized</a:t>
            </a:r>
            <a:r>
              <a:rPr sz="1050" b="1" spc="65" dirty="0">
                <a:latin typeface="Trebuchet MS"/>
                <a:cs typeface="Trebuchet MS"/>
              </a:rPr>
              <a:t> </a:t>
            </a:r>
            <a:r>
              <a:rPr sz="1050" b="1" spc="100" dirty="0">
                <a:latin typeface="Trebuchet MS"/>
                <a:cs typeface="Trebuchet MS"/>
              </a:rPr>
              <a:t>per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90" dirty="0">
                <a:latin typeface="Trebuchet MS"/>
                <a:cs typeface="Trebuchet MS"/>
              </a:rPr>
              <a:t>hotel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85" dirty="0">
                <a:latin typeface="Trebuchet MS"/>
                <a:cs typeface="Trebuchet MS"/>
              </a:rPr>
              <a:t>type</a:t>
            </a:r>
            <a:endParaRPr sz="1050">
              <a:latin typeface="Trebuchet MS"/>
              <a:cs typeface="Trebuchet MS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44525" y="2528545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[176…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44525" y="2852395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Out[176…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44525" y="3348960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[177…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44525" y="5403162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[178…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44525" y="5888940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Out[178…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44525" y="7765960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[179…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44525" y="8089810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spc="-10" dirty="0">
                <a:solidFill>
                  <a:srgbClr val="616161"/>
                </a:solidFill>
                <a:latin typeface="Courier New"/>
                <a:cs typeface="Courier New"/>
              </a:rPr>
              <a:t>Out[179…</a:t>
            </a:r>
            <a:endParaRPr sz="9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323975" y="600075"/>
            <a:ext cx="5848350" cy="276225"/>
            <a:chOff x="1323975" y="600075"/>
            <a:chExt cx="5848350" cy="276225"/>
          </a:xfrm>
        </p:grpSpPr>
        <p:sp>
          <p:nvSpPr>
            <p:cNvPr id="3" name="object 3"/>
            <p:cNvSpPr/>
            <p:nvPr/>
          </p:nvSpPr>
          <p:spPr>
            <a:xfrm>
              <a:off x="1323975" y="600075"/>
              <a:ext cx="5848350" cy="276225"/>
            </a:xfrm>
            <a:custGeom>
              <a:avLst/>
              <a:gdLst/>
              <a:ahLst/>
              <a:cxnLst/>
              <a:rect l="l" t="t" r="r" b="b"/>
              <a:pathLst>
                <a:path w="5848350" h="276225">
                  <a:moveTo>
                    <a:pt x="5848350" y="0"/>
                  </a:moveTo>
                  <a:lnTo>
                    <a:pt x="0" y="0"/>
                  </a:lnTo>
                  <a:lnTo>
                    <a:pt x="0" y="276226"/>
                  </a:lnTo>
                  <a:lnTo>
                    <a:pt x="5848350" y="276226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F5F5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323975" y="600709"/>
              <a:ext cx="5848350" cy="275590"/>
            </a:xfrm>
            <a:custGeom>
              <a:avLst/>
              <a:gdLst/>
              <a:ahLst/>
              <a:cxnLst/>
              <a:rect l="l" t="t" r="r" b="b"/>
              <a:pathLst>
                <a:path w="5848350" h="275590">
                  <a:moveTo>
                    <a:pt x="5848350" y="0"/>
                  </a:moveTo>
                  <a:lnTo>
                    <a:pt x="0" y="0"/>
                  </a:lnTo>
                  <a:lnTo>
                    <a:pt x="0" y="8890"/>
                  </a:lnTo>
                  <a:lnTo>
                    <a:pt x="0" y="266700"/>
                  </a:lnTo>
                  <a:lnTo>
                    <a:pt x="0" y="275590"/>
                  </a:lnTo>
                  <a:lnTo>
                    <a:pt x="5848350" y="275590"/>
                  </a:lnTo>
                  <a:lnTo>
                    <a:pt x="5848350" y="266700"/>
                  </a:lnTo>
                  <a:lnTo>
                    <a:pt x="9525" y="266700"/>
                  </a:lnTo>
                  <a:lnTo>
                    <a:pt x="9525" y="8890"/>
                  </a:lnTo>
                  <a:lnTo>
                    <a:pt x="5838825" y="8890"/>
                  </a:lnTo>
                  <a:lnTo>
                    <a:pt x="5838825" y="266077"/>
                  </a:lnTo>
                  <a:lnTo>
                    <a:pt x="5848350" y="266077"/>
                  </a:lnTo>
                  <a:lnTo>
                    <a:pt x="5848350" y="8890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625475" y="985837"/>
          <a:ext cx="3460750" cy="12846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2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Out[180…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room_category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880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revenue_realized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309567375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560246004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462137784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40" dirty="0">
                          <a:latin typeface="Trebuchet MS"/>
                          <a:cs typeface="Trebuchet MS"/>
                        </a:rPr>
                        <a:t>RT4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376752786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6" name="object 6"/>
          <p:cNvGrpSpPr/>
          <p:nvPr/>
        </p:nvGrpSpPr>
        <p:grpSpPr>
          <a:xfrm>
            <a:off x="1323975" y="2867635"/>
            <a:ext cx="5848350" cy="276225"/>
            <a:chOff x="1323975" y="2867635"/>
            <a:chExt cx="5848350" cy="276225"/>
          </a:xfrm>
        </p:grpSpPr>
        <p:sp>
          <p:nvSpPr>
            <p:cNvPr id="7" name="object 7"/>
            <p:cNvSpPr/>
            <p:nvPr/>
          </p:nvSpPr>
          <p:spPr>
            <a:xfrm>
              <a:off x="1323975" y="2867635"/>
              <a:ext cx="5848350" cy="276225"/>
            </a:xfrm>
            <a:custGeom>
              <a:avLst/>
              <a:gdLst/>
              <a:ahLst/>
              <a:cxnLst/>
              <a:rect l="l" t="t" r="r" b="b"/>
              <a:pathLst>
                <a:path w="5848350" h="276225">
                  <a:moveTo>
                    <a:pt x="5848350" y="0"/>
                  </a:moveTo>
                  <a:lnTo>
                    <a:pt x="0" y="0"/>
                  </a:lnTo>
                  <a:lnTo>
                    <a:pt x="0" y="276226"/>
                  </a:lnTo>
                  <a:lnTo>
                    <a:pt x="5848350" y="276226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F5F5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323975" y="2867659"/>
              <a:ext cx="5848350" cy="275590"/>
            </a:xfrm>
            <a:custGeom>
              <a:avLst/>
              <a:gdLst/>
              <a:ahLst/>
              <a:cxnLst/>
              <a:rect l="l" t="t" r="r" b="b"/>
              <a:pathLst>
                <a:path w="5848350" h="275589">
                  <a:moveTo>
                    <a:pt x="5848350" y="9512"/>
                  </a:moveTo>
                  <a:lnTo>
                    <a:pt x="5838825" y="9512"/>
                  </a:lnTo>
                  <a:lnTo>
                    <a:pt x="5838825" y="266687"/>
                  </a:lnTo>
                  <a:lnTo>
                    <a:pt x="5848350" y="266687"/>
                  </a:lnTo>
                  <a:lnTo>
                    <a:pt x="5848350" y="9512"/>
                  </a:lnTo>
                  <a:close/>
                </a:path>
                <a:path w="5848350" h="275589">
                  <a:moveTo>
                    <a:pt x="5848350" y="0"/>
                  </a:moveTo>
                  <a:lnTo>
                    <a:pt x="0" y="0"/>
                  </a:lnTo>
                  <a:lnTo>
                    <a:pt x="0" y="8890"/>
                  </a:lnTo>
                  <a:lnTo>
                    <a:pt x="0" y="266700"/>
                  </a:lnTo>
                  <a:lnTo>
                    <a:pt x="0" y="275590"/>
                  </a:lnTo>
                  <a:lnTo>
                    <a:pt x="5848350" y="275590"/>
                  </a:lnTo>
                  <a:lnTo>
                    <a:pt x="5848350" y="266700"/>
                  </a:lnTo>
                  <a:lnTo>
                    <a:pt x="9525" y="266700"/>
                  </a:lnTo>
                  <a:lnTo>
                    <a:pt x="9525" y="8890"/>
                  </a:lnTo>
                  <a:lnTo>
                    <a:pt x="5848350" y="8890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358900" y="644530"/>
            <a:ext cx="584073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df_bookings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groupby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"room_category"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,</a:t>
            </a:r>
            <a:r>
              <a:rPr sz="950" spc="425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as_index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-10" dirty="0">
                <a:solidFill>
                  <a:srgbClr val="008000"/>
                </a:solidFill>
                <a:latin typeface="Courier New"/>
                <a:cs typeface="Courier New"/>
              </a:rPr>
              <a:t>False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"revenue_realized"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sum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358900" y="2499145"/>
            <a:ext cx="2171065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b="1" spc="95" dirty="0">
                <a:latin typeface="Trebuchet MS"/>
                <a:cs typeface="Trebuchet MS"/>
              </a:rPr>
              <a:t>Print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125" dirty="0">
                <a:latin typeface="Trebuchet MS"/>
                <a:cs typeface="Trebuchet MS"/>
              </a:rPr>
              <a:t>average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110" dirty="0">
                <a:latin typeface="Trebuchet MS"/>
                <a:cs typeface="Trebuchet MS"/>
              </a:rPr>
              <a:t>rating</a:t>
            </a:r>
            <a:r>
              <a:rPr sz="1050" b="1" spc="65" dirty="0">
                <a:latin typeface="Trebuchet MS"/>
                <a:cs typeface="Trebuchet MS"/>
              </a:rPr>
              <a:t> </a:t>
            </a:r>
            <a:r>
              <a:rPr sz="1050" b="1" spc="100" dirty="0">
                <a:latin typeface="Trebuchet MS"/>
                <a:cs typeface="Trebuchet MS"/>
              </a:rPr>
              <a:t>per</a:t>
            </a:r>
            <a:r>
              <a:rPr sz="1050" b="1" spc="55" dirty="0">
                <a:latin typeface="Trebuchet MS"/>
                <a:cs typeface="Trebuchet MS"/>
              </a:rPr>
              <a:t> city</a:t>
            </a:r>
            <a:endParaRPr sz="1050">
              <a:latin typeface="Trebuchet MS"/>
              <a:cs typeface="Trebuchet MS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358900" y="2912091"/>
            <a:ext cx="584073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df_agg_bookings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groupby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"property_id"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,</a:t>
            </a:r>
            <a:r>
              <a:rPr sz="950" spc="450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as_index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-10" dirty="0">
                <a:solidFill>
                  <a:srgbClr val="008000"/>
                </a:solidFill>
                <a:latin typeface="Courier New"/>
                <a:cs typeface="Courier New"/>
              </a:rPr>
              <a:t>False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"successful_bookings"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44525" y="644530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[180…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44525" y="2912091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[181…</a:t>
            </a:r>
            <a:endParaRPr sz="9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625475" y="709612"/>
          <a:ext cx="3540760" cy="68370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5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51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44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Out[181…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75" dirty="0">
                          <a:latin typeface="Trebuchet MS"/>
                          <a:cs typeface="Trebuchet MS"/>
                        </a:rPr>
                        <a:t>property_id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95" dirty="0">
                          <a:latin typeface="Trebuchet MS"/>
                          <a:cs typeface="Trebuchet MS"/>
                        </a:rPr>
                        <a:t>successful_bookings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3153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7338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16560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4693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16561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4418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16562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4820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16563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7211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6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17558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5053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7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17559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6142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17560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6013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17561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5183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10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17562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3424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11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17563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6337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12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17564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3982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13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18558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4475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14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18559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5256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15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18560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6638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16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18561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6458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17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18562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7333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18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18563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4737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19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19558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4400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20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19559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4729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21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19560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6079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22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19561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5736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23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19562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5812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b="1" spc="80" dirty="0">
                          <a:latin typeface="Trebuchet MS"/>
                          <a:cs typeface="Trebuchet MS"/>
                        </a:rPr>
                        <a:t>24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105" dirty="0">
                          <a:latin typeface="Trebuchet MS"/>
                          <a:cs typeface="Trebuchet MS"/>
                        </a:rPr>
                        <a:t>19563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ts val="1080"/>
                        </a:lnSpc>
                        <a:spcBef>
                          <a:spcPts val="440"/>
                        </a:spcBef>
                      </a:pPr>
                      <a:r>
                        <a:rPr sz="950" spc="95" dirty="0">
                          <a:latin typeface="Trebuchet MS"/>
                          <a:cs typeface="Trebuchet MS"/>
                        </a:rPr>
                        <a:t>5413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grpSp>
        <p:nvGrpSpPr>
          <p:cNvPr id="3" name="object 3"/>
          <p:cNvGrpSpPr/>
          <p:nvPr/>
        </p:nvGrpSpPr>
        <p:grpSpPr>
          <a:xfrm>
            <a:off x="1323975" y="7843390"/>
            <a:ext cx="5848350" cy="276225"/>
            <a:chOff x="1323975" y="7843390"/>
            <a:chExt cx="5848350" cy="276225"/>
          </a:xfrm>
        </p:grpSpPr>
        <p:sp>
          <p:nvSpPr>
            <p:cNvPr id="4" name="object 4"/>
            <p:cNvSpPr/>
            <p:nvPr/>
          </p:nvSpPr>
          <p:spPr>
            <a:xfrm>
              <a:off x="1323975" y="7843390"/>
              <a:ext cx="5848350" cy="276225"/>
            </a:xfrm>
            <a:custGeom>
              <a:avLst/>
              <a:gdLst/>
              <a:ahLst/>
              <a:cxnLst/>
              <a:rect l="l" t="t" r="r" b="b"/>
              <a:pathLst>
                <a:path w="5848350" h="276225">
                  <a:moveTo>
                    <a:pt x="5848350" y="0"/>
                  </a:moveTo>
                  <a:lnTo>
                    <a:pt x="0" y="0"/>
                  </a:lnTo>
                  <a:lnTo>
                    <a:pt x="0" y="276226"/>
                  </a:lnTo>
                  <a:lnTo>
                    <a:pt x="5848350" y="276226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F5F5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323975" y="7843519"/>
              <a:ext cx="5848350" cy="275590"/>
            </a:xfrm>
            <a:custGeom>
              <a:avLst/>
              <a:gdLst/>
              <a:ahLst/>
              <a:cxnLst/>
              <a:rect l="l" t="t" r="r" b="b"/>
              <a:pathLst>
                <a:path w="5848350" h="275590">
                  <a:moveTo>
                    <a:pt x="5848350" y="9398"/>
                  </a:moveTo>
                  <a:lnTo>
                    <a:pt x="5838825" y="9398"/>
                  </a:lnTo>
                  <a:lnTo>
                    <a:pt x="5838825" y="266573"/>
                  </a:lnTo>
                  <a:lnTo>
                    <a:pt x="5848350" y="266573"/>
                  </a:lnTo>
                  <a:lnTo>
                    <a:pt x="5848350" y="9398"/>
                  </a:lnTo>
                  <a:close/>
                </a:path>
                <a:path w="5848350" h="275590">
                  <a:moveTo>
                    <a:pt x="5848350" y="0"/>
                  </a:moveTo>
                  <a:lnTo>
                    <a:pt x="0" y="0"/>
                  </a:lnTo>
                  <a:lnTo>
                    <a:pt x="0" y="8890"/>
                  </a:lnTo>
                  <a:lnTo>
                    <a:pt x="0" y="266700"/>
                  </a:lnTo>
                  <a:lnTo>
                    <a:pt x="0" y="275590"/>
                  </a:lnTo>
                  <a:lnTo>
                    <a:pt x="5848350" y="275590"/>
                  </a:lnTo>
                  <a:lnTo>
                    <a:pt x="5848350" y="266700"/>
                  </a:lnTo>
                  <a:lnTo>
                    <a:pt x="9525" y="266700"/>
                  </a:lnTo>
                  <a:lnTo>
                    <a:pt x="9525" y="8890"/>
                  </a:lnTo>
                  <a:lnTo>
                    <a:pt x="5848350" y="8890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358900" y="7887845"/>
            <a:ext cx="584073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df_bookings_all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groupby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"city"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,</a:t>
            </a:r>
            <a:r>
              <a:rPr sz="950" spc="395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as_index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-10" dirty="0">
                <a:solidFill>
                  <a:srgbClr val="008000"/>
                </a:solidFill>
                <a:latin typeface="Courier New"/>
                <a:cs typeface="Courier New"/>
              </a:rPr>
              <a:t>False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"ratings_given"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mean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round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44525" y="7887845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[182…</a:t>
            </a:r>
            <a:endParaRPr sz="9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625475" y="709612"/>
          <a:ext cx="2856230" cy="12846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51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0185">
                <a:tc>
                  <a:txBody>
                    <a:bodyPr/>
                    <a:lstStyle/>
                    <a:p>
                      <a:pPr marL="31750">
                        <a:lnSpc>
                          <a:spcPts val="1130"/>
                        </a:lnSpc>
                      </a:pPr>
                      <a:r>
                        <a:rPr sz="950" spc="-10" dirty="0">
                          <a:solidFill>
                            <a:srgbClr val="616161"/>
                          </a:solidFill>
                          <a:latin typeface="Courier New"/>
                          <a:cs typeface="Courier New"/>
                        </a:rPr>
                        <a:t>Out[182…</a:t>
                      </a:r>
                      <a:endParaRPr sz="95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ts val="1095"/>
                        </a:lnSpc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city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5244" algn="r">
                        <a:lnSpc>
                          <a:spcPts val="1095"/>
                        </a:lnSpc>
                      </a:pPr>
                      <a:r>
                        <a:rPr sz="950" b="1" spc="90" dirty="0">
                          <a:latin typeface="Trebuchet MS"/>
                          <a:cs typeface="Trebuchet MS"/>
                        </a:rPr>
                        <a:t>ratings_given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0" marB="0">
                    <a:lnB w="9525">
                      <a:solidFill>
                        <a:srgbClr val="BDBDB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4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0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65" dirty="0">
                          <a:latin typeface="Trebuchet MS"/>
                          <a:cs typeface="Trebuchet MS"/>
                        </a:rPr>
                        <a:t>Bangalore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8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3.41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60960" marB="0">
                    <a:lnT w="9525">
                      <a:solidFill>
                        <a:srgbClr val="BDBDBD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1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Delhi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3.78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2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70" dirty="0">
                          <a:latin typeface="Trebuchet MS"/>
                          <a:cs typeface="Trebuchet MS"/>
                        </a:rPr>
                        <a:t>Hyderabad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3.66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b="1" spc="60" dirty="0">
                          <a:latin typeface="Trebuchet MS"/>
                          <a:cs typeface="Trebuchet MS"/>
                        </a:rPr>
                        <a:t>3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4610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80" dirty="0">
                          <a:latin typeface="Trebuchet MS"/>
                          <a:cs typeface="Trebuchet MS"/>
                        </a:rPr>
                        <a:t>Mumbai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R="53975" algn="r">
                        <a:lnSpc>
                          <a:spcPct val="100000"/>
                        </a:lnSpc>
                        <a:spcBef>
                          <a:spcPts val="440"/>
                        </a:spcBef>
                      </a:pPr>
                      <a:r>
                        <a:rPr sz="950" spc="50" dirty="0">
                          <a:latin typeface="Trebuchet MS"/>
                          <a:cs typeface="Trebuchet MS"/>
                        </a:rPr>
                        <a:t>3.65</a:t>
                      </a:r>
                      <a:endParaRPr sz="950">
                        <a:latin typeface="Trebuchet MS"/>
                        <a:cs typeface="Trebuchet MS"/>
                      </a:endParaRPr>
                    </a:p>
                  </a:txBody>
                  <a:tcPr marL="0" marR="0" marT="55880" marB="0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3" name="object 3"/>
          <p:cNvGrpSpPr/>
          <p:nvPr/>
        </p:nvGrpSpPr>
        <p:grpSpPr>
          <a:xfrm>
            <a:off x="1323975" y="5001247"/>
            <a:ext cx="5848350" cy="1734185"/>
            <a:chOff x="1323975" y="5001247"/>
            <a:chExt cx="5848350" cy="1734185"/>
          </a:xfrm>
        </p:grpSpPr>
        <p:sp>
          <p:nvSpPr>
            <p:cNvPr id="4" name="object 4"/>
            <p:cNvSpPr/>
            <p:nvPr/>
          </p:nvSpPr>
          <p:spPr>
            <a:xfrm>
              <a:off x="1323975" y="5001247"/>
              <a:ext cx="5848350" cy="1734185"/>
            </a:xfrm>
            <a:custGeom>
              <a:avLst/>
              <a:gdLst/>
              <a:ahLst/>
              <a:cxnLst/>
              <a:rect l="l" t="t" r="r" b="b"/>
              <a:pathLst>
                <a:path w="5848350" h="1734184">
                  <a:moveTo>
                    <a:pt x="5848350" y="0"/>
                  </a:moveTo>
                  <a:lnTo>
                    <a:pt x="0" y="0"/>
                  </a:lnTo>
                  <a:lnTo>
                    <a:pt x="0" y="1733558"/>
                  </a:lnTo>
                  <a:lnTo>
                    <a:pt x="5848350" y="1733558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F5F5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323975" y="5001259"/>
              <a:ext cx="5848350" cy="1733550"/>
            </a:xfrm>
            <a:custGeom>
              <a:avLst/>
              <a:gdLst/>
              <a:ahLst/>
              <a:cxnLst/>
              <a:rect l="l" t="t" r="r" b="b"/>
              <a:pathLst>
                <a:path w="5848350" h="1733550">
                  <a:moveTo>
                    <a:pt x="5848350" y="9512"/>
                  </a:moveTo>
                  <a:lnTo>
                    <a:pt x="5838825" y="9512"/>
                  </a:lnTo>
                  <a:lnTo>
                    <a:pt x="5838825" y="1724025"/>
                  </a:lnTo>
                  <a:lnTo>
                    <a:pt x="0" y="1724025"/>
                  </a:lnTo>
                  <a:lnTo>
                    <a:pt x="0" y="1733550"/>
                  </a:lnTo>
                  <a:lnTo>
                    <a:pt x="5848350" y="1733550"/>
                  </a:lnTo>
                  <a:lnTo>
                    <a:pt x="5848350" y="1724025"/>
                  </a:lnTo>
                  <a:lnTo>
                    <a:pt x="5848350" y="9512"/>
                  </a:lnTo>
                  <a:close/>
                </a:path>
                <a:path w="5848350" h="1733550">
                  <a:moveTo>
                    <a:pt x="5848350" y="0"/>
                  </a:moveTo>
                  <a:lnTo>
                    <a:pt x="0" y="0"/>
                  </a:lnTo>
                  <a:lnTo>
                    <a:pt x="0" y="8890"/>
                  </a:lnTo>
                  <a:lnTo>
                    <a:pt x="0" y="1723390"/>
                  </a:lnTo>
                  <a:lnTo>
                    <a:pt x="9525" y="1723390"/>
                  </a:lnTo>
                  <a:lnTo>
                    <a:pt x="9525" y="8890"/>
                  </a:lnTo>
                  <a:lnTo>
                    <a:pt x="5848350" y="8890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328737" y="2220595"/>
            <a:ext cx="5838825" cy="266700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55879" rIns="0" bIns="0" rtlCol="0">
            <a:spAutoFit/>
          </a:bodyPr>
          <a:lstStyle/>
          <a:p>
            <a:pPr marL="42545">
              <a:lnSpc>
                <a:spcPct val="100000"/>
              </a:lnSpc>
              <a:spcBef>
                <a:spcPts val="439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print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df_bookings_all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columns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244600" y="2513944"/>
            <a:ext cx="5467350" cy="1285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34035" marR="5080" indent="-521970">
              <a:lnSpc>
                <a:spcPct val="111800"/>
              </a:lnSpc>
              <a:spcBef>
                <a:spcPts val="95"/>
              </a:spcBef>
            </a:pPr>
            <a:r>
              <a:rPr sz="950" dirty="0">
                <a:latin typeface="Courier New"/>
                <a:cs typeface="Courier New"/>
              </a:rPr>
              <a:t>Index(['booking_id',</a:t>
            </a:r>
            <a:r>
              <a:rPr sz="950" spc="20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'property_id',</a:t>
            </a:r>
            <a:r>
              <a:rPr sz="950" spc="204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'booking_date',</a:t>
            </a:r>
            <a:r>
              <a:rPr sz="950" spc="200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'check_in_date', </a:t>
            </a:r>
            <a:r>
              <a:rPr sz="950" dirty="0">
                <a:latin typeface="Courier New"/>
                <a:cs typeface="Courier New"/>
              </a:rPr>
              <a:t>'checkout_date',</a:t>
            </a:r>
            <a:r>
              <a:rPr sz="950" spc="18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'no_guests',</a:t>
            </a:r>
            <a:r>
              <a:rPr sz="950" spc="18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'room_category',</a:t>
            </a:r>
            <a:r>
              <a:rPr sz="950" spc="185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'booking_platform', </a:t>
            </a:r>
            <a:r>
              <a:rPr sz="950" dirty="0">
                <a:latin typeface="Courier New"/>
                <a:cs typeface="Courier New"/>
              </a:rPr>
              <a:t>'ratings_given',</a:t>
            </a:r>
            <a:r>
              <a:rPr sz="950" spc="20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'booking_status',</a:t>
            </a:r>
            <a:r>
              <a:rPr sz="950" spc="204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'revenue_generated', </a:t>
            </a:r>
            <a:r>
              <a:rPr sz="950" dirty="0">
                <a:latin typeface="Courier New"/>
                <a:cs typeface="Courier New"/>
              </a:rPr>
              <a:t>'revenue_realized',</a:t>
            </a:r>
            <a:r>
              <a:rPr sz="950" spc="16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'property_name',</a:t>
            </a:r>
            <a:r>
              <a:rPr sz="950" spc="16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'category',</a:t>
            </a:r>
            <a:r>
              <a:rPr sz="950" spc="17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'city',</a:t>
            </a:r>
            <a:r>
              <a:rPr sz="950" spc="165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'date', </a:t>
            </a:r>
            <a:r>
              <a:rPr sz="950" dirty="0">
                <a:latin typeface="Courier New"/>
                <a:cs typeface="Courier New"/>
              </a:rPr>
              <a:t>'mmm</a:t>
            </a:r>
            <a:r>
              <a:rPr sz="950" spc="60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yy',</a:t>
            </a:r>
            <a:r>
              <a:rPr sz="950" spc="6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'week</a:t>
            </a:r>
            <a:r>
              <a:rPr sz="950" spc="65" dirty="0">
                <a:latin typeface="Courier New"/>
                <a:cs typeface="Courier New"/>
              </a:rPr>
              <a:t> </a:t>
            </a:r>
            <a:r>
              <a:rPr sz="950" dirty="0">
                <a:latin typeface="Courier New"/>
                <a:cs typeface="Courier New"/>
              </a:rPr>
              <a:t>no',</a:t>
            </a:r>
            <a:r>
              <a:rPr sz="950" spc="65" dirty="0">
                <a:latin typeface="Courier New"/>
                <a:cs typeface="Courier New"/>
              </a:rPr>
              <a:t> </a:t>
            </a:r>
            <a:r>
              <a:rPr sz="950" spc="-10" dirty="0">
                <a:latin typeface="Courier New"/>
                <a:cs typeface="Courier New"/>
              </a:rPr>
              <a:t>'day_type'],</a:t>
            </a:r>
            <a:endParaRPr sz="950">
              <a:latin typeface="Courier New"/>
              <a:cs typeface="Courier New"/>
            </a:endParaRPr>
          </a:p>
          <a:p>
            <a:pPr marL="459740">
              <a:lnSpc>
                <a:spcPct val="100000"/>
              </a:lnSpc>
              <a:spcBef>
                <a:spcPts val="135"/>
              </a:spcBef>
            </a:pPr>
            <a:r>
              <a:rPr sz="950" spc="-10" dirty="0">
                <a:latin typeface="Courier New"/>
                <a:cs typeface="Courier New"/>
              </a:rPr>
              <a:t>dtype='object')</a:t>
            </a:r>
            <a:endParaRPr sz="950">
              <a:latin typeface="Courier New"/>
              <a:cs typeface="Courier New"/>
            </a:endParaRPr>
          </a:p>
          <a:p>
            <a:pPr marL="127000">
              <a:lnSpc>
                <a:spcPct val="100000"/>
              </a:lnSpc>
              <a:spcBef>
                <a:spcPts val="1010"/>
              </a:spcBef>
            </a:pPr>
            <a:r>
              <a:rPr sz="1050" b="1" spc="95" dirty="0">
                <a:latin typeface="Trebuchet MS"/>
                <a:cs typeface="Trebuchet MS"/>
              </a:rPr>
              <a:t>Pie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95" dirty="0">
                <a:latin typeface="Trebuchet MS"/>
                <a:cs typeface="Trebuchet MS"/>
              </a:rPr>
              <a:t>chart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90" dirty="0">
                <a:latin typeface="Trebuchet MS"/>
                <a:cs typeface="Trebuchet MS"/>
              </a:rPr>
              <a:t>of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105" dirty="0">
                <a:latin typeface="Trebuchet MS"/>
                <a:cs typeface="Trebuchet MS"/>
              </a:rPr>
              <a:t>revenue</a:t>
            </a:r>
            <a:r>
              <a:rPr sz="1050" b="1" spc="50" dirty="0">
                <a:latin typeface="Trebuchet MS"/>
                <a:cs typeface="Trebuchet MS"/>
              </a:rPr>
              <a:t> </a:t>
            </a:r>
            <a:r>
              <a:rPr sz="1050" b="1" spc="85" dirty="0">
                <a:latin typeface="Trebuchet MS"/>
                <a:cs typeface="Trebuchet MS"/>
              </a:rPr>
              <a:t>realized</a:t>
            </a:r>
            <a:r>
              <a:rPr sz="1050" b="1" spc="70" dirty="0">
                <a:latin typeface="Trebuchet MS"/>
                <a:cs typeface="Trebuchet MS"/>
              </a:rPr>
              <a:t> </a:t>
            </a:r>
            <a:r>
              <a:rPr sz="1050" b="1" spc="100" dirty="0">
                <a:latin typeface="Trebuchet MS"/>
                <a:cs typeface="Trebuchet MS"/>
              </a:rPr>
              <a:t>per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120" dirty="0">
                <a:latin typeface="Trebuchet MS"/>
                <a:cs typeface="Trebuchet MS"/>
              </a:rPr>
              <a:t>booking</a:t>
            </a:r>
            <a:r>
              <a:rPr sz="1050" b="1" spc="55" dirty="0">
                <a:latin typeface="Trebuchet MS"/>
                <a:cs typeface="Trebuchet MS"/>
              </a:rPr>
              <a:t> </a:t>
            </a:r>
            <a:r>
              <a:rPr sz="1050" b="1" spc="90" dirty="0">
                <a:latin typeface="Trebuchet MS"/>
                <a:cs typeface="Trebuchet MS"/>
              </a:rPr>
              <a:t>platform</a:t>
            </a:r>
            <a:endParaRPr sz="1050">
              <a:latin typeface="Trebuchet MS"/>
              <a:cs typeface="Trebuchet M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328737" y="3986529"/>
            <a:ext cx="5838825" cy="915035"/>
          </a:xfrm>
          <a:prstGeom prst="rect">
            <a:avLst/>
          </a:prstGeom>
          <a:solidFill>
            <a:srgbClr val="F5F5F5"/>
          </a:solidFill>
          <a:ln w="9525">
            <a:solidFill>
              <a:srgbClr val="DFDFDF"/>
            </a:solidFill>
          </a:ln>
        </p:spPr>
        <p:txBody>
          <a:bodyPr vert="horz" wrap="square" lIns="0" tIns="38735" rIns="0" bIns="0" rtlCol="0">
            <a:spAutoFit/>
          </a:bodyPr>
          <a:lstStyle/>
          <a:p>
            <a:pPr marL="340995" marR="4297045" indent="-298450">
              <a:lnSpc>
                <a:spcPct val="111800"/>
              </a:lnSpc>
              <a:spcBef>
                <a:spcPts val="305"/>
              </a:spcBef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revenue_platform</a:t>
            </a:r>
            <a:r>
              <a:rPr sz="950" spc="110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114" dirty="0">
                <a:solidFill>
                  <a:srgbClr val="AA22FF"/>
                </a:solidFill>
                <a:latin typeface="Courier New"/>
                <a:cs typeface="Courier New"/>
              </a:rPr>
              <a:t> </a:t>
            </a:r>
            <a:r>
              <a:rPr sz="950" spc="-50" dirty="0">
                <a:solidFill>
                  <a:srgbClr val="0055AA"/>
                </a:solidFill>
                <a:latin typeface="Courier New"/>
                <a:cs typeface="Courier New"/>
              </a:rPr>
              <a:t>(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df_bookings_all</a:t>
            </a:r>
            <a:endParaRPr sz="950">
              <a:latin typeface="Courier New"/>
              <a:cs typeface="Courier New"/>
            </a:endParaRPr>
          </a:p>
          <a:p>
            <a:pPr marL="340995">
              <a:lnSpc>
                <a:spcPct val="100000"/>
              </a:lnSpc>
              <a:spcBef>
                <a:spcPts val="135"/>
              </a:spcBef>
            </a:pP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groupby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"booking_platform"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,</a:t>
            </a:r>
            <a:r>
              <a:rPr sz="950" spc="335" dirty="0">
                <a:solidFill>
                  <a:srgbClr val="0055AA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as_index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b="1" spc="-10" dirty="0">
                <a:solidFill>
                  <a:srgbClr val="008000"/>
                </a:solidFill>
                <a:latin typeface="Courier New"/>
                <a:cs typeface="Courier New"/>
              </a:rPr>
              <a:t>False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"revenue_realized"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</a:t>
            </a:r>
            <a:endParaRPr sz="950">
              <a:latin typeface="Courier New"/>
              <a:cs typeface="Courier New"/>
            </a:endParaRPr>
          </a:p>
          <a:p>
            <a:pPr marL="340995">
              <a:lnSpc>
                <a:spcPct val="100000"/>
              </a:lnSpc>
              <a:spcBef>
                <a:spcPts val="135"/>
              </a:spcBef>
            </a:pP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sum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  <a:p>
            <a:pPr marL="42545">
              <a:lnSpc>
                <a:spcPct val="100000"/>
              </a:lnSpc>
              <a:spcBef>
                <a:spcPts val="135"/>
              </a:spcBef>
            </a:pPr>
            <a:r>
              <a:rPr sz="950" spc="-5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358900" y="5045702"/>
            <a:ext cx="23368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b="1" dirty="0">
                <a:solidFill>
                  <a:srgbClr val="008000"/>
                </a:solidFill>
                <a:latin typeface="Courier New"/>
                <a:cs typeface="Courier New"/>
              </a:rPr>
              <a:t>import</a:t>
            </a:r>
            <a:r>
              <a:rPr sz="950" b="1" spc="110" dirty="0">
                <a:solidFill>
                  <a:srgbClr val="008000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matplotlib.pyplot</a:t>
            </a:r>
            <a:r>
              <a:rPr sz="950" spc="110" dirty="0">
                <a:solidFill>
                  <a:srgbClr val="202020"/>
                </a:solidFill>
                <a:latin typeface="Courier New"/>
                <a:cs typeface="Courier New"/>
              </a:rPr>
              <a:t> </a:t>
            </a:r>
            <a:r>
              <a:rPr sz="950" b="1" dirty="0">
                <a:solidFill>
                  <a:srgbClr val="008000"/>
                </a:solidFill>
                <a:latin typeface="Courier New"/>
                <a:cs typeface="Courier New"/>
              </a:rPr>
              <a:t>as</a:t>
            </a:r>
            <a:r>
              <a:rPr sz="950" b="1" spc="110" dirty="0">
                <a:solidFill>
                  <a:srgbClr val="008000"/>
                </a:solidFill>
                <a:latin typeface="Courier New"/>
                <a:cs typeface="Courier New"/>
              </a:rPr>
              <a:t> </a:t>
            </a:r>
            <a:r>
              <a:rPr sz="950" spc="-25" dirty="0">
                <a:solidFill>
                  <a:srgbClr val="202020"/>
                </a:solidFill>
                <a:latin typeface="Courier New"/>
                <a:cs typeface="Courier New"/>
              </a:rPr>
              <a:t>plt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371600" y="5356217"/>
            <a:ext cx="3653154" cy="13214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2750185">
              <a:lnSpc>
                <a:spcPct val="111800"/>
              </a:lnSpc>
              <a:spcBef>
                <a:spcPts val="95"/>
              </a:spcBef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plt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figure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plt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pie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endParaRPr sz="950">
              <a:latin typeface="Courier New"/>
              <a:cs typeface="Courier New"/>
            </a:endParaRPr>
          </a:p>
          <a:p>
            <a:pPr marL="297815" marR="66675">
              <a:lnSpc>
                <a:spcPct val="111800"/>
              </a:lnSpc>
            </a:pP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revenue_platform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"revenue_realized"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],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labels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revenue_platform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[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"booking_platform"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],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autopct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=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"%1.1f%%"</a:t>
            </a:r>
            <a:endParaRPr sz="95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35"/>
              </a:spcBef>
            </a:pPr>
            <a:r>
              <a:rPr sz="950" spc="-50" dirty="0">
                <a:solidFill>
                  <a:srgbClr val="0055AA"/>
                </a:solidFill>
                <a:latin typeface="Courier New"/>
                <a:cs typeface="Courier New"/>
              </a:rPr>
              <a:t>)</a:t>
            </a:r>
            <a:endParaRPr sz="950">
              <a:latin typeface="Courier New"/>
              <a:cs typeface="Courier New"/>
            </a:endParaRPr>
          </a:p>
          <a:p>
            <a:pPr>
              <a:lnSpc>
                <a:spcPct val="111800"/>
              </a:lnSpc>
            </a:pP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plt</a:t>
            </a:r>
            <a:r>
              <a:rPr sz="950" b="1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dirty="0">
                <a:solidFill>
                  <a:srgbClr val="202020"/>
                </a:solidFill>
                <a:latin typeface="Courier New"/>
                <a:cs typeface="Courier New"/>
              </a:rPr>
              <a:t>title</a:t>
            </a:r>
            <a:r>
              <a:rPr sz="950" dirty="0">
                <a:solidFill>
                  <a:srgbClr val="0055AA"/>
                </a:solidFill>
                <a:latin typeface="Courier New"/>
                <a:cs typeface="Courier New"/>
              </a:rPr>
              <a:t>(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"Revenue</a:t>
            </a:r>
            <a:r>
              <a:rPr sz="950" spc="114" dirty="0">
                <a:solidFill>
                  <a:srgbClr val="BA2121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Realized</a:t>
            </a:r>
            <a:r>
              <a:rPr sz="950" spc="114" dirty="0">
                <a:solidFill>
                  <a:srgbClr val="BA2121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by</a:t>
            </a:r>
            <a:r>
              <a:rPr sz="950" spc="114" dirty="0">
                <a:solidFill>
                  <a:srgbClr val="BA2121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BA2121"/>
                </a:solidFill>
                <a:latin typeface="Courier New"/>
                <a:cs typeface="Courier New"/>
              </a:rPr>
              <a:t>Booking</a:t>
            </a:r>
            <a:r>
              <a:rPr sz="950" spc="114" dirty="0">
                <a:solidFill>
                  <a:srgbClr val="BA2121"/>
                </a:solidFill>
                <a:latin typeface="Courier New"/>
                <a:cs typeface="Courier New"/>
              </a:rPr>
              <a:t> </a:t>
            </a:r>
            <a:r>
              <a:rPr sz="950" spc="-10" dirty="0">
                <a:solidFill>
                  <a:srgbClr val="BA2121"/>
                </a:solidFill>
                <a:latin typeface="Courier New"/>
                <a:cs typeface="Courier New"/>
              </a:rPr>
              <a:t>Platform"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) 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plt</a:t>
            </a:r>
            <a:r>
              <a:rPr sz="950" b="1" spc="-10" dirty="0">
                <a:solidFill>
                  <a:srgbClr val="AA22FF"/>
                </a:solidFill>
                <a:latin typeface="Courier New"/>
                <a:cs typeface="Courier New"/>
              </a:rPr>
              <a:t>.</a:t>
            </a:r>
            <a:r>
              <a:rPr sz="950" spc="-10" dirty="0">
                <a:solidFill>
                  <a:srgbClr val="202020"/>
                </a:solidFill>
                <a:latin typeface="Courier New"/>
                <a:cs typeface="Courier New"/>
              </a:rPr>
              <a:t>show</a:t>
            </a:r>
            <a:r>
              <a:rPr sz="950" spc="-10" dirty="0">
                <a:solidFill>
                  <a:srgbClr val="0055AA"/>
                </a:solidFill>
                <a:latin typeface="Courier New"/>
                <a:cs typeface="Courier New"/>
              </a:rPr>
              <a:t>()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44525" y="2260580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[183…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44525" y="4026522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[184…</a:t>
            </a:r>
            <a:endParaRPr sz="95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44525" y="5045702"/>
            <a:ext cx="622300" cy="1739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5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0" dirty="0">
                <a:solidFill>
                  <a:srgbClr val="616161"/>
                </a:solidFill>
                <a:latin typeface="Courier New"/>
                <a:cs typeface="Courier New"/>
              </a:rPr>
              <a:t>[185…</a:t>
            </a:r>
            <a:endParaRPr sz="9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323975" y="4686300"/>
            <a:ext cx="5848350" cy="276860"/>
            <a:chOff x="1323975" y="4686300"/>
            <a:chExt cx="5848350" cy="276860"/>
          </a:xfrm>
        </p:grpSpPr>
        <p:sp>
          <p:nvSpPr>
            <p:cNvPr id="3" name="object 3"/>
            <p:cNvSpPr/>
            <p:nvPr/>
          </p:nvSpPr>
          <p:spPr>
            <a:xfrm>
              <a:off x="1323975" y="4686927"/>
              <a:ext cx="5848350" cy="276225"/>
            </a:xfrm>
            <a:custGeom>
              <a:avLst/>
              <a:gdLst/>
              <a:ahLst/>
              <a:cxnLst/>
              <a:rect l="l" t="t" r="r" b="b"/>
              <a:pathLst>
                <a:path w="5848350" h="276225">
                  <a:moveTo>
                    <a:pt x="5848350" y="0"/>
                  </a:moveTo>
                  <a:lnTo>
                    <a:pt x="0" y="0"/>
                  </a:lnTo>
                  <a:lnTo>
                    <a:pt x="0" y="276226"/>
                  </a:lnTo>
                  <a:lnTo>
                    <a:pt x="5848350" y="276226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F5F5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323975" y="4686299"/>
              <a:ext cx="5848350" cy="276860"/>
            </a:xfrm>
            <a:custGeom>
              <a:avLst/>
              <a:gdLst/>
              <a:ahLst/>
              <a:cxnLst/>
              <a:rect l="l" t="t" r="r" b="b"/>
              <a:pathLst>
                <a:path w="5848350" h="276860">
                  <a:moveTo>
                    <a:pt x="5848350" y="0"/>
                  </a:moveTo>
                  <a:lnTo>
                    <a:pt x="0" y="0"/>
                  </a:lnTo>
                  <a:lnTo>
                    <a:pt x="0" y="10160"/>
                  </a:lnTo>
                  <a:lnTo>
                    <a:pt x="0" y="266700"/>
                  </a:lnTo>
                  <a:lnTo>
                    <a:pt x="9525" y="266700"/>
                  </a:lnTo>
                  <a:lnTo>
                    <a:pt x="9525" y="10160"/>
                  </a:lnTo>
                  <a:lnTo>
                    <a:pt x="5838825" y="10160"/>
                  </a:lnTo>
                  <a:lnTo>
                    <a:pt x="5838825" y="267335"/>
                  </a:lnTo>
                  <a:lnTo>
                    <a:pt x="0" y="267335"/>
                  </a:lnTo>
                  <a:lnTo>
                    <a:pt x="0" y="276860"/>
                  </a:lnTo>
                  <a:lnTo>
                    <a:pt x="5848350" y="276860"/>
                  </a:lnTo>
                  <a:lnTo>
                    <a:pt x="5848350" y="267335"/>
                  </a:lnTo>
                  <a:lnTo>
                    <a:pt x="5848350" y="10160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/>
          <p:cNvGrpSpPr/>
          <p:nvPr/>
        </p:nvGrpSpPr>
        <p:grpSpPr>
          <a:xfrm>
            <a:off x="1323975" y="5058403"/>
            <a:ext cx="5848350" cy="276225"/>
            <a:chOff x="1323975" y="5058403"/>
            <a:chExt cx="5848350" cy="276225"/>
          </a:xfrm>
        </p:grpSpPr>
        <p:sp>
          <p:nvSpPr>
            <p:cNvPr id="6" name="object 6"/>
            <p:cNvSpPr/>
            <p:nvPr/>
          </p:nvSpPr>
          <p:spPr>
            <a:xfrm>
              <a:off x="1323975" y="5058403"/>
              <a:ext cx="5848350" cy="276225"/>
            </a:xfrm>
            <a:custGeom>
              <a:avLst/>
              <a:gdLst/>
              <a:ahLst/>
              <a:cxnLst/>
              <a:rect l="l" t="t" r="r" b="b"/>
              <a:pathLst>
                <a:path w="5848350" h="276225">
                  <a:moveTo>
                    <a:pt x="5848350" y="0"/>
                  </a:moveTo>
                  <a:lnTo>
                    <a:pt x="0" y="0"/>
                  </a:lnTo>
                  <a:lnTo>
                    <a:pt x="0" y="276226"/>
                  </a:lnTo>
                  <a:lnTo>
                    <a:pt x="5848350" y="276226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F5F5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323975" y="5058409"/>
              <a:ext cx="5848350" cy="275590"/>
            </a:xfrm>
            <a:custGeom>
              <a:avLst/>
              <a:gdLst/>
              <a:ahLst/>
              <a:cxnLst/>
              <a:rect l="l" t="t" r="r" b="b"/>
              <a:pathLst>
                <a:path w="5848350" h="275589">
                  <a:moveTo>
                    <a:pt x="5848350" y="0"/>
                  </a:moveTo>
                  <a:lnTo>
                    <a:pt x="0" y="0"/>
                  </a:lnTo>
                  <a:lnTo>
                    <a:pt x="0" y="8890"/>
                  </a:lnTo>
                  <a:lnTo>
                    <a:pt x="0" y="266700"/>
                  </a:lnTo>
                  <a:lnTo>
                    <a:pt x="0" y="275590"/>
                  </a:lnTo>
                  <a:lnTo>
                    <a:pt x="5848350" y="275590"/>
                  </a:lnTo>
                  <a:lnTo>
                    <a:pt x="5848350" y="266700"/>
                  </a:lnTo>
                  <a:lnTo>
                    <a:pt x="5848350" y="9525"/>
                  </a:lnTo>
                  <a:lnTo>
                    <a:pt x="5838825" y="9525"/>
                  </a:lnTo>
                  <a:lnTo>
                    <a:pt x="5838825" y="266700"/>
                  </a:lnTo>
                  <a:lnTo>
                    <a:pt x="9525" y="266700"/>
                  </a:lnTo>
                  <a:lnTo>
                    <a:pt x="9525" y="8890"/>
                  </a:lnTo>
                  <a:lnTo>
                    <a:pt x="5848350" y="8890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1323975" y="5429250"/>
            <a:ext cx="5848350" cy="276860"/>
            <a:chOff x="1323975" y="5429250"/>
            <a:chExt cx="5848350" cy="276860"/>
          </a:xfrm>
        </p:grpSpPr>
        <p:sp>
          <p:nvSpPr>
            <p:cNvPr id="9" name="object 9"/>
            <p:cNvSpPr/>
            <p:nvPr/>
          </p:nvSpPr>
          <p:spPr>
            <a:xfrm>
              <a:off x="1323975" y="5429879"/>
              <a:ext cx="5848350" cy="276225"/>
            </a:xfrm>
            <a:custGeom>
              <a:avLst/>
              <a:gdLst/>
              <a:ahLst/>
              <a:cxnLst/>
              <a:rect l="l" t="t" r="r" b="b"/>
              <a:pathLst>
                <a:path w="5848350" h="276225">
                  <a:moveTo>
                    <a:pt x="5848350" y="0"/>
                  </a:moveTo>
                  <a:lnTo>
                    <a:pt x="0" y="0"/>
                  </a:lnTo>
                  <a:lnTo>
                    <a:pt x="0" y="276226"/>
                  </a:lnTo>
                  <a:lnTo>
                    <a:pt x="5848350" y="276226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F5F5F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323975" y="5429249"/>
              <a:ext cx="5848350" cy="276860"/>
            </a:xfrm>
            <a:custGeom>
              <a:avLst/>
              <a:gdLst/>
              <a:ahLst/>
              <a:cxnLst/>
              <a:rect l="l" t="t" r="r" b="b"/>
              <a:pathLst>
                <a:path w="5848350" h="276860">
                  <a:moveTo>
                    <a:pt x="5848350" y="0"/>
                  </a:moveTo>
                  <a:lnTo>
                    <a:pt x="0" y="0"/>
                  </a:lnTo>
                  <a:lnTo>
                    <a:pt x="0" y="10160"/>
                  </a:lnTo>
                  <a:lnTo>
                    <a:pt x="0" y="266700"/>
                  </a:lnTo>
                  <a:lnTo>
                    <a:pt x="9525" y="266700"/>
                  </a:lnTo>
                  <a:lnTo>
                    <a:pt x="9525" y="10160"/>
                  </a:lnTo>
                  <a:lnTo>
                    <a:pt x="5838825" y="10160"/>
                  </a:lnTo>
                  <a:lnTo>
                    <a:pt x="5838825" y="267335"/>
                  </a:lnTo>
                  <a:lnTo>
                    <a:pt x="0" y="267335"/>
                  </a:lnTo>
                  <a:lnTo>
                    <a:pt x="0" y="276860"/>
                  </a:lnTo>
                  <a:lnTo>
                    <a:pt x="5848350" y="276860"/>
                  </a:lnTo>
                  <a:lnTo>
                    <a:pt x="5848350" y="267335"/>
                  </a:lnTo>
                  <a:lnTo>
                    <a:pt x="5848350" y="10160"/>
                  </a:lnTo>
                  <a:lnTo>
                    <a:pt x="584835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14450" y="742950"/>
            <a:ext cx="4600575" cy="3533775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732281" y="4731382"/>
            <a:ext cx="547370" cy="91694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0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[</a:t>
            </a:r>
            <a:r>
              <a:rPr sz="950" spc="30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5" dirty="0">
                <a:solidFill>
                  <a:srgbClr val="616161"/>
                </a:solidFill>
                <a:latin typeface="Courier New"/>
                <a:cs typeface="Courier New"/>
              </a:rPr>
              <a:t>]:</a:t>
            </a:r>
            <a:endParaRPr sz="95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705"/>
              </a:spcBef>
            </a:pP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0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[</a:t>
            </a:r>
            <a:r>
              <a:rPr sz="950" spc="30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5" dirty="0">
                <a:solidFill>
                  <a:srgbClr val="616161"/>
                </a:solidFill>
                <a:latin typeface="Courier New"/>
                <a:cs typeface="Courier New"/>
              </a:rPr>
              <a:t>]:</a:t>
            </a:r>
            <a:endParaRPr sz="95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710"/>
              </a:spcBef>
            </a:pPr>
            <a:endParaRPr sz="95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In</a:t>
            </a:r>
            <a:r>
              <a:rPr sz="950" spc="30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dirty="0">
                <a:solidFill>
                  <a:srgbClr val="616161"/>
                </a:solidFill>
                <a:latin typeface="Courier New"/>
                <a:cs typeface="Courier New"/>
              </a:rPr>
              <a:t>[</a:t>
            </a:r>
            <a:r>
              <a:rPr sz="950" spc="30" dirty="0">
                <a:solidFill>
                  <a:srgbClr val="616161"/>
                </a:solidFill>
                <a:latin typeface="Courier New"/>
                <a:cs typeface="Courier New"/>
              </a:rPr>
              <a:t> </a:t>
            </a:r>
            <a:r>
              <a:rPr sz="950" spc="-25" dirty="0">
                <a:solidFill>
                  <a:srgbClr val="616161"/>
                </a:solidFill>
                <a:latin typeface="Courier New"/>
                <a:cs typeface="Courier New"/>
              </a:rPr>
              <a:t>]:</a:t>
            </a:r>
            <a:endParaRPr sz="95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Words>6153</Words>
  <Application>Microsoft Office PowerPoint</Application>
  <PresentationFormat>Custom</PresentationFormat>
  <Paragraphs>1917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Calibri</vt:lpstr>
      <vt:lpstr>Courier New</vt:lpstr>
      <vt:lpstr>Times New Roman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hotels_data_analysisproject_0_71113900_1770217800</dc:title>
  <cp:lastModifiedBy>Nandini Wadile</cp:lastModifiedBy>
  <cp:revision>2</cp:revision>
  <dcterms:created xsi:type="dcterms:W3CDTF">2026-02-04T15:13:06Z</dcterms:created>
  <dcterms:modified xsi:type="dcterms:W3CDTF">2026-02-05T07:40:27Z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2026-02-04T00:00:00Z</vt:filetime>
  </property>
  <property fmtid="{D5CDD505-2E9C-101B-9397-08002B2CF9AE}" pid="3" name="Producer">
    <vt:lpwstr>Prince 15 (www.princexml.com)</vt:lpwstr>
  </property>
  <property fmtid="{D5CDD505-2E9C-101B-9397-08002B2CF9AE}" pid="4" name="LastSaved">
    <vt:filetime>2026-02-04T00:00:00Z</vt:filetime>
  </property>
</Properties>
</file>